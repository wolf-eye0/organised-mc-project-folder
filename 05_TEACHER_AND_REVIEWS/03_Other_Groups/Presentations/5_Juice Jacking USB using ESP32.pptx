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19"/>
  </p:handoutMasterIdLst>
  <p:sldIdLst>
    <p:sldId id="257" r:id="rId2"/>
    <p:sldId id="304" r:id="rId3"/>
    <p:sldId id="282" r:id="rId4"/>
    <p:sldId id="305" r:id="rId5"/>
    <p:sldId id="283" r:id="rId6"/>
    <p:sldId id="284" r:id="rId7"/>
    <p:sldId id="285" r:id="rId8"/>
    <p:sldId id="286" r:id="rId9"/>
    <p:sldId id="287" r:id="rId10"/>
    <p:sldId id="288" r:id="rId11"/>
    <p:sldId id="289" r:id="rId12"/>
    <p:sldId id="295" r:id="rId13"/>
    <p:sldId id="296" r:id="rId14"/>
    <p:sldId id="303" r:id="rId15"/>
    <p:sldId id="279"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8" d="100"/>
          <a:sy n="58" d="100"/>
        </p:scale>
        <p:origin x="98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handoutMaster" Target="handoutMasters/handout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heme" Target="theme/theme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JUICE JACKING USB USING ESP32</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1">
              <a:rPr lang="en-US" smtClean="0"/>
              <a:t>7/29/2026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Dept of CSE(CY)</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JUICE JACKING USB USING ESP32</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1">
              <a:rPr lang="en-US" smtClean="0"/>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Dept of CSE(CY)</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1</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2</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3</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4</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5</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6</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7</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8</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9</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10</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11</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12</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13</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14</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15</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Header Placeholder 3"/>
          <p:cNvSpPr>
            <a:spLocks noGrp="1"/>
          </p:cNvSpPr>
          <p:nvPr>
            <p:ph type="hdr" sz="quarter"/>
          </p:nvPr>
        </p:nvSpPr>
        <p:spPr/>
        <p:txBody>
          <a:bodyPr/>
          <a:lstStyle/>
          <a:p>
            <a:r>
              <a:rPr lang="en-US"/>
              <a:t>JUICE JACKING USB USING ESP32</a:t>
            </a:r>
          </a:p>
        </p:txBody>
      </p:sp>
      <p:sp>
        <p:nvSpPr>
          <p:cNvPr id="5" name="Date Placeholder 4"/>
          <p:cNvSpPr>
            <a:spLocks noGrp="1"/>
          </p:cNvSpPr>
          <p:nvPr>
            <p:ph type="dt" idx="1"/>
          </p:nvPr>
        </p:nvSpPr>
        <p:spPr/>
        <p:txBody>
          <a:bodyPr/>
          <a:lstStyle/>
          <a:p>
            <a:fld id="{3EFD42F7-718C-4B98-AAEC-167E6DDD60A7}" type="datetime1">
              <a:rPr lang="en-US" smtClean="0"/>
              <a:t>7/29/2026</a:t>
            </a:fld>
            <a:endParaRPr lang="en-US"/>
          </a:p>
        </p:txBody>
      </p:sp>
      <p:sp>
        <p:nvSpPr>
          <p:cNvPr id="6" name="Slide Number Placeholder 5"/>
          <p:cNvSpPr>
            <a:spLocks noGrp="1"/>
          </p:cNvSpPr>
          <p:nvPr>
            <p:ph type="sldNum" sz="quarter" idx="5"/>
          </p:nvPr>
        </p:nvSpPr>
        <p:spPr/>
        <p:txBody>
          <a:bodyPr/>
          <a:lstStyle/>
          <a:p>
            <a:fld id="{21B2AA4F-B828-4D7C-AFD3-893933DAFCB4}" type="slidenum">
              <a:rPr lang="en-US" smtClean="0"/>
              <a:t>16</a:t>
            </a:fld>
            <a:endParaRPr lang="en-US"/>
          </a:p>
        </p:txBody>
      </p:sp>
      <p:sp>
        <p:nvSpPr>
          <p:cNvPr id="7" name="Footer Placeholder 6"/>
          <p:cNvSpPr>
            <a:spLocks noGrp="1"/>
          </p:cNvSpPr>
          <p:nvPr>
            <p:ph type="ftr" sz="quarter" idx="4"/>
          </p:nvPr>
        </p:nvSpPr>
        <p:spPr/>
        <p:txBody>
          <a:bodyPr/>
          <a:lstStyle/>
          <a:p>
            <a:r>
              <a:rPr lang="en-US"/>
              <a:t>Dept of CSE(CY)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4F3D910-6FC6-443F-BE9B-87599B114612}" type="datetime1">
              <a:rPr lang="en-US" smtClean="0"/>
              <a:t>7/29/2026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1">
              <a:rPr lang="en-US" smtClean="0"/>
              <a:t>7/29/2026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F3D910-6FC6-443F-BE9B-87599B114612}" type="datetime1">
              <a:rPr lang="en-US" smtClean="0"/>
              <a:t>7/29/2026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4F3D910-6FC6-443F-BE9B-87599B114612}" type="datetime1">
              <a:rPr lang="en-US" smtClean="0"/>
              <a:t>7/29/2026</a:t>
            </a:fld>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4F3D910-6FC6-443F-BE9B-87599B114612}" type="datetime1">
              <a:rPr lang="en-US" smtClean="0"/>
              <a:t>7/29/2026</a:t>
            </a:fld>
            <a:endParaRPr lang="en-IN"/>
          </a:p>
        </p:txBody>
      </p:sp>
      <p:sp>
        <p:nvSpPr>
          <p:cNvPr id="8" name="Footer Placeholder 7"/>
          <p:cNvSpPr>
            <a:spLocks noGrp="1"/>
          </p:cNvSpPr>
          <p:nvPr>
            <p:ph type="ftr" sz="quarter" idx="11"/>
          </p:nvPr>
        </p:nvSpPr>
        <p:spPr/>
        <p:txBody>
          <a:bodyPr/>
          <a:lstStyle/>
          <a:p>
            <a:r>
              <a:rPr lang="en-IN"/>
              <a:t>Dept of CSE(CY)</a:t>
            </a:r>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4F3D910-6FC6-443F-BE9B-87599B114612}" type="datetime1">
              <a:rPr lang="en-US" smtClean="0"/>
              <a:t>7/29/2026</a:t>
            </a:fld>
            <a:endParaRPr lang="en-IN"/>
          </a:p>
        </p:txBody>
      </p:sp>
      <p:sp>
        <p:nvSpPr>
          <p:cNvPr id="4" name="Footer Placeholder 3"/>
          <p:cNvSpPr>
            <a:spLocks noGrp="1"/>
          </p:cNvSpPr>
          <p:nvPr>
            <p:ph type="ftr" sz="quarter" idx="11"/>
          </p:nvPr>
        </p:nvSpPr>
        <p:spPr/>
        <p:txBody>
          <a:bodyPr/>
          <a:lstStyle/>
          <a:p>
            <a:r>
              <a:rPr lang="en-IN"/>
              <a:t>Dept of CSE(CY)</a:t>
            </a:r>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F3D910-6FC6-443F-BE9B-87599B114612}" type="datetime1">
              <a:rPr lang="en-US" smtClean="0"/>
              <a:t>7/29/2026</a:t>
            </a:fld>
            <a:endParaRPr lang="en-IN"/>
          </a:p>
        </p:txBody>
      </p:sp>
      <p:sp>
        <p:nvSpPr>
          <p:cNvPr id="3" name="Footer Placeholder 2"/>
          <p:cNvSpPr>
            <a:spLocks noGrp="1"/>
          </p:cNvSpPr>
          <p:nvPr>
            <p:ph type="ftr" sz="quarter" idx="11"/>
          </p:nvPr>
        </p:nvSpPr>
        <p:spPr/>
        <p:txBody>
          <a:bodyPr/>
          <a:lstStyle/>
          <a:p>
            <a:r>
              <a:rPr lang="en-IN"/>
              <a:t>Dept of CSE(CY)</a:t>
            </a:r>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1">
              <a:rPr lang="en-US" smtClean="0"/>
              <a:t>7/29/2026</a:t>
            </a:fld>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1">
              <a:rPr lang="en-US" smtClean="0"/>
              <a:t>7/29/2026</a:t>
            </a:fld>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1">
              <a:rPr lang="en-US" smtClean="0"/>
              <a:t>7/29/2026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1">
              <a:rPr lang="en-US" smtClean="0"/>
              <a:t>7/29/2026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F3D910-6FC6-443F-BE9B-87599B114612}" type="datetime1">
              <a:rPr lang="en-US" smtClean="0"/>
              <a:t>7/29/2026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CSE(CY)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2.xml" /><Relationship Id="rId4" Type="http://schemas.openxmlformats.org/officeDocument/2006/relationships/hyperlink" Target="https://jecc.etlab.in/teacher/viewsubject/93460551045?sub_id=1916076829214&amp;sem_id=116225560662" TargetMode="Externa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4.xml" /><Relationship Id="rId1" Type="http://schemas.openxmlformats.org/officeDocument/2006/relationships/slideLayout" Target="../slideLayouts/slideLayout2.xml" /><Relationship Id="rId4" Type="http://schemas.openxmlformats.org/officeDocument/2006/relationships/image" Target="../media/image2.png" /></Relationships>
</file>

<file path=ppt/slides/_rels/slide1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p:nvPr/>
        </p:nvSpPr>
        <p:spPr bwMode="auto">
          <a:xfrm>
            <a:off x="1844889" y="2239060"/>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panose="02020603050405020304"/>
              <a:ea typeface="Times New Roman" panose="02020603050405020304"/>
              <a:cs typeface="Times New Roman" panose="02020603050405020304"/>
            </a:endParaRPr>
          </a:p>
          <a:p>
            <a:pPr marL="0" indent="0" algn="l">
              <a:buNone/>
            </a:pPr>
            <a:r>
              <a:rPr lang="en-IN" sz="4000" b="1" i="0" u="none" strike="noStrike" dirty="0">
                <a:solidFill>
                  <a:schemeClr val="accent2">
                    <a:lumMod val="75000"/>
                  </a:schemeClr>
                </a:solidFill>
                <a:effectLst/>
                <a:latin typeface="Helvetica Neue"/>
                <a:hlinkClick r:id="rId4"/>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panose="02020603050405020304"/>
              <a:cs typeface="Times New Roman" panose="02020603050405020304"/>
            </a:endParaRPr>
          </a:p>
          <a:p>
            <a:pPr marL="114300" indent="0" algn="ctr">
              <a:buSzPts val="1800"/>
              <a:buNone/>
              <a:defRPr/>
            </a:pPr>
            <a:r>
              <a:rPr lang="en-US" sz="4800" b="1" dirty="0">
                <a:solidFill>
                  <a:srgbClr val="7030A0"/>
                </a:solidFill>
                <a:latin typeface="Times New Roman" panose="02020603050405020304"/>
                <a:cs typeface="Times New Roman" panose="02020603050405020304"/>
              </a:rPr>
              <a:t>Zeroth Review</a:t>
            </a:r>
            <a:endParaRPr lang="en-US" sz="4800" b="1" dirty="0">
              <a:solidFill>
                <a:srgbClr val="7030A0"/>
              </a:solidFill>
            </a:endParaRPr>
          </a:p>
        </p:txBody>
      </p:sp>
      <p:sp>
        <p:nvSpPr>
          <p:cNvPr id="5" name="Date Placeholder 4"/>
          <p:cNvSpPr>
            <a:spLocks noGrp="1"/>
          </p:cNvSpPr>
          <p:nvPr>
            <p:ph type="dt" sz="half" idx="10"/>
          </p:nvPr>
        </p:nvSpPr>
        <p:spPr/>
        <p:txBody>
          <a:bodyPr/>
          <a:lstStyle/>
          <a:p>
            <a:fld id="{44F3D910-6FC6-443F-BE9B-87599B114612}" type="datetime1">
              <a:rPr lang="en-US" smtClean="0"/>
              <a:t>7/29/2026</a:t>
            </a:fld>
            <a:endParaRPr lang="en-IN"/>
          </a:p>
        </p:txBody>
      </p:sp>
      <p:sp>
        <p:nvSpPr>
          <p:cNvPr id="8" name="Slide Number Placeholder 7"/>
          <p:cNvSpPr>
            <a:spLocks noGrp="1"/>
          </p:cNvSpPr>
          <p:nvPr>
            <p:ph type="sldNum" sz="quarter" idx="12"/>
          </p:nvPr>
        </p:nvSpPr>
        <p:spPr/>
        <p:txBody>
          <a:bodyPr/>
          <a:lstStyle/>
          <a:p>
            <a:fld id="{7C33CCD4-7228-4506-A3A6-5A9074B2CE31}" type="slidenum">
              <a:rPr lang="en-IN" smtClean="0"/>
              <a:t>1</a:t>
            </a:fld>
            <a:endParaRPr lang="en-IN"/>
          </a:p>
        </p:txBody>
      </p:sp>
      <p:sp>
        <p:nvSpPr>
          <p:cNvPr id="9" name="Footer Placeholder 8"/>
          <p:cNvSpPr>
            <a:spLocks noGrp="1"/>
          </p:cNvSpPr>
          <p:nvPr>
            <p:ph type="ftr" sz="quarter" idx="11"/>
          </p:nvPr>
        </p:nvSpPr>
        <p:spPr/>
        <p:txBody>
          <a:bodyPr/>
          <a:lstStyle/>
          <a:p>
            <a:r>
              <a:rPr lang="en-IN"/>
              <a:t>Dept of CSE(CY)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p:nvPr/>
        </p:nvSpPr>
        <p:spPr bwMode="auto">
          <a:xfrm>
            <a:off x="2048510" y="1896110"/>
            <a:ext cx="8839200" cy="1293495"/>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panose="02020603050405020304"/>
              <a:ea typeface="Times New Roman" panose="02020603050405020304"/>
              <a:cs typeface="Times New Roman" panose="02020603050405020304"/>
            </a:endParaRPr>
          </a:p>
          <a:p>
            <a:pPr marL="114300" indent="0" algn="just">
              <a:buSzPts val="1800"/>
              <a:buFont typeface="Arial" panose="020B0604020202020204" pitchFamily="34" charset="0"/>
              <a:buNone/>
              <a:defRPr/>
            </a:pPr>
            <a:r>
              <a:rPr lang="en-US" b="1" dirty="0">
                <a:solidFill>
                  <a:srgbClr val="0070C0"/>
                </a:solidFill>
                <a:latin typeface="Times New Roman" panose="02020603050405020304"/>
                <a:ea typeface="Times New Roman" panose="02020603050405020304"/>
                <a:cs typeface="Times New Roman" panose="02020603050405020304"/>
              </a:rPr>
              <a:t>Title:- </a:t>
            </a:r>
            <a:r>
              <a:rPr lang="en-US" altLang="en-US" b="1" dirty="0">
                <a:solidFill>
                  <a:srgbClr val="0070C0"/>
                </a:solidFill>
                <a:latin typeface="Times New Roman" panose="02020603050405020304"/>
                <a:ea typeface="Times New Roman" panose="02020603050405020304"/>
                <a:cs typeface="Times New Roman" panose="02020603050405020304"/>
              </a:rPr>
              <a:t>J</a:t>
            </a:r>
            <a:r>
              <a:rPr lang="en-IN" altLang="en-US" b="1" dirty="0">
                <a:solidFill>
                  <a:srgbClr val="0070C0"/>
                </a:solidFill>
                <a:latin typeface="Times New Roman" panose="02020603050405020304"/>
                <a:ea typeface="Times New Roman" panose="02020603050405020304"/>
                <a:cs typeface="Times New Roman" panose="02020603050405020304"/>
              </a:rPr>
              <a:t>UICE</a:t>
            </a:r>
            <a:r>
              <a:rPr lang="en-US" altLang="en-US" b="1" dirty="0">
                <a:solidFill>
                  <a:srgbClr val="0070C0"/>
                </a:solidFill>
                <a:latin typeface="Times New Roman" panose="02020603050405020304"/>
                <a:ea typeface="Times New Roman" panose="02020603050405020304"/>
                <a:cs typeface="Times New Roman" panose="02020603050405020304"/>
              </a:rPr>
              <a:t> J</a:t>
            </a:r>
            <a:r>
              <a:rPr lang="en-IN" altLang="en-US" b="1" dirty="0">
                <a:solidFill>
                  <a:srgbClr val="0070C0"/>
                </a:solidFill>
                <a:latin typeface="Times New Roman" panose="02020603050405020304"/>
                <a:ea typeface="Times New Roman" panose="02020603050405020304"/>
                <a:cs typeface="Times New Roman" panose="02020603050405020304"/>
              </a:rPr>
              <a:t>ACKING</a:t>
            </a:r>
            <a:r>
              <a:rPr lang="en-US" altLang="en-US" b="1" dirty="0">
                <a:solidFill>
                  <a:srgbClr val="0070C0"/>
                </a:solidFill>
                <a:latin typeface="Times New Roman" panose="02020603050405020304"/>
                <a:ea typeface="Times New Roman" panose="02020603050405020304"/>
                <a:cs typeface="Times New Roman" panose="02020603050405020304"/>
              </a:rPr>
              <a:t> </a:t>
            </a:r>
            <a:r>
              <a:rPr lang="en-IN" altLang="en-US" b="1" dirty="0">
                <a:solidFill>
                  <a:srgbClr val="0070C0"/>
                </a:solidFill>
                <a:latin typeface="Times New Roman" panose="02020603050405020304"/>
                <a:ea typeface="Times New Roman" panose="02020603050405020304"/>
                <a:cs typeface="Times New Roman" panose="02020603050405020304"/>
              </a:rPr>
              <a:t>USB USING</a:t>
            </a:r>
            <a:r>
              <a:rPr lang="en-US" altLang="en-US" b="1" dirty="0">
                <a:solidFill>
                  <a:srgbClr val="0070C0"/>
                </a:solidFill>
                <a:latin typeface="Times New Roman" panose="02020603050405020304"/>
                <a:ea typeface="Times New Roman" panose="02020603050405020304"/>
                <a:cs typeface="Times New Roman" panose="02020603050405020304"/>
              </a:rPr>
              <a:t> ESP32</a:t>
            </a:r>
          </a:p>
        </p:txBody>
      </p:sp>
      <p:sp>
        <p:nvSpPr>
          <p:cNvPr id="8" name="Google Shape;187;p1"/>
          <p:cNvSpPr txBox="1"/>
          <p:nvPr/>
        </p:nvSpPr>
        <p:spPr bwMode="auto">
          <a:xfrm>
            <a:off x="484505" y="3293745"/>
            <a:ext cx="4965700" cy="2958465"/>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dirty="0">
                <a:solidFill>
                  <a:srgbClr val="00B050"/>
                </a:solidFill>
                <a:latin typeface="Times New Roman" panose="02020603050405020304" pitchFamily="18" charset="0"/>
                <a:cs typeface="Times New Roman" panose="02020603050405020304" pitchFamily="18" charset="0"/>
              </a:rPr>
              <a:t>Group No:</a:t>
            </a:r>
            <a:r>
              <a:rPr lang="en-IN" altLang="en-US" dirty="0">
                <a:solidFill>
                  <a:srgbClr val="00B050"/>
                </a:solidFill>
                <a:latin typeface="Times New Roman" panose="02020603050405020304" pitchFamily="18" charset="0"/>
                <a:cs typeface="Times New Roman" panose="02020603050405020304" pitchFamily="18" charset="0"/>
              </a:rPr>
              <a:t> 05</a:t>
            </a:r>
            <a:endParaRPr lang="en-US" dirty="0">
              <a:solidFill>
                <a:srgbClr val="00B050"/>
              </a:solidFill>
              <a:latin typeface="Times New Roman" panose="02020603050405020304" pitchFamily="18" charset="0"/>
              <a:cs typeface="Times New Roman" panose="02020603050405020304" pitchFamily="18" charset="0"/>
            </a:endParaRPr>
          </a:p>
          <a:p>
            <a:pPr marL="114300" indent="0">
              <a:buSzPts val="1800"/>
              <a:buFont typeface="Arial" panose="020B0604020202020204" pitchFamily="34" charset="0"/>
              <a:buNone/>
              <a:defRPr/>
            </a:pPr>
            <a:r>
              <a:rPr lang="en-US" dirty="0">
                <a:solidFill>
                  <a:srgbClr val="C00000"/>
                </a:solidFill>
                <a:latin typeface="Times New Roman" panose="02020603050405020304" pitchFamily="18" charset="0"/>
                <a:cs typeface="Times New Roman" panose="02020603050405020304" pitchFamily="18" charset="0"/>
              </a:rPr>
              <a:t>Members:</a:t>
            </a:r>
          </a:p>
          <a:p>
            <a:pPr marL="114300" indent="0">
              <a:buSzPts val="1800"/>
              <a:buFont typeface="Arial" panose="020B0604020202020204" pitchFamily="34" charset="0"/>
              <a:buNone/>
              <a:defRPr/>
            </a:pPr>
            <a:r>
              <a:rPr lang="en-US" altLang="en-US" sz="2000" dirty="0">
                <a:solidFill>
                  <a:schemeClr val="tx1"/>
                </a:solidFill>
                <a:latin typeface="Times New Roman" panose="02020603050405020304" pitchFamily="18" charset="0"/>
                <a:cs typeface="Times New Roman" panose="02020603050405020304" pitchFamily="18" charset="0"/>
              </a:rPr>
              <a:t>Anisha TJ: JEC24CC020 </a:t>
            </a:r>
          </a:p>
          <a:p>
            <a:pPr marL="114300" indent="0">
              <a:buSzPts val="1800"/>
              <a:buFont typeface="Arial" panose="020B0604020202020204" pitchFamily="34" charset="0"/>
              <a:buNone/>
              <a:defRPr/>
            </a:pPr>
            <a:r>
              <a:rPr lang="en-US" altLang="en-US" sz="2000" dirty="0">
                <a:solidFill>
                  <a:schemeClr val="tx1"/>
                </a:solidFill>
                <a:latin typeface="Times New Roman" panose="02020603050405020304" pitchFamily="18" charset="0"/>
                <a:cs typeface="Times New Roman" panose="02020603050405020304" pitchFamily="18" charset="0"/>
              </a:rPr>
              <a:t>Anna Mariya Thomas: JEC24CC021</a:t>
            </a:r>
          </a:p>
          <a:p>
            <a:pPr marL="114300" indent="0">
              <a:buSzPts val="1800"/>
              <a:buFont typeface="Arial" panose="020B0604020202020204" pitchFamily="34" charset="0"/>
              <a:buNone/>
              <a:defRPr/>
            </a:pPr>
            <a:r>
              <a:rPr lang="en-US" altLang="en-US" sz="2000" dirty="0">
                <a:solidFill>
                  <a:schemeClr val="tx1"/>
                </a:solidFill>
                <a:latin typeface="Times New Roman" panose="02020603050405020304" pitchFamily="18" charset="0"/>
                <a:cs typeface="Times New Roman" panose="02020603050405020304" pitchFamily="18" charset="0"/>
              </a:rPr>
              <a:t>Joy Malayekal Abraham: JEC24CC040</a:t>
            </a:r>
          </a:p>
          <a:p>
            <a:pPr marL="114300" indent="0">
              <a:buSzPts val="1800"/>
              <a:buFont typeface="Arial" panose="020B0604020202020204" pitchFamily="34" charset="0"/>
              <a:buNone/>
              <a:defRPr/>
            </a:pPr>
            <a:r>
              <a:rPr lang="en-US" altLang="en-US" sz="2000" dirty="0">
                <a:solidFill>
                  <a:schemeClr val="tx1"/>
                </a:solidFill>
                <a:latin typeface="Times New Roman" panose="02020603050405020304" pitchFamily="18" charset="0"/>
                <a:cs typeface="Times New Roman" panose="02020603050405020304" pitchFamily="18" charset="0"/>
              </a:rPr>
              <a:t>S Arya Lakshmi: JEC24CC052</a:t>
            </a:r>
          </a:p>
          <a:p>
            <a:pPr marL="114300" indent="0">
              <a:buSzPts val="1800"/>
              <a:buFont typeface="Arial" panose="020B0604020202020204" pitchFamily="34" charset="0"/>
              <a:buNone/>
              <a:defRPr/>
            </a:pPr>
            <a:r>
              <a:rPr lang="en-US" altLang="en-US" sz="2000" dirty="0">
                <a:solidFill>
                  <a:schemeClr val="tx1"/>
                </a:solidFill>
                <a:latin typeface="Times New Roman" panose="02020603050405020304" pitchFamily="18" charset="0"/>
                <a:cs typeface="Times New Roman" panose="02020603050405020304" pitchFamily="18" charset="0"/>
              </a:rPr>
              <a:t>Savio Sajeev: JEC24CC053</a:t>
            </a:r>
          </a:p>
        </p:txBody>
      </p:sp>
      <p:sp>
        <p:nvSpPr>
          <p:cNvPr id="9" name="Google Shape;186;p1"/>
          <p:cNvSpPr txBox="1"/>
          <p:nvPr/>
        </p:nvSpPr>
        <p:spPr bwMode="auto">
          <a:xfrm>
            <a:off x="8331238" y="4809821"/>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
        <p:nvSpPr>
          <p:cNvPr id="5" name="Date Placeholder 4"/>
          <p:cNvSpPr>
            <a:spLocks noGrp="1"/>
          </p:cNvSpPr>
          <p:nvPr>
            <p:ph type="dt" sz="half" idx="10"/>
          </p:nvPr>
        </p:nvSpPr>
        <p:spPr/>
        <p:txBody>
          <a:bodyPr/>
          <a:lstStyle/>
          <a:p>
            <a:fld id="{44F3D910-6FC6-443F-BE9B-87599B114612}" type="datetime1">
              <a:rPr lang="en-US" smtClean="0"/>
              <a:t>7/29/2026</a:t>
            </a:fld>
            <a:endParaRPr lang="en-IN"/>
          </a:p>
        </p:txBody>
      </p:sp>
      <p:sp>
        <p:nvSpPr>
          <p:cNvPr id="10" name="Slide Number Placeholder 9"/>
          <p:cNvSpPr>
            <a:spLocks noGrp="1"/>
          </p:cNvSpPr>
          <p:nvPr>
            <p:ph type="sldNum" sz="quarter" idx="12"/>
          </p:nvPr>
        </p:nvSpPr>
        <p:spPr/>
        <p:txBody>
          <a:bodyPr/>
          <a:lstStyle/>
          <a:p>
            <a:fld id="{7C33CCD4-7228-4506-A3A6-5A9074B2CE31}" type="slidenum">
              <a:rPr lang="en-IN" smtClean="0"/>
              <a:t>2</a:t>
            </a:fld>
            <a:endParaRPr lang="en-IN"/>
          </a:p>
        </p:txBody>
      </p:sp>
      <p:sp>
        <p:nvSpPr>
          <p:cNvPr id="11" name="Footer Placeholder 10"/>
          <p:cNvSpPr>
            <a:spLocks noGrp="1"/>
          </p:cNvSpPr>
          <p:nvPr>
            <p:ph type="ftr" sz="quarter" idx="11"/>
          </p:nvPr>
        </p:nvSpPr>
        <p:spPr/>
        <p:txBody>
          <a:bodyPr/>
          <a:lstStyle/>
          <a:p>
            <a:r>
              <a:rPr lang="en-IN"/>
              <a:t>Dept of CSE(CY)</a:t>
            </a: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panose="02020603050405020304"/>
                <a:ea typeface="Times New Roman" panose="02020603050405020304"/>
                <a:cs typeface="Times New Roman" panose="02020603050405020304"/>
              </a:rPr>
              <a:t>DEPARTMENT OF COMPUTER SCIENCE &amp; ENGINEERING </a:t>
            </a:r>
          </a:p>
          <a:p>
            <a:pPr marL="0" indent="0" algn="ctr">
              <a:buFont typeface="Arial" panose="020B0604020202020204" pitchFamily="34" charset="0"/>
              <a:buNone/>
              <a:defRPr/>
            </a:pPr>
            <a:r>
              <a:rPr lang="en-US" b="1" dirty="0">
                <a:latin typeface="Times New Roman" panose="02020603050405020304"/>
                <a:ea typeface="Times New Roman" panose="02020603050405020304"/>
                <a:cs typeface="Times New Roman" panose="02020603050405020304"/>
              </a:rPr>
              <a:t>(Cyber Security)</a:t>
            </a:r>
          </a:p>
          <a:p>
            <a:pPr marL="0" indent="0" algn="ctr">
              <a:buFont typeface="Arial" panose="020B0604020202020204" pitchFamily="34" charset="0"/>
              <a:buNone/>
              <a:defRPr/>
            </a:pPr>
            <a:r>
              <a:rPr lang="en-US" b="1" dirty="0"/>
              <a:t> </a:t>
            </a:r>
            <a:r>
              <a:rPr lang="en-US" sz="2100" b="1" dirty="0">
                <a:latin typeface="Times New Roman" panose="02020603050405020304"/>
                <a:ea typeface="Times New Roman" panose="02020603050405020304"/>
                <a:cs typeface="Times New Roman" panose="02020603050405020304"/>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panose="02020603050405020304"/>
              <a:ea typeface="Times New Roman" panose="02020603050405020304"/>
              <a:cs typeface="Times New Roman" panose="02020603050405020304"/>
            </a:endParaRPr>
          </a:p>
          <a:p>
            <a:pPr marL="0" indent="0">
              <a:buClr>
                <a:schemeClr val="dk1"/>
              </a:buClr>
              <a:buSzPts val="1100"/>
              <a:buFont typeface="Arial" panose="020B0604020202020204"/>
              <a:buNone/>
              <a:defRPr/>
            </a:pPr>
            <a:endParaRPr lang="en-US" sz="2100" dirty="0">
              <a:latin typeface="Times New Roman" panose="02020603050405020304"/>
              <a:ea typeface="Times New Roman" panose="02020603050405020304"/>
              <a:cs typeface="Times New Roman" panose="02020603050405020304"/>
            </a:endParaRPr>
          </a:p>
          <a:p>
            <a:pPr marL="0" indent="0">
              <a:buFont typeface="Arial" panose="020B0604020202020204" pitchFamily="34" charset="0"/>
              <a:buNone/>
              <a:defRPr/>
            </a:pPr>
            <a:endParaRPr lang="en-US" sz="1700" dirty="0">
              <a:latin typeface="Times New Roman" panose="02020603050405020304"/>
              <a:ea typeface="Times New Roman" panose="02020603050405020304"/>
              <a:cs typeface="Times New Roman" panose="02020603050405020304"/>
            </a:endParaRPr>
          </a:p>
          <a:p>
            <a:pPr marL="0" indent="0">
              <a:buClr>
                <a:schemeClr val="dk1"/>
              </a:buClr>
              <a:buSzPts val="1100"/>
              <a:buFont typeface="Arial" panose="020B0604020202020204"/>
              <a:buNone/>
              <a:defRPr/>
            </a:pPr>
            <a:endParaRPr lang="en-US" sz="1300" dirty="0">
              <a:latin typeface="Times New Roman" panose="02020603050405020304"/>
              <a:ea typeface="Times New Roman" panose="02020603050405020304"/>
              <a:cs typeface="Times New Roman" panose="02020603050405020304"/>
            </a:endParaRPr>
          </a:p>
          <a:p>
            <a:pPr marL="0" indent="0">
              <a:buFont typeface="Arial" panose="020B0604020202020204" pitchFamily="34" charset="0"/>
              <a:buNone/>
              <a:defRPr/>
            </a:pPr>
            <a:endParaRPr lang="en-US" sz="600" dirty="0">
              <a:latin typeface="Times New Roman" panose="02020603050405020304"/>
              <a:ea typeface="Times New Roman" panose="02020603050405020304"/>
              <a:cs typeface="Times New Roman" panose="02020603050405020304"/>
            </a:endParaRPr>
          </a:p>
        </p:txBody>
      </p:sp>
      <p:sp>
        <p:nvSpPr>
          <p:cNvPr id="5" name="Date Placeholder 4"/>
          <p:cNvSpPr>
            <a:spLocks noGrp="1"/>
          </p:cNvSpPr>
          <p:nvPr>
            <p:ph type="dt" sz="half" idx="10"/>
          </p:nvPr>
        </p:nvSpPr>
        <p:spPr/>
        <p:txBody>
          <a:bodyPr/>
          <a:lstStyle/>
          <a:p>
            <a:fld id="{44F3D910-6FC6-443F-BE9B-87599B114612}" type="datetime1">
              <a:rPr lang="en-US" smtClean="0"/>
              <a:t>7/29/2026</a:t>
            </a:fld>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3</a:t>
            </a:fld>
            <a:endParaRPr lang="en-IN"/>
          </a:p>
        </p:txBody>
      </p:sp>
      <p:sp>
        <p:nvSpPr>
          <p:cNvPr id="8" name="Footer Placeholder 7"/>
          <p:cNvSpPr>
            <a:spLocks noGrp="1"/>
          </p:cNvSpPr>
          <p:nvPr>
            <p:ph type="ftr" sz="quarter" idx="11"/>
          </p:nvPr>
        </p:nvSpPr>
        <p:spPr/>
        <p:txBody>
          <a:bodyPr/>
          <a:lstStyle/>
          <a:p>
            <a:r>
              <a:rPr lang="en-IN"/>
              <a:t>Dept of CSE(CY)</a:t>
            </a: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169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panose="02020603050405020304"/>
                <a:ea typeface="Times New Roman" panose="02020603050405020304"/>
                <a:cs typeface="Times New Roman" panose="02020603050405020304"/>
              </a:rPr>
              <a:t>DEPARTMENT OF COMPUTER SCIENCE &amp; ENGINEERING </a:t>
            </a:r>
          </a:p>
          <a:p>
            <a:pPr marL="0" indent="0" algn="ctr">
              <a:buFont typeface="Arial" panose="020B0604020202020204" pitchFamily="34" charset="0"/>
              <a:buNone/>
              <a:defRPr/>
            </a:pPr>
            <a:r>
              <a:rPr lang="en-US" b="1" dirty="0">
                <a:latin typeface="Times New Roman" panose="02020603050405020304"/>
                <a:ea typeface="Times New Roman" panose="02020603050405020304"/>
                <a:cs typeface="Times New Roman" panose="02020603050405020304"/>
              </a:rPr>
              <a:t>(Cyber Security)</a:t>
            </a:r>
          </a:p>
          <a:p>
            <a:pPr marL="0" indent="0" algn="ctr">
              <a:buNone/>
              <a:defRPr/>
            </a:pPr>
            <a:r>
              <a:rPr lang="en-US" b="1" dirty="0"/>
              <a:t> </a:t>
            </a:r>
            <a:r>
              <a:rPr lang="en-US" sz="2800" b="1" dirty="0">
                <a:latin typeface="Times New Roman" panose="02020603050405020304"/>
                <a:ea typeface="Times New Roman" panose="02020603050405020304"/>
                <a:cs typeface="Times New Roman" panose="02020603050405020304"/>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panose="02020603050405020304"/>
              <a:ea typeface="Times New Roman" panose="02020603050405020304"/>
              <a:cs typeface="Times New Roman" panose="02020603050405020304"/>
            </a:endParaRPr>
          </a:p>
          <a:p>
            <a:pPr marL="0" indent="0" algn="ctr">
              <a:buFont typeface="Arial" panose="020B0604020202020204" pitchFamily="34" charset="0"/>
              <a:buNone/>
              <a:defRPr/>
            </a:pPr>
            <a:endParaRPr lang="en-US" b="1" dirty="0">
              <a:latin typeface="Times New Roman" panose="02020603050405020304"/>
              <a:ea typeface="Times New Roman" panose="02020603050405020304"/>
              <a:cs typeface="Times New Roman" panose="02020603050405020304"/>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4977" y="182245"/>
            <a:ext cx="10579260" cy="1747701"/>
          </a:xfrm>
          <a:prstGeom prst="rect">
            <a:avLst/>
          </a:prstGeom>
        </p:spPr>
      </p:pic>
      <p:sp>
        <p:nvSpPr>
          <p:cNvPr id="8" name="Date Placeholder 7"/>
          <p:cNvSpPr>
            <a:spLocks noGrp="1"/>
          </p:cNvSpPr>
          <p:nvPr>
            <p:ph type="dt" sz="half" idx="10"/>
          </p:nvPr>
        </p:nvSpPr>
        <p:spPr/>
        <p:txBody>
          <a:bodyPr/>
          <a:lstStyle/>
          <a:p>
            <a:fld id="{44F3D910-6FC6-443F-BE9B-87599B114612}" type="datetime1">
              <a:rPr lang="en-US" smtClean="0"/>
              <a:t>7/29/2026</a:t>
            </a:fld>
            <a:endParaRPr lang="en-IN"/>
          </a:p>
        </p:txBody>
      </p:sp>
      <p:sp>
        <p:nvSpPr>
          <p:cNvPr id="9" name="Slide Number Placeholder 8"/>
          <p:cNvSpPr>
            <a:spLocks noGrp="1"/>
          </p:cNvSpPr>
          <p:nvPr>
            <p:ph type="sldNum" sz="quarter" idx="12"/>
          </p:nvPr>
        </p:nvSpPr>
        <p:spPr/>
        <p:txBody>
          <a:bodyPr/>
          <a:lstStyle/>
          <a:p>
            <a:fld id="{7C33CCD4-7228-4506-A3A6-5A9074B2CE31}" type="slidenum">
              <a:rPr lang="en-IN" smtClean="0"/>
              <a:t>4</a:t>
            </a:fld>
            <a:endParaRPr lang="en-IN"/>
          </a:p>
        </p:txBody>
      </p:sp>
      <p:sp>
        <p:nvSpPr>
          <p:cNvPr id="10" name="Footer Placeholder 9"/>
          <p:cNvSpPr>
            <a:spLocks noGrp="1"/>
          </p:cNvSpPr>
          <p:nvPr>
            <p:ph type="ftr" sz="quarter" idx="11"/>
          </p:nvPr>
        </p:nvSpPr>
        <p:spPr/>
        <p:txBody>
          <a:bodyPr/>
          <a:lstStyle/>
          <a:p>
            <a:r>
              <a:rPr lang="en-IN"/>
              <a:t>Dept of CSE(CY)</a:t>
            </a: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5656" y="243144"/>
            <a:ext cx="10579260" cy="1747701"/>
          </a:xfrm>
          <a:prstGeom prst="rect">
            <a:avLst/>
          </a:prstGeom>
        </p:spPr>
      </p:pic>
      <p:sp>
        <p:nvSpPr>
          <p:cNvPr id="4" name="Google Shape;159;p29"/>
          <p:cNvSpPr txBox="1"/>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panose="020B0604020202020204"/>
              <a:buNone/>
              <a:defRPr/>
            </a:pPr>
            <a:r>
              <a:rPr lang="en-US" b="1" u="sng" dirty="0" err="1">
                <a:latin typeface="Times New Roman" panose="02020603050405020304"/>
                <a:ea typeface="Times New Roman" panose="02020603050405020304"/>
                <a:cs typeface="Times New Roman" panose="02020603050405020304"/>
              </a:rPr>
              <a:t>Programme</a:t>
            </a:r>
            <a:r>
              <a:rPr lang="en-US" b="1" u="sng" dirty="0">
                <a:latin typeface="Times New Roman" panose="02020603050405020304"/>
                <a:ea typeface="Times New Roman" panose="02020603050405020304"/>
                <a:cs typeface="Times New Roman" panose="02020603050405020304"/>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panose="02020603050405020304"/>
              <a:ea typeface="Times New Roman" panose="02020603050405020304"/>
              <a:cs typeface="Times New Roman" panose="02020603050405020304"/>
            </a:endParaRPr>
          </a:p>
        </p:txBody>
      </p:sp>
      <p:sp>
        <p:nvSpPr>
          <p:cNvPr id="7" name="Date Placeholder 6"/>
          <p:cNvSpPr>
            <a:spLocks noGrp="1"/>
          </p:cNvSpPr>
          <p:nvPr>
            <p:ph type="dt" sz="half" idx="10"/>
          </p:nvPr>
        </p:nvSpPr>
        <p:spPr/>
        <p:txBody>
          <a:bodyPr/>
          <a:lstStyle/>
          <a:p>
            <a:fld id="{44F3D910-6FC6-443F-BE9B-87599B114612}" type="datetime1">
              <a:rPr lang="en-US" smtClean="0"/>
              <a:t>7/29/2026</a:t>
            </a:fld>
            <a:endParaRPr lang="en-IN"/>
          </a:p>
        </p:txBody>
      </p:sp>
      <p:sp>
        <p:nvSpPr>
          <p:cNvPr id="8" name="Slide Number Placeholder 7"/>
          <p:cNvSpPr>
            <a:spLocks noGrp="1"/>
          </p:cNvSpPr>
          <p:nvPr>
            <p:ph type="sldNum" sz="quarter" idx="12"/>
          </p:nvPr>
        </p:nvSpPr>
        <p:spPr/>
        <p:txBody>
          <a:bodyPr/>
          <a:lstStyle/>
          <a:p>
            <a:fld id="{7C33CCD4-7228-4506-A3A6-5A9074B2CE31}" type="slidenum">
              <a:rPr lang="en-IN" smtClean="0"/>
              <a:t>5</a:t>
            </a:fld>
            <a:endParaRPr lang="en-IN"/>
          </a:p>
        </p:txBody>
      </p:sp>
      <p:sp>
        <p:nvSpPr>
          <p:cNvPr id="9" name="Footer Placeholder 8"/>
          <p:cNvSpPr>
            <a:spLocks noGrp="1"/>
          </p:cNvSpPr>
          <p:nvPr>
            <p:ph type="ftr" sz="quarter" idx="11"/>
          </p:nvPr>
        </p:nvSpPr>
        <p:spPr/>
        <p:txBody>
          <a:bodyPr/>
          <a:lstStyle/>
          <a:p>
            <a:r>
              <a:rPr lang="en-IN"/>
              <a:t>Dept of CSE(CY)</a:t>
            </a: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5000"/>
              </a:lnSpc>
              <a:spcBef>
                <a:spcPts val="0"/>
              </a:spcBef>
              <a:buClr>
                <a:schemeClr val="dk1"/>
              </a:buClr>
              <a:buSzPts val="1100"/>
              <a:buFont typeface="Arial" panose="020B0604020202020204"/>
              <a:buNone/>
              <a:defRPr/>
            </a:pPr>
            <a:r>
              <a:rPr lang="en-US" b="1" u="sng" dirty="0" err="1">
                <a:latin typeface="Times New Roman" panose="02020603050405020304"/>
                <a:ea typeface="Times New Roman" panose="02020603050405020304"/>
                <a:cs typeface="Times New Roman" panose="02020603050405020304"/>
              </a:rPr>
              <a:t>Programme</a:t>
            </a:r>
            <a:r>
              <a:rPr lang="en-US" b="1" u="sng" dirty="0">
                <a:latin typeface="Times New Roman" panose="02020603050405020304"/>
                <a:ea typeface="Times New Roman" panose="02020603050405020304"/>
                <a:cs typeface="Times New Roman" panose="02020603050405020304"/>
              </a:rPr>
              <a:t> Outcomes</a:t>
            </a:r>
            <a:endParaRPr lang="en-US" u="sng" dirty="0">
              <a:latin typeface="Times New Roman" panose="02020603050405020304"/>
              <a:ea typeface="Times New Roman" panose="02020603050405020304"/>
              <a:cs typeface="Times New Roman" panose="02020603050405020304"/>
            </a:endParaRPr>
          </a:p>
          <a:p>
            <a:pPr marL="0" indent="0">
              <a:lnSpc>
                <a:spcPct val="115000"/>
              </a:lnSpc>
              <a:spcBef>
                <a:spcPts val="0"/>
              </a:spcBef>
              <a:buFont typeface="Arial" panose="020B0604020202020204" pitchFamily="34" charset="0"/>
              <a:buNone/>
              <a:defRPr/>
            </a:pPr>
            <a:r>
              <a:rPr lang="en-US" sz="1400" dirty="0">
                <a:latin typeface="Times New Roman" panose="02020603050405020304"/>
                <a:ea typeface="Times New Roman" panose="02020603050405020304"/>
                <a:cs typeface="Times New Roman" panose="02020603050405020304"/>
              </a:rPr>
              <a:t>    Engineering Graduates will be able to:</a:t>
            </a:r>
          </a:p>
          <a:p>
            <a:pPr marL="457200" marR="274320" indent="0" algn="just">
              <a:lnSpc>
                <a:spcPct val="115000"/>
              </a:lnSpc>
              <a:spcBef>
                <a:spcPts val="0"/>
              </a:spcBef>
              <a:buClr>
                <a:schemeClr val="dk1"/>
              </a:buClr>
              <a:buSzPts val="1100"/>
              <a:buFont typeface="Arial" panose="020B0604020202020204"/>
              <a:buNone/>
              <a:defRPr/>
            </a:pPr>
            <a:r>
              <a:rPr lang="en-US" sz="1500" dirty="0">
                <a:latin typeface="Times New Roman" panose="02020603050405020304"/>
                <a:ea typeface="Times New Roman" panose="02020603050405020304"/>
                <a:cs typeface="Times New Roman" panose="02020603050405020304"/>
              </a:rPr>
              <a:t>1. </a:t>
            </a:r>
            <a:r>
              <a:rPr lang="en-US" sz="1500" b="1" dirty="0">
                <a:latin typeface="Times New Roman" panose="02020603050405020304"/>
                <a:ea typeface="Times New Roman" panose="02020603050405020304"/>
                <a:cs typeface="Times New Roman" panose="02020603050405020304"/>
              </a:rPr>
              <a:t>Engineering knowledge:</a:t>
            </a:r>
            <a:r>
              <a:rPr lang="en-US" sz="1500" dirty="0">
                <a:latin typeface="Times New Roman" panose="02020603050405020304"/>
                <a:ea typeface="Times New Roman" panose="02020603050405020304"/>
                <a:cs typeface="Times New Roman" panose="02020603050405020304"/>
              </a:rPr>
              <a:t> Apply the knowledge of mathematics, science, engineering fundamentals, and an engineering specialization to the solution of complex engineering problems.</a:t>
            </a:r>
          </a:p>
          <a:p>
            <a:pPr marL="457200" marR="274320" indent="0" algn="just">
              <a:lnSpc>
                <a:spcPct val="115000"/>
              </a:lnSpc>
              <a:spcBef>
                <a:spcPts val="0"/>
              </a:spcBef>
              <a:buClr>
                <a:schemeClr val="dk1"/>
              </a:buClr>
              <a:buSzPts val="1100"/>
              <a:buFont typeface="Arial" panose="020B0604020202020204"/>
              <a:buNone/>
              <a:defRPr/>
            </a:pPr>
            <a:br>
              <a:rPr lang="en-US" sz="1500" dirty="0">
                <a:latin typeface="Times New Roman" panose="02020603050405020304"/>
                <a:ea typeface="Times New Roman" panose="02020603050405020304"/>
                <a:cs typeface="Times New Roman" panose="02020603050405020304"/>
              </a:rPr>
            </a:br>
            <a:r>
              <a:rPr lang="en-US" sz="1500" dirty="0">
                <a:latin typeface="Times New Roman" panose="02020603050405020304"/>
                <a:ea typeface="Times New Roman" panose="02020603050405020304"/>
                <a:cs typeface="Times New Roman" panose="02020603050405020304"/>
              </a:rPr>
              <a:t>2. </a:t>
            </a:r>
            <a:r>
              <a:rPr lang="en-US" sz="1500" b="1" dirty="0">
                <a:latin typeface="Times New Roman" panose="02020603050405020304"/>
                <a:ea typeface="Times New Roman" panose="02020603050405020304"/>
                <a:cs typeface="Times New Roman" panose="02020603050405020304"/>
              </a:rPr>
              <a:t>Problem analysis:</a:t>
            </a:r>
            <a:r>
              <a:rPr lang="en-US" sz="1500" dirty="0">
                <a:latin typeface="Times New Roman" panose="02020603050405020304"/>
                <a:ea typeface="Times New Roman" panose="02020603050405020304"/>
                <a:cs typeface="Times New Roman" panose="02020603050405020304"/>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5000"/>
              </a:lnSpc>
              <a:spcBef>
                <a:spcPts val="0"/>
              </a:spcBef>
              <a:buClr>
                <a:schemeClr val="dk1"/>
              </a:buClr>
              <a:buSzPts val="1100"/>
              <a:buFont typeface="Arial" panose="020B0604020202020204"/>
              <a:buNone/>
              <a:defRPr/>
            </a:pPr>
            <a:br>
              <a:rPr lang="en-US" sz="1500" dirty="0">
                <a:latin typeface="Times New Roman" panose="02020603050405020304"/>
                <a:ea typeface="Times New Roman" panose="02020603050405020304"/>
                <a:cs typeface="Times New Roman" panose="02020603050405020304"/>
              </a:rPr>
            </a:br>
            <a:r>
              <a:rPr lang="en-US" sz="1500" dirty="0">
                <a:latin typeface="Times New Roman" panose="02020603050405020304"/>
                <a:ea typeface="Times New Roman" panose="02020603050405020304"/>
                <a:cs typeface="Times New Roman" panose="02020603050405020304"/>
              </a:rPr>
              <a:t>3. </a:t>
            </a:r>
            <a:r>
              <a:rPr lang="en-US" sz="1500" b="1" dirty="0">
                <a:latin typeface="Times New Roman" panose="02020603050405020304"/>
                <a:ea typeface="Times New Roman" panose="02020603050405020304"/>
                <a:cs typeface="Times New Roman" panose="02020603050405020304"/>
              </a:rPr>
              <a:t>Design/development of solutions:</a:t>
            </a:r>
            <a:r>
              <a:rPr lang="en-US" sz="1500" dirty="0">
                <a:latin typeface="Times New Roman" panose="02020603050405020304"/>
                <a:ea typeface="Times New Roman" panose="02020603050405020304"/>
                <a:cs typeface="Times New Roman" panose="02020603050405020304"/>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5000"/>
              </a:lnSpc>
              <a:spcBef>
                <a:spcPts val="0"/>
              </a:spcBef>
              <a:buClr>
                <a:schemeClr val="dk1"/>
              </a:buClr>
              <a:buSzPts val="1100"/>
              <a:buFont typeface="Arial" panose="020B0604020202020204"/>
              <a:buNone/>
              <a:defRPr/>
            </a:pPr>
            <a:br>
              <a:rPr lang="en-US" sz="1500" dirty="0">
                <a:latin typeface="Times New Roman" panose="02020603050405020304"/>
                <a:ea typeface="Times New Roman" panose="02020603050405020304"/>
                <a:cs typeface="Times New Roman" panose="02020603050405020304"/>
              </a:rPr>
            </a:br>
            <a:r>
              <a:rPr lang="en-US" sz="1500" dirty="0">
                <a:latin typeface="Times New Roman" panose="02020603050405020304"/>
                <a:ea typeface="Times New Roman" panose="02020603050405020304"/>
                <a:cs typeface="Times New Roman" panose="02020603050405020304"/>
              </a:rPr>
              <a:t>4. </a:t>
            </a:r>
            <a:r>
              <a:rPr lang="en-US" sz="1500" b="1" dirty="0">
                <a:latin typeface="Times New Roman" panose="02020603050405020304"/>
                <a:ea typeface="Times New Roman" panose="02020603050405020304"/>
                <a:cs typeface="Times New Roman" panose="02020603050405020304"/>
              </a:rPr>
              <a:t>Conduct investigations of complex problems:</a:t>
            </a:r>
            <a:r>
              <a:rPr lang="en-US" sz="1500" dirty="0">
                <a:latin typeface="Times New Roman" panose="02020603050405020304"/>
                <a:ea typeface="Times New Roman" panose="02020603050405020304"/>
                <a:cs typeface="Times New Roman" panose="02020603050405020304"/>
              </a:rPr>
              <a:t> Use research-based knowledge and research methods including design of experiments, analysis and interpretation of data, and synthesis of the information to provide valid conclusions.</a:t>
            </a:r>
          </a:p>
          <a:p>
            <a:pPr marL="457200" marR="274320" indent="0" algn="just">
              <a:lnSpc>
                <a:spcPct val="115000"/>
              </a:lnSpc>
              <a:spcBef>
                <a:spcPts val="0"/>
              </a:spcBef>
              <a:buClr>
                <a:schemeClr val="dk1"/>
              </a:buClr>
              <a:buSzPts val="1100"/>
              <a:buFont typeface="Arial" panose="020B0604020202020204"/>
              <a:buNone/>
              <a:defRPr/>
            </a:pPr>
            <a:r>
              <a:rPr lang="en-US" sz="1500" dirty="0">
                <a:latin typeface="Times New Roman" panose="02020603050405020304"/>
                <a:ea typeface="Times New Roman" panose="02020603050405020304"/>
                <a:cs typeface="Times New Roman" panose="02020603050405020304"/>
              </a:rPr>
              <a:t>5. </a:t>
            </a:r>
            <a:r>
              <a:rPr lang="en-US" sz="1500" b="1" dirty="0">
                <a:latin typeface="Times New Roman" panose="02020603050405020304"/>
                <a:ea typeface="Times New Roman" panose="02020603050405020304"/>
                <a:cs typeface="Times New Roman" panose="02020603050405020304"/>
              </a:rPr>
              <a:t>Modern tool usage:</a:t>
            </a:r>
            <a:r>
              <a:rPr lang="en-US" sz="1500" dirty="0">
                <a:latin typeface="Times New Roman" panose="02020603050405020304"/>
                <a:ea typeface="Times New Roman" panose="02020603050405020304"/>
                <a:cs typeface="Times New Roman" panose="02020603050405020304"/>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
        <p:nvSpPr>
          <p:cNvPr id="7" name="Date Placeholder 6"/>
          <p:cNvSpPr>
            <a:spLocks noGrp="1"/>
          </p:cNvSpPr>
          <p:nvPr>
            <p:ph type="dt" sz="half" idx="10"/>
          </p:nvPr>
        </p:nvSpPr>
        <p:spPr/>
        <p:txBody>
          <a:bodyPr/>
          <a:lstStyle/>
          <a:p>
            <a:fld id="{44F3D910-6FC6-443F-BE9B-87599B114612}" type="datetime1">
              <a:rPr lang="en-US" smtClean="0"/>
              <a:t>7/29/2026</a:t>
            </a:fld>
            <a:endParaRPr lang="en-IN"/>
          </a:p>
        </p:txBody>
      </p:sp>
      <p:sp>
        <p:nvSpPr>
          <p:cNvPr id="8" name="Slide Number Placeholder 7"/>
          <p:cNvSpPr>
            <a:spLocks noGrp="1"/>
          </p:cNvSpPr>
          <p:nvPr>
            <p:ph type="sldNum" sz="quarter" idx="12"/>
          </p:nvPr>
        </p:nvSpPr>
        <p:spPr/>
        <p:txBody>
          <a:bodyPr/>
          <a:lstStyle/>
          <a:p>
            <a:fld id="{7C33CCD4-7228-4506-A3A6-5A9074B2CE31}" type="slidenum">
              <a:rPr lang="en-IN" smtClean="0"/>
              <a:t>6</a:t>
            </a:fld>
            <a:endParaRPr lang="en-IN"/>
          </a:p>
        </p:txBody>
      </p:sp>
      <p:sp>
        <p:nvSpPr>
          <p:cNvPr id="9" name="Footer Placeholder 8"/>
          <p:cNvSpPr>
            <a:spLocks noGrp="1"/>
          </p:cNvSpPr>
          <p:nvPr>
            <p:ph type="ftr" sz="quarter" idx="11"/>
          </p:nvPr>
        </p:nvSpPr>
        <p:spPr/>
        <p:txBody>
          <a:bodyPr/>
          <a:lstStyle/>
          <a:p>
            <a:r>
              <a:rPr lang="en-IN"/>
              <a:t>Dept of CSE(CY)</a:t>
            </a: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5000"/>
              </a:lnSpc>
              <a:spcBef>
                <a:spcPts val="0"/>
              </a:spcBef>
              <a:buClr>
                <a:schemeClr val="dk1"/>
              </a:buClr>
              <a:buSzPts val="1100"/>
              <a:buFont typeface="Arial" panose="020B0604020202020204"/>
              <a:buNone/>
              <a:defRPr/>
            </a:pPr>
            <a:br>
              <a:rPr lang="en-US" sz="12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6. </a:t>
            </a:r>
            <a:r>
              <a:rPr lang="en-US" sz="1400" b="1" dirty="0">
                <a:latin typeface="Times New Roman" panose="02020603050405020304"/>
                <a:ea typeface="Times New Roman" panose="02020603050405020304"/>
                <a:cs typeface="Times New Roman" panose="02020603050405020304"/>
              </a:rPr>
              <a:t>The engineer and society:</a:t>
            </a:r>
            <a:r>
              <a:rPr lang="en-US" sz="1400" dirty="0">
                <a:latin typeface="Times New Roman" panose="02020603050405020304"/>
                <a:ea typeface="Times New Roman" panose="02020603050405020304"/>
                <a:cs typeface="Times New Roman" panose="02020603050405020304"/>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5000"/>
              </a:lnSpc>
              <a:spcBef>
                <a:spcPts val="0"/>
              </a:spcBef>
              <a:buClr>
                <a:schemeClr val="dk1"/>
              </a:buClr>
              <a:buSzPts val="1100"/>
              <a:buFont typeface="Arial" panose="020B0604020202020204"/>
              <a:buNone/>
              <a:defRPr/>
            </a:pPr>
            <a:br>
              <a:rPr lang="en-US" sz="14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7. </a:t>
            </a:r>
            <a:r>
              <a:rPr lang="en-US" sz="1400" b="1" dirty="0">
                <a:latin typeface="Times New Roman" panose="02020603050405020304"/>
                <a:ea typeface="Times New Roman" panose="02020603050405020304"/>
                <a:cs typeface="Times New Roman" panose="02020603050405020304"/>
              </a:rPr>
              <a:t>Environment and sustainability:</a:t>
            </a:r>
            <a:r>
              <a:rPr lang="en-US" sz="1400" dirty="0">
                <a:latin typeface="Times New Roman" panose="02020603050405020304"/>
                <a:ea typeface="Times New Roman" panose="02020603050405020304"/>
                <a:cs typeface="Times New Roman" panose="02020603050405020304"/>
              </a:rPr>
              <a:t> Understand the impact of the professional engineering solutions in societal and environmental contexts, and demonstrate the knowledge of, and need for sustainable development.</a:t>
            </a:r>
          </a:p>
          <a:p>
            <a:pPr marL="274320" marR="274320" indent="0" algn="just">
              <a:lnSpc>
                <a:spcPct val="115000"/>
              </a:lnSpc>
              <a:spcBef>
                <a:spcPts val="0"/>
              </a:spcBef>
              <a:buClr>
                <a:schemeClr val="dk1"/>
              </a:buClr>
              <a:buSzPts val="1100"/>
              <a:buFont typeface="Arial" panose="020B0604020202020204"/>
              <a:buNone/>
              <a:defRPr/>
            </a:pPr>
            <a:br>
              <a:rPr lang="en-US" sz="14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8. </a:t>
            </a:r>
            <a:r>
              <a:rPr lang="en-US" sz="1400" b="1" dirty="0">
                <a:latin typeface="Times New Roman" panose="02020603050405020304"/>
                <a:ea typeface="Times New Roman" panose="02020603050405020304"/>
                <a:cs typeface="Times New Roman" panose="02020603050405020304"/>
              </a:rPr>
              <a:t>Ethics:</a:t>
            </a:r>
            <a:r>
              <a:rPr lang="en-US" sz="1400" dirty="0">
                <a:latin typeface="Times New Roman" panose="02020603050405020304"/>
                <a:ea typeface="Times New Roman" panose="02020603050405020304"/>
                <a:cs typeface="Times New Roman" panose="02020603050405020304"/>
              </a:rPr>
              <a:t> Apply ethical principles and commit to professional ethics and responsibilities and norms of the engineering practice.</a:t>
            </a:r>
          </a:p>
          <a:p>
            <a:pPr marL="274320" marR="274320" indent="0" algn="just">
              <a:lnSpc>
                <a:spcPct val="115000"/>
              </a:lnSpc>
              <a:spcBef>
                <a:spcPts val="0"/>
              </a:spcBef>
              <a:buClr>
                <a:schemeClr val="dk1"/>
              </a:buClr>
              <a:buSzPts val="1100"/>
              <a:buFont typeface="Arial" panose="020B0604020202020204"/>
              <a:buNone/>
              <a:defRPr/>
            </a:pPr>
            <a:br>
              <a:rPr lang="en-US" sz="14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9. </a:t>
            </a:r>
            <a:r>
              <a:rPr lang="en-US" sz="1400" b="1" dirty="0">
                <a:latin typeface="Times New Roman" panose="02020603050405020304"/>
                <a:ea typeface="Times New Roman" panose="02020603050405020304"/>
                <a:cs typeface="Times New Roman" panose="02020603050405020304"/>
              </a:rPr>
              <a:t>Individual and team work:</a:t>
            </a:r>
            <a:r>
              <a:rPr lang="en-US" sz="1400" dirty="0">
                <a:latin typeface="Times New Roman" panose="02020603050405020304"/>
                <a:ea typeface="Times New Roman" panose="02020603050405020304"/>
                <a:cs typeface="Times New Roman" panose="02020603050405020304"/>
              </a:rPr>
              <a:t> Function effectively as an individual, and as a member or leader in diverse teams, and in multidisciplinary settings.</a:t>
            </a:r>
          </a:p>
          <a:p>
            <a:pPr marL="274320" marR="274320" indent="0" algn="just">
              <a:lnSpc>
                <a:spcPct val="115000"/>
              </a:lnSpc>
              <a:spcBef>
                <a:spcPts val="0"/>
              </a:spcBef>
              <a:buClr>
                <a:schemeClr val="dk1"/>
              </a:buClr>
              <a:buSzPts val="1100"/>
              <a:buFont typeface="Arial" panose="020B0604020202020204"/>
              <a:buNone/>
              <a:defRPr/>
            </a:pPr>
            <a:br>
              <a:rPr lang="en-US" sz="14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10. </a:t>
            </a:r>
            <a:r>
              <a:rPr lang="en-US" sz="1400" b="1" dirty="0">
                <a:latin typeface="Times New Roman" panose="02020603050405020304"/>
                <a:ea typeface="Times New Roman" panose="02020603050405020304"/>
                <a:cs typeface="Times New Roman" panose="02020603050405020304"/>
              </a:rPr>
              <a:t>Communication:</a:t>
            </a:r>
            <a:r>
              <a:rPr lang="en-US" sz="1400" dirty="0">
                <a:latin typeface="Times New Roman" panose="02020603050405020304"/>
                <a:ea typeface="Times New Roman" panose="02020603050405020304"/>
                <a:cs typeface="Times New Roman" panose="02020603050405020304"/>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5000"/>
              </a:lnSpc>
              <a:spcBef>
                <a:spcPts val="0"/>
              </a:spcBef>
              <a:buClr>
                <a:schemeClr val="dk1"/>
              </a:buClr>
              <a:buSzPts val="1100"/>
              <a:buFont typeface="Arial" panose="020B0604020202020204"/>
              <a:buNone/>
              <a:defRPr/>
            </a:pPr>
            <a:br>
              <a:rPr lang="en-US" sz="14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11. </a:t>
            </a:r>
            <a:r>
              <a:rPr lang="en-US" sz="1400" b="1" dirty="0">
                <a:latin typeface="Times New Roman" panose="02020603050405020304"/>
                <a:ea typeface="Times New Roman" panose="02020603050405020304"/>
                <a:cs typeface="Times New Roman" panose="02020603050405020304"/>
              </a:rPr>
              <a:t>Project management and finance:</a:t>
            </a:r>
            <a:r>
              <a:rPr lang="en-US" sz="1400" dirty="0">
                <a:latin typeface="Times New Roman" panose="02020603050405020304"/>
                <a:ea typeface="Times New Roman" panose="02020603050405020304"/>
                <a:cs typeface="Times New Roman" panose="02020603050405020304"/>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panose="02020603050405020304"/>
                <a:ea typeface="Times New Roman" panose="02020603050405020304"/>
                <a:cs typeface="Times New Roman" panose="02020603050405020304"/>
              </a:rPr>
            </a:br>
            <a:r>
              <a:rPr lang="en-US" sz="1400" dirty="0">
                <a:latin typeface="Times New Roman" panose="02020603050405020304"/>
                <a:ea typeface="Times New Roman" panose="02020603050405020304"/>
                <a:cs typeface="Times New Roman" panose="02020603050405020304"/>
              </a:rPr>
              <a:t>12. </a:t>
            </a:r>
            <a:r>
              <a:rPr lang="en-US" sz="1400" b="1" dirty="0">
                <a:latin typeface="Times New Roman" panose="02020603050405020304"/>
                <a:ea typeface="Times New Roman" panose="02020603050405020304"/>
                <a:cs typeface="Times New Roman" panose="02020603050405020304"/>
              </a:rPr>
              <a:t>Life-long learning:</a:t>
            </a:r>
            <a:r>
              <a:rPr lang="en-US" sz="1400" dirty="0">
                <a:latin typeface="Times New Roman" panose="02020603050405020304"/>
                <a:ea typeface="Times New Roman" panose="02020603050405020304"/>
                <a:cs typeface="Times New Roman" panose="02020603050405020304"/>
              </a:rPr>
              <a:t> Recognize the need for, and have the preparation and ability to engage in independent and life-long learning in the broadest context of technological change</a:t>
            </a:r>
            <a:r>
              <a:rPr lang="en-US" sz="1300" dirty="0">
                <a:latin typeface="Times New Roman" panose="02020603050405020304"/>
                <a:ea typeface="Times New Roman" panose="02020603050405020304"/>
                <a:cs typeface="Times New Roman" panose="02020603050405020304"/>
              </a:rPr>
              <a:t>.</a:t>
            </a:r>
          </a:p>
          <a:p>
            <a:pPr marL="274320" marR="274320" indent="0" algn="just">
              <a:lnSpc>
                <a:spcPct val="115000"/>
              </a:lnSpc>
              <a:spcBef>
                <a:spcPts val="0"/>
              </a:spcBef>
              <a:buClr>
                <a:schemeClr val="dk1"/>
              </a:buClr>
              <a:buSzPts val="1100"/>
              <a:buFont typeface="Arial" panose="020B0604020202020204"/>
              <a:buNone/>
              <a:defRPr/>
            </a:pPr>
            <a:endParaRPr lang="en-US" sz="1300" dirty="0">
              <a:latin typeface="Times New Roman" panose="02020603050405020304"/>
              <a:ea typeface="Times New Roman" panose="02020603050405020304"/>
              <a:cs typeface="Times New Roman" panose="02020603050405020304"/>
            </a:endParaRPr>
          </a:p>
          <a:p>
            <a:pPr marL="274320" marR="274320" indent="0">
              <a:buFont typeface="Arial" panose="020B0604020202020204" pitchFamily="34" charset="0"/>
              <a:buNone/>
              <a:defRPr/>
            </a:pPr>
            <a:endParaRPr lang="en-US" dirty="0"/>
          </a:p>
        </p:txBody>
      </p:sp>
      <p:sp>
        <p:nvSpPr>
          <p:cNvPr id="7" name="Date Placeholder 6"/>
          <p:cNvSpPr>
            <a:spLocks noGrp="1"/>
          </p:cNvSpPr>
          <p:nvPr>
            <p:ph type="dt" sz="half" idx="10"/>
          </p:nvPr>
        </p:nvSpPr>
        <p:spPr/>
        <p:txBody>
          <a:bodyPr/>
          <a:lstStyle/>
          <a:p>
            <a:fld id="{44F3D910-6FC6-443F-BE9B-87599B114612}" type="datetime1">
              <a:rPr lang="en-US" smtClean="0"/>
              <a:t>7/29/2026</a:t>
            </a:fld>
            <a:endParaRPr lang="en-IN"/>
          </a:p>
        </p:txBody>
      </p:sp>
      <p:sp>
        <p:nvSpPr>
          <p:cNvPr id="8" name="Slide Number Placeholder 7"/>
          <p:cNvSpPr>
            <a:spLocks noGrp="1"/>
          </p:cNvSpPr>
          <p:nvPr>
            <p:ph type="sldNum" sz="quarter" idx="12"/>
          </p:nvPr>
        </p:nvSpPr>
        <p:spPr/>
        <p:txBody>
          <a:bodyPr/>
          <a:lstStyle/>
          <a:p>
            <a:fld id="{7C33CCD4-7228-4506-A3A6-5A9074B2CE31}" type="slidenum">
              <a:rPr lang="en-IN" smtClean="0"/>
              <a:t>7</a:t>
            </a:fld>
            <a:endParaRPr lang="en-IN"/>
          </a:p>
        </p:txBody>
      </p:sp>
      <p:sp>
        <p:nvSpPr>
          <p:cNvPr id="9" name="Footer Placeholder 8"/>
          <p:cNvSpPr>
            <a:spLocks noGrp="1"/>
          </p:cNvSpPr>
          <p:nvPr>
            <p:ph type="ftr" sz="quarter" idx="11"/>
          </p:nvPr>
        </p:nvSpPr>
        <p:spPr/>
        <p:txBody>
          <a:bodyPr/>
          <a:lstStyle/>
          <a:p>
            <a:r>
              <a:rPr lang="en-IN"/>
              <a:t>Dept of CSE(CY)</a:t>
            </a: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5000"/>
              </a:lnSpc>
              <a:spcBef>
                <a:spcPts val="0"/>
              </a:spcBef>
              <a:buClr>
                <a:schemeClr val="dk1"/>
              </a:buClr>
              <a:buSzPts val="1100"/>
              <a:buFont typeface="Arial" panose="020B0604020202020204"/>
              <a:buNone/>
              <a:defRPr/>
            </a:pPr>
            <a:r>
              <a:rPr lang="en-US" b="1" u="sng" dirty="0" err="1">
                <a:latin typeface="Times New Roman" panose="02020603050405020304"/>
                <a:ea typeface="Times New Roman" panose="02020603050405020304"/>
                <a:cs typeface="Times New Roman" panose="02020603050405020304"/>
              </a:rPr>
              <a:t>Programme</a:t>
            </a:r>
            <a:r>
              <a:rPr lang="en-US" b="1" u="sng" dirty="0">
                <a:latin typeface="Times New Roman" panose="02020603050405020304"/>
                <a:ea typeface="Times New Roman" panose="02020603050405020304"/>
                <a:cs typeface="Times New Roman" panose="02020603050405020304"/>
              </a:rPr>
              <a:t> Specific Outcomes (PSOs)</a:t>
            </a:r>
            <a:endParaRPr lang="en-US" u="sng" dirty="0">
              <a:latin typeface="Times New Roman" panose="02020603050405020304"/>
              <a:ea typeface="Times New Roman" panose="02020603050405020304"/>
              <a:cs typeface="Times New Roman" panose="02020603050405020304"/>
            </a:endParaRPr>
          </a:p>
          <a:p>
            <a:pPr marL="0" indent="0" algn="ctr">
              <a:lnSpc>
                <a:spcPct val="115000"/>
              </a:lnSpc>
              <a:spcBef>
                <a:spcPts val="0"/>
              </a:spcBef>
              <a:buClr>
                <a:schemeClr val="dk1"/>
              </a:buClr>
              <a:buSzPts val="1100"/>
              <a:buFont typeface="Arial" panose="020B0604020202020204"/>
              <a:buNone/>
              <a:defRPr/>
            </a:pPr>
            <a:endParaRPr lang="en-US" sz="1800" dirty="0">
              <a:latin typeface="Times New Roman" panose="02020603050405020304" pitchFamily="18" charset="0"/>
            </a:endParaRPr>
          </a:p>
          <a:p>
            <a:pPr marL="0" indent="0" algn="just">
              <a:lnSpc>
                <a:spcPct val="115000"/>
              </a:lnSpc>
              <a:spcBef>
                <a:spcPts val="0"/>
              </a:spcBef>
              <a:buClr>
                <a:schemeClr val="dk1"/>
              </a:buClr>
              <a:buSzPts val="1100"/>
              <a:buFont typeface="Arial" panose="020B0604020202020204"/>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5000"/>
              </a:lnSpc>
              <a:spcBef>
                <a:spcPts val="0"/>
              </a:spcBef>
              <a:buClr>
                <a:schemeClr val="dk1"/>
              </a:buClr>
              <a:buSzPts val="1100"/>
              <a:buFont typeface="Arial" panose="020B0604020202020204"/>
              <a:buNone/>
              <a:defRPr/>
            </a:pPr>
            <a:endParaRPr lang="en-US" sz="1600" dirty="0">
              <a:latin typeface="Times New Roman" panose="02020603050405020304"/>
              <a:ea typeface="Times New Roman" panose="02020603050405020304"/>
              <a:cs typeface="Times New Roman" panose="02020603050405020304"/>
            </a:endParaRPr>
          </a:p>
          <a:p>
            <a:pPr marL="0" indent="0">
              <a:buFont typeface="Arial" panose="020B0604020202020204" pitchFamily="34" charset="0"/>
              <a:buNone/>
              <a:defRPr/>
            </a:pPr>
            <a:endParaRPr lang="en-US" sz="3200" dirty="0"/>
          </a:p>
        </p:txBody>
      </p:sp>
      <p:sp>
        <p:nvSpPr>
          <p:cNvPr id="7" name="Date Placeholder 6"/>
          <p:cNvSpPr>
            <a:spLocks noGrp="1"/>
          </p:cNvSpPr>
          <p:nvPr>
            <p:ph type="dt" sz="half" idx="10"/>
          </p:nvPr>
        </p:nvSpPr>
        <p:spPr/>
        <p:txBody>
          <a:bodyPr/>
          <a:lstStyle/>
          <a:p>
            <a:fld id="{44F3D910-6FC6-443F-BE9B-87599B114612}" type="datetime1">
              <a:rPr lang="en-US" smtClean="0"/>
              <a:t>7/29/2026</a:t>
            </a:fld>
            <a:endParaRPr lang="en-IN"/>
          </a:p>
        </p:txBody>
      </p:sp>
      <p:sp>
        <p:nvSpPr>
          <p:cNvPr id="8" name="Slide Number Placeholder 7"/>
          <p:cNvSpPr>
            <a:spLocks noGrp="1"/>
          </p:cNvSpPr>
          <p:nvPr>
            <p:ph type="sldNum" sz="quarter" idx="12"/>
          </p:nvPr>
        </p:nvSpPr>
        <p:spPr/>
        <p:txBody>
          <a:bodyPr/>
          <a:lstStyle/>
          <a:p>
            <a:fld id="{7C33CCD4-7228-4506-A3A6-5A9074B2CE31}" type="slidenum">
              <a:rPr lang="en-IN" smtClean="0"/>
              <a:t>8</a:t>
            </a:fld>
            <a:endParaRPr lang="en-IN"/>
          </a:p>
        </p:txBody>
      </p:sp>
      <p:sp>
        <p:nvSpPr>
          <p:cNvPr id="9" name="Footer Placeholder 8"/>
          <p:cNvSpPr>
            <a:spLocks noGrp="1"/>
          </p:cNvSpPr>
          <p:nvPr>
            <p:ph type="ftr" sz="quarter" idx="11"/>
          </p:nvPr>
        </p:nvSpPr>
        <p:spPr/>
        <p:txBody>
          <a:bodyPr/>
          <a:lstStyle/>
          <a:p>
            <a:r>
              <a:rPr lang="en-IN"/>
              <a:t>Dept of CSE(CY)</a:t>
            </a: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838200" y="2816225"/>
            <a:ext cx="10041890" cy="32423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endParaRPr lang="en-US" sz="2000" b="1" dirty="0">
              <a:solidFill>
                <a:srgbClr val="002060"/>
              </a:solidFill>
              <a:latin typeface="Times New Roman" panose="02020603050405020304"/>
              <a:cs typeface="Times New Roman" panose="02020603050405020304"/>
            </a:endParaRPr>
          </a:p>
          <a:p>
            <a:pPr>
              <a:lnSpc>
                <a:spcPct val="100000"/>
              </a:lnSpc>
              <a:spcBef>
                <a:spcPts val="0"/>
              </a:spcBef>
              <a:defRPr/>
            </a:pPr>
            <a:r>
              <a:rPr lang="en-US" sz="2400" b="1" dirty="0">
                <a:solidFill>
                  <a:schemeClr val="tx1"/>
                </a:solidFill>
                <a:latin typeface="Times New Roman" panose="02020603050405020304"/>
                <a:cs typeface="Times New Roman" panose="02020603050405020304"/>
              </a:rPr>
              <a:t>Motivation</a:t>
            </a:r>
          </a:p>
          <a:p>
            <a:pPr>
              <a:lnSpc>
                <a:spcPct val="100000"/>
              </a:lnSpc>
              <a:spcBef>
                <a:spcPts val="0"/>
              </a:spcBef>
              <a:defRPr/>
            </a:pPr>
            <a:r>
              <a:rPr lang="en-US" sz="2400" b="1" dirty="0">
                <a:solidFill>
                  <a:schemeClr val="tx1"/>
                </a:solidFill>
                <a:latin typeface="Times New Roman" panose="02020603050405020304"/>
                <a:cs typeface="Times New Roman" panose="02020603050405020304"/>
              </a:rPr>
              <a:t>Introduction</a:t>
            </a:r>
          </a:p>
          <a:p>
            <a:pPr>
              <a:lnSpc>
                <a:spcPct val="100000"/>
              </a:lnSpc>
              <a:spcBef>
                <a:spcPts val="0"/>
              </a:spcBef>
              <a:defRPr/>
            </a:pPr>
            <a:r>
              <a:rPr lang="en-US" sz="2400" b="1" dirty="0">
                <a:solidFill>
                  <a:schemeClr val="tx1"/>
                </a:solidFill>
                <a:latin typeface="Times New Roman" panose="02020603050405020304"/>
                <a:cs typeface="Times New Roman" panose="02020603050405020304"/>
              </a:rPr>
              <a:t>Problem Statement</a:t>
            </a:r>
          </a:p>
          <a:p>
            <a:pPr>
              <a:lnSpc>
                <a:spcPct val="100000"/>
              </a:lnSpc>
              <a:spcBef>
                <a:spcPts val="0"/>
              </a:spcBef>
              <a:defRPr/>
            </a:pPr>
            <a:r>
              <a:rPr lang="en-US" sz="2400" b="1" dirty="0">
                <a:solidFill>
                  <a:schemeClr val="tx1"/>
                </a:solidFill>
                <a:latin typeface="Times New Roman" panose="02020603050405020304"/>
                <a:cs typeface="Times New Roman" panose="02020603050405020304"/>
              </a:rPr>
              <a:t>Proposed Method </a:t>
            </a:r>
          </a:p>
          <a:p>
            <a:pPr>
              <a:lnSpc>
                <a:spcPct val="100000"/>
              </a:lnSpc>
              <a:spcBef>
                <a:spcPts val="0"/>
              </a:spcBef>
              <a:defRPr/>
            </a:pPr>
            <a:r>
              <a:rPr lang="en-US" sz="2400" b="1" dirty="0">
                <a:solidFill>
                  <a:schemeClr val="tx1"/>
                </a:solidFill>
                <a:latin typeface="Times New Roman" panose="02020603050405020304"/>
                <a:cs typeface="Times New Roman" panose="02020603050405020304"/>
              </a:rPr>
              <a:t>Basic Block Diagram</a:t>
            </a:r>
          </a:p>
          <a:p>
            <a:pPr>
              <a:lnSpc>
                <a:spcPct val="100000"/>
              </a:lnSpc>
              <a:spcBef>
                <a:spcPts val="0"/>
              </a:spcBef>
              <a:defRPr/>
            </a:pPr>
            <a:r>
              <a:rPr lang="en-US" sz="2400" b="1" dirty="0">
                <a:solidFill>
                  <a:schemeClr val="tx1"/>
                </a:solidFill>
                <a:latin typeface="Times New Roman" panose="02020603050405020304"/>
                <a:cs typeface="Times New Roman" panose="02020603050405020304"/>
              </a:rPr>
              <a:t>Conclusion </a:t>
            </a:r>
          </a:p>
          <a:p>
            <a:pPr>
              <a:lnSpc>
                <a:spcPct val="100000"/>
              </a:lnSpc>
              <a:spcBef>
                <a:spcPts val="0"/>
              </a:spcBef>
              <a:defRPr/>
            </a:pPr>
            <a:r>
              <a:rPr lang="en-US" sz="2400" b="1" dirty="0">
                <a:solidFill>
                  <a:schemeClr val="tx1"/>
                </a:solidFill>
                <a:latin typeface="Times New Roman" panose="02020603050405020304"/>
                <a:cs typeface="Times New Roman" panose="02020603050405020304"/>
              </a:rPr>
              <a:t>References</a:t>
            </a:r>
          </a:p>
        </p:txBody>
      </p:sp>
      <p:sp>
        <p:nvSpPr>
          <p:cNvPr id="7" name="Date Placeholder 6"/>
          <p:cNvSpPr>
            <a:spLocks noGrp="1"/>
          </p:cNvSpPr>
          <p:nvPr>
            <p:ph type="dt" sz="half" idx="10"/>
          </p:nvPr>
        </p:nvSpPr>
        <p:spPr/>
        <p:txBody>
          <a:bodyPr/>
          <a:lstStyle/>
          <a:p>
            <a:fld id="{44F3D910-6FC6-443F-BE9B-87599B114612}" type="datetime1">
              <a:rPr lang="en-US" smtClean="0"/>
              <a:t>7/29/2026</a:t>
            </a:fld>
            <a:endParaRPr lang="en-IN"/>
          </a:p>
        </p:txBody>
      </p:sp>
      <p:sp>
        <p:nvSpPr>
          <p:cNvPr id="8" name="Slide Number Placeholder 7"/>
          <p:cNvSpPr>
            <a:spLocks noGrp="1"/>
          </p:cNvSpPr>
          <p:nvPr>
            <p:ph type="sldNum" sz="quarter" idx="12"/>
          </p:nvPr>
        </p:nvSpPr>
        <p:spPr/>
        <p:txBody>
          <a:bodyPr/>
          <a:lstStyle/>
          <a:p>
            <a:fld id="{7C33CCD4-7228-4506-A3A6-5A9074B2CE31}" type="slidenum">
              <a:rPr lang="en-IN" smtClean="0"/>
              <a:t>9</a:t>
            </a:fld>
            <a:endParaRPr lang="en-IN"/>
          </a:p>
        </p:txBody>
      </p:sp>
      <p:sp>
        <p:nvSpPr>
          <p:cNvPr id="9" name="Footer Placeholder 8"/>
          <p:cNvSpPr>
            <a:spLocks noGrp="1"/>
          </p:cNvSpPr>
          <p:nvPr>
            <p:ph type="ftr" sz="quarter" idx="11"/>
          </p:nvPr>
        </p:nvSpPr>
        <p:spPr/>
        <p:txBody>
          <a:bodyPr/>
          <a:lstStyle/>
          <a:p>
            <a:r>
              <a:rPr lang="en-IN"/>
              <a:t>Dept of CSE(CY)</a:t>
            </a:r>
          </a:p>
        </p:txBody>
      </p:sp>
      <p:sp>
        <p:nvSpPr>
          <p:cNvPr id="10" name="Text Box 9"/>
          <p:cNvSpPr txBox="1"/>
          <p:nvPr/>
        </p:nvSpPr>
        <p:spPr>
          <a:xfrm>
            <a:off x="4348480" y="2109470"/>
            <a:ext cx="4064000" cy="706755"/>
          </a:xfrm>
          <a:prstGeom prst="rect">
            <a:avLst/>
          </a:prstGeom>
          <a:noFill/>
        </p:spPr>
        <p:txBody>
          <a:bodyPr wrap="square" rtlCol="0">
            <a:spAutoFit/>
          </a:bodyPr>
          <a:lstStyle/>
          <a:p>
            <a:r>
              <a:rPr lang="en-US" sz="4000" b="1" u="sng" dirty="0">
                <a:solidFill>
                  <a:srgbClr val="002060"/>
                </a:solidFill>
                <a:latin typeface="Times New Roman" panose="02020603050405020304"/>
                <a:cs typeface="Times New Roman" panose="02020603050405020304"/>
                <a:sym typeface="+mn-ea"/>
              </a:rPr>
              <a:t>CONTENTS</a:t>
            </a:r>
            <a:endParaRPr lang="en-US" sz="4000"/>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65319" y="2067680"/>
            <a:ext cx="8229240" cy="819154"/>
          </a:xfrm>
        </p:spPr>
        <p:txBody>
          <a:bodyPr>
            <a:normAutofit/>
          </a:bodyPr>
          <a:lstStyle/>
          <a:p>
            <a:pPr algn="ctr">
              <a:defRPr/>
            </a:pPr>
            <a:r>
              <a:rPr lang="en-US" sz="4000" b="1" u="sng" dirty="0">
                <a:solidFill>
                  <a:srgbClr val="002060"/>
                </a:solidFill>
                <a:latin typeface="Times New Roman" panose="02020603050405020304"/>
                <a:ea typeface="Times New Roman" panose="02020603050405020304"/>
                <a:cs typeface="Times New Roman" panose="02020603050405020304"/>
              </a:rPr>
              <a:t>Motivation</a:t>
            </a:r>
          </a:p>
        </p:txBody>
      </p:sp>
      <p:sp>
        <p:nvSpPr>
          <p:cNvPr id="2" name="Text Box 1"/>
          <p:cNvSpPr txBox="1"/>
          <p:nvPr/>
        </p:nvSpPr>
        <p:spPr>
          <a:xfrm>
            <a:off x="892175" y="2963545"/>
            <a:ext cx="9975850" cy="3139440"/>
          </a:xfrm>
          <a:prstGeom prst="rect">
            <a:avLst/>
          </a:prstGeom>
          <a:noFill/>
        </p:spPr>
        <p:txBody>
          <a:bodyPr wrap="square" rtlCol="0">
            <a:noAutofit/>
          </a:bodyPr>
          <a:lstStyle/>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Public USB charging stations are becoming increasingly common.</a:t>
            </a: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Many people are unaware of the risk of Juice Jacking attacks.</a:t>
            </a: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Existing solutions are either inconvenient or expensive.</a:t>
            </a: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We wanted to develop a simple, portable, and affordable device that protects users while charging.</a:t>
            </a: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This project combines cybersecurity and embedded systems, making it practical and relevant to everyday life.</a:t>
            </a:r>
          </a:p>
        </p:txBody>
      </p:sp>
      <p:sp>
        <p:nvSpPr>
          <p:cNvPr id="8" name="Date Placeholder 7"/>
          <p:cNvSpPr>
            <a:spLocks noGrp="1"/>
          </p:cNvSpPr>
          <p:nvPr>
            <p:ph type="dt" sz="half" idx="10"/>
          </p:nvPr>
        </p:nvSpPr>
        <p:spPr/>
        <p:txBody>
          <a:bodyPr/>
          <a:lstStyle/>
          <a:p>
            <a:fld id="{44F3D910-6FC6-443F-BE9B-87599B114612}" type="datetime1">
              <a:rPr lang="en-US" smtClean="0"/>
              <a:t>7/29/2026</a:t>
            </a:fld>
            <a:endParaRPr lang="en-IN"/>
          </a:p>
        </p:txBody>
      </p:sp>
      <p:sp>
        <p:nvSpPr>
          <p:cNvPr id="9" name="Slide Number Placeholder 8"/>
          <p:cNvSpPr>
            <a:spLocks noGrp="1"/>
          </p:cNvSpPr>
          <p:nvPr>
            <p:ph type="sldNum" sz="quarter" idx="12"/>
          </p:nvPr>
        </p:nvSpPr>
        <p:spPr/>
        <p:txBody>
          <a:bodyPr/>
          <a:lstStyle/>
          <a:p>
            <a:fld id="{7C33CCD4-7228-4506-A3A6-5A9074B2CE31}" type="slidenum">
              <a:rPr lang="en-IN" smtClean="0"/>
              <a:t>10</a:t>
            </a:fld>
            <a:endParaRPr lang="en-IN"/>
          </a:p>
        </p:txBody>
      </p:sp>
      <p:sp>
        <p:nvSpPr>
          <p:cNvPr id="10" name="Footer Placeholder 9"/>
          <p:cNvSpPr>
            <a:spLocks noGrp="1"/>
          </p:cNvSpPr>
          <p:nvPr>
            <p:ph type="ftr" sz="quarter" idx="11"/>
          </p:nvPr>
        </p:nvSpPr>
        <p:spPr/>
        <p:txBody>
          <a:bodyPr/>
          <a:lstStyle/>
          <a:p>
            <a:r>
              <a:rPr lang="en-IN"/>
              <a:t>Dept of CSE(CY)</a:t>
            </a: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32268" y="2156044"/>
            <a:ext cx="8229240" cy="628135"/>
          </a:xfrm>
        </p:spPr>
        <p:txBody>
          <a:bodyPr>
            <a:noAutofit/>
          </a:bodyPr>
          <a:lstStyle/>
          <a:p>
            <a:pPr algn="ctr">
              <a:defRPr/>
            </a:pPr>
            <a:r>
              <a:rPr lang="en-US" sz="4000" b="1" u="sng" dirty="0">
                <a:solidFill>
                  <a:srgbClr val="002060"/>
                </a:solidFill>
                <a:latin typeface="Times New Roman" panose="02020603050405020304"/>
                <a:ea typeface="Times New Roman" panose="02020603050405020304"/>
                <a:cs typeface="Times New Roman" panose="02020603050405020304"/>
              </a:rPr>
              <a:t>Introduction</a:t>
            </a:r>
          </a:p>
        </p:txBody>
      </p:sp>
      <p:sp>
        <p:nvSpPr>
          <p:cNvPr id="2" name="Text Box 1"/>
          <p:cNvSpPr txBox="1"/>
          <p:nvPr/>
        </p:nvSpPr>
        <p:spPr>
          <a:xfrm>
            <a:off x="890905" y="2948940"/>
            <a:ext cx="10405745" cy="3369945"/>
          </a:xfrm>
          <a:prstGeom prst="rect">
            <a:avLst/>
          </a:prstGeom>
          <a:noFill/>
        </p:spPr>
        <p:txBody>
          <a:bodyPr wrap="square" rtlCol="0">
            <a:noAutofit/>
          </a:bodyPr>
          <a:lstStyle/>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A portable cybersecurity device designed to protect smartphones during public USB charging</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Built using an ESP32 microcontroller.</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Blocks USB data lines by default, allowing only safe power charging.</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Enables data transfer only when manually authorized by the user.</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Displays the current operating mode on an OLED display.</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Automatically switches back to safe charging mode after a preset timeout.</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Uses low-cost, readily available components for easy implementation.</a:t>
            </a:r>
          </a:p>
        </p:txBody>
      </p:sp>
      <p:sp>
        <p:nvSpPr>
          <p:cNvPr id="8" name="Date Placeholder 7"/>
          <p:cNvSpPr>
            <a:spLocks noGrp="1"/>
          </p:cNvSpPr>
          <p:nvPr>
            <p:ph type="dt" sz="half" idx="10"/>
          </p:nvPr>
        </p:nvSpPr>
        <p:spPr/>
        <p:txBody>
          <a:bodyPr/>
          <a:lstStyle/>
          <a:p>
            <a:fld id="{44F3D910-6FC6-443F-BE9B-87599B114612}" type="datetime1">
              <a:rPr lang="en-US" smtClean="0"/>
              <a:t>7/29/2026</a:t>
            </a:fld>
            <a:endParaRPr lang="en-IN"/>
          </a:p>
        </p:txBody>
      </p:sp>
      <p:sp>
        <p:nvSpPr>
          <p:cNvPr id="9" name="Slide Number Placeholder 8"/>
          <p:cNvSpPr>
            <a:spLocks noGrp="1"/>
          </p:cNvSpPr>
          <p:nvPr>
            <p:ph type="sldNum" sz="quarter" idx="12"/>
          </p:nvPr>
        </p:nvSpPr>
        <p:spPr/>
        <p:txBody>
          <a:bodyPr/>
          <a:lstStyle/>
          <a:p>
            <a:fld id="{7C33CCD4-7228-4506-A3A6-5A9074B2CE31}" type="slidenum">
              <a:rPr lang="en-IN" smtClean="0"/>
              <a:t>11</a:t>
            </a:fld>
            <a:endParaRPr lang="en-IN"/>
          </a:p>
        </p:txBody>
      </p:sp>
      <p:sp>
        <p:nvSpPr>
          <p:cNvPr id="10" name="Footer Placeholder 9"/>
          <p:cNvSpPr>
            <a:spLocks noGrp="1"/>
          </p:cNvSpPr>
          <p:nvPr>
            <p:ph type="ftr" sz="quarter" idx="11"/>
          </p:nvPr>
        </p:nvSpPr>
        <p:spPr/>
        <p:txBody>
          <a:bodyPr/>
          <a:lstStyle/>
          <a:p>
            <a:r>
              <a:rPr lang="en-IN"/>
              <a:t>Dept of CSE(CY)</a:t>
            </a: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2066261" y="225246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panose="02020603050405020304"/>
                <a:cs typeface="Times New Roman" panose="02020603050405020304"/>
              </a:rPr>
              <a:t>Problem Statement</a:t>
            </a:r>
            <a:endParaRPr lang="en-US" sz="4000" b="1" u="sng" dirty="0">
              <a:solidFill>
                <a:srgbClr val="002060"/>
              </a:solidFill>
              <a:latin typeface="Times New Roman" panose="02020603050405020304"/>
              <a:cs typeface="Times New Roman" panose="02020603050405020304"/>
            </a:endParaRPr>
          </a:p>
        </p:txBody>
      </p:sp>
      <p:sp>
        <p:nvSpPr>
          <p:cNvPr id="2" name="Text Box 1"/>
          <p:cNvSpPr txBox="1"/>
          <p:nvPr/>
        </p:nvSpPr>
        <p:spPr>
          <a:xfrm>
            <a:off x="891540" y="3076575"/>
            <a:ext cx="9591675" cy="3083560"/>
          </a:xfrm>
          <a:prstGeom prst="rect">
            <a:avLst/>
          </a:prstGeom>
          <a:noFill/>
        </p:spPr>
        <p:txBody>
          <a:bodyPr wrap="square" rtlCol="0">
            <a:noAutofit/>
          </a:bodyPr>
          <a:lstStyle/>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Public USB charging ports can steal data or install malware.</a:t>
            </a: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Users cannot tell if a charging port is safe.</a:t>
            </a: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Normal USB data blockers don't allow user control.</a:t>
            </a: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A smart, portable device is needed that:</a:t>
            </a:r>
          </a:p>
        </p:txBody>
      </p:sp>
      <p:sp>
        <p:nvSpPr>
          <p:cNvPr id="3" name="Text Box 2"/>
          <p:cNvSpPr txBox="1"/>
          <p:nvPr/>
        </p:nvSpPr>
        <p:spPr>
          <a:xfrm>
            <a:off x="1570990" y="4317365"/>
            <a:ext cx="6064885" cy="1332230"/>
          </a:xfrm>
          <a:prstGeom prst="rect">
            <a:avLst/>
          </a:prstGeom>
          <a:noFill/>
        </p:spPr>
        <p:txBody>
          <a:bodyPr wrap="square" rtlCol="0">
            <a:noAutofit/>
          </a:bodyPr>
          <a:lstStyle/>
          <a:p>
            <a:pPr indent="0">
              <a:buNone/>
            </a:pPr>
            <a:r>
              <a:rPr lang="en-IN" altLang="en-US" sz="20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Blocks data by default.</a:t>
            </a:r>
          </a:p>
          <a:p>
            <a:pPr indent="0">
              <a:buNone/>
            </a:pPr>
            <a:r>
              <a:rPr lang="en-IN" altLang="en-US" sz="20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Allows data transfer only when needed.</a:t>
            </a:r>
          </a:p>
          <a:p>
            <a:pPr indent="0">
              <a:buNone/>
            </a:pPr>
            <a:r>
              <a:rPr lang="en-IN" altLang="en-US" sz="20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Automatically returns to safe charging mode.</a:t>
            </a:r>
          </a:p>
          <a:p>
            <a:pPr indent="0">
              <a:buNone/>
            </a:pPr>
            <a:r>
              <a:rPr lang="en-IN" altLang="en-US" sz="20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Is compact, affordable, and easy to use</a:t>
            </a:r>
            <a:r>
              <a:rPr lang="en-US" altLang="en-US"/>
              <a:t>.</a:t>
            </a:r>
          </a:p>
        </p:txBody>
      </p:sp>
      <p:sp>
        <p:nvSpPr>
          <p:cNvPr id="9" name="Date Placeholder 8"/>
          <p:cNvSpPr>
            <a:spLocks noGrp="1"/>
          </p:cNvSpPr>
          <p:nvPr>
            <p:ph type="dt" sz="half" idx="10"/>
          </p:nvPr>
        </p:nvSpPr>
        <p:spPr/>
        <p:txBody>
          <a:bodyPr/>
          <a:lstStyle/>
          <a:p>
            <a:fld id="{44F3D910-6FC6-443F-BE9B-87599B114612}" type="datetime1">
              <a:rPr lang="en-US" smtClean="0"/>
              <a:t>7/29/2026</a:t>
            </a:fld>
            <a:endParaRPr lang="en-IN"/>
          </a:p>
        </p:txBody>
      </p:sp>
      <p:sp>
        <p:nvSpPr>
          <p:cNvPr id="10" name="Slide Number Placeholder 9"/>
          <p:cNvSpPr>
            <a:spLocks noGrp="1"/>
          </p:cNvSpPr>
          <p:nvPr>
            <p:ph type="sldNum" sz="quarter" idx="12"/>
          </p:nvPr>
        </p:nvSpPr>
        <p:spPr/>
        <p:txBody>
          <a:bodyPr/>
          <a:lstStyle/>
          <a:p>
            <a:fld id="{7C33CCD4-7228-4506-A3A6-5A9074B2CE31}" type="slidenum">
              <a:rPr lang="en-IN" smtClean="0"/>
              <a:t>12</a:t>
            </a:fld>
            <a:endParaRPr lang="en-IN"/>
          </a:p>
        </p:txBody>
      </p:sp>
      <p:sp>
        <p:nvSpPr>
          <p:cNvPr id="11" name="Footer Placeholder 10"/>
          <p:cNvSpPr>
            <a:spLocks noGrp="1"/>
          </p:cNvSpPr>
          <p:nvPr>
            <p:ph type="ftr" sz="quarter" idx="11"/>
          </p:nvPr>
        </p:nvSpPr>
        <p:spPr/>
        <p:txBody>
          <a:bodyPr/>
          <a:lstStyle/>
          <a:p>
            <a:r>
              <a:rPr lang="en-IN"/>
              <a:t>Dept of CSE(CY)</a:t>
            </a: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2066261" y="2396610"/>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panose="02020603050405020304"/>
                <a:cs typeface="Times New Roman" panose="02020603050405020304"/>
              </a:rPr>
              <a:t>Proposed Method</a:t>
            </a:r>
            <a:endParaRPr lang="en-US" sz="4000" b="1" u="sng" dirty="0">
              <a:solidFill>
                <a:srgbClr val="002060"/>
              </a:solidFill>
              <a:latin typeface="Times New Roman" panose="02020603050405020304"/>
              <a:cs typeface="Times New Roman" panose="02020603050405020304"/>
            </a:endParaRPr>
          </a:p>
        </p:txBody>
      </p:sp>
      <p:sp>
        <p:nvSpPr>
          <p:cNvPr id="7" name="Text Box 6"/>
          <p:cNvSpPr txBox="1"/>
          <p:nvPr/>
        </p:nvSpPr>
        <p:spPr>
          <a:xfrm>
            <a:off x="891540" y="3429635"/>
            <a:ext cx="9841230" cy="2877820"/>
          </a:xfrm>
          <a:prstGeom prst="rect">
            <a:avLst/>
          </a:prstGeom>
          <a:noFill/>
        </p:spPr>
        <p:txBody>
          <a:bodyPr wrap="square" rtlCol="0">
            <a:noAutofit/>
          </a:bodyPr>
          <a:lstStyle/>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Connect the smartphone through the Smart USB Charge Protector.</a:t>
            </a: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The ESP32 blocks USB data by default and allows only charging.</a:t>
            </a: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Press the push button to enable data transfer when needed.</a:t>
            </a: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The OLED display shows the current operating mode.</a:t>
            </a: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After a preset time, the ESP32 automatically switches back to Safe Charging Mode.</a:t>
            </a:r>
          </a:p>
          <a:p>
            <a:pPr marL="342900" indent="-34290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This helps protect the smartphone from Juice Jacking attacks while charging.</a:t>
            </a:r>
          </a:p>
        </p:txBody>
      </p:sp>
      <p:sp>
        <p:nvSpPr>
          <p:cNvPr id="8" name="Date Placeholder 7"/>
          <p:cNvSpPr>
            <a:spLocks noGrp="1"/>
          </p:cNvSpPr>
          <p:nvPr>
            <p:ph type="dt" sz="half" idx="10"/>
          </p:nvPr>
        </p:nvSpPr>
        <p:spPr/>
        <p:txBody>
          <a:bodyPr/>
          <a:lstStyle/>
          <a:p>
            <a:fld id="{44F3D910-6FC6-443F-BE9B-87599B114612}" type="datetime1">
              <a:rPr lang="en-US" smtClean="0"/>
              <a:t>7/29/2026</a:t>
            </a:fld>
            <a:endParaRPr lang="en-IN"/>
          </a:p>
        </p:txBody>
      </p:sp>
      <p:sp>
        <p:nvSpPr>
          <p:cNvPr id="9" name="Slide Number Placeholder 8"/>
          <p:cNvSpPr>
            <a:spLocks noGrp="1"/>
          </p:cNvSpPr>
          <p:nvPr>
            <p:ph type="sldNum" sz="quarter" idx="12"/>
          </p:nvPr>
        </p:nvSpPr>
        <p:spPr/>
        <p:txBody>
          <a:bodyPr/>
          <a:lstStyle/>
          <a:p>
            <a:fld id="{7C33CCD4-7228-4506-A3A6-5A9074B2CE31}" type="slidenum">
              <a:rPr lang="en-IN" smtClean="0"/>
              <a:t>13</a:t>
            </a:fld>
            <a:endParaRPr lang="en-IN"/>
          </a:p>
        </p:txBody>
      </p:sp>
      <p:sp>
        <p:nvSpPr>
          <p:cNvPr id="10" name="Footer Placeholder 9"/>
          <p:cNvSpPr>
            <a:spLocks noGrp="1"/>
          </p:cNvSpPr>
          <p:nvPr>
            <p:ph type="ftr" sz="quarter" idx="11"/>
          </p:nvPr>
        </p:nvSpPr>
        <p:spPr/>
        <p:txBody>
          <a:bodyPr/>
          <a:lstStyle/>
          <a:p>
            <a:r>
              <a:rPr lang="en-IN"/>
              <a:t>Dept of CSE(CY)</a:t>
            </a: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2066260" y="1894068"/>
            <a:ext cx="8229240" cy="628135"/>
          </a:xfrm>
        </p:spPr>
        <p:txBody>
          <a:bodyPr>
            <a:noAutofit/>
          </a:bodyPr>
          <a:lstStyle/>
          <a:p>
            <a:pPr algn="ctr">
              <a:lnSpc>
                <a:spcPct val="100000"/>
              </a:lnSpc>
              <a:spcBef>
                <a:spcPts val="0"/>
              </a:spcBef>
              <a:defRPr/>
            </a:pPr>
            <a:r>
              <a:rPr lang="en-US" sz="3600" b="1" u="sng" dirty="0">
                <a:solidFill>
                  <a:srgbClr val="002060"/>
                </a:solidFill>
                <a:latin typeface="Times New Roman" panose="02020603050405020304"/>
                <a:cs typeface="Times New Roman" panose="02020603050405020304"/>
              </a:rPr>
              <a:t>Basic Block Diagram</a:t>
            </a:r>
          </a:p>
        </p:txBody>
      </p:sp>
      <p:pic>
        <p:nvPicPr>
          <p:cNvPr id="7" name="Picture 6" descr="blk"/>
          <p:cNvPicPr>
            <a:picLocks noChangeAspect="1"/>
          </p:cNvPicPr>
          <p:nvPr/>
        </p:nvPicPr>
        <p:blipFill>
          <a:blip r:embed="rId4"/>
          <a:stretch>
            <a:fillRect/>
          </a:stretch>
        </p:blipFill>
        <p:spPr>
          <a:xfrm>
            <a:off x="2816225" y="2521903"/>
            <a:ext cx="6560185" cy="3839210"/>
          </a:xfrm>
          <a:prstGeom prst="rect">
            <a:avLst/>
          </a:prstGeom>
        </p:spPr>
      </p:pic>
      <p:sp>
        <p:nvSpPr>
          <p:cNvPr id="9" name="Date Placeholder 8"/>
          <p:cNvSpPr>
            <a:spLocks noGrp="1"/>
          </p:cNvSpPr>
          <p:nvPr>
            <p:ph type="dt" sz="half" idx="10"/>
          </p:nvPr>
        </p:nvSpPr>
        <p:spPr/>
        <p:txBody>
          <a:bodyPr/>
          <a:lstStyle/>
          <a:p>
            <a:fld id="{44F3D910-6FC6-443F-BE9B-87599B114612}" type="datetime1">
              <a:rPr lang="en-US" smtClean="0"/>
              <a:t>7/29/2026</a:t>
            </a:fld>
            <a:endParaRPr lang="en-IN"/>
          </a:p>
        </p:txBody>
      </p:sp>
      <p:sp>
        <p:nvSpPr>
          <p:cNvPr id="10" name="Slide Number Placeholder 9"/>
          <p:cNvSpPr>
            <a:spLocks noGrp="1"/>
          </p:cNvSpPr>
          <p:nvPr>
            <p:ph type="sldNum" sz="quarter" idx="12"/>
          </p:nvPr>
        </p:nvSpPr>
        <p:spPr/>
        <p:txBody>
          <a:bodyPr/>
          <a:lstStyle/>
          <a:p>
            <a:fld id="{7C33CCD4-7228-4506-A3A6-5A9074B2CE31}" type="slidenum">
              <a:rPr lang="en-IN" smtClean="0"/>
              <a:t>14</a:t>
            </a:fld>
            <a:endParaRPr lang="en-IN"/>
          </a:p>
        </p:txBody>
      </p:sp>
      <p:sp>
        <p:nvSpPr>
          <p:cNvPr id="11" name="Footer Placeholder 10"/>
          <p:cNvSpPr>
            <a:spLocks noGrp="1"/>
          </p:cNvSpPr>
          <p:nvPr>
            <p:ph type="ftr" sz="quarter" idx="11"/>
          </p:nvPr>
        </p:nvSpPr>
        <p:spPr/>
        <p:txBody>
          <a:bodyPr/>
          <a:lstStyle/>
          <a:p>
            <a:r>
              <a:rPr lang="en-IN"/>
              <a:t>Dept of CSE(CY)</a:t>
            </a: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00" y="2262505"/>
            <a:ext cx="8228965" cy="642620"/>
          </a:xfrm>
        </p:spPr>
        <p:txBody>
          <a:bodyPr>
            <a:noAutofit/>
          </a:bodyPr>
          <a:lstStyle/>
          <a:p>
            <a:pPr algn="ctr">
              <a:lnSpc>
                <a:spcPct val="100000"/>
              </a:lnSpc>
              <a:spcBef>
                <a:spcPts val="0"/>
              </a:spcBef>
              <a:defRPr/>
            </a:pPr>
            <a:r>
              <a:rPr lang="en-IN" sz="4000" b="1" u="sng" dirty="0">
                <a:solidFill>
                  <a:srgbClr val="002060"/>
                </a:solidFill>
                <a:latin typeface="Times New Roman" panose="02020603050405020304"/>
                <a:cs typeface="Times New Roman" panose="02020603050405020304"/>
              </a:rPr>
              <a:t>Conclusion </a:t>
            </a:r>
            <a:endParaRPr lang="en-US" sz="4000" b="1" u="sng" dirty="0">
              <a:solidFill>
                <a:srgbClr val="002060"/>
              </a:solidFill>
              <a:latin typeface="Times New Roman" panose="02020603050405020304"/>
              <a:cs typeface="Times New Roman" panose="02020603050405020304"/>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Date Placeholder 6"/>
          <p:cNvSpPr>
            <a:spLocks noGrp="1"/>
          </p:cNvSpPr>
          <p:nvPr>
            <p:ph type="dt" sz="half" idx="10"/>
          </p:nvPr>
        </p:nvSpPr>
        <p:spPr/>
        <p:txBody>
          <a:bodyPr/>
          <a:lstStyle/>
          <a:p>
            <a:fld id="{44F3D910-6FC6-443F-BE9B-87599B114612}" type="datetime1">
              <a:rPr lang="en-US" smtClean="0"/>
              <a:t>7/29/2026</a:t>
            </a:fld>
            <a:endParaRPr lang="en-IN"/>
          </a:p>
        </p:txBody>
      </p:sp>
      <p:sp>
        <p:nvSpPr>
          <p:cNvPr id="8" name="Slide Number Placeholder 7"/>
          <p:cNvSpPr>
            <a:spLocks noGrp="1"/>
          </p:cNvSpPr>
          <p:nvPr>
            <p:ph type="sldNum" sz="quarter" idx="12"/>
          </p:nvPr>
        </p:nvSpPr>
        <p:spPr/>
        <p:txBody>
          <a:bodyPr/>
          <a:lstStyle/>
          <a:p>
            <a:fld id="{7C33CCD4-7228-4506-A3A6-5A9074B2CE31}" type="slidenum">
              <a:rPr lang="en-IN" smtClean="0"/>
              <a:t>15</a:t>
            </a:fld>
            <a:endParaRPr lang="en-IN"/>
          </a:p>
        </p:txBody>
      </p:sp>
      <p:sp>
        <p:nvSpPr>
          <p:cNvPr id="9" name="Footer Placeholder 8"/>
          <p:cNvSpPr>
            <a:spLocks noGrp="1"/>
          </p:cNvSpPr>
          <p:nvPr>
            <p:ph type="ftr" sz="quarter" idx="11"/>
          </p:nvPr>
        </p:nvSpPr>
        <p:spPr/>
        <p:txBody>
          <a:bodyPr/>
          <a:lstStyle/>
          <a:p>
            <a:r>
              <a:rPr lang="en-IN"/>
              <a:t>Dept of CSE(CY)</a:t>
            </a:r>
          </a:p>
        </p:txBody>
      </p:sp>
      <p:sp>
        <p:nvSpPr>
          <p:cNvPr id="10" name="Text Box 9"/>
          <p:cNvSpPr txBox="1"/>
          <p:nvPr/>
        </p:nvSpPr>
        <p:spPr>
          <a:xfrm>
            <a:off x="892175" y="3177540"/>
            <a:ext cx="10085705" cy="2418080"/>
          </a:xfrm>
          <a:prstGeom prst="rect">
            <a:avLst/>
          </a:prstGeom>
          <a:noFill/>
        </p:spPr>
        <p:txBody>
          <a:bodyPr wrap="square" rtlCol="0">
            <a:noAutofit/>
          </a:bodyPr>
          <a:lstStyle/>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Protects smartphones from potential Juice Jacking attacks.</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Ensures safe charging by blocking USB data communication by default.</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Provides secure, user-controlled access to data transfer.</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Compact, portable, cost-effective, and suitable for public charging environments.</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Demonstrates the application of embedded systems in cybersecurity.</a:t>
            </a: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2218251"/>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panose="02020603050405020304"/>
                <a:cs typeface="Times New Roman" panose="02020603050405020304"/>
              </a:rPr>
              <a:t>References</a:t>
            </a:r>
            <a:endParaRPr lang="en-US" sz="4000" b="1" u="sng" dirty="0">
              <a:solidFill>
                <a:srgbClr val="002060"/>
              </a:solidFill>
              <a:latin typeface="Times New Roman" panose="02020603050405020304"/>
              <a:cs typeface="Times New Roman" panose="02020603050405020304"/>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Date Placeholder 6"/>
          <p:cNvSpPr>
            <a:spLocks noGrp="1"/>
          </p:cNvSpPr>
          <p:nvPr>
            <p:ph type="dt" sz="half" idx="10"/>
          </p:nvPr>
        </p:nvSpPr>
        <p:spPr/>
        <p:txBody>
          <a:bodyPr/>
          <a:lstStyle/>
          <a:p>
            <a:fld id="{44F3D910-6FC6-443F-BE9B-87599B114612}" type="datetime1">
              <a:rPr lang="en-US" smtClean="0"/>
              <a:t>7/29/2026</a:t>
            </a:fld>
            <a:endParaRPr lang="en-IN"/>
          </a:p>
        </p:txBody>
      </p:sp>
      <p:sp>
        <p:nvSpPr>
          <p:cNvPr id="8" name="Slide Number Placeholder 7"/>
          <p:cNvSpPr>
            <a:spLocks noGrp="1"/>
          </p:cNvSpPr>
          <p:nvPr>
            <p:ph type="sldNum" sz="quarter" idx="12"/>
          </p:nvPr>
        </p:nvSpPr>
        <p:spPr/>
        <p:txBody>
          <a:bodyPr/>
          <a:lstStyle/>
          <a:p>
            <a:fld id="{7C33CCD4-7228-4506-A3A6-5A9074B2CE31}" type="slidenum">
              <a:rPr lang="en-IN" smtClean="0"/>
              <a:t>16</a:t>
            </a:fld>
            <a:endParaRPr lang="en-IN"/>
          </a:p>
        </p:txBody>
      </p:sp>
      <p:sp>
        <p:nvSpPr>
          <p:cNvPr id="9" name="Footer Placeholder 8"/>
          <p:cNvSpPr>
            <a:spLocks noGrp="1"/>
          </p:cNvSpPr>
          <p:nvPr>
            <p:ph type="ftr" sz="quarter" idx="11"/>
          </p:nvPr>
        </p:nvSpPr>
        <p:spPr/>
        <p:txBody>
          <a:bodyPr/>
          <a:lstStyle/>
          <a:p>
            <a:r>
              <a:rPr lang="en-IN"/>
              <a:t>Dept of CSE(CY)</a:t>
            </a:r>
          </a:p>
        </p:txBody>
      </p:sp>
      <p:sp>
        <p:nvSpPr>
          <p:cNvPr id="11" name="Text Box 10"/>
          <p:cNvSpPr txBox="1"/>
          <p:nvPr/>
        </p:nvSpPr>
        <p:spPr>
          <a:xfrm>
            <a:off x="891540" y="3248660"/>
            <a:ext cx="9532620" cy="2700020"/>
          </a:xfrm>
          <a:prstGeom prst="rect">
            <a:avLst/>
          </a:prstGeom>
          <a:noFill/>
        </p:spPr>
        <p:txBody>
          <a:bodyPr wrap="square" rtlCol="0">
            <a:noAutofit/>
          </a:bodyPr>
          <a:lstStyle/>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USB Implementers Forum (USB Specifications)⁠</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OWASP Mobile Application Security⁠</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Federal Communications Commission (FCC) Consumer Guide: Juice Jacking⁠</a:t>
            </a:r>
          </a:p>
          <a:p>
            <a:pPr marL="285750" indent="-285750">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National Security Agency (NSA) Cybersecurity Guidance⁠</a:t>
            </a:r>
            <a:endParaRPr lang="en-US" sz="2000">
              <a:latin typeface="Times New Roman" panose="02020603050405020304" pitchFamily="18" charset="0"/>
              <a:cs typeface="Times New Roman" panose="02020603050405020304" pitchFamily="18" charset="0"/>
            </a:endParaRPr>
          </a:p>
        </p:txBody>
      </p:sp>
      <p:sp>
        <p:nvSpPr>
          <p:cNvPr id="13" name="Text Box 12"/>
          <p:cNvSpPr txBox="1"/>
          <p:nvPr/>
        </p:nvSpPr>
        <p:spPr>
          <a:xfrm>
            <a:off x="3810635" y="-15875"/>
            <a:ext cx="4342765" cy="240030"/>
          </a:xfrm>
          <a:prstGeom prst="rect">
            <a:avLst/>
          </a:prstGeom>
          <a:noFill/>
        </p:spPr>
        <p:txBody>
          <a:bodyPr wrap="square" rtlCol="0">
            <a:noAutofit/>
          </a:bodyPr>
          <a:lstStyle/>
          <a:p>
            <a:pPr algn="ctr"/>
            <a:r>
              <a:rPr lang="en-US" altLang="en-US" sz="1200">
                <a:solidFill>
                  <a:schemeClr val="bg1">
                    <a:lumMod val="75000"/>
                  </a:schemeClr>
                </a:solidFill>
                <a:latin typeface="Times New Roman" panose="02020603050405020304" pitchFamily="18" charset="0"/>
                <a:cs typeface="Times New Roman" panose="02020603050405020304" pitchFamily="18" charset="0"/>
              </a:rPr>
              <a:t>JUICE JACKING USB USING ESP3</a:t>
            </a:r>
            <a:r>
              <a:rPr lang="en-IN" altLang="en-US" sz="1200">
                <a:solidFill>
                  <a:schemeClr val="bg1">
                    <a:lumMod val="75000"/>
                  </a:schemeClr>
                </a:solidFill>
                <a:latin typeface="Times New Roman" panose="02020603050405020304" pitchFamily="18" charset="0"/>
                <a:cs typeface="Times New Roman" panose="02020603050405020304" pitchFamily="18" charset="0"/>
              </a:rPr>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8298</Words>
  <Application>Microsoft Office PowerPoint</Application>
  <PresentationFormat>Widescreen</PresentationFormat>
  <Paragraphs>264</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Anisha TJ</cp:lastModifiedBy>
  <cp:revision>14</cp:revision>
  <dcterms:created xsi:type="dcterms:W3CDTF">2025-10-04T04:58:00Z</dcterms:created>
  <dcterms:modified xsi:type="dcterms:W3CDTF">2026-07-29T16:44:11Z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08FE241ED0D0485AADC93B48E45FF891_13</vt:lpwstr>
  </property>
  <property fmtid="{D5CDD505-2E9C-101B-9397-08002B2CF9AE}" pid="3" name="KSOProductBuildVer">
    <vt:lpwstr>1033-12.1.0.27458</vt:lpwstr>
  </property>
</Properties>
</file>