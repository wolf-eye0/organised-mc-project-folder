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04" r:id="rId3"/>
    <p:sldId id="282" r:id="rId4"/>
    <p:sldId id="305" r:id="rId5"/>
    <p:sldId id="283" r:id="rId6"/>
    <p:sldId id="284" r:id="rId7"/>
    <p:sldId id="285" r:id="rId8"/>
    <p:sldId id="286" r:id="rId9"/>
    <p:sldId id="287" r:id="rId10"/>
    <p:sldId id="288" r:id="rId11"/>
    <p:sldId id="289" r:id="rId12"/>
    <p:sldId id="295" r:id="rId13"/>
    <p:sldId id="296" r:id="rId14"/>
    <p:sldId id="303" r:id="rId15"/>
    <p:sldId id="279"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22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667459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F3D910-6FC6-443F-BE9B-87599B114612}"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715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4F3D910-6FC6-443F-BE9B-87599B114612}" type="datetimeFigureOut">
              <a:rPr lang="en-IN" smtClean="0"/>
              <a:t>29-07-2026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745943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4F3D910-6FC6-443F-BE9B-87599B114612}" type="datetimeFigureOut">
              <a:rPr lang="en-IN" smtClean="0"/>
              <a:t>29-07-2026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97043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4F3D910-6FC6-443F-BE9B-87599B114612}" type="datetimeFigureOut">
              <a:rPr lang="en-IN" smtClean="0"/>
              <a:t>29-07-2026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54870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F3D910-6FC6-443F-BE9B-87599B114612}" type="datetimeFigureOut">
              <a:rPr lang="en-IN" smtClean="0"/>
              <a:t>29-07-2026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888030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3D910-6FC6-443F-BE9B-87599B114612}" type="datetimeFigureOut">
              <a:rPr lang="en-IN" smtClean="0"/>
              <a:t>29-07-2026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692857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3D910-6FC6-443F-BE9B-87599B114612}" type="datetimeFigureOut">
              <a:rPr lang="en-IN" smtClean="0"/>
              <a:t>29-07-2026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076434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986794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12761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F3D910-6FC6-443F-BE9B-87599B114612}" type="datetimeFigureOut">
              <a:rPr lang="en-IN" smtClean="0"/>
              <a:t>29-07-2026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33CCD4-7228-4506-A3A6-5A9074B2CE31}" type="slidenum">
              <a:rPr lang="en-IN" smtClean="0"/>
              <a:t>‹#›</a:t>
            </a:fld>
            <a:endParaRPr lang="en-IN"/>
          </a:p>
        </p:txBody>
      </p:sp>
    </p:spTree>
    <p:extLst>
      <p:ext uri="{BB962C8B-B14F-4D97-AF65-F5344CB8AC3E}">
        <p14:creationId xmlns:p14="http://schemas.microsoft.com/office/powerpoint/2010/main" val="3335298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ecc.etlab.in/teacher/viewsubject/93460551045?sub_id=1916076829214&amp;sem_id=116225560662" TargetMode="External"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2.xml" /><Relationship Id="rId4" Type="http://schemas.openxmlformats.org/officeDocument/2006/relationships/image" Target="../media/image3.png" /></Relationships>
</file>

<file path=ppt/slides/_rels/slide1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3" Type="http://schemas.openxmlformats.org/officeDocument/2006/relationships/hyperlink" Target="https://www.espressif.com/en/products/socs/esp32" TargetMode="External" /><Relationship Id="rId7" Type="http://schemas.openxmlformats.org/officeDocument/2006/relationships/hyperlink" Target="https://en.wikipedia.org/wiki/Challenge%E2%80%93response_authentication" TargetMode="External" /><Relationship Id="rId2" Type="http://schemas.openxmlformats.org/officeDocument/2006/relationships/image" Target="../media/image1.png" /><Relationship Id="rId1" Type="http://schemas.openxmlformats.org/officeDocument/2006/relationships/slideLayout" Target="../slideLayouts/slideLayout2.xml" /><Relationship Id="rId6" Type="http://schemas.openxmlformats.org/officeDocument/2006/relationships/hyperlink" Target="https://csrc.nist.gov/publications/detail/fips/197/final" TargetMode="External" /><Relationship Id="rId5" Type="http://schemas.openxmlformats.org/officeDocument/2006/relationships/hyperlink" Target="https://www.bluetooth.com/learn-about-bluetooth/tech-overview/" TargetMode="External" /><Relationship Id="rId4" Type="http://schemas.openxmlformats.org/officeDocument/2006/relationships/hyperlink" Target="https://learn.adafruit.com/adafruit-optical-fingerprint-sensor"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1844889" y="2239060"/>
            <a:ext cx="9722822"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ctr">
              <a:buSzPts val="1800"/>
              <a:buFont typeface="Arial" panose="020B0604020202020204" pitchFamily="34" charset="0"/>
              <a:buNone/>
              <a:defRPr/>
            </a:pPr>
            <a:endParaRPr lang="en-US" sz="5400" b="1" dirty="0">
              <a:solidFill>
                <a:srgbClr val="C0504D"/>
              </a:solidFill>
              <a:latin typeface="Times New Roman"/>
              <a:ea typeface="Times New Roman"/>
              <a:cs typeface="Times New Roman"/>
            </a:endParaRPr>
          </a:p>
          <a:p>
            <a:pPr marL="0" indent="0" algn="l">
              <a:buNone/>
            </a:pPr>
            <a:r>
              <a:rPr lang="en-IN" sz="4000" b="1" i="0" u="none" strike="noStrike" dirty="0">
                <a:solidFill>
                  <a:schemeClr val="accent2">
                    <a:lumMod val="75000"/>
                  </a:schemeClr>
                </a:solidFill>
                <a:effectLst/>
                <a:latin typeface="Helvetica Neue"/>
                <a:hlinkClick r:id="rId3">
                  <a:extLst>
                    <a:ext uri="{A12FA001-AC4F-418D-AE19-62706E023703}">
                      <ahyp:hlinkClr xmlns:ahyp="http://schemas.microsoft.com/office/drawing/2018/hyperlinkcolor" val="tx"/>
                    </a:ext>
                  </a:extLst>
                </a:hlinkClick>
              </a:rPr>
              <a:t>PBCST504 – MICROCONTROLLERS</a:t>
            </a:r>
            <a:endParaRPr lang="en-IN" sz="4000" b="1" i="0" u="none" strike="noStrike" dirty="0">
              <a:solidFill>
                <a:schemeClr val="accent2">
                  <a:lumMod val="75000"/>
                </a:schemeClr>
              </a:solidFill>
              <a:effectLst/>
              <a:latin typeface="Helvetica Neue"/>
            </a:endParaRPr>
          </a:p>
          <a:p>
            <a:pPr marL="0" indent="0" algn="ctr">
              <a:buNone/>
            </a:pPr>
            <a:r>
              <a:rPr lang="en-IN" sz="4000" b="1" dirty="0">
                <a:solidFill>
                  <a:schemeClr val="accent2">
                    <a:lumMod val="75000"/>
                  </a:schemeClr>
                </a:solidFill>
                <a:latin typeface="Helvetica Neue"/>
              </a:rPr>
              <a:t>MICRO PROJECT</a:t>
            </a:r>
            <a:endParaRPr lang="en-IN" sz="4000" b="1" i="0" dirty="0">
              <a:solidFill>
                <a:schemeClr val="accent2">
                  <a:lumMod val="75000"/>
                </a:schemeClr>
              </a:solidFill>
              <a:effectLst/>
              <a:latin typeface="Helvetica Neue"/>
            </a:endParaRPr>
          </a:p>
          <a:p>
            <a:pPr marL="114300" indent="0" algn="ctr">
              <a:buSzPts val="1800"/>
              <a:buNone/>
              <a:defRPr/>
            </a:pPr>
            <a:endParaRPr lang="en-US" sz="5400" b="1" dirty="0">
              <a:solidFill>
                <a:srgbClr val="C0504D"/>
              </a:solidFill>
              <a:latin typeface="Times New Roman"/>
              <a:cs typeface="Times New Roman"/>
            </a:endParaRPr>
          </a:p>
          <a:p>
            <a:pPr marL="114300" indent="0" algn="ctr">
              <a:buSzPts val="1800"/>
              <a:buNone/>
              <a:defRPr/>
            </a:pPr>
            <a:r>
              <a:rPr lang="en-US" sz="4800" b="1" dirty="0">
                <a:solidFill>
                  <a:srgbClr val="7030A0"/>
                </a:solidFill>
                <a:latin typeface="Times New Roman"/>
                <a:cs typeface="Times New Roman"/>
              </a:rPr>
              <a:t>Zeroth Review</a:t>
            </a:r>
            <a:endParaRPr lang="en-US" sz="4800" b="1" dirty="0">
              <a:solidFill>
                <a:srgbClr val="7030A0"/>
              </a:solidFill>
            </a:endParaRPr>
          </a:p>
        </p:txBody>
      </p:sp>
    </p:spTree>
    <p:extLst>
      <p:ext uri="{BB962C8B-B14F-4D97-AF65-F5344CB8AC3E}">
        <p14:creationId xmlns:p14="http://schemas.microsoft.com/office/powerpoint/2010/main" val="1241010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1954962" y="1584382"/>
            <a:ext cx="8838900"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just">
              <a:buSzPts val="1800"/>
              <a:buFont typeface="Arial" panose="020B0604020202020204" pitchFamily="34" charset="0"/>
              <a:buNone/>
              <a:defRPr/>
            </a:pPr>
            <a:endParaRPr lang="en-US" b="1" dirty="0">
              <a:solidFill>
                <a:srgbClr val="C0504D"/>
              </a:solidFill>
              <a:latin typeface="Times New Roman"/>
              <a:ea typeface="Times New Roman"/>
              <a:cs typeface="Times New Roman"/>
            </a:endParaRPr>
          </a:p>
          <a:p>
            <a:pPr marL="114300" indent="0" algn="just">
              <a:buSzPts val="1800"/>
              <a:buFont typeface="Arial" panose="020B0604020202020204" pitchFamily="34" charset="0"/>
              <a:buNone/>
              <a:defRPr/>
            </a:pPr>
            <a:r>
              <a:rPr lang="en-US" b="1" dirty="0">
                <a:solidFill>
                  <a:srgbClr val="0070C0"/>
                </a:solidFill>
                <a:latin typeface="Times New Roman"/>
                <a:ea typeface="Times New Roman"/>
                <a:cs typeface="Times New Roman"/>
              </a:rPr>
              <a:t>Title:- PhantomX – Biometric Continuous Authentication System</a:t>
            </a:r>
            <a:endParaRPr lang="en-US" dirty="0">
              <a:solidFill>
                <a:srgbClr val="0070C0"/>
              </a:solidFill>
            </a:endParaRPr>
          </a:p>
        </p:txBody>
      </p:sp>
      <p:sp>
        <p:nvSpPr>
          <p:cNvPr id="8" name="Google Shape;187;p1"/>
          <p:cNvSpPr txBox="1">
            <a:spLocks/>
          </p:cNvSpPr>
          <p:nvPr/>
        </p:nvSpPr>
        <p:spPr bwMode="auto">
          <a:xfrm>
            <a:off x="402086" y="3096742"/>
            <a:ext cx="4948707" cy="2038199"/>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dirty="0">
                <a:solidFill>
                  <a:srgbClr val="00B050"/>
                </a:solidFill>
                <a:latin typeface="Times New Roman" panose="02020603050405020304" pitchFamily="18" charset="0"/>
                <a:cs typeface="Times New Roman" panose="02020603050405020304" pitchFamily="18" charset="0"/>
              </a:rPr>
              <a:t>Group No: 2</a:t>
            </a:r>
          </a:p>
          <a:p>
            <a:pPr marL="114300" indent="0">
              <a:buSzPts val="1800"/>
              <a:buFont typeface="Arial" panose="020B0604020202020204" pitchFamily="34" charset="0"/>
              <a:buNone/>
              <a:defRPr/>
            </a:pPr>
            <a:r>
              <a:rPr lang="en-US" dirty="0">
                <a:solidFill>
                  <a:srgbClr val="C00000"/>
                </a:solidFill>
                <a:latin typeface="Times New Roman" panose="02020603050405020304" pitchFamily="18" charset="0"/>
                <a:cs typeface="Times New Roman" panose="02020603050405020304" pitchFamily="18" charset="0"/>
              </a:rPr>
              <a:t>Members:</a:t>
            </a:r>
          </a:p>
          <a:p>
            <a:pPr marL="114300" indent="0">
              <a:buSzPts val="1800"/>
              <a:buFont typeface="Arial" panose="020B0604020202020204" pitchFamily="34" charset="0"/>
              <a:buNone/>
              <a:defRPr/>
            </a:pPr>
            <a:r>
              <a:rPr lang="en-US" dirty="0">
                <a:solidFill>
                  <a:srgbClr val="C00000"/>
                </a:solidFill>
                <a:latin typeface="Times New Roman" panose="02020603050405020304" pitchFamily="18" charset="0"/>
                <a:cs typeface="Times New Roman" panose="02020603050405020304" pitchFamily="18" charset="0"/>
              </a:rPr>
              <a:t> Abhijith S-JEC24CC001</a:t>
            </a:r>
          </a:p>
          <a:p>
            <a:pPr marL="114300" indent="0">
              <a:buSzPts val="1800"/>
              <a:buFont typeface="Arial" panose="020B0604020202020204" pitchFamily="34" charset="0"/>
              <a:buNone/>
              <a:defRPr/>
            </a:pPr>
            <a:r>
              <a:rPr lang="en-US" dirty="0">
                <a:solidFill>
                  <a:srgbClr val="C00000"/>
                </a:solidFill>
                <a:latin typeface="Times New Roman" panose="02020603050405020304" pitchFamily="18" charset="0"/>
                <a:cs typeface="Times New Roman" panose="02020603050405020304" pitchFamily="18" charset="0"/>
              </a:rPr>
              <a:t> Adwaith A-JEC24CC008</a:t>
            </a:r>
          </a:p>
          <a:p>
            <a:pPr marL="114300" indent="0">
              <a:buSzPts val="1800"/>
              <a:buFont typeface="Arial" panose="020B0604020202020204" pitchFamily="34" charset="0"/>
              <a:buNone/>
              <a:defRPr/>
            </a:pPr>
            <a:r>
              <a:rPr lang="en-US" dirty="0">
                <a:solidFill>
                  <a:srgbClr val="C00000"/>
                </a:solidFill>
                <a:latin typeface="Times New Roman" panose="02020603050405020304" pitchFamily="18" charset="0"/>
                <a:cs typeface="Times New Roman" panose="02020603050405020304" pitchFamily="18" charset="0"/>
              </a:rPr>
              <a:t>Indrajith PR-JEC24CC038</a:t>
            </a:r>
          </a:p>
          <a:p>
            <a:pPr marL="114300" indent="0">
              <a:buSzPts val="1800"/>
              <a:buFont typeface="Arial" panose="020B0604020202020204" pitchFamily="34" charset="0"/>
              <a:buNone/>
              <a:defRPr/>
            </a:pPr>
            <a:r>
              <a:rPr lang="en-US" dirty="0">
                <a:solidFill>
                  <a:srgbClr val="C00000"/>
                </a:solidFill>
                <a:latin typeface="Times New Roman" panose="02020603050405020304" pitchFamily="18" charset="0"/>
                <a:cs typeface="Times New Roman" panose="02020603050405020304" pitchFamily="18" charset="0"/>
              </a:rPr>
              <a:t>Nived Krishna H-JEC24CC047</a:t>
            </a:r>
          </a:p>
          <a:p>
            <a:pPr marL="114300" indent="0">
              <a:buSzPts val="1800"/>
              <a:buFont typeface="Arial" panose="020B0604020202020204" pitchFamily="34" charset="0"/>
              <a:buNone/>
              <a:defRPr/>
            </a:pPr>
            <a:r>
              <a:rPr lang="en-US" dirty="0">
                <a:solidFill>
                  <a:srgbClr val="C00000"/>
                </a:solidFill>
                <a:latin typeface="Times New Roman" panose="02020603050405020304" pitchFamily="18" charset="0"/>
                <a:cs typeface="Times New Roman" panose="02020603050405020304" pitchFamily="18" charset="0"/>
              </a:rPr>
              <a:t>S </a:t>
            </a:r>
            <a:r>
              <a:rPr lang="en-US" dirty="0" err="1">
                <a:solidFill>
                  <a:srgbClr val="C00000"/>
                </a:solidFill>
                <a:latin typeface="Times New Roman" panose="02020603050405020304" pitchFamily="18" charset="0"/>
                <a:cs typeface="Times New Roman" panose="02020603050405020304" pitchFamily="18" charset="0"/>
              </a:rPr>
              <a:t>Ansaf</a:t>
            </a:r>
            <a:r>
              <a:rPr lang="en-US" dirty="0">
                <a:solidFill>
                  <a:srgbClr val="C00000"/>
                </a:solidFill>
                <a:latin typeface="Times New Roman" panose="02020603050405020304" pitchFamily="18" charset="0"/>
                <a:cs typeface="Times New Roman" panose="02020603050405020304" pitchFamily="18" charset="0"/>
              </a:rPr>
              <a:t> Shayan-JEC24CC051</a:t>
            </a:r>
          </a:p>
          <a:p>
            <a:pPr marL="114300" indent="0">
              <a:buSzPts val="1800"/>
              <a:buFont typeface="Arial" panose="020B0604020202020204" pitchFamily="34" charset="0"/>
              <a:buNone/>
              <a:defRP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9" name="Google Shape;186;p1"/>
          <p:cNvSpPr txBox="1">
            <a:spLocks/>
          </p:cNvSpPr>
          <p:nvPr/>
        </p:nvSpPr>
        <p:spPr bwMode="auto">
          <a:xfrm>
            <a:off x="8331238" y="5134941"/>
            <a:ext cx="4015500" cy="1323600"/>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b="1" dirty="0">
                <a:solidFill>
                  <a:schemeClr val="bg2">
                    <a:lumMod val="10000"/>
                  </a:schemeClr>
                </a:solidFill>
                <a:latin typeface="Times New Roman" panose="02020603050405020304" pitchFamily="18" charset="0"/>
                <a:cs typeface="Times New Roman" panose="02020603050405020304" pitchFamily="18" charset="0"/>
              </a:rPr>
              <a:t>Project Coordinator:</a:t>
            </a:r>
          </a:p>
          <a:p>
            <a:pPr marL="114300" indent="0">
              <a:buSzPts val="1800"/>
              <a:buFont typeface="Arial" panose="020B0604020202020204" pitchFamily="34" charset="0"/>
              <a:buNone/>
              <a:defRPr/>
            </a:pPr>
            <a:r>
              <a:rPr lang="en-US" dirty="0" err="1">
                <a:solidFill>
                  <a:schemeClr val="bg2">
                    <a:lumMod val="10000"/>
                  </a:schemeClr>
                </a:solidFill>
                <a:latin typeface="Times New Roman" panose="02020603050405020304" pitchFamily="18" charset="0"/>
                <a:cs typeface="Times New Roman" panose="02020603050405020304" pitchFamily="18" charset="0"/>
              </a:rPr>
              <a:t>Ms.Sagna</a:t>
            </a:r>
            <a:r>
              <a:rPr lang="en-US" dirty="0">
                <a:solidFill>
                  <a:schemeClr val="bg2">
                    <a:lumMod val="10000"/>
                  </a:schemeClr>
                </a:solidFill>
                <a:latin typeface="Times New Roman" panose="02020603050405020304" pitchFamily="18" charset="0"/>
                <a:cs typeface="Times New Roman" panose="02020603050405020304" pitchFamily="18" charset="0"/>
              </a:rPr>
              <a:t> L T</a:t>
            </a:r>
          </a:p>
          <a:p>
            <a:pPr marL="114300" indent="0">
              <a:buSzPts val="1800"/>
              <a:buFont typeface="Arial" panose="020B0604020202020204" pitchFamily="34" charset="0"/>
              <a:buNone/>
              <a:defRPr/>
            </a:pPr>
            <a:r>
              <a:rPr lang="en-US" dirty="0">
                <a:solidFill>
                  <a:schemeClr val="bg2">
                    <a:lumMod val="10000"/>
                  </a:schemeClr>
                </a:solidFill>
                <a:latin typeface="Times New Roman" panose="02020603050405020304" pitchFamily="18" charset="0"/>
                <a:cs typeface="Times New Roman" panose="02020603050405020304" pitchFamily="18" charset="0"/>
              </a:rPr>
              <a:t>Asst. Prof. CSE(CY)</a:t>
            </a:r>
          </a:p>
          <a:p>
            <a:pPr marL="114300" indent="0">
              <a:buSzPts val="1800"/>
              <a:buFont typeface="Arial" panose="020B0604020202020204" pitchFamily="34" charset="0"/>
              <a:buNone/>
              <a:defRPr/>
            </a:pPr>
            <a:endParaRPr lang="en-US" dirty="0">
              <a:solidFill>
                <a:schemeClr val="bg2">
                  <a:lumMod val="10000"/>
                </a:schemeClr>
              </a:solidFill>
            </a:endParaRPr>
          </a:p>
        </p:txBody>
      </p:sp>
    </p:spTree>
    <p:extLst>
      <p:ext uri="{BB962C8B-B14F-4D97-AF65-F5344CB8AC3E}">
        <p14:creationId xmlns:p14="http://schemas.microsoft.com/office/powerpoint/2010/main" val="998908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10" name="Google Shape;154;p28"/>
          <p:cNvSpPr txBox="1">
            <a:spLocks/>
          </p:cNvSpPr>
          <p:nvPr/>
        </p:nvSpPr>
        <p:spPr bwMode="auto">
          <a:xfrm>
            <a:off x="785806" y="1990845"/>
            <a:ext cx="11033220" cy="469353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Font typeface="Arial" panose="020B0604020202020204" pitchFamily="34" charset="0"/>
              <a:buNone/>
              <a:defRPr/>
            </a:pPr>
            <a:r>
              <a:rPr lang="en-US" b="1" dirty="0"/>
              <a:t> </a:t>
            </a:r>
            <a:r>
              <a:rPr lang="en-US" sz="2100" b="1" dirty="0">
                <a:latin typeface="Times New Roman"/>
                <a:ea typeface="Times New Roman"/>
                <a:cs typeface="Times New Roman"/>
              </a:rPr>
              <a:t>Vision of the Department</a:t>
            </a:r>
          </a:p>
          <a:p>
            <a:pPr marL="0" indent="0" algn="ctr">
              <a:lnSpc>
                <a:spcPct val="150000"/>
              </a:lnSpc>
              <a:buNone/>
              <a:defRPr/>
            </a:pPr>
            <a:r>
              <a:rPr lang="en-IN" sz="2000" dirty="0">
                <a:solidFill>
                  <a:srgbClr val="000000"/>
                </a:solidFill>
                <a:effectLst/>
                <a:latin typeface="Times New Roman" panose="02020603050405020304" pitchFamily="18" charset="0"/>
                <a:ea typeface="Times New Roman" panose="02020603050405020304" pitchFamily="18" charset="0"/>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lang="en-IN" sz="2000" dirty="0">
              <a:effectLst/>
              <a:latin typeface="Arial" panose="020B0604020202020204" pitchFamily="34" charset="0"/>
              <a:ea typeface="Arial" panose="020B0604020202020204" pitchFamily="34" charset="0"/>
            </a:endParaRPr>
          </a:p>
          <a:p>
            <a:pPr marL="0" indent="0" algn="ctr">
              <a:buFont typeface="Arial" panose="020B0604020202020204" pitchFamily="34" charset="0"/>
              <a:buNone/>
              <a:defRPr/>
            </a:pPr>
            <a:endParaRPr lang="en-US" sz="2100" b="1" dirty="0">
              <a:latin typeface="Times New Roman"/>
              <a:ea typeface="Times New Roman"/>
              <a:cs typeface="Times New Roman"/>
            </a:endParaRPr>
          </a:p>
          <a:p>
            <a:pPr marL="0" indent="0">
              <a:buClr>
                <a:schemeClr val="dk1"/>
              </a:buClr>
              <a:buSzPts val="1100"/>
              <a:buFont typeface="Arial"/>
              <a:buNone/>
              <a:defRPr/>
            </a:pPr>
            <a:endParaRPr lang="en-US" sz="2100" dirty="0">
              <a:latin typeface="Times New Roman"/>
              <a:ea typeface="Times New Roman"/>
              <a:cs typeface="Times New Roman"/>
            </a:endParaRPr>
          </a:p>
          <a:p>
            <a:pPr marL="0" indent="0">
              <a:buFont typeface="Arial" panose="020B0604020202020204" pitchFamily="34" charset="0"/>
              <a:buNone/>
              <a:defRPr/>
            </a:pPr>
            <a:endParaRPr lang="en-US" sz="1700" dirty="0">
              <a:latin typeface="Times New Roman"/>
              <a:ea typeface="Times New Roman"/>
              <a:cs typeface="Times New Roman"/>
            </a:endParaRPr>
          </a:p>
          <a:p>
            <a:pPr marL="0" indent="0">
              <a:buClr>
                <a:schemeClr val="dk1"/>
              </a:buClr>
              <a:buSzPts val="1100"/>
              <a:buFont typeface="Arial"/>
              <a:buNone/>
              <a:defRPr/>
            </a:pPr>
            <a:endParaRPr lang="en-US" sz="1300" dirty="0">
              <a:latin typeface="Times New Roman"/>
              <a:ea typeface="Times New Roman"/>
              <a:cs typeface="Times New Roman"/>
            </a:endParaRPr>
          </a:p>
          <a:p>
            <a:pPr marL="0" indent="0">
              <a:buFont typeface="Arial" panose="020B0604020202020204" pitchFamily="34" charset="0"/>
              <a:buNone/>
              <a:defRPr/>
            </a:pPr>
            <a:endParaRPr lang="en-US" sz="600" dirty="0">
              <a:latin typeface="Times New Roman"/>
              <a:ea typeface="Times New Roman"/>
              <a:cs typeface="Times New Roman"/>
            </a:endParaRPr>
          </a:p>
        </p:txBody>
      </p:sp>
    </p:spTree>
    <p:extLst>
      <p:ext uri="{BB962C8B-B14F-4D97-AF65-F5344CB8AC3E}">
        <p14:creationId xmlns:p14="http://schemas.microsoft.com/office/powerpoint/2010/main" val="60512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869F6-06A2-2C9C-FE5E-4FD031430E3D}"/>
              </a:ext>
            </a:extLst>
          </p:cNvPr>
          <p:cNvSpPr>
            <a:spLocks noGrp="1"/>
          </p:cNvSpPr>
          <p:nvPr>
            <p:ph type="title"/>
          </p:nvPr>
        </p:nvSpPr>
        <p:spPr/>
        <p:txBody>
          <a:bodyPr/>
          <a:lstStyle/>
          <a:p>
            <a:endParaRPr lang="en-IN" b="1" dirty="0"/>
          </a:p>
        </p:txBody>
      </p:sp>
      <p:sp>
        <p:nvSpPr>
          <p:cNvPr id="3" name="Content Placeholder 2">
            <a:extLst>
              <a:ext uri="{FF2B5EF4-FFF2-40B4-BE49-F238E27FC236}">
                <a16:creationId xmlns:a16="http://schemas.microsoft.com/office/drawing/2014/main" id="{1BCCBBEA-1434-6DE1-CA55-FFE665791840}"/>
              </a:ext>
            </a:extLst>
          </p:cNvPr>
          <p:cNvSpPr>
            <a:spLocks noGrp="1"/>
          </p:cNvSpPr>
          <p:nvPr>
            <p:ph idx="1"/>
          </p:nvPr>
        </p:nvSpPr>
        <p:spPr>
          <a:xfrm>
            <a:off x="838200" y="2220261"/>
            <a:ext cx="10515600" cy="4351338"/>
          </a:xfrm>
        </p:spPr>
        <p:txBody>
          <a:bodyPr>
            <a:normAutofit fontScale="92500" lnSpcReduction="10000"/>
          </a:body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None/>
              <a:defRPr/>
            </a:pPr>
            <a:r>
              <a:rPr lang="en-US" b="1" dirty="0"/>
              <a:t> </a:t>
            </a:r>
            <a:r>
              <a:rPr lang="en-US" sz="2800" b="1" dirty="0">
                <a:latin typeface="Times New Roman"/>
                <a:ea typeface="Times New Roman"/>
                <a:cs typeface="Times New Roman"/>
              </a:rPr>
              <a:t>Mission of the Department</a:t>
            </a: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M1: Excellence in Education</a:t>
            </a:r>
            <a:r>
              <a:rPr lang="en-IN" sz="1800" b="1" dirty="0">
                <a:latin typeface="Arial" panose="020B0604020202020204" pitchFamily="34" charset="0"/>
              </a:rPr>
              <a:t> : </a:t>
            </a:r>
            <a:r>
              <a:rPr lang="en-IN" sz="1800" dirty="0">
                <a:solidFill>
                  <a:srgbClr val="000000"/>
                </a:solidFill>
                <a:effectLst/>
                <a:latin typeface="Times New Roman" panose="02020603050405020304" pitchFamily="18" charset="0"/>
                <a:ea typeface="Times New Roman" panose="02020603050405020304" pitchFamily="18" charset="0"/>
              </a:rPr>
              <a:t>To provide outcome-based and industry-oriented education by integrating core computer science principles with advanced cybersecurity technologies and practices.</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M2: Ethics and Professional Responsibility : </a:t>
            </a:r>
            <a:r>
              <a:rPr lang="en-IN" sz="1800" dirty="0">
                <a:solidFill>
                  <a:srgbClr val="000000"/>
                </a:solidFill>
                <a:effectLst/>
                <a:latin typeface="Times New Roman" panose="02020603050405020304" pitchFamily="18" charset="0"/>
                <a:ea typeface="Times New Roman" panose="02020603050405020304" pitchFamily="18" charset="0"/>
              </a:rPr>
              <a:t>To cultivate ethical values, integrity, social responsibility, and secure computing practices for protecting digital assets and strengthening cyber trust.</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M3: Research, Innovation, and Entrepreneurship : </a:t>
            </a:r>
            <a:r>
              <a:rPr lang="en-IN" sz="1800" dirty="0">
                <a:solidFill>
                  <a:srgbClr val="000000"/>
                </a:solidFill>
                <a:effectLst/>
                <a:latin typeface="Times New Roman" panose="02020603050405020304" pitchFamily="18" charset="0"/>
                <a:ea typeface="Times New Roman" panose="02020603050405020304" pitchFamily="18" charset="0"/>
              </a:rPr>
              <a:t>To promote research, innovation, and entrepreneurial thinking for developing sustainable solutions to emerging cybersecurity challenges.</a:t>
            </a:r>
            <a:endParaRPr lang="en-IN" sz="1800" dirty="0">
              <a:effectLst/>
              <a:latin typeface="Arial" panose="020B0604020202020204" pitchFamily="34" charset="0"/>
              <a:ea typeface="Arial" panose="020B0604020202020204" pitchFamily="34" charset="0"/>
            </a:endParaRPr>
          </a:p>
          <a:p>
            <a:pPr algn="just">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M4: Holistic and Global Development : </a:t>
            </a:r>
            <a:r>
              <a:rPr lang="en-IN" sz="1800" dirty="0">
                <a:solidFill>
                  <a:srgbClr val="000000"/>
                </a:solidFill>
                <a:effectLst/>
                <a:latin typeface="Times New Roman" panose="02020603050405020304" pitchFamily="18" charset="0"/>
                <a:ea typeface="Times New Roman" panose="02020603050405020304" pitchFamily="18" charset="0"/>
              </a:rPr>
              <a:t>To enhance leadership, teamwork, lifelong learning, and global competence through industry collaboration, interdisciplinary activities, and community engagement.</a:t>
            </a:r>
            <a:endParaRPr lang="en-US" b="1" dirty="0">
              <a:latin typeface="Times New Roman"/>
              <a:ea typeface="Times New Roman"/>
              <a:cs typeface="Times New Roman"/>
            </a:endParaRPr>
          </a:p>
          <a:p>
            <a:pPr marL="0" indent="0" algn="ctr">
              <a:buFont typeface="Arial" panose="020B0604020202020204" pitchFamily="34" charset="0"/>
              <a:buNone/>
              <a:defRPr/>
            </a:pPr>
            <a:endParaRPr lang="en-US" b="1" dirty="0">
              <a:latin typeface="Times New Roman"/>
              <a:ea typeface="Times New Roman"/>
              <a:cs typeface="Times New Roman"/>
            </a:endParaRPr>
          </a:p>
        </p:txBody>
      </p:sp>
      <p:pic>
        <p:nvPicPr>
          <p:cNvPr id="4" name="Picture 3">
            <a:extLst>
              <a:ext uri="{FF2B5EF4-FFF2-40B4-BE49-F238E27FC236}">
                <a16:creationId xmlns:a16="http://schemas.microsoft.com/office/drawing/2014/main" id="{828CC5CA-38F7-B56F-B512-4FD8B75F85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5487" y="365125"/>
            <a:ext cx="10579260" cy="1747701"/>
          </a:xfrm>
          <a:prstGeom prst="rect">
            <a:avLst/>
          </a:prstGeom>
        </p:spPr>
      </p:pic>
    </p:spTree>
    <p:extLst>
      <p:ext uri="{BB962C8B-B14F-4D97-AF65-F5344CB8AC3E}">
        <p14:creationId xmlns:p14="http://schemas.microsoft.com/office/powerpoint/2010/main" val="2836553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59;p29"/>
          <p:cNvSpPr txBox="1">
            <a:spLocks/>
          </p:cNvSpPr>
          <p:nvPr/>
        </p:nvSpPr>
        <p:spPr bwMode="auto">
          <a:xfrm>
            <a:off x="575840" y="2268638"/>
            <a:ext cx="11210081" cy="40106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Educational Objectives (PEOs)</a:t>
            </a: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1:</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apply strong foundations in computer science and cybersecurity to design, develop, and manage secure and reliable computing systems for industry and society.</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2:</a:t>
            </a:r>
            <a:r>
              <a:rPr lang="en-IN" sz="1800" b="1" dirty="0">
                <a:latin typeface="Arial" panose="020B0604020202020204" pitchFamily="34" charset="0"/>
              </a:rPr>
              <a:t> </a:t>
            </a:r>
            <a:r>
              <a:rPr lang="en-IN" sz="1800" dirty="0">
                <a:effectLst/>
                <a:latin typeface="Times New Roman" panose="02020603050405020304" pitchFamily="18" charset="0"/>
                <a:ea typeface="Times New Roman" panose="02020603050405020304" pitchFamily="18" charset="0"/>
              </a:rPr>
              <a:t>Graduates will pursue successful careers as professionals, innovators or entrepreneurs engaged in technology development, deployment or engineering system implementation in industry and society and contribute to the economic growth of the country. </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3:</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demonstrate ethical responsibility, leadership, teamwork, and effective communication while adapting to evolving global technological environments through lifelong learning.</a:t>
            </a:r>
            <a:endParaRPr lang="en-IN" sz="1800" dirty="0">
              <a:effectLst/>
              <a:latin typeface="Arial" panose="020B0604020202020204" pitchFamily="34" charset="0"/>
              <a:ea typeface="Arial" panose="020B0604020202020204" pitchFamily="34" charset="0"/>
            </a:endParaRPr>
          </a:p>
          <a:p>
            <a:pPr marL="0" indent="0">
              <a:buFont typeface="Arial" panose="020B0604020202020204" pitchFamily="34" charset="0"/>
              <a:buNone/>
              <a:defRPr/>
            </a:pPr>
            <a:endParaRPr lang="en-US" sz="1800" dirty="0">
              <a:latin typeface="Times New Roman"/>
              <a:ea typeface="Times New Roman"/>
              <a:cs typeface="Times New Roman"/>
            </a:endParaRPr>
          </a:p>
        </p:txBody>
      </p:sp>
    </p:spTree>
    <p:extLst>
      <p:ext uri="{BB962C8B-B14F-4D97-AF65-F5344CB8AC3E}">
        <p14:creationId xmlns:p14="http://schemas.microsoft.com/office/powerpoint/2010/main" val="2602629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64;p30"/>
          <p:cNvSpPr txBox="1">
            <a:spLocks/>
          </p:cNvSpPr>
          <p:nvPr/>
        </p:nvSpPr>
        <p:spPr bwMode="auto">
          <a:xfrm>
            <a:off x="393538" y="1990844"/>
            <a:ext cx="11250593" cy="464144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Outcomes</a:t>
            </a:r>
            <a:endParaRPr lang="en-US" u="sng" dirty="0">
              <a:latin typeface="Times New Roman"/>
              <a:ea typeface="Times New Roman"/>
              <a:cs typeface="Times New Roman"/>
            </a:endParaRPr>
          </a:p>
          <a:p>
            <a:pPr marL="0" indent="0">
              <a:lnSpc>
                <a:spcPct val="114999"/>
              </a:lnSpc>
              <a:spcBef>
                <a:spcPts val="0"/>
              </a:spcBef>
              <a:buFont typeface="Arial" panose="020B0604020202020204" pitchFamily="34" charset="0"/>
              <a:buNone/>
              <a:defRPr/>
            </a:pPr>
            <a:r>
              <a:rPr lang="en-US" sz="1400" dirty="0">
                <a:latin typeface="Times New Roman"/>
                <a:ea typeface="Times New Roman"/>
                <a:cs typeface="Times New Roman"/>
              </a:rPr>
              <a:t>    Engineering Graduates will be able to:</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1. </a:t>
            </a:r>
            <a:r>
              <a:rPr lang="en-US" sz="1500" b="1" dirty="0">
                <a:latin typeface="Times New Roman"/>
                <a:ea typeface="Times New Roman"/>
                <a:cs typeface="Times New Roman"/>
              </a:rPr>
              <a:t>Engineering knowledge:</a:t>
            </a:r>
            <a:r>
              <a:rPr lang="en-US" sz="1500" dirty="0">
                <a:latin typeface="Times New Roman"/>
                <a:ea typeface="Times New Roman"/>
                <a:cs typeface="Times New Roman"/>
              </a:rPr>
              <a:t> Apply the knowledge of mathematics, science, engineering fundamentals, and an engineering specialization to the solution of complex engineering problems.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2. </a:t>
            </a:r>
            <a:r>
              <a:rPr lang="en-US" sz="1500" b="1" dirty="0">
                <a:latin typeface="Times New Roman"/>
                <a:ea typeface="Times New Roman"/>
                <a:cs typeface="Times New Roman"/>
              </a:rPr>
              <a:t>Problem analysis:</a:t>
            </a:r>
            <a:r>
              <a:rPr lang="en-US" sz="1500" dirty="0">
                <a:latin typeface="Times New Roman"/>
                <a:ea typeface="Times New Roman"/>
                <a:cs typeface="Times New Roman"/>
              </a:rPr>
              <a:t> Identify, formulate, review research literature, and analyze complex engineering problems reaching substantiated conclusions using first principles of mathematics, natural sciences, and engineering sciences.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3. </a:t>
            </a:r>
            <a:r>
              <a:rPr lang="en-US" sz="1500" b="1" dirty="0">
                <a:latin typeface="Times New Roman"/>
                <a:ea typeface="Times New Roman"/>
                <a:cs typeface="Times New Roman"/>
              </a:rPr>
              <a:t>Design/development of solutions:</a:t>
            </a:r>
            <a:r>
              <a:rPr lang="en-US" sz="1500" dirty="0">
                <a:latin typeface="Times New Roman"/>
                <a:ea typeface="Times New Roman"/>
                <a:cs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4. </a:t>
            </a:r>
            <a:r>
              <a:rPr lang="en-US" sz="1500" b="1" dirty="0">
                <a:latin typeface="Times New Roman"/>
                <a:ea typeface="Times New Roman"/>
                <a:cs typeface="Times New Roman"/>
              </a:rPr>
              <a:t>Conduct investigations of complex problems:</a:t>
            </a:r>
            <a:r>
              <a:rPr lang="en-US" sz="1500" dirty="0">
                <a:latin typeface="Times New Roman"/>
                <a:ea typeface="Times New Roman"/>
                <a:cs typeface="Times New Roman"/>
              </a:rPr>
              <a:t> Use research-based knowledge and research methods including design of experiments, analysis and interpretation of data, and synthesis of the information to provide valid conclusions.</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5. </a:t>
            </a:r>
            <a:r>
              <a:rPr lang="en-US" sz="1500" b="1" dirty="0">
                <a:latin typeface="Times New Roman"/>
                <a:ea typeface="Times New Roman"/>
                <a:cs typeface="Times New Roman"/>
              </a:rPr>
              <a:t>Modern tool usage:</a:t>
            </a:r>
            <a:r>
              <a:rPr lang="en-US" sz="1500" dirty="0">
                <a:latin typeface="Times New Roman"/>
                <a:ea typeface="Times New Roman"/>
                <a:cs typeface="Times New Roman"/>
              </a:rPr>
              <a:t> Create, select, and apply appropriate techniques, resources, and modern engineering and IT tools including prediction and modeling to complex engineering activities with an understanding of the limitations.</a:t>
            </a:r>
          </a:p>
          <a:p>
            <a:pPr marL="0" indent="0">
              <a:buFont typeface="Arial" panose="020B0604020202020204" pitchFamily="34" charset="0"/>
              <a:buNone/>
              <a:defRPr/>
            </a:pPr>
            <a:endParaRPr lang="en-US" sz="3100" dirty="0"/>
          </a:p>
        </p:txBody>
      </p:sp>
    </p:spTree>
    <p:extLst>
      <p:ext uri="{BB962C8B-B14F-4D97-AF65-F5344CB8AC3E}">
        <p14:creationId xmlns:p14="http://schemas.microsoft.com/office/powerpoint/2010/main" val="3735924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69;p31"/>
          <p:cNvSpPr txBox="1">
            <a:spLocks/>
          </p:cNvSpPr>
          <p:nvPr/>
        </p:nvSpPr>
        <p:spPr bwMode="auto">
          <a:xfrm>
            <a:off x="92596" y="2268638"/>
            <a:ext cx="11910349" cy="458936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274320" indent="0" algn="just">
              <a:lnSpc>
                <a:spcPct val="114999"/>
              </a:lnSpc>
              <a:spcBef>
                <a:spcPts val="0"/>
              </a:spcBef>
              <a:buClr>
                <a:schemeClr val="dk1"/>
              </a:buClr>
              <a:buSzPts val="1100"/>
              <a:buFont typeface="Arial"/>
              <a:buNone/>
              <a:defRPr/>
            </a:pPr>
            <a:br>
              <a:rPr lang="en-US" sz="1200" dirty="0">
                <a:latin typeface="Times New Roman"/>
                <a:ea typeface="Times New Roman"/>
                <a:cs typeface="Times New Roman"/>
              </a:rPr>
            </a:br>
            <a:r>
              <a:rPr lang="en-US" sz="1400" dirty="0">
                <a:latin typeface="Times New Roman"/>
                <a:ea typeface="Times New Roman"/>
                <a:cs typeface="Times New Roman"/>
              </a:rPr>
              <a:t>6. </a:t>
            </a:r>
            <a:r>
              <a:rPr lang="en-US" sz="1400" b="1" dirty="0">
                <a:latin typeface="Times New Roman"/>
                <a:ea typeface="Times New Roman"/>
                <a:cs typeface="Times New Roman"/>
              </a:rPr>
              <a:t>The engineer and society:</a:t>
            </a:r>
            <a:r>
              <a:rPr lang="en-US" sz="1400" dirty="0">
                <a:latin typeface="Times New Roman"/>
                <a:ea typeface="Times New Roman"/>
                <a:cs typeface="Times New Roman"/>
              </a:rPr>
              <a:t> Apply reasoning informed by the contextual knowledge to assess societal, health, safety, legal and cultural issues and the consequent responsibilities relevant to the professional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7. </a:t>
            </a:r>
            <a:r>
              <a:rPr lang="en-US" sz="1400" b="1" dirty="0">
                <a:latin typeface="Times New Roman"/>
                <a:ea typeface="Times New Roman"/>
                <a:cs typeface="Times New Roman"/>
              </a:rPr>
              <a:t>Environment and sustainability:</a:t>
            </a:r>
            <a:r>
              <a:rPr lang="en-US" sz="1400" dirty="0">
                <a:latin typeface="Times New Roman"/>
                <a:ea typeface="Times New Roman"/>
                <a:cs typeface="Times New Roman"/>
              </a:rPr>
              <a:t> Understand the impact of the professional engineering solutions in societal and environmental contexts, and demonstrate the knowledge of, and need for sustainable development.</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8. </a:t>
            </a:r>
            <a:r>
              <a:rPr lang="en-US" sz="1400" b="1" dirty="0">
                <a:latin typeface="Times New Roman"/>
                <a:ea typeface="Times New Roman"/>
                <a:cs typeface="Times New Roman"/>
              </a:rPr>
              <a:t>Ethics:</a:t>
            </a:r>
            <a:r>
              <a:rPr lang="en-US" sz="1400" dirty="0">
                <a:latin typeface="Times New Roman"/>
                <a:ea typeface="Times New Roman"/>
                <a:cs typeface="Times New Roman"/>
              </a:rPr>
              <a:t> Apply ethical principles and commit to professional ethics and responsibilities and norms of the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9. </a:t>
            </a:r>
            <a:r>
              <a:rPr lang="en-US" sz="1400" b="1" dirty="0">
                <a:latin typeface="Times New Roman"/>
                <a:ea typeface="Times New Roman"/>
                <a:cs typeface="Times New Roman"/>
              </a:rPr>
              <a:t>Individual and team work:</a:t>
            </a:r>
            <a:r>
              <a:rPr lang="en-US" sz="1400" dirty="0">
                <a:latin typeface="Times New Roman"/>
                <a:ea typeface="Times New Roman"/>
                <a:cs typeface="Times New Roman"/>
              </a:rPr>
              <a:t> Function effectively as an individual, and as a member or leader in diverse teams, and in multidisciplinary settings.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10. </a:t>
            </a:r>
            <a:r>
              <a:rPr lang="en-US" sz="1400" b="1" dirty="0">
                <a:latin typeface="Times New Roman"/>
                <a:ea typeface="Times New Roman"/>
                <a:cs typeface="Times New Roman"/>
              </a:rPr>
              <a:t>Communication:</a:t>
            </a:r>
            <a:r>
              <a:rPr lang="en-US" sz="1400" dirty="0">
                <a:latin typeface="Times New Roman"/>
                <a:ea typeface="Times New Roman"/>
                <a:cs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11. </a:t>
            </a:r>
            <a:r>
              <a:rPr lang="en-US" sz="1400" b="1" dirty="0">
                <a:latin typeface="Times New Roman"/>
                <a:ea typeface="Times New Roman"/>
                <a:cs typeface="Times New Roman"/>
              </a:rPr>
              <a:t>Project management and finance:</a:t>
            </a:r>
            <a:r>
              <a:rPr lang="en-US" sz="1400" dirty="0">
                <a:latin typeface="Times New Roman"/>
                <a:ea typeface="Times New Roman"/>
                <a:cs typeface="Times New Roman"/>
              </a:rPr>
              <a:t> Demonstrate knowledge and understanding of the engineering and management principles and apply these to one’s own work, as a member and leader in a team, to manage projects and in multidisciplinary environments.</a:t>
            </a:r>
            <a:br>
              <a:rPr lang="en-US" sz="1400" dirty="0">
                <a:latin typeface="Times New Roman"/>
                <a:ea typeface="Times New Roman"/>
                <a:cs typeface="Times New Roman"/>
              </a:rPr>
            </a:br>
            <a:r>
              <a:rPr lang="en-US" sz="1400" dirty="0">
                <a:latin typeface="Times New Roman"/>
                <a:ea typeface="Times New Roman"/>
                <a:cs typeface="Times New Roman"/>
              </a:rPr>
              <a:t>12. </a:t>
            </a:r>
            <a:r>
              <a:rPr lang="en-US" sz="1400" b="1" dirty="0">
                <a:latin typeface="Times New Roman"/>
                <a:ea typeface="Times New Roman"/>
                <a:cs typeface="Times New Roman"/>
              </a:rPr>
              <a:t>Life-long learning:</a:t>
            </a:r>
            <a:r>
              <a:rPr lang="en-US" sz="1400" dirty="0">
                <a:latin typeface="Times New Roman"/>
                <a:ea typeface="Times New Roman"/>
                <a:cs typeface="Times New Roman"/>
              </a:rPr>
              <a:t> Recognize the need for, and have the preparation and ability to engage in independent and life-long learning in the broadest context of technological change</a:t>
            </a:r>
            <a:r>
              <a:rPr lang="en-US" sz="1300" dirty="0">
                <a:latin typeface="Times New Roman"/>
                <a:ea typeface="Times New Roman"/>
                <a:cs typeface="Times New Roman"/>
              </a:rPr>
              <a:t>.</a:t>
            </a:r>
          </a:p>
          <a:p>
            <a:pPr marL="274320" marR="274320" indent="0" algn="just">
              <a:lnSpc>
                <a:spcPct val="114999"/>
              </a:lnSpc>
              <a:spcBef>
                <a:spcPts val="0"/>
              </a:spcBef>
              <a:buClr>
                <a:schemeClr val="dk1"/>
              </a:buClr>
              <a:buSzPts val="1100"/>
              <a:buFont typeface="Arial"/>
              <a:buNone/>
              <a:defRPr/>
            </a:pPr>
            <a:endParaRPr lang="en-US" sz="1300" dirty="0">
              <a:latin typeface="Times New Roman"/>
              <a:ea typeface="Times New Roman"/>
              <a:cs typeface="Times New Roman"/>
            </a:endParaRPr>
          </a:p>
          <a:p>
            <a:pPr marL="274320" marR="274320" indent="0">
              <a:buFont typeface="Arial" panose="020B0604020202020204" pitchFamily="34" charset="0"/>
              <a:buNone/>
              <a:defRPr/>
            </a:pPr>
            <a:endParaRPr lang="en-US" dirty="0"/>
          </a:p>
        </p:txBody>
      </p:sp>
    </p:spTree>
    <p:extLst>
      <p:ext uri="{BB962C8B-B14F-4D97-AF65-F5344CB8AC3E}">
        <p14:creationId xmlns:p14="http://schemas.microsoft.com/office/powerpoint/2010/main" val="1945739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74;p32"/>
          <p:cNvSpPr txBox="1">
            <a:spLocks/>
          </p:cNvSpPr>
          <p:nvPr/>
        </p:nvSpPr>
        <p:spPr bwMode="auto">
          <a:xfrm>
            <a:off x="603261" y="2291786"/>
            <a:ext cx="11156618" cy="404811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Specific Outcomes (PSOs)</a:t>
            </a:r>
            <a:endParaRPr lang="en-US" u="sng" dirty="0">
              <a:latin typeface="Times New Roman"/>
              <a:ea typeface="Times New Roman"/>
              <a:cs typeface="Times New Roman"/>
            </a:endParaRPr>
          </a:p>
          <a:p>
            <a:pPr marL="0" indent="0" algn="ctr">
              <a:lnSpc>
                <a:spcPct val="114999"/>
              </a:lnSpc>
              <a:spcBef>
                <a:spcPts val="0"/>
              </a:spcBef>
              <a:buClr>
                <a:schemeClr val="dk1"/>
              </a:buClr>
              <a:buSzPts val="1100"/>
              <a:buFont typeface="Arial"/>
              <a:buNone/>
              <a:defRPr/>
            </a:pPr>
            <a:endParaRPr lang="en-US" sz="1800" dirty="0">
              <a:latin typeface="Times New Roman" panose="02020603050405020304" pitchFamily="18" charset="0"/>
            </a:endParaRPr>
          </a:p>
          <a:p>
            <a:pPr marL="0" indent="0" algn="just">
              <a:lnSpc>
                <a:spcPct val="114999"/>
              </a:lnSpc>
              <a:spcBef>
                <a:spcPts val="0"/>
              </a:spcBef>
              <a:buClr>
                <a:schemeClr val="dk1"/>
              </a:buClr>
              <a:buSzPts val="1100"/>
              <a:buFont typeface="Arial"/>
              <a:buNone/>
              <a:defRPr/>
            </a:pPr>
            <a:r>
              <a:rPr lang="en-US" sz="1800" dirty="0">
                <a:latin typeface="Times New Roman" panose="02020603050405020304" pitchFamily="18" charset="0"/>
              </a:rPr>
              <a:t> On the completion of Computer Science &amp; Engineering program, the students will possess:</a:t>
            </a:r>
          </a:p>
          <a:p>
            <a:pPr algn="just">
              <a:lnSpc>
                <a:spcPct val="150000"/>
              </a:lnSpc>
              <a:spcBef>
                <a:spcPts val="1200"/>
              </a:spcBef>
              <a:spcAft>
                <a:spcPts val="1200"/>
              </a:spcAft>
            </a:pPr>
            <a:r>
              <a:rPr lang="en-IN" sz="1800" b="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PSO 1</a:t>
            </a:r>
            <a:r>
              <a:rPr lang="en-IN" sz="1800" b="0" dirty="0">
                <a:effectLst/>
                <a:latin typeface="Times New Roman" panose="02020603050405020304" pitchFamily="18" charset="0"/>
                <a:ea typeface="Times New Roman" panose="02020603050405020304" pitchFamily="18" charset="0"/>
              </a:rPr>
              <a:t>: Apply cyber security principles to mitigate cyber risk and </a:t>
            </a:r>
            <a:r>
              <a:rPr lang="en-IN" sz="1800" b="0" dirty="0" err="1">
                <a:effectLst/>
                <a:latin typeface="Times New Roman" panose="02020603050405020304" pitchFamily="18" charset="0"/>
                <a:ea typeface="Times New Roman" panose="02020603050405020304" pitchFamily="18" charset="0"/>
              </a:rPr>
              <a:t>analyze</a:t>
            </a:r>
            <a:r>
              <a:rPr lang="en-IN" sz="1800" b="0" dirty="0">
                <a:effectLst/>
                <a:latin typeface="Times New Roman" panose="02020603050405020304" pitchFamily="18" charset="0"/>
                <a:ea typeface="Times New Roman" panose="02020603050405020304" pitchFamily="18" charset="0"/>
              </a:rPr>
              <a:t> security requirements of an organization.</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2</a:t>
            </a:r>
            <a:r>
              <a:rPr lang="en-IN" sz="1800" b="0" dirty="0">
                <a:effectLst/>
                <a:latin typeface="Times New Roman" panose="02020603050405020304" pitchFamily="18" charset="0"/>
                <a:ea typeface="Times New Roman" panose="02020603050405020304" pitchFamily="18" charset="0"/>
              </a:rPr>
              <a:t>: Develop and deploy secure software and infrastructure using modern tools and industry standards. </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3</a:t>
            </a:r>
            <a:r>
              <a:rPr lang="en-IN" sz="1800" b="0" dirty="0">
                <a:effectLst/>
                <a:latin typeface="Times New Roman" panose="02020603050405020304" pitchFamily="18" charset="0"/>
                <a:ea typeface="Times New Roman" panose="02020603050405020304" pitchFamily="18" charset="0"/>
              </a:rPr>
              <a:t>: Uphold ethical, legal, and societal responsibilities while protecting privacy, data, and digital assets.</a:t>
            </a:r>
            <a:endParaRPr lang="en-IN" sz="1800" b="1" dirty="0">
              <a:effectLst/>
              <a:latin typeface="Arial" panose="020B0604020202020204" pitchFamily="34" charset="0"/>
            </a:endParaRPr>
          </a:p>
          <a:p>
            <a:pPr marL="0" indent="0" algn="just">
              <a:lnSpc>
                <a:spcPct val="114999"/>
              </a:lnSpc>
              <a:spcBef>
                <a:spcPts val="0"/>
              </a:spcBef>
              <a:buClr>
                <a:schemeClr val="dk1"/>
              </a:buClr>
              <a:buSzPts val="1100"/>
              <a:buFont typeface="Arial"/>
              <a:buNone/>
              <a:defRPr/>
            </a:pPr>
            <a:endParaRPr lang="en-US" sz="1600" dirty="0">
              <a:latin typeface="Times New Roman"/>
              <a:ea typeface="Times New Roman"/>
              <a:cs typeface="Times New Roman"/>
            </a:endParaRPr>
          </a:p>
          <a:p>
            <a:pPr marL="0" indent="0">
              <a:buFont typeface="Arial" panose="020B0604020202020204" pitchFamily="34" charset="0"/>
              <a:buNone/>
              <a:defRPr/>
            </a:pPr>
            <a:endParaRPr lang="en-US" sz="3200" dirty="0"/>
          </a:p>
        </p:txBody>
      </p:sp>
    </p:spTree>
    <p:extLst>
      <p:ext uri="{BB962C8B-B14F-4D97-AF65-F5344CB8AC3E}">
        <p14:creationId xmlns:p14="http://schemas.microsoft.com/office/powerpoint/2010/main" val="490350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Content Placeholder 2"/>
          <p:cNvSpPr txBox="1">
            <a:spLocks noChangeArrowheads="1"/>
          </p:cNvSpPr>
          <p:nvPr/>
        </p:nvSpPr>
        <p:spPr bwMode="auto">
          <a:xfrm>
            <a:off x="1319513" y="1990845"/>
            <a:ext cx="9560689" cy="4768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defRPr/>
            </a:pPr>
            <a:r>
              <a:rPr lang="en-US" sz="4000" b="1" u="sng" dirty="0">
                <a:latin typeface="Times New Roman"/>
                <a:cs typeface="Times New Roman"/>
              </a:rPr>
              <a:t>CONTENTS</a:t>
            </a:r>
            <a:endParaRPr lang="en-US" sz="2000" b="1" dirty="0">
              <a:solidFill>
                <a:srgbClr val="002060"/>
              </a:solidFill>
              <a:latin typeface="Times New Roman"/>
              <a:cs typeface="Times New Roman"/>
            </a:endParaRPr>
          </a:p>
          <a:p>
            <a:pPr>
              <a:lnSpc>
                <a:spcPct val="100000"/>
              </a:lnSpc>
              <a:spcBef>
                <a:spcPts val="0"/>
              </a:spcBef>
              <a:defRPr/>
            </a:pPr>
            <a:endParaRPr lang="en-US" sz="2000" b="1" dirty="0">
              <a:solidFill>
                <a:srgbClr val="002060"/>
              </a:solidFill>
              <a:latin typeface="Times New Roman"/>
              <a:cs typeface="Times New Roman"/>
            </a:endParaRPr>
          </a:p>
          <a:p>
            <a:pPr>
              <a:lnSpc>
                <a:spcPct val="100000"/>
              </a:lnSpc>
              <a:spcBef>
                <a:spcPts val="0"/>
              </a:spcBef>
              <a:defRPr/>
            </a:pPr>
            <a:r>
              <a:rPr lang="en-US" sz="2400" b="1" dirty="0">
                <a:solidFill>
                  <a:srgbClr val="002060"/>
                </a:solidFill>
                <a:latin typeface="Times New Roman"/>
                <a:cs typeface="Times New Roman"/>
              </a:rPr>
              <a:t>Motivation</a:t>
            </a:r>
          </a:p>
          <a:p>
            <a:pPr>
              <a:lnSpc>
                <a:spcPct val="100000"/>
              </a:lnSpc>
              <a:spcBef>
                <a:spcPts val="0"/>
              </a:spcBef>
              <a:defRPr/>
            </a:pPr>
            <a:r>
              <a:rPr lang="en-US" sz="2400" b="1" dirty="0">
                <a:solidFill>
                  <a:srgbClr val="002060"/>
                </a:solidFill>
                <a:latin typeface="Times New Roman"/>
                <a:cs typeface="Times New Roman"/>
              </a:rPr>
              <a:t>Introduction</a:t>
            </a:r>
          </a:p>
          <a:p>
            <a:pPr>
              <a:lnSpc>
                <a:spcPct val="100000"/>
              </a:lnSpc>
              <a:spcBef>
                <a:spcPts val="0"/>
              </a:spcBef>
              <a:defRPr/>
            </a:pPr>
            <a:r>
              <a:rPr lang="en-US" sz="2400" b="1" dirty="0">
                <a:solidFill>
                  <a:srgbClr val="002060"/>
                </a:solidFill>
                <a:latin typeface="Times New Roman"/>
                <a:cs typeface="Times New Roman"/>
              </a:rPr>
              <a:t>Problem Statement</a:t>
            </a:r>
          </a:p>
          <a:p>
            <a:pPr>
              <a:lnSpc>
                <a:spcPct val="100000"/>
              </a:lnSpc>
              <a:spcBef>
                <a:spcPts val="0"/>
              </a:spcBef>
              <a:defRPr/>
            </a:pPr>
            <a:r>
              <a:rPr lang="en-US" sz="2400" b="1" dirty="0">
                <a:solidFill>
                  <a:srgbClr val="002060"/>
                </a:solidFill>
                <a:latin typeface="Times New Roman"/>
                <a:cs typeface="Times New Roman"/>
              </a:rPr>
              <a:t>Proposed Method </a:t>
            </a:r>
          </a:p>
          <a:p>
            <a:pPr>
              <a:lnSpc>
                <a:spcPct val="100000"/>
              </a:lnSpc>
              <a:spcBef>
                <a:spcPts val="0"/>
              </a:spcBef>
              <a:defRPr/>
            </a:pPr>
            <a:r>
              <a:rPr lang="en-US" sz="2400" b="1" dirty="0">
                <a:solidFill>
                  <a:srgbClr val="002060"/>
                </a:solidFill>
                <a:latin typeface="Times New Roman"/>
                <a:cs typeface="Times New Roman"/>
              </a:rPr>
              <a:t>Basic Block Diagram</a:t>
            </a:r>
          </a:p>
          <a:p>
            <a:pPr>
              <a:lnSpc>
                <a:spcPct val="100000"/>
              </a:lnSpc>
              <a:spcBef>
                <a:spcPts val="0"/>
              </a:spcBef>
              <a:defRPr/>
            </a:pPr>
            <a:r>
              <a:rPr lang="en-US" sz="2400" b="1" dirty="0">
                <a:solidFill>
                  <a:srgbClr val="002060"/>
                </a:solidFill>
                <a:latin typeface="Times New Roman"/>
                <a:cs typeface="Times New Roman"/>
              </a:rPr>
              <a:t>Conclusion </a:t>
            </a:r>
          </a:p>
          <a:p>
            <a:pPr>
              <a:lnSpc>
                <a:spcPct val="100000"/>
              </a:lnSpc>
              <a:spcBef>
                <a:spcPts val="0"/>
              </a:spcBef>
              <a:defRPr/>
            </a:pPr>
            <a:r>
              <a:rPr lang="en-US" sz="2400" b="1" dirty="0">
                <a:solidFill>
                  <a:srgbClr val="002060"/>
                </a:solidFill>
                <a:latin typeface="Times New Roman"/>
                <a:cs typeface="Times New Roman"/>
              </a:rPr>
              <a:t>References</a:t>
            </a:r>
            <a:endParaRPr lang="en-US" sz="2400" dirty="0">
              <a:latin typeface="Times New Roman"/>
              <a:cs typeface="Times New Roman"/>
            </a:endParaRPr>
          </a:p>
        </p:txBody>
      </p:sp>
    </p:spTree>
    <p:extLst>
      <p:ext uri="{BB962C8B-B14F-4D97-AF65-F5344CB8AC3E}">
        <p14:creationId xmlns:p14="http://schemas.microsoft.com/office/powerpoint/2010/main" val="1330462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65319" y="2050000"/>
            <a:ext cx="8229240" cy="620000"/>
          </a:xfrm>
        </p:spPr>
        <p:txBody>
          <a:bodyPr>
            <a:normAutofit/>
          </a:bodyPr>
          <a:lstStyle/>
          <a:p>
            <a:pPr algn="ctr">
              <a:defRPr/>
            </a:pPr>
            <a:r>
              <a:rPr lang="en-US" sz="3200" b="1" u="sng" dirty="0">
                <a:latin typeface="Times New Roman"/>
                <a:ea typeface="Times New Roman"/>
                <a:cs typeface="Times New Roman"/>
              </a:rPr>
              <a:t>Motivation</a:t>
            </a:r>
            <a:endParaRPr sz="6000" b="1" dirty="0"/>
          </a:p>
        </p:txBody>
      </p:sp>
      <p:sp>
        <p:nvSpPr>
          <p:cNvPr id="7" name="TextBox 6"/>
          <p:cNvSpPr txBox="1"/>
          <p:nvPr/>
        </p:nvSpPr>
        <p:spPr>
          <a:xfrm>
            <a:off x="900000" y="2900000"/>
            <a:ext cx="10392000" cy="4200000"/>
          </a:xfrm>
          <a:prstGeom prst="rect">
            <a:avLst/>
          </a:prstGeom>
          <a:noFill/>
        </p:spPr>
        <p:txBody>
          <a:bodyPr wrap="square">
            <a:spAutoFit/>
          </a:bodyPr>
          <a:lstStyle/>
          <a:p>
            <a:pPr algn="l">
              <a:spcAft>
                <a:spcPts val="600"/>
              </a:spcAft>
            </a:pPr>
            <a:r>
              <a:rPr sz="1800">
                <a:solidFill>
                  <a:srgbClr val="222222"/>
                </a:solidFill>
                <a:latin typeface="Calibri"/>
              </a:rPr>
              <a:t>•  Most computers authenticate the user only once, at login.</a:t>
            </a:r>
          </a:p>
          <a:p>
            <a:pPr algn="l">
              <a:spcAft>
                <a:spcPts val="600"/>
              </a:spcAft>
            </a:pPr>
            <a:r>
              <a:rPr sz="1800">
                <a:solidFill>
                  <a:srgbClr val="222222"/>
                </a:solidFill>
                <a:latin typeface="Calibri"/>
              </a:rPr>
              <a:t>•  An unlocked, unattended workstation lets anyone nearby access sensitive data.</a:t>
            </a:r>
          </a:p>
          <a:p>
            <a:pPr algn="l">
              <a:spcAft>
                <a:spcPts val="600"/>
              </a:spcAft>
            </a:pPr>
            <a:r>
              <a:rPr sz="1800">
                <a:solidFill>
                  <a:srgbClr val="222222"/>
                </a:solidFill>
                <a:latin typeface="Calibri"/>
              </a:rPr>
              <a:t>•  Enterprises need a system that keeps confirming “is the right person still here?” — continuously, not just once.</a:t>
            </a:r>
          </a:p>
        </p:txBody>
      </p:sp>
    </p:spTree>
    <p:extLst>
      <p:ext uri="{BB962C8B-B14F-4D97-AF65-F5344CB8AC3E}">
        <p14:creationId xmlns:p14="http://schemas.microsoft.com/office/powerpoint/2010/main" val="3073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32268" y="2050000"/>
            <a:ext cx="8229240" cy="620000"/>
          </a:xfrm>
        </p:spPr>
        <p:txBody>
          <a:bodyPr>
            <a:noAutofit/>
          </a:bodyPr>
          <a:lstStyle/>
          <a:p>
            <a:pPr algn="ctr">
              <a:defRPr/>
            </a:pPr>
            <a:r>
              <a:rPr lang="en-US" sz="3200" b="1" u="sng" dirty="0">
                <a:latin typeface="Times New Roman"/>
                <a:ea typeface="Times New Roman"/>
                <a:cs typeface="Times New Roman"/>
              </a:rPr>
              <a:t>Introduction</a:t>
            </a:r>
            <a:endParaRPr sz="4800" b="1" dirty="0"/>
          </a:p>
        </p:txBody>
      </p:sp>
      <p:sp>
        <p:nvSpPr>
          <p:cNvPr id="7" name="TextBox 6"/>
          <p:cNvSpPr txBox="1"/>
          <p:nvPr/>
        </p:nvSpPr>
        <p:spPr>
          <a:xfrm>
            <a:off x="900000" y="2900000"/>
            <a:ext cx="10392000" cy="4200000"/>
          </a:xfrm>
          <a:prstGeom prst="rect">
            <a:avLst/>
          </a:prstGeom>
          <a:noFill/>
        </p:spPr>
        <p:txBody>
          <a:bodyPr wrap="square">
            <a:spAutoFit/>
          </a:bodyPr>
          <a:lstStyle/>
          <a:p>
            <a:pPr algn="l">
              <a:spcAft>
                <a:spcPts val="600"/>
              </a:spcAft>
            </a:pPr>
            <a:r>
              <a:rPr sz="1800">
                <a:solidFill>
                  <a:srgbClr val="222222"/>
                </a:solidFill>
                <a:latin typeface="Calibri"/>
              </a:rPr>
              <a:t>•  PhantomX is an ESP32-based continuous authentication system for enterprise PCs.</a:t>
            </a:r>
          </a:p>
          <a:p>
            <a:pPr algn="l">
              <a:spcAft>
                <a:spcPts val="600"/>
              </a:spcAft>
            </a:pPr>
            <a:r>
              <a:rPr sz="1800">
                <a:solidFill>
                  <a:srgbClr val="222222"/>
                </a:solidFill>
                <a:latin typeface="Calibri"/>
              </a:rPr>
              <a:t>•  Combines fingerprint biometrics with Bluetooth Low Energy (BLE) proximity sensing.</a:t>
            </a:r>
          </a:p>
          <a:p>
            <a:pPr algn="l">
              <a:spcAft>
                <a:spcPts val="600"/>
              </a:spcAft>
            </a:pPr>
            <a:r>
              <a:rPr sz="1800">
                <a:solidFill>
                  <a:srgbClr val="222222"/>
                </a:solidFill>
                <a:latin typeface="Calibri"/>
              </a:rPr>
              <a:t>•  Verifies the user once at login, then keeps checking that their device is nearby.</a:t>
            </a:r>
          </a:p>
          <a:p>
            <a:pPr algn="l">
              <a:spcAft>
                <a:spcPts val="600"/>
              </a:spcAft>
            </a:pPr>
            <a:r>
              <a:rPr sz="1800">
                <a:solidFill>
                  <a:srgbClr val="222222"/>
                </a:solidFill>
                <a:latin typeface="Calibri"/>
              </a:rPr>
              <a:t>•  Automatically locks the PC the moment the user walks away.</a:t>
            </a:r>
          </a:p>
        </p:txBody>
      </p:sp>
    </p:spTree>
    <p:extLst>
      <p:ext uri="{BB962C8B-B14F-4D97-AF65-F5344CB8AC3E}">
        <p14:creationId xmlns:p14="http://schemas.microsoft.com/office/powerpoint/2010/main" val="4281306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itle 1"/>
          <p:cNvSpPr>
            <a:spLocks noGrp="1"/>
          </p:cNvSpPr>
          <p:nvPr>
            <p:ph type="title"/>
          </p:nvPr>
        </p:nvSpPr>
        <p:spPr bwMode="auto">
          <a:xfrm>
            <a:off x="2066261" y="2050000"/>
            <a:ext cx="8229240" cy="620000"/>
          </a:xfrm>
        </p:spPr>
        <p:txBody>
          <a:bodyPr>
            <a:noAutofit/>
          </a:bodyPr>
          <a:lstStyle/>
          <a:p>
            <a:pPr algn="ctr">
              <a:lnSpc>
                <a:spcPct val="100000"/>
              </a:lnSpc>
              <a:spcBef>
                <a:spcPts val="0"/>
              </a:spcBef>
              <a:defRPr/>
            </a:pPr>
            <a:r>
              <a:rPr lang="en-IN" sz="3200" b="1" u="sng" dirty="0">
                <a:solidFill>
                  <a:srgbClr val="002060"/>
                </a:solidFill>
                <a:latin typeface="Times New Roman"/>
                <a:cs typeface="Times New Roman"/>
              </a:rPr>
              <a:t>Problem Statement</a:t>
            </a:r>
            <a:endParaRPr lang="en-US" sz="4000" b="1" u="sng" dirty="0">
              <a:solidFill>
                <a:srgbClr val="002060"/>
              </a:solidFill>
              <a:latin typeface="Times New Roman"/>
              <a:cs typeface="Times New Roman"/>
            </a:endParaRPr>
          </a:p>
        </p:txBody>
      </p:sp>
      <p:sp>
        <p:nvSpPr>
          <p:cNvPr id="7" name="TextBox 6"/>
          <p:cNvSpPr txBox="1"/>
          <p:nvPr/>
        </p:nvSpPr>
        <p:spPr>
          <a:xfrm>
            <a:off x="900000" y="2900000"/>
            <a:ext cx="10392000" cy="4200000"/>
          </a:xfrm>
          <a:prstGeom prst="rect">
            <a:avLst/>
          </a:prstGeom>
          <a:noFill/>
        </p:spPr>
        <p:txBody>
          <a:bodyPr wrap="square">
            <a:spAutoFit/>
          </a:bodyPr>
          <a:lstStyle/>
          <a:p>
            <a:pPr algn="l">
              <a:spcAft>
                <a:spcPts val="600"/>
              </a:spcAft>
            </a:pPr>
            <a:r>
              <a:rPr sz="1800">
                <a:solidFill>
                  <a:srgbClr val="222222"/>
                </a:solidFill>
                <a:latin typeface="Calibri"/>
              </a:rPr>
              <a:t>•  Login-only authentication leaves the system vulnerable after unlock.</a:t>
            </a:r>
          </a:p>
          <a:p>
            <a:pPr algn="l">
              <a:spcAft>
                <a:spcPts val="600"/>
              </a:spcAft>
            </a:pPr>
            <a:r>
              <a:rPr sz="1800">
                <a:solidFill>
                  <a:srgbClr val="222222"/>
                </a:solidFill>
                <a:latin typeface="Calibri"/>
              </a:rPr>
              <a:t>•  Anyone nearby can access sensitive data on an unattended, unlocked PC.</a:t>
            </a:r>
          </a:p>
          <a:p>
            <a:pPr algn="l">
              <a:spcAft>
                <a:spcPts val="600"/>
              </a:spcAft>
            </a:pPr>
            <a:r>
              <a:rPr sz="1800">
                <a:solidFill>
                  <a:srgbClr val="222222"/>
                </a:solidFill>
                <a:latin typeface="Calibri"/>
              </a:rPr>
              <a:t>•  PhantomX fixes this with fingerprint login + continuous BLE presence checks + automatic locking.</a:t>
            </a:r>
          </a:p>
        </p:txBody>
      </p:sp>
    </p:spTree>
    <p:extLst>
      <p:ext uri="{BB962C8B-B14F-4D97-AF65-F5344CB8AC3E}">
        <p14:creationId xmlns:p14="http://schemas.microsoft.com/office/powerpoint/2010/main" val="2405377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2066261" y="2050000"/>
            <a:ext cx="8229240" cy="620000"/>
          </a:xfrm>
        </p:spPr>
        <p:txBody>
          <a:bodyPr>
            <a:noAutofit/>
          </a:bodyPr>
          <a:lstStyle/>
          <a:p>
            <a:pPr algn="ctr">
              <a:lnSpc>
                <a:spcPct val="100000"/>
              </a:lnSpc>
              <a:spcBef>
                <a:spcPts val="0"/>
              </a:spcBef>
              <a:defRPr/>
            </a:pPr>
            <a:r>
              <a:rPr lang="en-IN" sz="3200" b="1" u="sng" dirty="0">
                <a:solidFill>
                  <a:srgbClr val="002060"/>
                </a:solidFill>
                <a:latin typeface="Times New Roman"/>
                <a:cs typeface="Times New Roman"/>
              </a:rPr>
              <a:t>Proposed Method</a:t>
            </a:r>
            <a:endParaRPr lang="en-US" sz="4000" b="1" u="sng" dirty="0">
              <a:solidFill>
                <a:srgbClr val="002060"/>
              </a:solidFill>
              <a:latin typeface="Times New Roman"/>
              <a:cs typeface="Times New Roman"/>
            </a:endParaRPr>
          </a:p>
        </p:txBody>
      </p:sp>
      <p:sp>
        <p:nvSpPr>
          <p:cNvPr id="7" name="TextBox 6"/>
          <p:cNvSpPr txBox="1"/>
          <p:nvPr/>
        </p:nvSpPr>
        <p:spPr>
          <a:xfrm>
            <a:off x="900000" y="2900000"/>
            <a:ext cx="10392000" cy="4200000"/>
          </a:xfrm>
          <a:prstGeom prst="rect">
            <a:avLst/>
          </a:prstGeom>
          <a:noFill/>
        </p:spPr>
        <p:txBody>
          <a:bodyPr wrap="square">
            <a:spAutoFit/>
          </a:bodyPr>
          <a:lstStyle/>
          <a:p>
            <a:pPr algn="l">
              <a:spcAft>
                <a:spcPts val="500"/>
              </a:spcAft>
            </a:pPr>
            <a:r>
              <a:rPr sz="1600">
                <a:solidFill>
                  <a:srgbClr val="222222"/>
                </a:solidFill>
                <a:latin typeface="Calibri"/>
              </a:rPr>
              <a:t>•  Login: user opens the PhantomX app and enters username &amp; password.</a:t>
            </a:r>
          </a:p>
          <a:p>
            <a:pPr algn="l">
              <a:spcAft>
                <a:spcPts val="500"/>
              </a:spcAft>
            </a:pPr>
            <a:r>
              <a:rPr sz="1600">
                <a:solidFill>
                  <a:srgbClr val="222222"/>
                </a:solidFill>
                <a:latin typeface="Calibri"/>
              </a:rPr>
              <a:t>•  Fingerprint verification: ESP32 matches the scan against enrolled templates.</a:t>
            </a:r>
          </a:p>
          <a:p>
            <a:pPr algn="l">
              <a:spcAft>
                <a:spcPts val="500"/>
              </a:spcAft>
            </a:pPr>
            <a:r>
              <a:rPr sz="1600">
                <a:solidFill>
                  <a:srgbClr val="222222"/>
                </a:solidFill>
                <a:latin typeface="Calibri"/>
              </a:rPr>
              <a:t>•  Desktop unlock: session starts, green LED turns on.</a:t>
            </a:r>
          </a:p>
          <a:p>
            <a:pPr algn="l">
              <a:spcAft>
                <a:spcPts val="500"/>
              </a:spcAft>
            </a:pPr>
            <a:r>
              <a:rPr sz="1600">
                <a:solidFill>
                  <a:srgbClr val="222222"/>
                </a:solidFill>
                <a:latin typeface="Calibri"/>
              </a:rPr>
              <a:t>•  Continuous authentication: BLE checks ESP32 presence every few seconds.</a:t>
            </a:r>
          </a:p>
          <a:p>
            <a:pPr algn="l">
              <a:spcAft>
                <a:spcPts val="500"/>
              </a:spcAft>
            </a:pPr>
            <a:r>
              <a:rPr sz="1600">
                <a:solidFill>
                  <a:srgbClr val="222222"/>
                </a:solidFill>
                <a:latin typeface="Calibri"/>
              </a:rPr>
              <a:t>•  Auto-lock: if BLE disconnects, the PC locks, logs the event, red LED turns on.</a:t>
            </a:r>
          </a:p>
          <a:p>
            <a:pPr algn="l">
              <a:spcAft>
                <a:spcPts val="500"/>
              </a:spcAft>
            </a:pPr>
            <a:r>
              <a:rPr sz="1600">
                <a:solidFill>
                  <a:srgbClr val="222222"/>
                </a:solidFill>
                <a:latin typeface="Calibri"/>
              </a:rPr>
              <a:t>•  All ESP32 ↔ desktop messages use AES-128 encryption with challenge–response verification.</a:t>
            </a:r>
          </a:p>
        </p:txBody>
      </p:sp>
    </p:spTree>
    <p:extLst>
      <p:ext uri="{BB962C8B-B14F-4D97-AF65-F5344CB8AC3E}">
        <p14:creationId xmlns:p14="http://schemas.microsoft.com/office/powerpoint/2010/main" val="3621066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7939" y="162121"/>
            <a:ext cx="9745883" cy="1610027"/>
          </a:xfrm>
          <a:prstGeom prst="rect">
            <a:avLst/>
          </a:prstGeom>
        </p:spPr>
      </p:pic>
      <p:sp>
        <p:nvSpPr>
          <p:cNvPr id="3" name="Title 1"/>
          <p:cNvSpPr>
            <a:spLocks noGrp="1"/>
          </p:cNvSpPr>
          <p:nvPr>
            <p:ph type="title"/>
          </p:nvPr>
        </p:nvSpPr>
        <p:spPr bwMode="auto">
          <a:xfrm>
            <a:off x="2066260" y="1950000"/>
            <a:ext cx="8229240" cy="560000"/>
          </a:xfrm>
        </p:spPr>
        <p:txBody>
          <a:bodyPr>
            <a:noAutofit/>
          </a:bodyPr>
          <a:lstStyle/>
          <a:p>
            <a:pPr algn="ctr">
              <a:lnSpc>
                <a:spcPct val="100000"/>
              </a:lnSpc>
              <a:spcBef>
                <a:spcPts val="0"/>
              </a:spcBef>
              <a:defRPr/>
            </a:pPr>
            <a:r>
              <a:rPr lang="en-US" sz="3200" b="1" u="sng" dirty="0">
                <a:solidFill>
                  <a:srgbClr val="002060"/>
                </a:solidFill>
                <a:latin typeface="Times New Roman"/>
                <a:cs typeface="Times New Roman"/>
              </a:rPr>
              <a:t>Basic Block Diagram</a:t>
            </a:r>
          </a:p>
        </p:txBody>
      </p:sp>
      <p:sp>
        <p:nvSpPr>
          <p:cNvPr id="7" name="TextBox 6"/>
          <p:cNvSpPr txBox="1"/>
          <p:nvPr/>
        </p:nvSpPr>
        <p:spPr>
          <a:xfrm>
            <a:off x="700000" y="2600000"/>
            <a:ext cx="6500000" cy="280000"/>
          </a:xfrm>
          <a:prstGeom prst="rect">
            <a:avLst/>
          </a:prstGeom>
          <a:noFill/>
        </p:spPr>
        <p:txBody>
          <a:bodyPr wrap="none">
            <a:spAutoFit/>
          </a:bodyPr>
          <a:lstStyle/>
          <a:p>
            <a:pPr algn="ctr"/>
            <a:r>
              <a:rPr sz="1400" b="1">
                <a:solidFill>
                  <a:srgbClr val="1E2761"/>
                </a:solidFill>
                <a:latin typeface="Calibri"/>
              </a:rPr>
              <a:t>System Architecture</a:t>
            </a:r>
          </a:p>
        </p:txBody>
      </p:sp>
      <p:pic>
        <p:nvPicPr>
          <p:cNvPr id="8" name="Picture 7" descr="image.png"/>
          <p:cNvPicPr>
            <a:picLocks noChangeAspect="1"/>
          </p:cNvPicPr>
          <p:nvPr/>
        </p:nvPicPr>
        <p:blipFill>
          <a:blip r:embed="rId3"/>
          <a:stretch>
            <a:fillRect/>
          </a:stretch>
        </p:blipFill>
        <p:spPr>
          <a:xfrm>
            <a:off x="700000" y="2920000"/>
            <a:ext cx="6500000" cy="1890909"/>
          </a:xfrm>
          <a:prstGeom prst="rect">
            <a:avLst/>
          </a:prstGeom>
        </p:spPr>
      </p:pic>
      <p:sp>
        <p:nvSpPr>
          <p:cNvPr id="9" name="TextBox 8"/>
          <p:cNvSpPr txBox="1"/>
          <p:nvPr/>
        </p:nvSpPr>
        <p:spPr>
          <a:xfrm>
            <a:off x="700000" y="4890909"/>
            <a:ext cx="6500000" cy="1600000"/>
          </a:xfrm>
          <a:prstGeom prst="rect">
            <a:avLst/>
          </a:prstGeom>
          <a:noFill/>
        </p:spPr>
        <p:txBody>
          <a:bodyPr wrap="square">
            <a:spAutoFit/>
          </a:bodyPr>
          <a:lstStyle/>
          <a:p>
            <a:pPr>
              <a:spcAft>
                <a:spcPts val="600"/>
              </a:spcAft>
            </a:pPr>
            <a:r>
              <a:rPr sz="1350">
                <a:solidFill>
                  <a:srgbClr val="222222"/>
                </a:solidFill>
                <a:latin typeface="Calibri"/>
              </a:rPr>
              <a:t>•  Fingerprint match → ESP32 authenticates → BLE link established with desktop app.</a:t>
            </a:r>
          </a:p>
          <a:p>
            <a:pPr>
              <a:spcAft>
                <a:spcPts val="600"/>
              </a:spcAft>
            </a:pPr>
            <a:r>
              <a:rPr sz="1350">
                <a:solidFill>
                  <a:srgbClr val="222222"/>
                </a:solidFill>
                <a:latin typeface="Calibri"/>
              </a:rPr>
              <a:t>•  App polls BLE every few seconds; if the ESP32 goes out of range, the PC locks automatically.</a:t>
            </a:r>
          </a:p>
        </p:txBody>
      </p:sp>
      <p:sp>
        <p:nvSpPr>
          <p:cNvPr id="10" name="TextBox 9"/>
          <p:cNvSpPr txBox="1"/>
          <p:nvPr/>
        </p:nvSpPr>
        <p:spPr>
          <a:xfrm>
            <a:off x="7450000" y="2600000"/>
            <a:ext cx="4700000" cy="280000"/>
          </a:xfrm>
          <a:prstGeom prst="rect">
            <a:avLst/>
          </a:prstGeom>
          <a:noFill/>
        </p:spPr>
        <p:txBody>
          <a:bodyPr wrap="none">
            <a:spAutoFit/>
          </a:bodyPr>
          <a:lstStyle/>
          <a:p>
            <a:pPr algn="ctr"/>
            <a:r>
              <a:rPr sz="1400" b="1">
                <a:solidFill>
                  <a:srgbClr val="1E2761"/>
                </a:solidFill>
                <a:latin typeface="Calibri"/>
              </a:rPr>
              <a:t>Prototype Hardware Connection Diagram</a:t>
            </a:r>
          </a:p>
        </p:txBody>
      </p:sp>
      <p:pic>
        <p:nvPicPr>
          <p:cNvPr id="11" name="Picture 10" descr="image.png"/>
          <p:cNvPicPr>
            <a:picLocks noChangeAspect="1"/>
          </p:cNvPicPr>
          <p:nvPr/>
        </p:nvPicPr>
        <p:blipFill>
          <a:blip r:embed="rId4"/>
          <a:stretch>
            <a:fillRect/>
          </a:stretch>
        </p:blipFill>
        <p:spPr>
          <a:xfrm>
            <a:off x="7450000" y="2920000"/>
            <a:ext cx="4700000" cy="3525000"/>
          </a:xfrm>
          <a:prstGeom prst="rect">
            <a:avLst/>
          </a:prstGeom>
        </p:spPr>
      </p:pic>
    </p:spTree>
    <p:extLst>
      <p:ext uri="{BB962C8B-B14F-4D97-AF65-F5344CB8AC3E}">
        <p14:creationId xmlns:p14="http://schemas.microsoft.com/office/powerpoint/2010/main" val="2712603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765319" y="1900000"/>
            <a:ext cx="8229240" cy="560000"/>
          </a:xfrm>
        </p:spPr>
        <p:txBody>
          <a:bodyPr>
            <a:noAutofit/>
          </a:bodyPr>
          <a:lstStyle/>
          <a:p>
            <a:pPr algn="ctr">
              <a:lnSpc>
                <a:spcPct val="100000"/>
              </a:lnSpc>
              <a:spcBef>
                <a:spcPts val="0"/>
              </a:spcBef>
              <a:defRPr/>
            </a:pPr>
            <a:r>
              <a:rPr lang="en-IN" sz="3200" b="1" u="sng" dirty="0">
                <a:solidFill>
                  <a:srgbClr val="002060"/>
                </a:solidFill>
                <a:latin typeface="Times New Roman"/>
                <a:cs typeface="Times New Roman"/>
              </a:rPr>
              <a:t>Conclusion </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extBox 4"/>
          <p:cNvSpPr txBox="1"/>
          <p:nvPr/>
        </p:nvSpPr>
        <p:spPr>
          <a:xfrm>
            <a:off x="900000" y="2750000"/>
            <a:ext cx="10392000" cy="4200000"/>
          </a:xfrm>
          <a:prstGeom prst="rect">
            <a:avLst/>
          </a:prstGeom>
          <a:noFill/>
        </p:spPr>
        <p:txBody>
          <a:bodyPr wrap="square">
            <a:spAutoFit/>
          </a:bodyPr>
          <a:lstStyle/>
          <a:p>
            <a:pPr algn="l">
              <a:spcAft>
                <a:spcPts val="600"/>
              </a:spcAft>
            </a:pPr>
            <a:r>
              <a:rPr sz="1800">
                <a:solidFill>
                  <a:srgbClr val="222222"/>
                </a:solidFill>
                <a:latin typeface="Calibri"/>
              </a:rPr>
              <a:t>•  PhantomX delivers continuous, hands-free authentication instead of a one-time login check.</a:t>
            </a:r>
          </a:p>
          <a:p>
            <a:pPr algn="l">
              <a:spcAft>
                <a:spcPts val="600"/>
              </a:spcAft>
            </a:pPr>
            <a:r>
              <a:rPr sz="1800">
                <a:solidFill>
                  <a:srgbClr val="222222"/>
                </a:solidFill>
                <a:latin typeface="Calibri"/>
              </a:rPr>
              <a:t>•  Combines fingerprint biometrics, BLE proximity sensing, and AES-128 challenge–response security.</a:t>
            </a:r>
          </a:p>
          <a:p>
            <a:pPr algn="l">
              <a:spcAft>
                <a:spcPts val="600"/>
              </a:spcAft>
            </a:pPr>
            <a:r>
              <a:rPr sz="1800">
                <a:solidFill>
                  <a:srgbClr val="222222"/>
                </a:solidFill>
                <a:latin typeface="Calibri"/>
              </a:rPr>
              <a:t>•  Automatic locking removes the risk of an unattended, unlocked workstation.</a:t>
            </a:r>
          </a:p>
          <a:p>
            <a:pPr algn="l">
              <a:spcAft>
                <a:spcPts val="600"/>
              </a:spcAft>
            </a:pPr>
            <a:r>
              <a:rPr sz="1800">
                <a:solidFill>
                  <a:srgbClr val="222222"/>
                </a:solidFill>
                <a:latin typeface="Calibri"/>
              </a:rPr>
              <a:t>•  Low-cost (₹2,800–₹3,300) and scalable to banks, hospitals, labs, and offices.</a:t>
            </a:r>
          </a:p>
        </p:txBody>
      </p:sp>
    </p:spTree>
    <p:extLst>
      <p:ext uri="{BB962C8B-B14F-4D97-AF65-F5344CB8AC3E}">
        <p14:creationId xmlns:p14="http://schemas.microsoft.com/office/powerpoint/2010/main" val="127308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765319" y="1900000"/>
            <a:ext cx="8229240" cy="560000"/>
          </a:xfrm>
        </p:spPr>
        <p:txBody>
          <a:bodyPr>
            <a:noAutofit/>
          </a:bodyPr>
          <a:lstStyle/>
          <a:p>
            <a:pPr algn="ctr">
              <a:lnSpc>
                <a:spcPct val="100000"/>
              </a:lnSpc>
              <a:spcBef>
                <a:spcPts val="0"/>
              </a:spcBef>
              <a:defRPr/>
            </a:pPr>
            <a:r>
              <a:rPr lang="en-IN" sz="3200" b="1" u="sng" dirty="0">
                <a:solidFill>
                  <a:srgbClr val="002060"/>
                </a:solidFill>
                <a:latin typeface="Times New Roman"/>
                <a:cs typeface="Times New Roman"/>
              </a:rPr>
              <a:t>References</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extBox 4"/>
          <p:cNvSpPr txBox="1"/>
          <p:nvPr/>
        </p:nvSpPr>
        <p:spPr>
          <a:xfrm>
            <a:off x="900000" y="2750000"/>
            <a:ext cx="10392000" cy="3800000"/>
          </a:xfrm>
          <a:prstGeom prst="rect">
            <a:avLst/>
          </a:prstGeom>
          <a:noFill/>
        </p:spPr>
        <p:txBody>
          <a:bodyPr wrap="square">
            <a:spAutoFit/>
          </a:bodyPr>
          <a:lstStyle/>
          <a:p>
            <a:pPr>
              <a:spcAft>
                <a:spcPts val="1400"/>
              </a:spcAft>
            </a:pPr>
            <a:r>
              <a:rPr sz="1700">
                <a:solidFill>
                  <a:srgbClr val="222222"/>
                </a:solidFill>
                <a:latin typeface="Calibri"/>
              </a:rPr>
              <a:t>1.  </a:t>
            </a:r>
            <a:r>
              <a:rPr sz="1700" u="sng">
                <a:solidFill>
                  <a:srgbClr val="0056B3"/>
                </a:solidFill>
                <a:latin typeface="Calibri"/>
                <a:hlinkClick r:id="rId3"/>
              </a:rPr>
              <a:t>Espressif – ESP32 Series Datasheet</a:t>
            </a:r>
          </a:p>
          <a:p>
            <a:pPr>
              <a:spcAft>
                <a:spcPts val="1400"/>
              </a:spcAft>
            </a:pPr>
            <a:r>
              <a:rPr sz="1700">
                <a:solidFill>
                  <a:srgbClr val="222222"/>
                </a:solidFill>
                <a:latin typeface="Calibri"/>
              </a:rPr>
              <a:t>2.  </a:t>
            </a:r>
            <a:r>
              <a:rPr sz="1700" u="sng">
                <a:solidFill>
                  <a:srgbClr val="0056B3"/>
                </a:solidFill>
                <a:latin typeface="Calibri"/>
                <a:hlinkClick r:id="rId4"/>
              </a:rPr>
              <a:t>Adafruit – Optical Fingerprint Sensor Guide</a:t>
            </a:r>
          </a:p>
          <a:p>
            <a:pPr>
              <a:spcAft>
                <a:spcPts val="1400"/>
              </a:spcAft>
            </a:pPr>
            <a:r>
              <a:rPr sz="1700">
                <a:solidFill>
                  <a:srgbClr val="222222"/>
                </a:solidFill>
                <a:latin typeface="Calibri"/>
              </a:rPr>
              <a:t>3.  </a:t>
            </a:r>
            <a:r>
              <a:rPr sz="1700" u="sng">
                <a:solidFill>
                  <a:srgbClr val="0056B3"/>
                </a:solidFill>
                <a:latin typeface="Calibri"/>
                <a:hlinkClick r:id="rId5"/>
              </a:rPr>
              <a:t>Bluetooth SIG – Bluetooth Low Energy Overview</a:t>
            </a:r>
          </a:p>
          <a:p>
            <a:pPr>
              <a:spcAft>
                <a:spcPts val="1400"/>
              </a:spcAft>
            </a:pPr>
            <a:r>
              <a:rPr sz="1700">
                <a:solidFill>
                  <a:srgbClr val="222222"/>
                </a:solidFill>
                <a:latin typeface="Calibri"/>
              </a:rPr>
              <a:t>4.  </a:t>
            </a:r>
            <a:r>
              <a:rPr sz="1700" u="sng">
                <a:solidFill>
                  <a:srgbClr val="0056B3"/>
                </a:solidFill>
                <a:latin typeface="Calibri"/>
                <a:hlinkClick r:id="rId6"/>
              </a:rPr>
              <a:t>NIST – Advanced Encryption Standard (FIPS 197)</a:t>
            </a:r>
          </a:p>
          <a:p>
            <a:pPr>
              <a:spcAft>
                <a:spcPts val="1400"/>
              </a:spcAft>
            </a:pPr>
            <a:r>
              <a:rPr sz="1700">
                <a:solidFill>
                  <a:srgbClr val="222222"/>
                </a:solidFill>
                <a:latin typeface="Calibri"/>
              </a:rPr>
              <a:t>5.  </a:t>
            </a:r>
            <a:r>
              <a:rPr sz="1700" u="sng">
                <a:solidFill>
                  <a:srgbClr val="0056B3"/>
                </a:solidFill>
                <a:latin typeface="Calibri"/>
                <a:hlinkClick r:id="rId7"/>
              </a:rPr>
              <a:t>Wikipedia – Challenge–Response Authentication</a:t>
            </a:r>
          </a:p>
        </p:txBody>
      </p:sp>
    </p:spTree>
    <p:extLst>
      <p:ext uri="{BB962C8B-B14F-4D97-AF65-F5344CB8AC3E}">
        <p14:creationId xmlns:p14="http://schemas.microsoft.com/office/powerpoint/2010/main" val="3852756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267</TotalTime>
  <Words>1247</Words>
  <Application>Microsoft Office PowerPoint</Application>
  <PresentationFormat>Widescreen</PresentationFormat>
  <Paragraphs>99</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Motivation</vt:lpstr>
      <vt:lpstr>Introduction</vt:lpstr>
      <vt:lpstr>Problem Statement</vt:lpstr>
      <vt:lpstr>Proposed Method</vt:lpstr>
      <vt:lpstr>Basic Block Diagram</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Nived Krishna.H</cp:lastModifiedBy>
  <cp:revision>11</cp:revision>
  <dcterms:created xsi:type="dcterms:W3CDTF">2025-10-04T04:58:01Z</dcterms:created>
  <dcterms:modified xsi:type="dcterms:W3CDTF">2026-07-29T16:15:17Z</dcterms:modified>
</cp:coreProperties>
</file>