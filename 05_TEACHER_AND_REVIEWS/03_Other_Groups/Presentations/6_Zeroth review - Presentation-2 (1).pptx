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304" r:id="rId3"/>
    <p:sldId id="282" r:id="rId4"/>
    <p:sldId id="305" r:id="rId5"/>
    <p:sldId id="283" r:id="rId6"/>
    <p:sldId id="284" r:id="rId7"/>
    <p:sldId id="285" r:id="rId8"/>
    <p:sldId id="286" r:id="rId9"/>
    <p:sldId id="287" r:id="rId10"/>
    <p:sldId id="288" r:id="rId11"/>
    <p:sldId id="289" r:id="rId12"/>
    <p:sldId id="295" r:id="rId13"/>
    <p:sldId id="296" r:id="rId14"/>
    <p:sldId id="303" r:id="rId15"/>
    <p:sldId id="279"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0" d="100"/>
          <a:sy n="90" d="100"/>
        </p:scale>
        <p:origin x="57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F3D910-6FC6-443F-BE9B-87599B114612}"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4F3D910-6FC6-443F-BE9B-87599B114612}" type="datetimeFigureOut">
              <a:rPr lang="en-IN" smtClean="0"/>
              <a:t>30-07-2026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4F3D910-6FC6-443F-BE9B-87599B114612}" type="datetimeFigureOut">
              <a:rPr lang="en-IN" smtClean="0"/>
              <a:t>30-07-2026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4F3D910-6FC6-443F-BE9B-87599B114612}" type="datetimeFigureOut">
              <a:rPr lang="en-IN" smtClean="0"/>
              <a:t>30-07-2026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F3D910-6FC6-443F-BE9B-87599B114612}" type="datetimeFigureOut">
              <a:rPr lang="en-IN" smtClean="0"/>
              <a:t>30-07-2026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FigureOut">
              <a:rPr lang="en-IN" smtClean="0"/>
              <a:t>30-07-2026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FigureOut">
              <a:rPr lang="en-IN" smtClean="0"/>
              <a:t>30-07-2026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F3D910-6FC6-443F-BE9B-87599B114612}" type="datetimeFigureOut">
              <a:rPr lang="en-IN" smtClean="0"/>
              <a:t>30-07-2026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p:nvPr/>
        </p:nvSpPr>
        <p:spPr bwMode="auto">
          <a:xfrm>
            <a:off x="1844889" y="2239060"/>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panose="02020603050405020304"/>
              <a:ea typeface="Times New Roman" panose="02020603050405020304"/>
              <a:cs typeface="Times New Roman" panose="02020603050405020304"/>
            </a:endParaRPr>
          </a:p>
          <a:p>
            <a:pPr marL="0" indent="0" algn="l">
              <a:buNone/>
            </a:pPr>
            <a:r>
              <a:rPr lang="en-IN" sz="4000" b="1" i="0" u="none" strike="noStrike" dirty="0">
                <a:solidFill>
                  <a:schemeClr val="accent2">
                    <a:lumMod val="75000"/>
                  </a:schemeClr>
                </a:solidFill>
                <a:effectLst/>
                <a:latin typeface="Helvetica Neue"/>
                <a:hlinkClick r:id="rId3"/>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panose="02020603050405020304"/>
              <a:cs typeface="Times New Roman" panose="02020603050405020304"/>
            </a:endParaRPr>
          </a:p>
          <a:p>
            <a:pPr marL="114300" indent="0" algn="ctr">
              <a:buSzPts val="1800"/>
              <a:buNone/>
              <a:defRPr/>
            </a:pPr>
            <a:r>
              <a:rPr lang="en-US" sz="4800" b="1" dirty="0">
                <a:solidFill>
                  <a:srgbClr val="7030A0"/>
                </a:solidFill>
                <a:latin typeface="Times New Roman" panose="02020603050405020304"/>
                <a:cs typeface="Times New Roman" panose="02020603050405020304"/>
              </a:rPr>
              <a:t>Zeroth Review</a:t>
            </a:r>
            <a:endParaRPr lang="en-US" sz="4800" b="1" dirty="0">
              <a:solidFill>
                <a:srgbClr val="7030A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p:nvPr/>
        </p:nvSpPr>
        <p:spPr bwMode="auto">
          <a:xfrm>
            <a:off x="2048268" y="2134888"/>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panose="02020603050405020304"/>
              <a:ea typeface="Times New Roman" panose="02020603050405020304"/>
              <a:cs typeface="Times New Roman" panose="02020603050405020304"/>
            </a:endParaRPr>
          </a:p>
          <a:p>
            <a:pPr marL="114300" indent="0" algn="just">
              <a:buSzPts val="1800"/>
              <a:buFont typeface="Arial" panose="020B0604020202020204" pitchFamily="34" charset="0"/>
              <a:buNone/>
              <a:defRPr/>
            </a:pPr>
            <a:r>
              <a:rPr lang="en-US" b="1" dirty="0">
                <a:solidFill>
                  <a:srgbClr val="0070C0"/>
                </a:solidFill>
                <a:latin typeface="Times New Roman" panose="02020603050405020304"/>
                <a:ea typeface="Times New Roman" panose="02020603050405020304"/>
                <a:cs typeface="Times New Roman" panose="02020603050405020304"/>
              </a:rPr>
              <a:t>Title:- </a:t>
            </a:r>
            <a:endParaRPr lang="en-US" dirty="0">
              <a:solidFill>
                <a:srgbClr val="0070C0"/>
              </a:solidFill>
            </a:endParaRPr>
          </a:p>
        </p:txBody>
      </p:sp>
      <p:sp>
        <p:nvSpPr>
          <p:cNvPr id="8" name="Google Shape;187;p1"/>
          <p:cNvSpPr txBox="1"/>
          <p:nvPr/>
        </p:nvSpPr>
        <p:spPr bwMode="auto">
          <a:xfrm>
            <a:off x="342025" y="3849388"/>
            <a:ext cx="5378291" cy="290444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dirty="0">
                <a:solidFill>
                  <a:srgbClr val="00B050"/>
                </a:solidFill>
                <a:latin typeface="Times New Roman" panose="02020603050405020304" pitchFamily="18" charset="0"/>
                <a:cs typeface="Times New Roman" panose="02020603050405020304" pitchFamily="18" charset="0"/>
              </a:rPr>
              <a:t>Group No: 6</a:t>
            </a:r>
          </a:p>
          <a:p>
            <a:pPr marL="114300" indent="0">
              <a:buSzPts val="1800"/>
              <a:buFont typeface="Arial" panose="020B0604020202020204" pitchFamily="34" charset="0"/>
              <a:buNone/>
              <a:defRPr/>
            </a:pPr>
            <a:r>
              <a:rPr lang="en-US" dirty="0">
                <a:solidFill>
                  <a:srgbClr val="C00000"/>
                </a:solidFill>
                <a:latin typeface="Times New Roman" panose="02020603050405020304" pitchFamily="18" charset="0"/>
                <a:cs typeface="Times New Roman" panose="02020603050405020304" pitchFamily="18" charset="0"/>
              </a:rPr>
              <a:t>Members:</a:t>
            </a:r>
            <a:r>
              <a:rPr lang="en-US" sz="2400" dirty="0">
                <a:solidFill>
                  <a:srgbClr val="C0000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JEC24CC009 FARHAN</a:t>
            </a:r>
          </a:p>
          <a:p>
            <a:pPr marL="1028700" lvl="2" indent="457200">
              <a:buSzPts val="1800"/>
              <a:buFont typeface="Arial" panose="020B0604020202020204" pitchFamily="34" charset="0"/>
              <a:buNone/>
              <a:defRPr/>
            </a:pPr>
            <a:r>
              <a:rPr lang="en-US" sz="2200" dirty="0">
                <a:solidFill>
                  <a:srgbClr val="C00000"/>
                </a:solidFill>
                <a:latin typeface="Times New Roman" panose="02020603050405020304" pitchFamily="18" charset="0"/>
                <a:cs typeface="Times New Roman" panose="02020603050405020304" pitchFamily="18" charset="0"/>
              </a:rPr>
              <a:t>  JEC24CC012 AKSHAY </a:t>
            </a:r>
            <a:r>
              <a:rPr lang="en-US" sz="2200" dirty="0" smtClean="0">
                <a:solidFill>
                  <a:srgbClr val="C00000"/>
                </a:solidFill>
                <a:latin typeface="Times New Roman" panose="02020603050405020304" pitchFamily="18" charset="0"/>
                <a:cs typeface="Times New Roman" panose="02020603050405020304" pitchFamily="18" charset="0"/>
              </a:rPr>
              <a:t>KJ</a:t>
            </a:r>
          </a:p>
          <a:p>
            <a:pPr marL="1028700" lvl="2" indent="457200">
              <a:buSzPts val="1800"/>
              <a:buFont typeface="Arial" panose="020B0604020202020204" pitchFamily="34" charset="0"/>
              <a:buNone/>
              <a:defRPr/>
            </a:pPr>
            <a:r>
              <a:rPr lang="en-US" sz="2200" dirty="0" smtClean="0">
                <a:solidFill>
                  <a:srgbClr val="C00000"/>
                </a:solidFill>
                <a:latin typeface="Times New Roman" panose="02020603050405020304" pitchFamily="18" charset="0"/>
                <a:cs typeface="Times New Roman" panose="02020603050405020304" pitchFamily="18" charset="0"/>
              </a:rPr>
              <a:t>  JEC24CC029 CLEETUS TJ</a:t>
            </a:r>
            <a:endParaRPr lang="en-US" sz="2200" dirty="0">
              <a:solidFill>
                <a:srgbClr val="C00000"/>
              </a:solidFill>
              <a:latin typeface="Times New Roman" panose="02020603050405020304" pitchFamily="18" charset="0"/>
              <a:cs typeface="Times New Roman" panose="02020603050405020304" pitchFamily="18" charset="0"/>
            </a:endParaRPr>
          </a:p>
          <a:p>
            <a:pPr marL="1028700" lvl="2" indent="457200">
              <a:buSzPts val="1800"/>
              <a:buFont typeface="Arial" panose="020B0604020202020204" pitchFamily="34" charset="0"/>
              <a:buNone/>
              <a:defRPr/>
            </a:pPr>
            <a:r>
              <a:rPr lang="en-US" sz="2200" dirty="0">
                <a:solidFill>
                  <a:srgbClr val="C00000"/>
                </a:solidFill>
                <a:latin typeface="Times New Roman" panose="02020603050405020304" pitchFamily="18" charset="0"/>
                <a:cs typeface="Times New Roman" panose="02020603050405020304" pitchFamily="18" charset="0"/>
              </a:rPr>
              <a:t>  </a:t>
            </a:r>
            <a:r>
              <a:rPr lang="en-US" sz="2200" dirty="0" smtClean="0">
                <a:solidFill>
                  <a:srgbClr val="C00000"/>
                </a:solidFill>
                <a:latin typeface="Times New Roman" panose="02020603050405020304" pitchFamily="18" charset="0"/>
                <a:cs typeface="Times New Roman" panose="02020603050405020304" pitchFamily="18" charset="0"/>
              </a:rPr>
              <a:t>LJEC24CC064 ALEEN ANTU</a:t>
            </a:r>
          </a:p>
          <a:p>
            <a:pPr marL="1028700" lvl="2" indent="457200">
              <a:buSzPts val="1800"/>
              <a:buFont typeface="Arial" panose="020B0604020202020204" pitchFamily="34" charset="0"/>
              <a:buNone/>
              <a:defRPr/>
            </a:pPr>
            <a:r>
              <a:rPr lang="en-US" sz="2200" dirty="0" smtClean="0">
                <a:solidFill>
                  <a:srgbClr val="C00000"/>
                </a:solidFill>
                <a:latin typeface="Times New Roman" panose="02020603050405020304" pitchFamily="18" charset="0"/>
                <a:cs typeface="Times New Roman" panose="02020603050405020304" pitchFamily="18" charset="0"/>
              </a:rPr>
              <a:t>  LJEC24CC066 ARJUN MR</a:t>
            </a:r>
            <a:endParaRPr lang="en-US" dirty="0">
              <a:solidFill>
                <a:srgbClr val="C00000"/>
              </a:solidFill>
              <a:latin typeface="Times New Roman" panose="02020603050405020304" pitchFamily="18" charset="0"/>
              <a:cs typeface="Times New Roman" panose="02020603050405020304" pitchFamily="18" charset="0"/>
            </a:endParaRPr>
          </a:p>
        </p:txBody>
      </p:sp>
      <p:sp>
        <p:nvSpPr>
          <p:cNvPr id="9" name="Google Shape;186;p1"/>
          <p:cNvSpPr txBox="1"/>
          <p:nvPr/>
        </p:nvSpPr>
        <p:spPr bwMode="auto">
          <a:xfrm>
            <a:off x="8331238" y="5134941"/>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
        <p:nvSpPr>
          <p:cNvPr id="2" name="TextBox 1"/>
          <p:cNvSpPr txBox="1"/>
          <p:nvPr/>
        </p:nvSpPr>
        <p:spPr>
          <a:xfrm>
            <a:off x="3296092" y="2515085"/>
            <a:ext cx="5109574" cy="954107"/>
          </a:xfrm>
          <a:prstGeom prst="rect">
            <a:avLst/>
          </a:prstGeom>
          <a:noFill/>
        </p:spPr>
        <p:txBody>
          <a:bodyPr wrap="square" rtlCol="0">
            <a:spAutoFit/>
          </a:bodyPr>
          <a:lstStyle/>
          <a:p>
            <a:r>
              <a:rPr lang="en-GB" sz="2800" b="1" dirty="0" smtClean="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SMART HOME INTRUSION DETECTION SYSTEM</a:t>
            </a:r>
            <a:endParaRPr lang="en-IN" sz="28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panose="02020603050405020304"/>
                <a:ea typeface="Times New Roman" panose="02020603050405020304"/>
                <a:cs typeface="Times New Roman" panose="02020603050405020304"/>
              </a:rPr>
              <a:t>DEPARTMENT OF COMPUTER SCIENCE &amp; ENGINEERING </a:t>
            </a:r>
          </a:p>
          <a:p>
            <a:pPr marL="0" indent="0" algn="ctr">
              <a:buFont typeface="Arial" panose="020B0604020202020204" pitchFamily="34" charset="0"/>
              <a:buNone/>
              <a:defRPr/>
            </a:pPr>
            <a:r>
              <a:rPr lang="en-US" b="1" dirty="0">
                <a:latin typeface="Times New Roman" panose="02020603050405020304"/>
                <a:ea typeface="Times New Roman" panose="02020603050405020304"/>
                <a:cs typeface="Times New Roman" panose="02020603050405020304"/>
              </a:rPr>
              <a:t>(Cyber Security)</a:t>
            </a:r>
          </a:p>
          <a:p>
            <a:pPr marL="0" indent="0" algn="ctr">
              <a:buFont typeface="Arial" panose="020B0604020202020204" pitchFamily="34" charset="0"/>
              <a:buNone/>
              <a:defRPr/>
            </a:pPr>
            <a:r>
              <a:rPr lang="en-US" b="1" dirty="0"/>
              <a:t> </a:t>
            </a:r>
            <a:r>
              <a:rPr lang="en-US" sz="2100" b="1" dirty="0">
                <a:latin typeface="Times New Roman" panose="02020603050405020304"/>
                <a:ea typeface="Times New Roman" panose="02020603050405020304"/>
                <a:cs typeface="Times New Roman" panose="02020603050405020304"/>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panose="02020603050405020304"/>
              <a:ea typeface="Times New Roman" panose="02020603050405020304"/>
              <a:cs typeface="Times New Roman" panose="02020603050405020304"/>
            </a:endParaRPr>
          </a:p>
          <a:p>
            <a:pPr marL="0" indent="0">
              <a:buClr>
                <a:schemeClr val="dk1"/>
              </a:buClr>
              <a:buSzPts val="1100"/>
              <a:buFont typeface="Arial" panose="020B0604020202020204"/>
              <a:buNone/>
              <a:defRPr/>
            </a:pPr>
            <a:endParaRPr lang="en-US" sz="2100" dirty="0">
              <a:latin typeface="Times New Roman" panose="02020603050405020304"/>
              <a:ea typeface="Times New Roman" panose="02020603050405020304"/>
              <a:cs typeface="Times New Roman" panose="02020603050405020304"/>
            </a:endParaRPr>
          </a:p>
          <a:p>
            <a:pPr marL="0" indent="0">
              <a:buFont typeface="Arial" panose="020B0604020202020204" pitchFamily="34" charset="0"/>
              <a:buNone/>
              <a:defRPr/>
            </a:pPr>
            <a:endParaRPr lang="en-US" sz="1700" dirty="0">
              <a:latin typeface="Times New Roman" panose="02020603050405020304"/>
              <a:ea typeface="Times New Roman" panose="02020603050405020304"/>
              <a:cs typeface="Times New Roman" panose="02020603050405020304"/>
            </a:endParaRPr>
          </a:p>
          <a:p>
            <a:pPr marL="0" indent="0">
              <a:buClr>
                <a:schemeClr val="dk1"/>
              </a:buClr>
              <a:buSzPts val="1100"/>
              <a:buFont typeface="Arial" panose="020B0604020202020204"/>
              <a:buNone/>
              <a:defRPr/>
            </a:pPr>
            <a:endParaRPr lang="en-US" sz="1300" dirty="0">
              <a:latin typeface="Times New Roman" panose="02020603050405020304"/>
              <a:ea typeface="Times New Roman" panose="02020603050405020304"/>
              <a:cs typeface="Times New Roman" panose="02020603050405020304"/>
            </a:endParaRPr>
          </a:p>
          <a:p>
            <a:pPr marL="0" indent="0">
              <a:buFont typeface="Arial" panose="020B0604020202020204" pitchFamily="34" charset="0"/>
              <a:buNone/>
              <a:defRPr/>
            </a:pPr>
            <a:endParaRPr lang="en-US" sz="6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b="1" dirty="0"/>
          </a:p>
        </p:txBody>
      </p:sp>
      <p:sp>
        <p:nvSpPr>
          <p:cNvPr id="3" name="Content Placeholder 2"/>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panose="02020603050405020304"/>
                <a:ea typeface="Times New Roman" panose="02020603050405020304"/>
                <a:cs typeface="Times New Roman" panose="02020603050405020304"/>
              </a:rPr>
              <a:t>DEPARTMENT OF COMPUTER SCIENCE &amp; ENGINEERING </a:t>
            </a:r>
          </a:p>
          <a:p>
            <a:pPr marL="0" indent="0" algn="ctr">
              <a:buFont typeface="Arial" panose="020B0604020202020204" pitchFamily="34" charset="0"/>
              <a:buNone/>
              <a:defRPr/>
            </a:pPr>
            <a:r>
              <a:rPr lang="en-US" b="1" dirty="0">
                <a:latin typeface="Times New Roman" panose="02020603050405020304"/>
                <a:ea typeface="Times New Roman" panose="02020603050405020304"/>
                <a:cs typeface="Times New Roman" panose="02020603050405020304"/>
              </a:rPr>
              <a:t>(Cyber Security)</a:t>
            </a:r>
          </a:p>
          <a:p>
            <a:pPr marL="0" indent="0" algn="ctr">
              <a:buNone/>
              <a:defRPr/>
            </a:pPr>
            <a:r>
              <a:rPr lang="en-US" b="1" dirty="0"/>
              <a:t> </a:t>
            </a:r>
            <a:r>
              <a:rPr lang="en-US" sz="2800" b="1" dirty="0">
                <a:latin typeface="Times New Roman" panose="02020603050405020304"/>
                <a:ea typeface="Times New Roman" panose="02020603050405020304"/>
                <a:cs typeface="Times New Roman" panose="02020603050405020304"/>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panose="02020603050405020304"/>
              <a:ea typeface="Times New Roman" panose="02020603050405020304"/>
              <a:cs typeface="Times New Roman" panose="02020603050405020304"/>
            </a:endParaRPr>
          </a:p>
          <a:p>
            <a:pPr marL="0" indent="0" algn="ctr">
              <a:buFont typeface="Arial" panose="020B0604020202020204" pitchFamily="34" charset="0"/>
              <a:buNone/>
              <a:defRPr/>
            </a:pPr>
            <a:endParaRPr lang="en-US" b="1" dirty="0">
              <a:latin typeface="Times New Roman" panose="02020603050405020304"/>
              <a:ea typeface="Times New Roman" panose="02020603050405020304"/>
              <a:cs typeface="Times New Roman" panose="02020603050405020304"/>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487" y="365125"/>
            <a:ext cx="10579260" cy="17477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panose="020B0604020202020204"/>
              <a:buNone/>
              <a:defRPr/>
            </a:pPr>
            <a:r>
              <a:rPr lang="en-US" b="1" u="sng" dirty="0" err="1">
                <a:latin typeface="Times New Roman" panose="02020603050405020304"/>
                <a:ea typeface="Times New Roman" panose="02020603050405020304"/>
                <a:cs typeface="Times New Roman" panose="02020603050405020304"/>
              </a:rPr>
              <a:t>Programme</a:t>
            </a:r>
            <a:r>
              <a:rPr lang="en-US" b="1" u="sng" dirty="0">
                <a:latin typeface="Times New Roman" panose="02020603050405020304"/>
                <a:ea typeface="Times New Roman" panose="02020603050405020304"/>
                <a:cs typeface="Times New Roman" panose="02020603050405020304"/>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5000"/>
              </a:lnSpc>
              <a:spcBef>
                <a:spcPts val="0"/>
              </a:spcBef>
              <a:buClr>
                <a:schemeClr val="dk1"/>
              </a:buClr>
              <a:buSzPts val="1100"/>
              <a:buFont typeface="Arial" panose="020B0604020202020204"/>
              <a:buNone/>
              <a:defRPr/>
            </a:pPr>
            <a:r>
              <a:rPr lang="en-US" b="1" u="sng" dirty="0" err="1">
                <a:latin typeface="Times New Roman" panose="02020603050405020304"/>
                <a:ea typeface="Times New Roman" panose="02020603050405020304"/>
                <a:cs typeface="Times New Roman" panose="02020603050405020304"/>
              </a:rPr>
              <a:t>Programme</a:t>
            </a:r>
            <a:r>
              <a:rPr lang="en-US" b="1" u="sng" dirty="0">
                <a:latin typeface="Times New Roman" panose="02020603050405020304"/>
                <a:ea typeface="Times New Roman" panose="02020603050405020304"/>
                <a:cs typeface="Times New Roman" panose="02020603050405020304"/>
              </a:rPr>
              <a:t> Outcomes</a:t>
            </a:r>
            <a:endParaRPr lang="en-US" u="sng" dirty="0">
              <a:latin typeface="Times New Roman" panose="02020603050405020304"/>
              <a:ea typeface="Times New Roman" panose="02020603050405020304"/>
              <a:cs typeface="Times New Roman" panose="02020603050405020304"/>
            </a:endParaRPr>
          </a:p>
          <a:p>
            <a:pPr marL="0" indent="0">
              <a:lnSpc>
                <a:spcPct val="115000"/>
              </a:lnSpc>
              <a:spcBef>
                <a:spcPts val="0"/>
              </a:spcBef>
              <a:buFont typeface="Arial" panose="020B0604020202020204" pitchFamily="34" charset="0"/>
              <a:buNone/>
              <a:defRPr/>
            </a:pPr>
            <a:r>
              <a:rPr lang="en-US" sz="1400" dirty="0">
                <a:latin typeface="Times New Roman" panose="02020603050405020304"/>
                <a:ea typeface="Times New Roman" panose="02020603050405020304"/>
                <a:cs typeface="Times New Roman" panose="02020603050405020304"/>
              </a:rPr>
              <a:t>    Engineering Graduates will be able to:</a:t>
            </a:r>
          </a:p>
          <a:p>
            <a:pPr marL="457200" marR="274320" indent="0" algn="just">
              <a:lnSpc>
                <a:spcPct val="115000"/>
              </a:lnSpc>
              <a:spcBef>
                <a:spcPts val="0"/>
              </a:spcBef>
              <a:buClr>
                <a:schemeClr val="dk1"/>
              </a:buClr>
              <a:buSzPts val="1100"/>
              <a:buFont typeface="Arial" panose="020B0604020202020204"/>
              <a:buNone/>
              <a:defRPr/>
            </a:pPr>
            <a:r>
              <a:rPr lang="en-US" sz="1500" dirty="0">
                <a:latin typeface="Times New Roman" panose="02020603050405020304"/>
                <a:ea typeface="Times New Roman" panose="02020603050405020304"/>
                <a:cs typeface="Times New Roman" panose="02020603050405020304"/>
              </a:rPr>
              <a:t>1. </a:t>
            </a:r>
            <a:r>
              <a:rPr lang="en-US" sz="1500" b="1" dirty="0">
                <a:latin typeface="Times New Roman" panose="02020603050405020304"/>
                <a:ea typeface="Times New Roman" panose="02020603050405020304"/>
                <a:cs typeface="Times New Roman" panose="02020603050405020304"/>
              </a:rPr>
              <a:t>Engineering knowledge:</a:t>
            </a:r>
            <a:r>
              <a:rPr lang="en-US" sz="1500" dirty="0">
                <a:latin typeface="Times New Roman" panose="02020603050405020304"/>
                <a:ea typeface="Times New Roman" panose="02020603050405020304"/>
                <a:cs typeface="Times New Roman" panose="02020603050405020304"/>
              </a:rPr>
              <a:t> Apply the knowledge of mathematics, science, engineering fundamentals, and an engineering specialization to the solution of complex engineering problems.</a:t>
            </a:r>
          </a:p>
          <a:p>
            <a:pPr marL="457200" marR="274320" indent="0" algn="just">
              <a:lnSpc>
                <a:spcPct val="115000"/>
              </a:lnSpc>
              <a:spcBef>
                <a:spcPts val="0"/>
              </a:spcBef>
              <a:buClr>
                <a:schemeClr val="dk1"/>
              </a:buClr>
              <a:buSzPts val="1100"/>
              <a:buFont typeface="Arial" panose="020B0604020202020204"/>
              <a:buNone/>
              <a:defRPr/>
            </a:pPr>
            <a:r>
              <a:rPr lang="en-US" sz="1500" dirty="0">
                <a:latin typeface="Times New Roman" panose="02020603050405020304"/>
                <a:ea typeface="Times New Roman" panose="02020603050405020304"/>
                <a:cs typeface="Times New Roman" panose="02020603050405020304"/>
              </a:rPr>
              <a:t/>
            </a:r>
            <a:br>
              <a:rPr lang="en-US" sz="1500" dirty="0">
                <a:latin typeface="Times New Roman" panose="02020603050405020304"/>
                <a:ea typeface="Times New Roman" panose="02020603050405020304"/>
                <a:cs typeface="Times New Roman" panose="02020603050405020304"/>
              </a:rPr>
            </a:br>
            <a:r>
              <a:rPr lang="en-US" sz="1500" dirty="0">
                <a:latin typeface="Times New Roman" panose="02020603050405020304"/>
                <a:ea typeface="Times New Roman" panose="02020603050405020304"/>
                <a:cs typeface="Times New Roman" panose="02020603050405020304"/>
              </a:rPr>
              <a:t>2. </a:t>
            </a:r>
            <a:r>
              <a:rPr lang="en-US" sz="1500" b="1" dirty="0">
                <a:latin typeface="Times New Roman" panose="02020603050405020304"/>
                <a:ea typeface="Times New Roman" panose="02020603050405020304"/>
                <a:cs typeface="Times New Roman" panose="02020603050405020304"/>
              </a:rPr>
              <a:t>Problem analysis:</a:t>
            </a:r>
            <a:r>
              <a:rPr lang="en-US" sz="1500" dirty="0">
                <a:latin typeface="Times New Roman" panose="02020603050405020304"/>
                <a:ea typeface="Times New Roman" panose="02020603050405020304"/>
                <a:cs typeface="Times New Roman" panose="02020603050405020304"/>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5000"/>
              </a:lnSpc>
              <a:spcBef>
                <a:spcPts val="0"/>
              </a:spcBef>
              <a:buClr>
                <a:schemeClr val="dk1"/>
              </a:buClr>
              <a:buSzPts val="1100"/>
              <a:buFont typeface="Arial" panose="020B0604020202020204"/>
              <a:buNone/>
              <a:defRPr/>
            </a:pPr>
            <a:r>
              <a:rPr lang="en-US" sz="1500" dirty="0">
                <a:latin typeface="Times New Roman" panose="02020603050405020304"/>
                <a:ea typeface="Times New Roman" panose="02020603050405020304"/>
                <a:cs typeface="Times New Roman" panose="02020603050405020304"/>
              </a:rPr>
              <a:t/>
            </a:r>
            <a:br>
              <a:rPr lang="en-US" sz="1500" dirty="0">
                <a:latin typeface="Times New Roman" panose="02020603050405020304"/>
                <a:ea typeface="Times New Roman" panose="02020603050405020304"/>
                <a:cs typeface="Times New Roman" panose="02020603050405020304"/>
              </a:rPr>
            </a:br>
            <a:r>
              <a:rPr lang="en-US" sz="1500" dirty="0">
                <a:latin typeface="Times New Roman" panose="02020603050405020304"/>
                <a:ea typeface="Times New Roman" panose="02020603050405020304"/>
                <a:cs typeface="Times New Roman" panose="02020603050405020304"/>
              </a:rPr>
              <a:t>3. </a:t>
            </a:r>
            <a:r>
              <a:rPr lang="en-US" sz="1500" b="1" dirty="0">
                <a:latin typeface="Times New Roman" panose="02020603050405020304"/>
                <a:ea typeface="Times New Roman" panose="02020603050405020304"/>
                <a:cs typeface="Times New Roman" panose="02020603050405020304"/>
              </a:rPr>
              <a:t>Design/development of solutions:</a:t>
            </a:r>
            <a:r>
              <a:rPr lang="en-US" sz="1500" dirty="0">
                <a:latin typeface="Times New Roman" panose="02020603050405020304"/>
                <a:ea typeface="Times New Roman" panose="02020603050405020304"/>
                <a:cs typeface="Times New Roman" panose="02020603050405020304"/>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5000"/>
              </a:lnSpc>
              <a:spcBef>
                <a:spcPts val="0"/>
              </a:spcBef>
              <a:buClr>
                <a:schemeClr val="dk1"/>
              </a:buClr>
              <a:buSzPts val="1100"/>
              <a:buFont typeface="Arial" panose="020B0604020202020204"/>
              <a:buNone/>
              <a:defRPr/>
            </a:pPr>
            <a:r>
              <a:rPr lang="en-US" sz="1500" dirty="0">
                <a:latin typeface="Times New Roman" panose="02020603050405020304"/>
                <a:ea typeface="Times New Roman" panose="02020603050405020304"/>
                <a:cs typeface="Times New Roman" panose="02020603050405020304"/>
              </a:rPr>
              <a:t/>
            </a:r>
            <a:br>
              <a:rPr lang="en-US" sz="1500" dirty="0">
                <a:latin typeface="Times New Roman" panose="02020603050405020304"/>
                <a:ea typeface="Times New Roman" panose="02020603050405020304"/>
                <a:cs typeface="Times New Roman" panose="02020603050405020304"/>
              </a:rPr>
            </a:br>
            <a:r>
              <a:rPr lang="en-US" sz="1500" dirty="0">
                <a:latin typeface="Times New Roman" panose="02020603050405020304"/>
                <a:ea typeface="Times New Roman" panose="02020603050405020304"/>
                <a:cs typeface="Times New Roman" panose="02020603050405020304"/>
              </a:rPr>
              <a:t>4. </a:t>
            </a:r>
            <a:r>
              <a:rPr lang="en-US" sz="1500" b="1" dirty="0">
                <a:latin typeface="Times New Roman" panose="02020603050405020304"/>
                <a:ea typeface="Times New Roman" panose="02020603050405020304"/>
                <a:cs typeface="Times New Roman" panose="02020603050405020304"/>
              </a:rPr>
              <a:t>Conduct investigations of complex problems:</a:t>
            </a:r>
            <a:r>
              <a:rPr lang="en-US" sz="1500" dirty="0">
                <a:latin typeface="Times New Roman" panose="02020603050405020304"/>
                <a:ea typeface="Times New Roman" panose="02020603050405020304"/>
                <a:cs typeface="Times New Roman" panose="02020603050405020304"/>
              </a:rPr>
              <a:t> Use research-based knowledge and research methods including design of experiments, analysis and interpretation of data, and synthesis of the information to provide valid conclusions.</a:t>
            </a:r>
          </a:p>
          <a:p>
            <a:pPr marL="457200" marR="274320" indent="0" algn="just">
              <a:lnSpc>
                <a:spcPct val="115000"/>
              </a:lnSpc>
              <a:spcBef>
                <a:spcPts val="0"/>
              </a:spcBef>
              <a:buClr>
                <a:schemeClr val="dk1"/>
              </a:buClr>
              <a:buSzPts val="1100"/>
              <a:buFont typeface="Arial" panose="020B0604020202020204"/>
              <a:buNone/>
              <a:defRPr/>
            </a:pPr>
            <a:r>
              <a:rPr lang="en-US" sz="1500" dirty="0">
                <a:latin typeface="Times New Roman" panose="02020603050405020304"/>
                <a:ea typeface="Times New Roman" panose="02020603050405020304"/>
                <a:cs typeface="Times New Roman" panose="02020603050405020304"/>
              </a:rPr>
              <a:t>5. </a:t>
            </a:r>
            <a:r>
              <a:rPr lang="en-US" sz="1500" b="1" dirty="0">
                <a:latin typeface="Times New Roman" panose="02020603050405020304"/>
                <a:ea typeface="Times New Roman" panose="02020603050405020304"/>
                <a:cs typeface="Times New Roman" panose="02020603050405020304"/>
              </a:rPr>
              <a:t>Modern tool usage:</a:t>
            </a:r>
            <a:r>
              <a:rPr lang="en-US" sz="1500" dirty="0">
                <a:latin typeface="Times New Roman" panose="02020603050405020304"/>
                <a:ea typeface="Times New Roman" panose="02020603050405020304"/>
                <a:cs typeface="Times New Roman" panose="02020603050405020304"/>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5000"/>
              </a:lnSpc>
              <a:spcBef>
                <a:spcPts val="0"/>
              </a:spcBef>
              <a:buClr>
                <a:schemeClr val="dk1"/>
              </a:buClr>
              <a:buSzPts val="1100"/>
              <a:buFont typeface="Arial" panose="020B0604020202020204"/>
              <a:buNone/>
              <a:defRPr/>
            </a:pPr>
            <a:r>
              <a:rPr lang="en-US" sz="1200" dirty="0">
                <a:latin typeface="Times New Roman" panose="02020603050405020304"/>
                <a:ea typeface="Times New Roman" panose="02020603050405020304"/>
                <a:cs typeface="Times New Roman" panose="02020603050405020304"/>
              </a:rPr>
              <a:t/>
            </a:r>
            <a:br>
              <a:rPr lang="en-US" sz="12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6. </a:t>
            </a:r>
            <a:r>
              <a:rPr lang="en-US" sz="1400" b="1" dirty="0">
                <a:latin typeface="Times New Roman" panose="02020603050405020304"/>
                <a:ea typeface="Times New Roman" panose="02020603050405020304"/>
                <a:cs typeface="Times New Roman" panose="02020603050405020304"/>
              </a:rPr>
              <a:t>The engineer and society:</a:t>
            </a:r>
            <a:r>
              <a:rPr lang="en-US" sz="1400" dirty="0">
                <a:latin typeface="Times New Roman" panose="02020603050405020304"/>
                <a:ea typeface="Times New Roman" panose="02020603050405020304"/>
                <a:cs typeface="Times New Roman" panose="02020603050405020304"/>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5000"/>
              </a:lnSpc>
              <a:spcBef>
                <a:spcPts val="0"/>
              </a:spcBef>
              <a:buClr>
                <a:schemeClr val="dk1"/>
              </a:buClr>
              <a:buSzPts val="1100"/>
              <a:buFont typeface="Arial" panose="020B0604020202020204"/>
              <a:buNone/>
              <a:defRPr/>
            </a:pPr>
            <a:r>
              <a:rPr lang="en-US" sz="1400" dirty="0">
                <a:latin typeface="Times New Roman" panose="02020603050405020304"/>
                <a:ea typeface="Times New Roman" panose="02020603050405020304"/>
                <a:cs typeface="Times New Roman" panose="02020603050405020304"/>
              </a:rPr>
              <a:t/>
            </a:r>
            <a:br>
              <a:rPr lang="en-US" sz="14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7. </a:t>
            </a:r>
            <a:r>
              <a:rPr lang="en-US" sz="1400" b="1" dirty="0">
                <a:latin typeface="Times New Roman" panose="02020603050405020304"/>
                <a:ea typeface="Times New Roman" panose="02020603050405020304"/>
                <a:cs typeface="Times New Roman" panose="02020603050405020304"/>
              </a:rPr>
              <a:t>Environment and sustainability:</a:t>
            </a:r>
            <a:r>
              <a:rPr lang="en-US" sz="1400" dirty="0">
                <a:latin typeface="Times New Roman" panose="02020603050405020304"/>
                <a:ea typeface="Times New Roman" panose="02020603050405020304"/>
                <a:cs typeface="Times New Roman" panose="02020603050405020304"/>
              </a:rPr>
              <a:t> Understand the impact of the professional engineering solutions in societal and environmental contexts, and demonstrate the knowledge of, and need for sustainable development.</a:t>
            </a:r>
          </a:p>
          <a:p>
            <a:pPr marL="274320" marR="274320" indent="0" algn="just">
              <a:lnSpc>
                <a:spcPct val="115000"/>
              </a:lnSpc>
              <a:spcBef>
                <a:spcPts val="0"/>
              </a:spcBef>
              <a:buClr>
                <a:schemeClr val="dk1"/>
              </a:buClr>
              <a:buSzPts val="1100"/>
              <a:buFont typeface="Arial" panose="020B0604020202020204"/>
              <a:buNone/>
              <a:defRPr/>
            </a:pPr>
            <a:r>
              <a:rPr lang="en-US" sz="1400" dirty="0">
                <a:latin typeface="Times New Roman" panose="02020603050405020304"/>
                <a:ea typeface="Times New Roman" panose="02020603050405020304"/>
                <a:cs typeface="Times New Roman" panose="02020603050405020304"/>
              </a:rPr>
              <a:t/>
            </a:r>
            <a:br>
              <a:rPr lang="en-US" sz="14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8. </a:t>
            </a:r>
            <a:r>
              <a:rPr lang="en-US" sz="1400" b="1" dirty="0">
                <a:latin typeface="Times New Roman" panose="02020603050405020304"/>
                <a:ea typeface="Times New Roman" panose="02020603050405020304"/>
                <a:cs typeface="Times New Roman" panose="02020603050405020304"/>
              </a:rPr>
              <a:t>Ethics:</a:t>
            </a:r>
            <a:r>
              <a:rPr lang="en-US" sz="1400" dirty="0">
                <a:latin typeface="Times New Roman" panose="02020603050405020304"/>
                <a:ea typeface="Times New Roman" panose="02020603050405020304"/>
                <a:cs typeface="Times New Roman" panose="02020603050405020304"/>
              </a:rPr>
              <a:t> Apply ethical principles and commit to professional ethics and responsibilities and norms of the engineering practice.</a:t>
            </a:r>
          </a:p>
          <a:p>
            <a:pPr marL="274320" marR="274320" indent="0" algn="just">
              <a:lnSpc>
                <a:spcPct val="115000"/>
              </a:lnSpc>
              <a:spcBef>
                <a:spcPts val="0"/>
              </a:spcBef>
              <a:buClr>
                <a:schemeClr val="dk1"/>
              </a:buClr>
              <a:buSzPts val="1100"/>
              <a:buFont typeface="Arial" panose="020B0604020202020204"/>
              <a:buNone/>
              <a:defRPr/>
            </a:pPr>
            <a:r>
              <a:rPr lang="en-US" sz="1400" dirty="0">
                <a:latin typeface="Times New Roman" panose="02020603050405020304"/>
                <a:ea typeface="Times New Roman" panose="02020603050405020304"/>
                <a:cs typeface="Times New Roman" panose="02020603050405020304"/>
              </a:rPr>
              <a:t/>
            </a:r>
            <a:br>
              <a:rPr lang="en-US" sz="14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9. </a:t>
            </a:r>
            <a:r>
              <a:rPr lang="en-US" sz="1400" b="1" dirty="0">
                <a:latin typeface="Times New Roman" panose="02020603050405020304"/>
                <a:ea typeface="Times New Roman" panose="02020603050405020304"/>
                <a:cs typeface="Times New Roman" panose="02020603050405020304"/>
              </a:rPr>
              <a:t>Individual and team work:</a:t>
            </a:r>
            <a:r>
              <a:rPr lang="en-US" sz="1400" dirty="0">
                <a:latin typeface="Times New Roman" panose="02020603050405020304"/>
                <a:ea typeface="Times New Roman" panose="02020603050405020304"/>
                <a:cs typeface="Times New Roman" panose="02020603050405020304"/>
              </a:rPr>
              <a:t> Function effectively as an individual, and as a member or leader in diverse teams, and in multidisciplinary settings.</a:t>
            </a:r>
          </a:p>
          <a:p>
            <a:pPr marL="274320" marR="274320" indent="0" algn="just">
              <a:lnSpc>
                <a:spcPct val="115000"/>
              </a:lnSpc>
              <a:spcBef>
                <a:spcPts val="0"/>
              </a:spcBef>
              <a:buClr>
                <a:schemeClr val="dk1"/>
              </a:buClr>
              <a:buSzPts val="1100"/>
              <a:buFont typeface="Arial" panose="020B0604020202020204"/>
              <a:buNone/>
              <a:defRPr/>
            </a:pPr>
            <a:r>
              <a:rPr lang="en-US" sz="1400" dirty="0">
                <a:latin typeface="Times New Roman" panose="02020603050405020304"/>
                <a:ea typeface="Times New Roman" panose="02020603050405020304"/>
                <a:cs typeface="Times New Roman" panose="02020603050405020304"/>
              </a:rPr>
              <a:t/>
            </a:r>
            <a:br>
              <a:rPr lang="en-US" sz="14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10. </a:t>
            </a:r>
            <a:r>
              <a:rPr lang="en-US" sz="1400" b="1" dirty="0">
                <a:latin typeface="Times New Roman" panose="02020603050405020304"/>
                <a:ea typeface="Times New Roman" panose="02020603050405020304"/>
                <a:cs typeface="Times New Roman" panose="02020603050405020304"/>
              </a:rPr>
              <a:t>Communication:</a:t>
            </a:r>
            <a:r>
              <a:rPr lang="en-US" sz="1400" dirty="0">
                <a:latin typeface="Times New Roman" panose="02020603050405020304"/>
                <a:ea typeface="Times New Roman" panose="02020603050405020304"/>
                <a:cs typeface="Times New Roman" panose="02020603050405020304"/>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5000"/>
              </a:lnSpc>
              <a:spcBef>
                <a:spcPts val="0"/>
              </a:spcBef>
              <a:buClr>
                <a:schemeClr val="dk1"/>
              </a:buClr>
              <a:buSzPts val="1100"/>
              <a:buFont typeface="Arial" panose="020B0604020202020204"/>
              <a:buNone/>
              <a:defRPr/>
            </a:pPr>
            <a:r>
              <a:rPr lang="en-US" sz="1400" dirty="0">
                <a:latin typeface="Times New Roman" panose="02020603050405020304"/>
                <a:ea typeface="Times New Roman" panose="02020603050405020304"/>
                <a:cs typeface="Times New Roman" panose="02020603050405020304"/>
              </a:rPr>
              <a:t/>
            </a:r>
            <a:br>
              <a:rPr lang="en-US" sz="14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11. </a:t>
            </a:r>
            <a:r>
              <a:rPr lang="en-US" sz="1400" b="1" dirty="0">
                <a:latin typeface="Times New Roman" panose="02020603050405020304"/>
                <a:ea typeface="Times New Roman" panose="02020603050405020304"/>
                <a:cs typeface="Times New Roman" panose="02020603050405020304"/>
              </a:rPr>
              <a:t>Project management and finance:</a:t>
            </a:r>
            <a:r>
              <a:rPr lang="en-US" sz="1400" dirty="0">
                <a:latin typeface="Times New Roman" panose="02020603050405020304"/>
                <a:ea typeface="Times New Roman" panose="02020603050405020304"/>
                <a:cs typeface="Times New Roman" panose="02020603050405020304"/>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12. </a:t>
            </a:r>
            <a:r>
              <a:rPr lang="en-US" sz="1400" b="1" dirty="0">
                <a:latin typeface="Times New Roman" panose="02020603050405020304"/>
                <a:ea typeface="Times New Roman" panose="02020603050405020304"/>
                <a:cs typeface="Times New Roman" panose="02020603050405020304"/>
              </a:rPr>
              <a:t>Life-long learning:</a:t>
            </a:r>
            <a:r>
              <a:rPr lang="en-US" sz="1400" dirty="0">
                <a:latin typeface="Times New Roman" panose="02020603050405020304"/>
                <a:ea typeface="Times New Roman" panose="02020603050405020304"/>
                <a:cs typeface="Times New Roman" panose="02020603050405020304"/>
              </a:rPr>
              <a:t> Recognize the need for, and have the preparation and ability to engage in independent and life-long learning in the broadest context of technological change</a:t>
            </a:r>
            <a:r>
              <a:rPr lang="en-US" sz="1300" dirty="0">
                <a:latin typeface="Times New Roman" panose="02020603050405020304"/>
                <a:ea typeface="Times New Roman" panose="02020603050405020304"/>
                <a:cs typeface="Times New Roman" panose="02020603050405020304"/>
              </a:rPr>
              <a:t>.</a:t>
            </a:r>
          </a:p>
          <a:p>
            <a:pPr marL="274320" marR="274320" indent="0" algn="just">
              <a:lnSpc>
                <a:spcPct val="115000"/>
              </a:lnSpc>
              <a:spcBef>
                <a:spcPts val="0"/>
              </a:spcBef>
              <a:buClr>
                <a:schemeClr val="dk1"/>
              </a:buClr>
              <a:buSzPts val="1100"/>
              <a:buFont typeface="Arial" panose="020B0604020202020204"/>
              <a:buNone/>
              <a:defRPr/>
            </a:pPr>
            <a:endParaRPr lang="en-US" sz="1300" dirty="0">
              <a:latin typeface="Times New Roman" panose="02020603050405020304"/>
              <a:ea typeface="Times New Roman" panose="02020603050405020304"/>
              <a:cs typeface="Times New Roman" panose="02020603050405020304"/>
            </a:endParaRPr>
          </a:p>
          <a:p>
            <a:pPr marL="274320" marR="274320" indent="0">
              <a:buFont typeface="Arial" panose="020B0604020202020204" pitchFamily="34" charset="0"/>
              <a:buNone/>
              <a:defRPr/>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5000"/>
              </a:lnSpc>
              <a:spcBef>
                <a:spcPts val="0"/>
              </a:spcBef>
              <a:buClr>
                <a:schemeClr val="dk1"/>
              </a:buClr>
              <a:buSzPts val="1100"/>
              <a:buFont typeface="Arial" panose="020B0604020202020204"/>
              <a:buNone/>
              <a:defRPr/>
            </a:pPr>
            <a:r>
              <a:rPr lang="en-US" b="1" u="sng" dirty="0" err="1">
                <a:latin typeface="Times New Roman" panose="02020603050405020304"/>
                <a:ea typeface="Times New Roman" panose="02020603050405020304"/>
                <a:cs typeface="Times New Roman" panose="02020603050405020304"/>
              </a:rPr>
              <a:t>Programme</a:t>
            </a:r>
            <a:r>
              <a:rPr lang="en-US" b="1" u="sng" dirty="0">
                <a:latin typeface="Times New Roman" panose="02020603050405020304"/>
                <a:ea typeface="Times New Roman" panose="02020603050405020304"/>
                <a:cs typeface="Times New Roman" panose="02020603050405020304"/>
              </a:rPr>
              <a:t> Specific Outcomes (PSOs)</a:t>
            </a:r>
            <a:endParaRPr lang="en-US" u="sng" dirty="0">
              <a:latin typeface="Times New Roman" panose="02020603050405020304"/>
              <a:ea typeface="Times New Roman" panose="02020603050405020304"/>
              <a:cs typeface="Times New Roman" panose="02020603050405020304"/>
            </a:endParaRPr>
          </a:p>
          <a:p>
            <a:pPr marL="0" indent="0" algn="ctr">
              <a:lnSpc>
                <a:spcPct val="115000"/>
              </a:lnSpc>
              <a:spcBef>
                <a:spcPts val="0"/>
              </a:spcBef>
              <a:buClr>
                <a:schemeClr val="dk1"/>
              </a:buClr>
              <a:buSzPts val="1100"/>
              <a:buFont typeface="Arial" panose="020B0604020202020204"/>
              <a:buNone/>
              <a:defRPr/>
            </a:pPr>
            <a:endParaRPr lang="en-US" sz="1800" dirty="0">
              <a:latin typeface="Times New Roman" panose="02020603050405020304" pitchFamily="18" charset="0"/>
            </a:endParaRPr>
          </a:p>
          <a:p>
            <a:pPr marL="0" indent="0" algn="just">
              <a:lnSpc>
                <a:spcPct val="115000"/>
              </a:lnSpc>
              <a:spcBef>
                <a:spcPts val="0"/>
              </a:spcBef>
              <a:buClr>
                <a:schemeClr val="dk1"/>
              </a:buClr>
              <a:buSzPts val="1100"/>
              <a:buFont typeface="Arial" panose="020B0604020202020204"/>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5000"/>
              </a:lnSpc>
              <a:spcBef>
                <a:spcPts val="0"/>
              </a:spcBef>
              <a:buClr>
                <a:schemeClr val="dk1"/>
              </a:buClr>
              <a:buSzPts val="1100"/>
              <a:buFont typeface="Arial" panose="020B0604020202020204"/>
              <a:buNone/>
              <a:defRPr/>
            </a:pPr>
            <a:endParaRPr lang="en-US" sz="1600" dirty="0">
              <a:latin typeface="Times New Roman" panose="02020603050405020304"/>
              <a:ea typeface="Times New Roman" panose="02020603050405020304"/>
              <a:cs typeface="Times New Roman" panose="02020603050405020304"/>
            </a:endParaRPr>
          </a:p>
          <a:p>
            <a:pPr marL="0" indent="0">
              <a:buFont typeface="Arial" panose="020B0604020202020204" pitchFamily="34" charset="0"/>
              <a:buNone/>
              <a:defRPr/>
            </a:pP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panose="02020603050405020304"/>
                <a:cs typeface="Times New Roman" panose="02020603050405020304"/>
              </a:rPr>
              <a:t>CONTENTS</a:t>
            </a:r>
            <a:endParaRPr lang="en-US" sz="2000" b="1" dirty="0">
              <a:solidFill>
                <a:srgbClr val="002060"/>
              </a:solidFill>
              <a:latin typeface="Times New Roman" panose="02020603050405020304"/>
              <a:cs typeface="Times New Roman" panose="02020603050405020304"/>
            </a:endParaRPr>
          </a:p>
          <a:p>
            <a:pPr>
              <a:lnSpc>
                <a:spcPct val="100000"/>
              </a:lnSpc>
              <a:spcBef>
                <a:spcPts val="0"/>
              </a:spcBef>
              <a:defRPr/>
            </a:pPr>
            <a:endParaRPr lang="en-US" sz="2000" b="1" dirty="0">
              <a:solidFill>
                <a:srgbClr val="002060"/>
              </a:solidFill>
              <a:latin typeface="Times New Roman" panose="02020603050405020304"/>
              <a:cs typeface="Times New Roman" panose="02020603050405020304"/>
            </a:endParaRPr>
          </a:p>
          <a:p>
            <a:pPr>
              <a:lnSpc>
                <a:spcPct val="100000"/>
              </a:lnSpc>
              <a:spcBef>
                <a:spcPts val="0"/>
              </a:spcBef>
              <a:defRPr/>
            </a:pPr>
            <a:r>
              <a:rPr lang="en-US" sz="2400" b="1" dirty="0">
                <a:solidFill>
                  <a:srgbClr val="002060"/>
                </a:solidFill>
                <a:latin typeface="Times New Roman" panose="02020603050405020304"/>
                <a:cs typeface="Times New Roman" panose="02020603050405020304"/>
              </a:rPr>
              <a:t>Motivation</a:t>
            </a:r>
          </a:p>
          <a:p>
            <a:pPr>
              <a:lnSpc>
                <a:spcPct val="100000"/>
              </a:lnSpc>
              <a:spcBef>
                <a:spcPts val="0"/>
              </a:spcBef>
              <a:defRPr/>
            </a:pPr>
            <a:r>
              <a:rPr lang="en-US" sz="2400" b="1" dirty="0">
                <a:solidFill>
                  <a:srgbClr val="002060"/>
                </a:solidFill>
                <a:latin typeface="Times New Roman" panose="02020603050405020304"/>
                <a:cs typeface="Times New Roman" panose="02020603050405020304"/>
              </a:rPr>
              <a:t>Introduction</a:t>
            </a:r>
          </a:p>
          <a:p>
            <a:pPr>
              <a:lnSpc>
                <a:spcPct val="100000"/>
              </a:lnSpc>
              <a:spcBef>
                <a:spcPts val="0"/>
              </a:spcBef>
              <a:defRPr/>
            </a:pPr>
            <a:r>
              <a:rPr lang="en-US" sz="2400" b="1" dirty="0">
                <a:solidFill>
                  <a:srgbClr val="002060"/>
                </a:solidFill>
                <a:latin typeface="Times New Roman" panose="02020603050405020304"/>
                <a:cs typeface="Times New Roman" panose="02020603050405020304"/>
              </a:rPr>
              <a:t>Problem Statement</a:t>
            </a:r>
          </a:p>
          <a:p>
            <a:pPr>
              <a:lnSpc>
                <a:spcPct val="100000"/>
              </a:lnSpc>
              <a:spcBef>
                <a:spcPts val="0"/>
              </a:spcBef>
              <a:defRPr/>
            </a:pPr>
            <a:r>
              <a:rPr lang="en-US" sz="2400" b="1" dirty="0">
                <a:solidFill>
                  <a:srgbClr val="002060"/>
                </a:solidFill>
                <a:latin typeface="Times New Roman" panose="02020603050405020304"/>
                <a:cs typeface="Times New Roman" panose="02020603050405020304"/>
              </a:rPr>
              <a:t>Proposed Method </a:t>
            </a:r>
          </a:p>
          <a:p>
            <a:pPr>
              <a:lnSpc>
                <a:spcPct val="100000"/>
              </a:lnSpc>
              <a:spcBef>
                <a:spcPts val="0"/>
              </a:spcBef>
              <a:defRPr/>
            </a:pPr>
            <a:r>
              <a:rPr lang="en-US" sz="2400" b="1" dirty="0">
                <a:solidFill>
                  <a:srgbClr val="002060"/>
                </a:solidFill>
                <a:latin typeface="Times New Roman" panose="02020603050405020304"/>
                <a:cs typeface="Times New Roman" panose="02020603050405020304"/>
              </a:rPr>
              <a:t>Basic Block Diagram</a:t>
            </a:r>
          </a:p>
          <a:p>
            <a:pPr>
              <a:lnSpc>
                <a:spcPct val="100000"/>
              </a:lnSpc>
              <a:spcBef>
                <a:spcPts val="0"/>
              </a:spcBef>
              <a:defRPr/>
            </a:pPr>
            <a:r>
              <a:rPr lang="en-US" sz="2400" b="1" dirty="0">
                <a:solidFill>
                  <a:srgbClr val="002060"/>
                </a:solidFill>
                <a:latin typeface="Times New Roman" panose="02020603050405020304"/>
                <a:cs typeface="Times New Roman" panose="02020603050405020304"/>
              </a:rPr>
              <a:t>Conclusion </a:t>
            </a:r>
          </a:p>
          <a:p>
            <a:pPr>
              <a:lnSpc>
                <a:spcPct val="100000"/>
              </a:lnSpc>
              <a:spcBef>
                <a:spcPts val="0"/>
              </a:spcBef>
              <a:defRPr/>
            </a:pPr>
            <a:r>
              <a:rPr lang="en-US" sz="2400" b="1" dirty="0">
                <a:solidFill>
                  <a:srgbClr val="002060"/>
                </a:solidFill>
                <a:latin typeface="Times New Roman" panose="02020603050405020304"/>
                <a:cs typeface="Times New Roman" panose="02020603050405020304"/>
              </a:rPr>
              <a:t>References</a:t>
            </a:r>
            <a:endParaRPr lang="en-US" sz="2400" dirty="0">
              <a:latin typeface="Times New Roman" panose="02020603050405020304"/>
              <a:cs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65319" y="1990845"/>
            <a:ext cx="8229240" cy="819154"/>
          </a:xfrm>
        </p:spPr>
        <p:txBody>
          <a:bodyPr>
            <a:normAutofit/>
          </a:bodyPr>
          <a:lstStyle/>
          <a:p>
            <a:pPr algn="ctr">
              <a:defRPr/>
            </a:pPr>
            <a:r>
              <a:rPr lang="en-US" sz="4000" b="1" u="sng" dirty="0">
                <a:latin typeface="Times New Roman" panose="02020603050405020304"/>
                <a:ea typeface="Times New Roman" panose="02020603050405020304"/>
                <a:cs typeface="Times New Roman" panose="02020603050405020304"/>
              </a:rPr>
              <a:t>Motivation</a:t>
            </a:r>
            <a:endParaRPr sz="6000" b="1" dirty="0"/>
          </a:p>
        </p:txBody>
      </p:sp>
      <p:sp>
        <p:nvSpPr>
          <p:cNvPr id="2" name="Text Box 1"/>
          <p:cNvSpPr txBox="1"/>
          <p:nvPr/>
        </p:nvSpPr>
        <p:spPr>
          <a:xfrm>
            <a:off x="762635" y="2809875"/>
            <a:ext cx="10708005" cy="3712845"/>
          </a:xfrm>
          <a:prstGeom prst="rect">
            <a:avLst/>
          </a:prstGeom>
          <a:noFill/>
        </p:spPr>
        <p:txBody>
          <a:bodyPr wrap="square" rtlCol="0">
            <a:noAutofit/>
          </a:bodyPr>
          <a:lstStyle/>
          <a:p>
            <a:r>
              <a:rPr lang="en-US" altLang="en-US" sz="2800"/>
              <a:t>Why this project?</a:t>
            </a:r>
          </a:p>
          <a:p>
            <a:pPr marL="285750" indent="-285750">
              <a:buFont typeface="Arial" panose="020B0604020202020204" pitchFamily="34" charset="0"/>
              <a:buChar char="•"/>
            </a:pPr>
            <a:r>
              <a:rPr lang="en-US" altLang="en-US" sz="2800"/>
              <a:t>Smart homes are becoming increasingly popular.</a:t>
            </a:r>
          </a:p>
          <a:p>
            <a:pPr marL="285750" indent="-285750">
              <a:buFont typeface="Arial" panose="020B0604020202020204" pitchFamily="34" charset="0"/>
              <a:buChar char="•"/>
            </a:pPr>
            <a:r>
              <a:rPr lang="en-US" altLang="en-US" sz="2800"/>
              <a:t>Traditional locks cannot alert homeowners during unauthorized access.</a:t>
            </a:r>
          </a:p>
          <a:p>
            <a:pPr marL="285750" indent="-285750">
              <a:buFont typeface="Arial" panose="020B0604020202020204" pitchFamily="34" charset="0"/>
              <a:buChar char="•"/>
            </a:pPr>
            <a:r>
              <a:rPr lang="en-US" altLang="en-US" sz="2800"/>
              <a:t>Theft and break-ins are increasing in urban areas.</a:t>
            </a:r>
          </a:p>
          <a:p>
            <a:pPr marL="285750" indent="-285750">
              <a:buFont typeface="Arial" panose="020B0604020202020204" pitchFamily="34" charset="0"/>
              <a:buChar char="•"/>
            </a:pPr>
            <a:r>
              <a:rPr lang="en-US" altLang="en-US" sz="2800"/>
              <a:t>A low-cost automated security system improves home safety.</a:t>
            </a:r>
          </a:p>
          <a:p>
            <a:pPr marL="285750" indent="-285750">
              <a:buFont typeface="Arial" panose="020B0604020202020204" pitchFamily="34" charset="0"/>
              <a:buChar char="•"/>
            </a:pPr>
            <a:r>
              <a:rPr lang="en-US" altLang="en-US" sz="2800"/>
              <a:t>Real-time alerts allow homeowners to respond quickly.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32268" y="2070319"/>
            <a:ext cx="8229240" cy="628135"/>
          </a:xfrm>
        </p:spPr>
        <p:txBody>
          <a:bodyPr>
            <a:noAutofit/>
          </a:bodyPr>
          <a:lstStyle/>
          <a:p>
            <a:pPr algn="ctr">
              <a:defRPr/>
            </a:pPr>
            <a:r>
              <a:rPr lang="en-US" sz="4000" b="1" u="sng" dirty="0">
                <a:latin typeface="Times New Roman" panose="02020603050405020304"/>
                <a:ea typeface="Times New Roman" panose="02020603050405020304"/>
                <a:cs typeface="Times New Roman" panose="02020603050405020304"/>
              </a:rPr>
              <a:t>Introduction</a:t>
            </a:r>
            <a:endParaRPr sz="4800" b="1" dirty="0"/>
          </a:p>
        </p:txBody>
      </p:sp>
      <p:sp>
        <p:nvSpPr>
          <p:cNvPr id="2" name="Text Box 1"/>
          <p:cNvSpPr txBox="1"/>
          <p:nvPr/>
        </p:nvSpPr>
        <p:spPr>
          <a:xfrm>
            <a:off x="266065" y="2778125"/>
            <a:ext cx="11426825" cy="3633470"/>
          </a:xfrm>
          <a:prstGeom prst="rect">
            <a:avLst/>
          </a:prstGeom>
          <a:noFill/>
        </p:spPr>
        <p:txBody>
          <a:bodyPr wrap="square" rtlCol="0">
            <a:noAutofit/>
          </a:bodyPr>
          <a:lstStyle/>
          <a:p>
            <a:r>
              <a:rPr lang="en-US" altLang="en-US" sz="2400"/>
              <a:t>A Smart Home Intrusion Detection System is an IoT-based security solution that monitors a home for unauthorized entry.The system uses sensors connected to a microcontroller (such as Arduino or ESP32) to detect movement or door opening.</a:t>
            </a:r>
          </a:p>
          <a:p>
            <a:endParaRPr lang="en-US" altLang="en-US" sz="2400"/>
          </a:p>
          <a:p>
            <a:r>
              <a:rPr lang="en-US" altLang="en-US" sz="2400"/>
              <a:t>When an intrusion is detected, the system:</a:t>
            </a:r>
          </a:p>
          <a:p>
            <a:pPr marL="342900" indent="-342900">
              <a:buFont typeface="Arial" panose="020B0604020202020204" pitchFamily="34" charset="0"/>
              <a:buChar char="•"/>
            </a:pPr>
            <a:r>
              <a:rPr lang="en-US" altLang="en-US" sz="2400"/>
              <a:t>Activates a buzzer or alarm</a:t>
            </a:r>
          </a:p>
          <a:p>
            <a:pPr marL="342900" indent="-342900">
              <a:buFont typeface="Arial" panose="020B0604020202020204" pitchFamily="34" charset="0"/>
              <a:buChar char="•"/>
            </a:pPr>
            <a:r>
              <a:rPr lang="en-US" altLang="en-US" sz="2400"/>
              <a:t>Sends a notification to the homeowner</a:t>
            </a:r>
          </a:p>
          <a:p>
            <a:pPr marL="342900" indent="-342900">
              <a:buFont typeface="Arial" panose="020B0604020202020204" pitchFamily="34" charset="0"/>
              <a:buChar char="•"/>
            </a:pPr>
            <a:r>
              <a:rPr lang="en-US" altLang="en-US" sz="2400"/>
              <a:t>Records the event (optional)</a:t>
            </a:r>
          </a:p>
          <a:p>
            <a:pPr marL="342900" indent="-342900">
              <a:buFont typeface="Arial" panose="020B0604020202020204" pitchFamily="34" charset="0"/>
              <a:buChar char="•"/>
            </a:pPr>
            <a:r>
              <a:rPr lang="en-US" altLang="en-US" sz="2400"/>
              <a:t>Can be monitored remotely using Wi-Fi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panose="02020603050405020304"/>
                <a:cs typeface="Times New Roman" panose="02020603050405020304"/>
              </a:rPr>
              <a:t>Problem Statement</a:t>
            </a:r>
            <a:endParaRPr lang="en-US" sz="4000" b="1" u="sng" dirty="0">
              <a:solidFill>
                <a:srgbClr val="002060"/>
              </a:solidFill>
              <a:latin typeface="Times New Roman" panose="02020603050405020304"/>
              <a:cs typeface="Times New Roman" panose="02020603050405020304"/>
            </a:endParaRPr>
          </a:p>
        </p:txBody>
      </p:sp>
      <p:sp>
        <p:nvSpPr>
          <p:cNvPr id="3" name="Text Box 2"/>
          <p:cNvSpPr txBox="1"/>
          <p:nvPr/>
        </p:nvSpPr>
        <p:spPr>
          <a:xfrm>
            <a:off x="386080" y="2618740"/>
            <a:ext cx="11084560" cy="3796030"/>
          </a:xfrm>
          <a:prstGeom prst="rect">
            <a:avLst/>
          </a:prstGeom>
          <a:noFill/>
        </p:spPr>
        <p:txBody>
          <a:bodyPr wrap="square" rtlCol="0">
            <a:noAutofit/>
          </a:bodyPr>
          <a:lstStyle/>
          <a:p>
            <a:r>
              <a:rPr lang="en-US" altLang="en-US" sz="2300"/>
              <a:t>Existing Problems:</a:t>
            </a:r>
          </a:p>
          <a:p>
            <a:pPr marL="285750" indent="-285750">
              <a:buFont typeface="Arial" panose="020B0604020202020204" pitchFamily="34" charset="0"/>
              <a:buChar char="•"/>
            </a:pPr>
            <a:r>
              <a:rPr lang="en-US" altLang="en-US" sz="2300"/>
              <a:t>Traditional locks provide no real-time alerts.</a:t>
            </a:r>
          </a:p>
          <a:p>
            <a:pPr marL="285750" indent="-285750">
              <a:buFont typeface="Arial" panose="020B0604020202020204" pitchFamily="34" charset="0"/>
              <a:buChar char="•"/>
            </a:pPr>
            <a:r>
              <a:rPr lang="en-US" altLang="en-US" sz="2300"/>
              <a:t>CCTV requires continuous monitoring.</a:t>
            </a:r>
          </a:p>
          <a:p>
            <a:pPr marL="285750" indent="-285750">
              <a:buFont typeface="Arial" panose="020B0604020202020204" pitchFamily="34" charset="0"/>
              <a:buChar char="•"/>
            </a:pPr>
            <a:r>
              <a:rPr lang="en-US" altLang="en-US" sz="2300"/>
              <a:t>Commercial security systems are expensive.</a:t>
            </a:r>
          </a:p>
          <a:p>
            <a:pPr marL="285750" indent="-285750">
              <a:buFont typeface="Arial" panose="020B0604020202020204" pitchFamily="34" charset="0"/>
              <a:buChar char="•"/>
            </a:pPr>
            <a:r>
              <a:rPr lang="en-US" altLang="en-US" sz="2300"/>
              <a:t>Delayed detection increases property loss.</a:t>
            </a:r>
          </a:p>
          <a:p>
            <a:pPr marL="285750" indent="-285750">
              <a:buFont typeface="Arial" panose="020B0604020202020204" pitchFamily="34" charset="0"/>
              <a:buChar char="•"/>
            </a:pPr>
            <a:r>
              <a:rPr lang="en-US" altLang="en-US" sz="2300"/>
              <a:t>Many homes lack affordable smart security solutions.</a:t>
            </a:r>
          </a:p>
          <a:p>
            <a:pPr marL="285750" indent="-285750">
              <a:buFont typeface="Arial" panose="020B0604020202020204" pitchFamily="34" charset="0"/>
              <a:buChar char="•"/>
            </a:pPr>
            <a:endParaRPr lang="en-US" altLang="en-US" sz="2300"/>
          </a:p>
          <a:p>
            <a:r>
              <a:rPr lang="en-US" altLang="en-US" sz="2300"/>
              <a:t>PROBLEM STATEMENT:</a:t>
            </a:r>
          </a:p>
          <a:p>
            <a:r>
              <a:rPr lang="en-US" altLang="en-US" sz="2300"/>
              <a:t>Design a low-cost microcontroller-based intrusion detection system capable of detecting unauthorized entry and alerting the homeowner in real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panose="02020603050405020304"/>
                <a:cs typeface="Times New Roman" panose="02020603050405020304"/>
              </a:rPr>
              <a:t>Proposed Method</a:t>
            </a:r>
            <a:endParaRPr lang="en-US" sz="4000" b="1" u="sng" dirty="0">
              <a:solidFill>
                <a:srgbClr val="002060"/>
              </a:solidFill>
              <a:latin typeface="Times New Roman" panose="02020603050405020304"/>
              <a:cs typeface="Times New Roman" panose="02020603050405020304"/>
            </a:endParaRPr>
          </a:p>
        </p:txBody>
      </p:sp>
      <p:sp>
        <p:nvSpPr>
          <p:cNvPr id="2" name="Text Box 1"/>
          <p:cNvSpPr txBox="1"/>
          <p:nvPr/>
        </p:nvSpPr>
        <p:spPr>
          <a:xfrm>
            <a:off x="314325" y="2618740"/>
            <a:ext cx="11297920" cy="3649345"/>
          </a:xfrm>
          <a:prstGeom prst="rect">
            <a:avLst/>
          </a:prstGeom>
          <a:noFill/>
        </p:spPr>
        <p:txBody>
          <a:bodyPr wrap="square" rtlCol="0">
            <a:noAutofit/>
          </a:bodyPr>
          <a:lstStyle/>
          <a:p>
            <a:r>
              <a:rPr lang="en-US" altLang="en-US" sz="2000"/>
              <a:t>Proposed Method</a:t>
            </a:r>
          </a:p>
          <a:p>
            <a:pPr marL="285750" indent="-285750">
              <a:buFont typeface="Arial" panose="020B0604020202020204" pitchFamily="34" charset="0"/>
              <a:buChar char="•"/>
            </a:pPr>
            <a:r>
              <a:rPr lang="en-US" altLang="en-US" sz="2000"/>
              <a:t>The proposed system consists of:</a:t>
            </a:r>
          </a:p>
          <a:p>
            <a:pPr marL="285750" indent="-285750">
              <a:buFont typeface="Arial" panose="020B0604020202020204" pitchFamily="34" charset="0"/>
              <a:buChar char="•"/>
            </a:pPr>
            <a:r>
              <a:rPr lang="en-US" altLang="en-US" sz="2000"/>
              <a:t>PIR Motion Sensor</a:t>
            </a:r>
          </a:p>
          <a:p>
            <a:pPr marL="285750" indent="-285750">
              <a:buFont typeface="Arial" panose="020B0604020202020204" pitchFamily="34" charset="0"/>
              <a:buChar char="•"/>
            </a:pPr>
            <a:r>
              <a:rPr lang="en-US" altLang="en-US" sz="2000"/>
              <a:t>Door Magnetic Sensor</a:t>
            </a:r>
          </a:p>
          <a:p>
            <a:pPr marL="285750" indent="-285750">
              <a:buFont typeface="Arial" panose="020B0604020202020204" pitchFamily="34" charset="0"/>
              <a:buChar char="•"/>
            </a:pPr>
            <a:r>
              <a:rPr lang="en-US" altLang="en-US" sz="2000"/>
              <a:t>ESP32/Arduino Microcontroller</a:t>
            </a:r>
          </a:p>
          <a:p>
            <a:pPr marL="285750" indent="-285750">
              <a:buFont typeface="Arial" panose="020B0604020202020204" pitchFamily="34" charset="0"/>
              <a:buChar char="•"/>
            </a:pPr>
            <a:r>
              <a:rPr lang="en-US" altLang="en-US" sz="2000"/>
              <a:t>Wi-Fi Module (ESP32 has built-in Wi-Fi)</a:t>
            </a:r>
          </a:p>
          <a:p>
            <a:pPr marL="285750" indent="-285750">
              <a:buFont typeface="Arial" panose="020B0604020202020204" pitchFamily="34" charset="0"/>
              <a:buChar char="•"/>
            </a:pPr>
            <a:r>
              <a:rPr lang="en-US" altLang="en-US" sz="2000"/>
              <a:t>Buzzer</a:t>
            </a:r>
          </a:p>
          <a:p>
            <a:pPr marL="285750" indent="-285750">
              <a:buFont typeface="Arial" panose="020B0604020202020204" pitchFamily="34" charset="0"/>
              <a:buChar char="•"/>
            </a:pPr>
            <a:r>
              <a:rPr lang="en-US" altLang="en-US" sz="2000"/>
              <a:t>Mobile Notification (Blynk/Telegram)</a:t>
            </a:r>
          </a:p>
          <a:p>
            <a:pPr marL="285750" indent="-285750">
              <a:buFont typeface="Arial" panose="020B0604020202020204" pitchFamily="34" charset="0"/>
              <a:buChar char="•"/>
            </a:pPr>
            <a:r>
              <a:rPr lang="en-US" altLang="en-US" sz="2000"/>
              <a:t>LED Indicator</a:t>
            </a:r>
          </a:p>
          <a:p>
            <a:r>
              <a:rPr lang="en-US" altLang="en-US" sz="2000"/>
              <a:t>Working</a:t>
            </a:r>
          </a:p>
          <a:p>
            <a:r>
              <a:rPr lang="en-US" altLang="en-US" sz="2000"/>
              <a:t>Sensors continuously monitor the home--Motion or door opening is detected--Microcontroller processes the signal--Alarm is activated.Notification is sent to the owner's smartphone--System returns to monitoring mode.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2066260" y="1772148"/>
            <a:ext cx="8229240" cy="628135"/>
          </a:xfrm>
        </p:spPr>
        <p:txBody>
          <a:bodyPr>
            <a:noAutofit/>
          </a:bodyPr>
          <a:lstStyle/>
          <a:p>
            <a:pPr algn="ctr">
              <a:lnSpc>
                <a:spcPct val="100000"/>
              </a:lnSpc>
              <a:spcBef>
                <a:spcPts val="0"/>
              </a:spcBef>
              <a:defRPr/>
            </a:pPr>
            <a:r>
              <a:rPr lang="en-US" sz="3600" b="1" u="sng" dirty="0">
                <a:solidFill>
                  <a:srgbClr val="002060"/>
                </a:solidFill>
                <a:latin typeface="Times New Roman" panose="02020603050405020304"/>
                <a:cs typeface="Times New Roman" panose="02020603050405020304"/>
              </a:rPr>
              <a:t>Basic Block Diagram</a:t>
            </a:r>
          </a:p>
        </p:txBody>
      </p:sp>
      <p:sp>
        <p:nvSpPr>
          <p:cNvPr id="2" name="Text Box 1"/>
          <p:cNvSpPr txBox="1"/>
          <p:nvPr/>
        </p:nvSpPr>
        <p:spPr>
          <a:xfrm>
            <a:off x="4742816" y="2498272"/>
            <a:ext cx="11395710" cy="3846195"/>
          </a:xfrm>
          <a:prstGeom prst="rect">
            <a:avLst/>
          </a:prstGeom>
          <a:noFill/>
        </p:spPr>
        <p:txBody>
          <a:bodyPr wrap="square" rtlCol="0">
            <a:noAutofit/>
          </a:bodyPr>
          <a:lstStyle/>
          <a:p>
            <a:endParaRPr lang="en-US" sz="1400"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49901" y="2534485"/>
            <a:ext cx="5861957" cy="390797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816931"/>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panose="02020603050405020304"/>
                <a:cs typeface="Times New Roman" panose="02020603050405020304"/>
              </a:rPr>
              <a:t>Conclusion </a:t>
            </a:r>
            <a:endParaRPr lang="en-US" sz="4000" b="1" u="sng" dirty="0">
              <a:solidFill>
                <a:srgbClr val="002060"/>
              </a:solidFill>
              <a:latin typeface="Times New Roman" panose="02020603050405020304"/>
              <a:cs typeface="Times New Roman" panose="02020603050405020304"/>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2" name="Text Box 1"/>
          <p:cNvSpPr txBox="1"/>
          <p:nvPr/>
        </p:nvSpPr>
        <p:spPr>
          <a:xfrm>
            <a:off x="204470" y="2444750"/>
            <a:ext cx="11266170" cy="4095750"/>
          </a:xfrm>
          <a:prstGeom prst="rect">
            <a:avLst/>
          </a:prstGeom>
          <a:noFill/>
        </p:spPr>
        <p:txBody>
          <a:bodyPr wrap="square" rtlCol="0">
            <a:noAutofit/>
          </a:bodyPr>
          <a:lstStyle/>
          <a:p>
            <a:r>
              <a:rPr lang="en-US" altLang="en-US" sz="2800" b="1"/>
              <a:t>Conclusion</a:t>
            </a:r>
          </a:p>
          <a:p>
            <a:endParaRPr lang="en-US" altLang="en-US" sz="2400"/>
          </a:p>
          <a:p>
            <a:r>
              <a:rPr lang="en-US" altLang="en-US" sz="2400"/>
              <a:t>The Smart Home Intrusion Detection System provides an effective, affordable, and reliable solution for home security.</a:t>
            </a:r>
          </a:p>
          <a:p>
            <a:endParaRPr lang="en-US" altLang="en-US" sz="2400"/>
          </a:p>
          <a:p>
            <a:r>
              <a:rPr lang="en-US" altLang="en-US" sz="2400"/>
              <a:t>By integrating sensors with a microcontroller and IoT technology, the system can detect unauthorized access, trigger alarms, and send instant notifications to homeowners. This project demonstrates how embedded systems can enhance safety while remaining cost-effective and easy to implement.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816931"/>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panose="02020603050405020304"/>
                <a:cs typeface="Times New Roman" panose="02020603050405020304"/>
              </a:rPr>
              <a:t>References</a:t>
            </a:r>
            <a:endParaRPr lang="en-US" sz="4000" b="1" u="sng" dirty="0">
              <a:solidFill>
                <a:srgbClr val="002060"/>
              </a:solidFill>
              <a:latin typeface="Times New Roman" panose="02020603050405020304"/>
              <a:cs typeface="Times New Roman" panose="02020603050405020304"/>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2" name="Text Box 1"/>
          <p:cNvSpPr txBox="1"/>
          <p:nvPr/>
        </p:nvSpPr>
        <p:spPr>
          <a:xfrm>
            <a:off x="158750" y="2629535"/>
            <a:ext cx="11442700" cy="4040505"/>
          </a:xfrm>
          <a:prstGeom prst="rect">
            <a:avLst/>
          </a:prstGeom>
          <a:noFill/>
        </p:spPr>
        <p:txBody>
          <a:bodyPr wrap="square" rtlCol="0">
            <a:noAutofit/>
          </a:bodyPr>
          <a:lstStyle/>
          <a:p>
            <a:pPr marL="342900" indent="-342900">
              <a:buFont typeface="Arial" panose="020B0604020202020204" pitchFamily="34" charset="0"/>
              <a:buChar char="•"/>
            </a:pPr>
            <a:r>
              <a:rPr lang="en-US" altLang="en-US" sz="2400"/>
              <a:t>Arduino Official Documentation</a:t>
            </a:r>
          </a:p>
          <a:p>
            <a:pPr marL="342900" indent="-342900">
              <a:buFont typeface="Arial" panose="020B0604020202020204" pitchFamily="34" charset="0"/>
              <a:buChar char="•"/>
            </a:pPr>
            <a:r>
              <a:rPr lang="en-US" altLang="en-US" sz="2400"/>
              <a:t>ESP32 Documentation by Espressif</a:t>
            </a:r>
          </a:p>
          <a:p>
            <a:pPr marL="342900" indent="-342900">
              <a:buFont typeface="Arial" panose="020B0604020202020204" pitchFamily="34" charset="0"/>
              <a:buChar char="•"/>
            </a:pPr>
            <a:r>
              <a:rPr lang="en-US" altLang="en-US" sz="2400"/>
              <a:t>PIR Motion Sensor Datasheet</a:t>
            </a:r>
          </a:p>
          <a:p>
            <a:pPr marL="342900" indent="-342900">
              <a:buFont typeface="Arial" panose="020B0604020202020204" pitchFamily="34" charset="0"/>
              <a:buChar char="•"/>
            </a:pPr>
            <a:r>
              <a:rPr lang="en-US" altLang="en-US" sz="2400"/>
              <a:t>IoT Security Research Papers (IEEE Xplore)</a:t>
            </a:r>
          </a:p>
          <a:p>
            <a:pPr marL="342900" indent="-342900">
              <a:buFont typeface="Arial" panose="020B0604020202020204" pitchFamily="34" charset="0"/>
              <a:buChar char="•"/>
            </a:pPr>
            <a:r>
              <a:rPr lang="en-US" altLang="en-US" sz="2400"/>
              <a:t>Blynk IoT Documentation</a:t>
            </a:r>
          </a:p>
          <a:p>
            <a:pPr marL="342900" indent="-342900">
              <a:buFont typeface="Arial" panose="020B0604020202020204" pitchFamily="34" charset="0"/>
              <a:buChar char="•"/>
            </a:pPr>
            <a:r>
              <a:rPr lang="en-US" altLang="en-US" sz="2400"/>
              <a:t>Microcontroller Embedded Systems Textbook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803</Words>
  <Application>Microsoft Office PowerPoint</Application>
  <PresentationFormat>Widescreen</PresentationFormat>
  <Paragraphs>114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 Neue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student</cp:lastModifiedBy>
  <cp:revision>12</cp:revision>
  <dcterms:created xsi:type="dcterms:W3CDTF">2025-10-04T04:58:00Z</dcterms:created>
  <dcterms:modified xsi:type="dcterms:W3CDTF">2026-07-30T04:28:45Z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B2651EF9F9DA46A589FA2DB85A4A00EC_12</vt:lpwstr>
  </property>
  <property fmtid="{D5CDD505-2E9C-101B-9397-08002B2CF9AE}" pid="3" name="KSOProductBuildVer">
    <vt:lpwstr>1033-12.2.0.23196</vt:lpwstr>
  </property>
</Properties>
</file>