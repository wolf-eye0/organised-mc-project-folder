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Default Extension="jpg" ContentType="image/jpg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 u="sng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Dept</a:t>
            </a:r>
            <a:r>
              <a:rPr dirty="0" spc="-5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10"/>
              <a:t>CSE(CY)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 u="sng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Dept</a:t>
            </a:r>
            <a:r>
              <a:rPr dirty="0" spc="-5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10"/>
              <a:t>CSE(CY)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 u="sng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Dept</a:t>
            </a:r>
            <a:r>
              <a:rPr dirty="0" spc="-5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10"/>
              <a:t>CSE(CY)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4925" y="161925"/>
            <a:ext cx="9729561" cy="157368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 u="sng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Dept</a:t>
            </a:r>
            <a:r>
              <a:rPr dirty="0" spc="-5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10"/>
              <a:t>CSE(CY)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Dept</a:t>
            </a:r>
            <a:r>
              <a:rPr dirty="0" spc="-5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10"/>
              <a:t>CSE(CY)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5350" y="247650"/>
            <a:ext cx="10546692" cy="17040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79494" y="1980247"/>
            <a:ext cx="4204970" cy="632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 u="sng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129280" y="3111182"/>
            <a:ext cx="5933439" cy="1673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592826" y="6472554"/>
            <a:ext cx="1013459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Dept</a:t>
            </a:r>
            <a:r>
              <a:rPr dirty="0" spc="-5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10"/>
              <a:t>CSE(CY)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jecc.etlab.in/teacher/viewsubject/93460551045?sub_id=1916076829214&amp;sem_id=116225560662" TargetMode="Externa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hyperlink" Target="https://docs.arduino.cc/" TargetMode="External"/><Relationship Id="rId4" Type="http://schemas.openxmlformats.org/officeDocument/2006/relationships/hyperlink" Target="https://docs.arduino.cc/software/ide/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703320" y="63"/>
            <a:ext cx="500761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b="1">
                <a:solidFill>
                  <a:srgbClr val="E7E6E6"/>
                </a:solidFill>
                <a:latin typeface="Calibri"/>
                <a:cs typeface="Calibri"/>
              </a:rPr>
              <a:t>Secure</a:t>
            </a:r>
            <a:r>
              <a:rPr dirty="0" sz="1100" spc="-70" b="1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E7E6E6"/>
                </a:solidFill>
                <a:latin typeface="Calibri"/>
                <a:cs typeface="Calibri"/>
              </a:rPr>
              <a:t>Confidential </a:t>
            </a:r>
            <a:r>
              <a:rPr dirty="0" sz="1100" b="1">
                <a:solidFill>
                  <a:srgbClr val="E7E6E6"/>
                </a:solidFill>
                <a:latin typeface="Calibri"/>
                <a:cs typeface="Calibri"/>
              </a:rPr>
              <a:t>Document</a:t>
            </a:r>
            <a:r>
              <a:rPr dirty="0" sz="1100" spc="25" b="1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E7E6E6"/>
                </a:solidFill>
                <a:latin typeface="Calibri"/>
                <a:cs typeface="Calibri"/>
              </a:rPr>
              <a:t>Storage</a:t>
            </a:r>
            <a:r>
              <a:rPr dirty="0" sz="1100" spc="5" b="1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E7E6E6"/>
                </a:solidFill>
                <a:latin typeface="Calibri"/>
                <a:cs typeface="Calibri"/>
              </a:rPr>
              <a:t>Box</a:t>
            </a:r>
            <a:r>
              <a:rPr dirty="0" sz="1100" spc="-20" b="1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E7E6E6"/>
                </a:solidFill>
                <a:latin typeface="Calibri"/>
                <a:cs typeface="Calibri"/>
              </a:rPr>
              <a:t>with</a:t>
            </a:r>
            <a:r>
              <a:rPr dirty="0" sz="1100" spc="-30" b="1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E7E6E6"/>
                </a:solidFill>
                <a:latin typeface="Calibri"/>
                <a:cs typeface="Calibri"/>
              </a:rPr>
              <a:t>Tamper</a:t>
            </a:r>
            <a:r>
              <a:rPr dirty="0" sz="1100" spc="-45" b="1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E7E6E6"/>
                </a:solidFill>
                <a:latin typeface="Calibri"/>
                <a:cs typeface="Calibri"/>
              </a:rPr>
              <a:t>Detection</a:t>
            </a:r>
            <a:r>
              <a:rPr dirty="0" sz="1100" spc="-25" b="1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E7E6E6"/>
                </a:solidFill>
                <a:latin typeface="Calibri"/>
                <a:cs typeface="Calibri"/>
              </a:rPr>
              <a:t>using</a:t>
            </a:r>
            <a:r>
              <a:rPr dirty="0" sz="1100" spc="40" b="1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E7E6E6"/>
                </a:solidFill>
                <a:latin typeface="Calibri"/>
                <a:cs typeface="Calibri"/>
              </a:rPr>
              <a:t>Arduino</a:t>
            </a:r>
            <a:r>
              <a:rPr dirty="0" sz="1100" spc="-30" b="1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dirty="0" sz="1100" spc="-25" b="1">
                <a:solidFill>
                  <a:srgbClr val="E7E6E6"/>
                </a:solidFill>
                <a:latin typeface="Calibri"/>
                <a:cs typeface="Calibri"/>
              </a:rPr>
              <a:t>Uno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833626" y="3083941"/>
            <a:ext cx="8717915" cy="3559175"/>
          </a:xfrm>
          <a:prstGeom prst="rect">
            <a:avLst/>
          </a:prstGeom>
        </p:spPr>
        <p:txBody>
          <a:bodyPr wrap="square" lIns="0" tIns="869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85"/>
              </a:spcBef>
            </a:pPr>
            <a:r>
              <a:rPr dirty="0" u="sng" sz="3950" b="1">
                <a:solidFill>
                  <a:srgbClr val="C55A11"/>
                </a:solidFill>
                <a:uFill>
                  <a:solidFill>
                    <a:srgbClr val="C55A11"/>
                  </a:solidFill>
                </a:uFill>
                <a:latin typeface="Arial"/>
                <a:cs typeface="Arial"/>
                <a:hlinkClick r:id="rId2"/>
              </a:rPr>
              <a:t>PBCST504</a:t>
            </a:r>
            <a:r>
              <a:rPr dirty="0" u="sng" sz="3950" spc="50" b="1">
                <a:solidFill>
                  <a:srgbClr val="C55A11"/>
                </a:solidFill>
                <a:uFill>
                  <a:solidFill>
                    <a:srgbClr val="C55A11"/>
                  </a:solidFill>
                </a:uFill>
                <a:latin typeface="Arial"/>
                <a:cs typeface="Arial"/>
              </a:rPr>
              <a:t> </a:t>
            </a:r>
            <a:r>
              <a:rPr dirty="0" u="sng" sz="3950" b="1">
                <a:solidFill>
                  <a:srgbClr val="C55A11"/>
                </a:solidFill>
                <a:uFill>
                  <a:solidFill>
                    <a:srgbClr val="C55A11"/>
                  </a:solidFill>
                </a:uFill>
                <a:latin typeface="Arial"/>
                <a:cs typeface="Arial"/>
                <a:hlinkClick r:id="rId2"/>
              </a:rPr>
              <a:t>–</a:t>
            </a:r>
            <a:r>
              <a:rPr dirty="0" u="sng" sz="3950" spc="60" b="1">
                <a:solidFill>
                  <a:srgbClr val="C55A11"/>
                </a:solidFill>
                <a:uFill>
                  <a:solidFill>
                    <a:srgbClr val="C55A11"/>
                  </a:solidFill>
                </a:uFill>
                <a:latin typeface="Arial"/>
                <a:cs typeface="Arial"/>
              </a:rPr>
              <a:t> </a:t>
            </a:r>
            <a:r>
              <a:rPr dirty="0" u="sng" sz="3950" spc="-10" b="1">
                <a:solidFill>
                  <a:srgbClr val="C55A11"/>
                </a:solidFill>
                <a:uFill>
                  <a:solidFill>
                    <a:srgbClr val="C55A11"/>
                  </a:solidFill>
                </a:uFill>
                <a:latin typeface="Arial"/>
                <a:cs typeface="Arial"/>
                <a:hlinkClick r:id="rId2"/>
              </a:rPr>
              <a:t>MICROCONTROLLERS</a:t>
            </a:r>
            <a:endParaRPr sz="3950">
              <a:latin typeface="Arial"/>
              <a:cs typeface="Arial"/>
            </a:endParaRPr>
          </a:p>
          <a:p>
            <a:pPr algn="ctr" marL="1034415">
              <a:lnSpc>
                <a:spcPct val="100000"/>
              </a:lnSpc>
              <a:spcBef>
                <a:spcPts val="595"/>
              </a:spcBef>
            </a:pPr>
            <a:r>
              <a:rPr dirty="0" sz="3950" b="1">
                <a:solidFill>
                  <a:srgbClr val="C55A11"/>
                </a:solidFill>
                <a:latin typeface="Arial"/>
                <a:cs typeface="Arial"/>
              </a:rPr>
              <a:t>MICRO</a:t>
            </a:r>
            <a:r>
              <a:rPr dirty="0" sz="3950" spc="85" b="1">
                <a:solidFill>
                  <a:srgbClr val="C55A11"/>
                </a:solidFill>
                <a:latin typeface="Arial"/>
                <a:cs typeface="Arial"/>
              </a:rPr>
              <a:t> </a:t>
            </a:r>
            <a:r>
              <a:rPr dirty="0" sz="3950" spc="-10" b="1">
                <a:solidFill>
                  <a:srgbClr val="C55A11"/>
                </a:solidFill>
                <a:latin typeface="Arial"/>
                <a:cs typeface="Arial"/>
              </a:rPr>
              <a:t>PROJECT</a:t>
            </a:r>
            <a:endParaRPr sz="3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55"/>
              </a:spcBef>
            </a:pPr>
            <a:endParaRPr sz="3950">
              <a:latin typeface="Arial"/>
              <a:cs typeface="Arial"/>
            </a:endParaRPr>
          </a:p>
          <a:p>
            <a:pPr algn="ctr" marL="1151890">
              <a:lnSpc>
                <a:spcPct val="100000"/>
              </a:lnSpc>
              <a:spcBef>
                <a:spcPts val="5"/>
              </a:spcBef>
            </a:pPr>
            <a:r>
              <a:rPr dirty="0" sz="4800" b="1">
                <a:solidFill>
                  <a:srgbClr val="6F2F9F"/>
                </a:solidFill>
                <a:latin typeface="Times New Roman"/>
                <a:cs typeface="Times New Roman"/>
              </a:rPr>
              <a:t>Zeroth</a:t>
            </a:r>
            <a:r>
              <a:rPr dirty="0" sz="4800" spc="-165" b="1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dirty="0" sz="4800" spc="-10" b="1">
                <a:solidFill>
                  <a:srgbClr val="6F2F9F"/>
                </a:solidFill>
                <a:latin typeface="Times New Roman"/>
                <a:cs typeface="Times New Roman"/>
              </a:rPr>
              <a:t>Review</a:t>
            </a:r>
            <a:endParaRPr sz="4800">
              <a:latin typeface="Times New Roman"/>
              <a:cs typeface="Times New Roman"/>
            </a:endParaRPr>
          </a:p>
          <a:p>
            <a:pPr algn="ctr" marR="177800">
              <a:lnSpc>
                <a:spcPct val="100000"/>
              </a:lnSpc>
              <a:spcBef>
                <a:spcPts val="2860"/>
              </a:spcBef>
            </a:pP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Dept</a:t>
            </a:r>
            <a:r>
              <a:rPr dirty="0" sz="1200" spc="-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Of</a:t>
            </a:r>
            <a:r>
              <a:rPr dirty="0" sz="1200" spc="-4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88888"/>
                </a:solidFill>
                <a:latin typeface="Calibri"/>
                <a:cs typeface="Calibri"/>
              </a:rPr>
              <a:t>CSE(CY)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2900426" y="-22859"/>
            <a:ext cx="4998085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b="1">
                <a:solidFill>
                  <a:srgbClr val="E7E6E6"/>
                </a:solidFill>
                <a:latin typeface="Calibri"/>
                <a:cs typeface="Calibri"/>
              </a:rPr>
              <a:t>Secure</a:t>
            </a:r>
            <a:r>
              <a:rPr dirty="0" sz="1100" spc="-65" b="1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E7E6E6"/>
                </a:solidFill>
                <a:latin typeface="Calibri"/>
                <a:cs typeface="Calibri"/>
              </a:rPr>
              <a:t>Confidential</a:t>
            </a:r>
            <a:r>
              <a:rPr dirty="0" sz="1100" spc="-55" b="1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E7E6E6"/>
                </a:solidFill>
                <a:latin typeface="Calibri"/>
                <a:cs typeface="Calibri"/>
              </a:rPr>
              <a:t>Document Storage</a:t>
            </a:r>
            <a:r>
              <a:rPr dirty="0" sz="1100" spc="-30" b="1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E7E6E6"/>
                </a:solidFill>
                <a:latin typeface="Calibri"/>
                <a:cs typeface="Calibri"/>
              </a:rPr>
              <a:t>Box</a:t>
            </a:r>
            <a:r>
              <a:rPr dirty="0" sz="1100" spc="-45" b="1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E7E6E6"/>
                </a:solidFill>
                <a:latin typeface="Calibri"/>
                <a:cs typeface="Calibri"/>
              </a:rPr>
              <a:t>with</a:t>
            </a:r>
            <a:r>
              <a:rPr dirty="0" sz="1100" spc="5" b="1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E7E6E6"/>
                </a:solidFill>
                <a:latin typeface="Calibri"/>
                <a:cs typeface="Calibri"/>
              </a:rPr>
              <a:t>Tamper</a:t>
            </a:r>
            <a:r>
              <a:rPr dirty="0" sz="1100" spc="-5" b="1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E7E6E6"/>
                </a:solidFill>
                <a:latin typeface="Calibri"/>
                <a:cs typeface="Calibri"/>
              </a:rPr>
              <a:t>Detection</a:t>
            </a:r>
            <a:r>
              <a:rPr dirty="0" sz="1100" spc="-55" b="1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E7E6E6"/>
                </a:solidFill>
                <a:latin typeface="Calibri"/>
                <a:cs typeface="Calibri"/>
              </a:rPr>
              <a:t>using</a:t>
            </a:r>
            <a:r>
              <a:rPr dirty="0" sz="1100" spc="-60" b="1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E7E6E6"/>
                </a:solidFill>
                <a:latin typeface="Calibri"/>
                <a:cs typeface="Calibri"/>
              </a:rPr>
              <a:t>Arduino</a:t>
            </a:r>
            <a:r>
              <a:rPr dirty="0" sz="1100" spc="5" b="1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dirty="0" sz="1100" spc="-25" b="1">
                <a:solidFill>
                  <a:srgbClr val="E7E6E6"/>
                </a:solidFill>
                <a:latin typeface="Calibri"/>
                <a:cs typeface="Calibri"/>
              </a:rPr>
              <a:t>Uno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51760" y="2716149"/>
            <a:ext cx="8754110" cy="821690"/>
          </a:xfrm>
          <a:prstGeom prst="rect"/>
        </p:spPr>
        <p:txBody>
          <a:bodyPr wrap="square" lIns="0" tIns="67945" rIns="0" bIns="0" rtlCol="0" vert="horz">
            <a:spAutoFit/>
          </a:bodyPr>
          <a:lstStyle/>
          <a:p>
            <a:pPr marL="12700" marR="5080">
              <a:lnSpc>
                <a:spcPts val="2930"/>
              </a:lnSpc>
              <a:spcBef>
                <a:spcPts val="535"/>
              </a:spcBef>
            </a:pPr>
            <a:r>
              <a:rPr dirty="0" u="none" sz="2750">
                <a:solidFill>
                  <a:srgbClr val="006FC0"/>
                </a:solidFill>
              </a:rPr>
              <a:t>Title:-Secure</a:t>
            </a:r>
            <a:r>
              <a:rPr dirty="0" u="none" sz="2750" spc="75">
                <a:solidFill>
                  <a:srgbClr val="006FC0"/>
                </a:solidFill>
              </a:rPr>
              <a:t>  </a:t>
            </a:r>
            <a:r>
              <a:rPr dirty="0" u="none" sz="2750">
                <a:solidFill>
                  <a:srgbClr val="006FC0"/>
                </a:solidFill>
              </a:rPr>
              <a:t>Confidential</a:t>
            </a:r>
            <a:r>
              <a:rPr dirty="0" u="none" sz="2750" spc="65">
                <a:solidFill>
                  <a:srgbClr val="006FC0"/>
                </a:solidFill>
              </a:rPr>
              <a:t>  </a:t>
            </a:r>
            <a:r>
              <a:rPr dirty="0" u="none" sz="2750">
                <a:solidFill>
                  <a:srgbClr val="006FC0"/>
                </a:solidFill>
              </a:rPr>
              <a:t>Document</a:t>
            </a:r>
            <a:r>
              <a:rPr dirty="0" u="none" sz="2750" spc="50">
                <a:solidFill>
                  <a:srgbClr val="006FC0"/>
                </a:solidFill>
              </a:rPr>
              <a:t>  </a:t>
            </a:r>
            <a:r>
              <a:rPr dirty="0" u="none" sz="2750">
                <a:solidFill>
                  <a:srgbClr val="006FC0"/>
                </a:solidFill>
              </a:rPr>
              <a:t>Storage</a:t>
            </a:r>
            <a:r>
              <a:rPr dirty="0" u="none" sz="2750" spc="60">
                <a:solidFill>
                  <a:srgbClr val="006FC0"/>
                </a:solidFill>
              </a:rPr>
              <a:t>  </a:t>
            </a:r>
            <a:r>
              <a:rPr dirty="0" u="none" sz="2750">
                <a:solidFill>
                  <a:srgbClr val="006FC0"/>
                </a:solidFill>
              </a:rPr>
              <a:t>Box</a:t>
            </a:r>
            <a:r>
              <a:rPr dirty="0" u="none" sz="2750" spc="50">
                <a:solidFill>
                  <a:srgbClr val="006FC0"/>
                </a:solidFill>
              </a:rPr>
              <a:t>  </a:t>
            </a:r>
            <a:r>
              <a:rPr dirty="0" u="none" sz="2750" spc="-20">
                <a:solidFill>
                  <a:srgbClr val="006FC0"/>
                </a:solidFill>
              </a:rPr>
              <a:t>with </a:t>
            </a:r>
            <a:r>
              <a:rPr dirty="0" u="none" sz="2750" spc="-10">
                <a:solidFill>
                  <a:srgbClr val="006FC0"/>
                </a:solidFill>
              </a:rPr>
              <a:t>Tamper</a:t>
            </a:r>
            <a:r>
              <a:rPr dirty="0" u="none" sz="2750" spc="20">
                <a:solidFill>
                  <a:srgbClr val="006FC0"/>
                </a:solidFill>
              </a:rPr>
              <a:t> </a:t>
            </a:r>
            <a:r>
              <a:rPr dirty="0" u="none" sz="2750">
                <a:solidFill>
                  <a:srgbClr val="006FC0"/>
                </a:solidFill>
              </a:rPr>
              <a:t>Detection</a:t>
            </a:r>
            <a:r>
              <a:rPr dirty="0" u="none" sz="2750" spc="90">
                <a:solidFill>
                  <a:srgbClr val="006FC0"/>
                </a:solidFill>
              </a:rPr>
              <a:t> </a:t>
            </a:r>
            <a:r>
              <a:rPr dirty="0" u="none" sz="2750">
                <a:solidFill>
                  <a:srgbClr val="006FC0"/>
                </a:solidFill>
              </a:rPr>
              <a:t>using</a:t>
            </a:r>
            <a:r>
              <a:rPr dirty="0" u="none" sz="2750" spc="-105">
                <a:solidFill>
                  <a:srgbClr val="006FC0"/>
                </a:solidFill>
              </a:rPr>
              <a:t> </a:t>
            </a:r>
            <a:r>
              <a:rPr dirty="0" u="none" sz="2750">
                <a:solidFill>
                  <a:srgbClr val="006FC0"/>
                </a:solidFill>
              </a:rPr>
              <a:t>Arduino</a:t>
            </a:r>
            <a:r>
              <a:rPr dirty="0" u="none" sz="2750" spc="150">
                <a:solidFill>
                  <a:srgbClr val="006FC0"/>
                </a:solidFill>
              </a:rPr>
              <a:t> </a:t>
            </a:r>
            <a:r>
              <a:rPr dirty="0" u="none" sz="2750" spc="-25">
                <a:solidFill>
                  <a:srgbClr val="006FC0"/>
                </a:solidFill>
              </a:rPr>
              <a:t>Uno</a:t>
            </a:r>
            <a:endParaRPr sz="2750"/>
          </a:p>
        </p:txBody>
      </p:sp>
      <p:sp>
        <p:nvSpPr>
          <p:cNvPr id="3" name="object 3"/>
          <p:cNvSpPr txBox="1"/>
          <p:nvPr/>
        </p:nvSpPr>
        <p:spPr>
          <a:xfrm>
            <a:off x="603567" y="3606863"/>
            <a:ext cx="2557780" cy="14065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645795">
              <a:lnSpc>
                <a:spcPct val="122900"/>
              </a:lnSpc>
              <a:spcBef>
                <a:spcPts val="90"/>
              </a:spcBef>
            </a:pPr>
            <a:r>
              <a:rPr dirty="0" sz="2750">
                <a:solidFill>
                  <a:srgbClr val="00AF50"/>
                </a:solidFill>
                <a:latin typeface="Times New Roman"/>
                <a:cs typeface="Times New Roman"/>
              </a:rPr>
              <a:t>Group</a:t>
            </a:r>
            <a:r>
              <a:rPr dirty="0" sz="2750" spc="125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750" spc="-20">
                <a:solidFill>
                  <a:srgbClr val="00AF50"/>
                </a:solidFill>
                <a:latin typeface="Times New Roman"/>
                <a:cs typeface="Times New Roman"/>
              </a:rPr>
              <a:t>No:13 </a:t>
            </a:r>
            <a:r>
              <a:rPr dirty="0" sz="2750" spc="-10">
                <a:solidFill>
                  <a:srgbClr val="C00000"/>
                </a:solidFill>
                <a:latin typeface="Times New Roman"/>
                <a:cs typeface="Times New Roman"/>
              </a:rPr>
              <a:t>Members:</a:t>
            </a:r>
            <a:endParaRPr sz="2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1550">
                <a:solidFill>
                  <a:srgbClr val="C00000"/>
                </a:solidFill>
                <a:latin typeface="Times New Roman"/>
                <a:cs typeface="Times New Roman"/>
              </a:rPr>
              <a:t>ASHIK</a:t>
            </a:r>
            <a:r>
              <a:rPr dirty="0" sz="1550" spc="105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1550" spc="-10">
                <a:solidFill>
                  <a:srgbClr val="C00000"/>
                </a:solidFill>
                <a:latin typeface="Times New Roman"/>
                <a:cs typeface="Times New Roman"/>
              </a:rPr>
              <a:t>BENNY-JEC24CC024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3567" y="4988115"/>
            <a:ext cx="3350260" cy="140843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>
              <a:lnSpc>
                <a:spcPct val="146700"/>
              </a:lnSpc>
              <a:spcBef>
                <a:spcPts val="65"/>
              </a:spcBef>
            </a:pPr>
            <a:r>
              <a:rPr dirty="0" sz="1550">
                <a:solidFill>
                  <a:srgbClr val="C00000"/>
                </a:solidFill>
                <a:latin typeface="Times New Roman"/>
                <a:cs typeface="Times New Roman"/>
              </a:rPr>
              <a:t>FATHIMA</a:t>
            </a:r>
            <a:r>
              <a:rPr dirty="0" sz="1550" spc="245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C00000"/>
                </a:solidFill>
                <a:latin typeface="Times New Roman"/>
                <a:cs typeface="Times New Roman"/>
              </a:rPr>
              <a:t>SHADIYA</a:t>
            </a:r>
            <a:r>
              <a:rPr dirty="0" sz="1550" spc="185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1550" spc="55">
                <a:solidFill>
                  <a:srgbClr val="C00000"/>
                </a:solidFill>
                <a:latin typeface="Times New Roman"/>
                <a:cs typeface="Times New Roman"/>
              </a:rPr>
              <a:t>M-</a:t>
            </a:r>
            <a:r>
              <a:rPr dirty="0" sz="1550" spc="-10">
                <a:solidFill>
                  <a:srgbClr val="C00000"/>
                </a:solidFill>
                <a:latin typeface="Times New Roman"/>
                <a:cs typeface="Times New Roman"/>
              </a:rPr>
              <a:t>JEC24CC030 </a:t>
            </a:r>
            <a:r>
              <a:rPr dirty="0" sz="1550">
                <a:solidFill>
                  <a:srgbClr val="C00000"/>
                </a:solidFill>
                <a:latin typeface="Times New Roman"/>
                <a:cs typeface="Times New Roman"/>
              </a:rPr>
              <a:t>KISHAN</a:t>
            </a:r>
            <a:r>
              <a:rPr dirty="0" sz="1550" spc="19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C00000"/>
                </a:solidFill>
                <a:latin typeface="Times New Roman"/>
                <a:cs typeface="Times New Roman"/>
              </a:rPr>
              <a:t>US-</a:t>
            </a:r>
            <a:r>
              <a:rPr dirty="0" sz="1550" spc="-10">
                <a:solidFill>
                  <a:srgbClr val="C00000"/>
                </a:solidFill>
                <a:latin typeface="Times New Roman"/>
                <a:cs typeface="Times New Roman"/>
              </a:rPr>
              <a:t>JEC24CC042 </a:t>
            </a:r>
            <a:r>
              <a:rPr dirty="0" sz="1550">
                <a:solidFill>
                  <a:srgbClr val="C00000"/>
                </a:solidFill>
                <a:latin typeface="Times New Roman"/>
                <a:cs typeface="Times New Roman"/>
              </a:rPr>
              <a:t>PARIKSHITH</a:t>
            </a:r>
            <a:r>
              <a:rPr dirty="0" sz="1550" spc="195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C00000"/>
                </a:solidFill>
                <a:latin typeface="Times New Roman"/>
                <a:cs typeface="Times New Roman"/>
              </a:rPr>
              <a:t>SUSHIL-</a:t>
            </a:r>
            <a:r>
              <a:rPr dirty="0" sz="1550" spc="-10">
                <a:solidFill>
                  <a:srgbClr val="C00000"/>
                </a:solidFill>
                <a:latin typeface="Times New Roman"/>
                <a:cs typeface="Times New Roman"/>
              </a:rPr>
              <a:t>JEC24CC048 </a:t>
            </a:r>
            <a:r>
              <a:rPr dirty="0" sz="1550">
                <a:solidFill>
                  <a:srgbClr val="C00000"/>
                </a:solidFill>
                <a:latin typeface="Times New Roman"/>
                <a:cs typeface="Times New Roman"/>
              </a:rPr>
              <a:t>SRUTHI</a:t>
            </a:r>
            <a:r>
              <a:rPr dirty="0" sz="1550" spc="16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1550">
                <a:solidFill>
                  <a:srgbClr val="C00000"/>
                </a:solidFill>
                <a:latin typeface="Times New Roman"/>
                <a:cs typeface="Times New Roman"/>
              </a:rPr>
              <a:t>R-</a:t>
            </a:r>
            <a:r>
              <a:rPr dirty="0" sz="1550" spc="-10">
                <a:solidFill>
                  <a:srgbClr val="C00000"/>
                </a:solidFill>
                <a:latin typeface="Times New Roman"/>
                <a:cs typeface="Times New Roman"/>
              </a:rPr>
              <a:t>JEC24CC057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39404" y="5113254"/>
            <a:ext cx="3227705" cy="1056640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2750" b="1">
                <a:solidFill>
                  <a:srgbClr val="171717"/>
                </a:solidFill>
                <a:latin typeface="Times New Roman"/>
                <a:cs typeface="Times New Roman"/>
              </a:rPr>
              <a:t>Project</a:t>
            </a:r>
            <a:r>
              <a:rPr dirty="0" sz="2750" spc="70" b="1">
                <a:solidFill>
                  <a:srgbClr val="171717"/>
                </a:solidFill>
                <a:latin typeface="Times New Roman"/>
                <a:cs typeface="Times New Roman"/>
              </a:rPr>
              <a:t> </a:t>
            </a:r>
            <a:r>
              <a:rPr dirty="0" sz="2750" spc="-10" b="1">
                <a:solidFill>
                  <a:srgbClr val="171717"/>
                </a:solidFill>
                <a:latin typeface="Times New Roman"/>
                <a:cs typeface="Times New Roman"/>
              </a:rPr>
              <a:t>Coordinator:</a:t>
            </a:r>
            <a:endParaRPr sz="2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2750">
                <a:solidFill>
                  <a:srgbClr val="171717"/>
                </a:solidFill>
                <a:latin typeface="Times New Roman"/>
                <a:cs typeface="Times New Roman"/>
              </a:rPr>
              <a:t>Ms.Sagna</a:t>
            </a:r>
            <a:r>
              <a:rPr dirty="0" sz="2750" spc="85">
                <a:solidFill>
                  <a:srgbClr val="171717"/>
                </a:solidFill>
                <a:latin typeface="Times New Roman"/>
                <a:cs typeface="Times New Roman"/>
              </a:rPr>
              <a:t> </a:t>
            </a:r>
            <a:r>
              <a:rPr dirty="0" sz="2750">
                <a:solidFill>
                  <a:srgbClr val="171717"/>
                </a:solidFill>
                <a:latin typeface="Times New Roman"/>
                <a:cs typeface="Times New Roman"/>
              </a:rPr>
              <a:t>L</a:t>
            </a:r>
            <a:r>
              <a:rPr dirty="0" sz="2750" spc="-75">
                <a:solidFill>
                  <a:srgbClr val="171717"/>
                </a:solidFill>
                <a:latin typeface="Times New Roman"/>
                <a:cs typeface="Times New Roman"/>
              </a:rPr>
              <a:t> </a:t>
            </a:r>
            <a:r>
              <a:rPr dirty="0" sz="2750" spc="-50">
                <a:solidFill>
                  <a:srgbClr val="171717"/>
                </a:solidFill>
                <a:latin typeface="Times New Roman"/>
                <a:cs typeface="Times New Roman"/>
              </a:rPr>
              <a:t>T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92826" y="6434454"/>
            <a:ext cx="10134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Dept</a:t>
            </a:r>
            <a:r>
              <a:rPr dirty="0" sz="1200" spc="-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Of</a:t>
            </a:r>
            <a:r>
              <a:rPr dirty="0" sz="1200" spc="-4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88888"/>
                </a:solidFill>
                <a:latin typeface="Calibri"/>
                <a:cs typeface="Calibri"/>
              </a:rPr>
              <a:t>CSE(CY)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39404" y="6226492"/>
            <a:ext cx="3006090" cy="4489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50">
                <a:solidFill>
                  <a:srgbClr val="171717"/>
                </a:solidFill>
                <a:latin typeface="Times New Roman"/>
                <a:cs typeface="Times New Roman"/>
              </a:rPr>
              <a:t>Asst.</a:t>
            </a:r>
            <a:r>
              <a:rPr dirty="0" sz="2750" spc="105">
                <a:solidFill>
                  <a:srgbClr val="171717"/>
                </a:solidFill>
                <a:latin typeface="Times New Roman"/>
                <a:cs typeface="Times New Roman"/>
              </a:rPr>
              <a:t> </a:t>
            </a:r>
            <a:r>
              <a:rPr dirty="0" sz="2750">
                <a:solidFill>
                  <a:srgbClr val="171717"/>
                </a:solidFill>
                <a:latin typeface="Times New Roman"/>
                <a:cs typeface="Times New Roman"/>
              </a:rPr>
              <a:t>Prof.</a:t>
            </a:r>
            <a:r>
              <a:rPr dirty="0" sz="2750" spc="30">
                <a:solidFill>
                  <a:srgbClr val="171717"/>
                </a:solidFill>
                <a:latin typeface="Times New Roman"/>
                <a:cs typeface="Times New Roman"/>
              </a:rPr>
              <a:t> </a:t>
            </a:r>
            <a:r>
              <a:rPr dirty="0" sz="2750" spc="-10">
                <a:solidFill>
                  <a:srgbClr val="171717"/>
                </a:solidFill>
                <a:latin typeface="Times New Roman"/>
                <a:cs typeface="Times New Roman"/>
              </a:rPr>
              <a:t>CSE(CY)</a:t>
            </a:r>
            <a:endParaRPr sz="2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28038" y="2057336"/>
            <a:ext cx="9939020" cy="44894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none" sz="2750" spc="-10">
                <a:solidFill>
                  <a:srgbClr val="000000"/>
                </a:solidFill>
              </a:rPr>
              <a:t>DEPARTMENT</a:t>
            </a:r>
            <a:r>
              <a:rPr dirty="0" u="none" sz="2750" spc="25">
                <a:solidFill>
                  <a:srgbClr val="000000"/>
                </a:solidFill>
              </a:rPr>
              <a:t> </a:t>
            </a:r>
            <a:r>
              <a:rPr dirty="0" u="none" sz="2750">
                <a:solidFill>
                  <a:srgbClr val="000000"/>
                </a:solidFill>
              </a:rPr>
              <a:t>OF</a:t>
            </a:r>
            <a:r>
              <a:rPr dirty="0" u="none" sz="2750" spc="-45">
                <a:solidFill>
                  <a:srgbClr val="000000"/>
                </a:solidFill>
              </a:rPr>
              <a:t> </a:t>
            </a:r>
            <a:r>
              <a:rPr dirty="0" u="none" sz="2750">
                <a:solidFill>
                  <a:srgbClr val="000000"/>
                </a:solidFill>
              </a:rPr>
              <a:t>COMPUTER</a:t>
            </a:r>
            <a:r>
              <a:rPr dirty="0" u="none" sz="2750" spc="100">
                <a:solidFill>
                  <a:srgbClr val="000000"/>
                </a:solidFill>
              </a:rPr>
              <a:t> </a:t>
            </a:r>
            <a:r>
              <a:rPr dirty="0" u="none" sz="2750">
                <a:solidFill>
                  <a:srgbClr val="000000"/>
                </a:solidFill>
              </a:rPr>
              <a:t>SCIENCE</a:t>
            </a:r>
            <a:r>
              <a:rPr dirty="0" u="none" sz="2750" spc="30">
                <a:solidFill>
                  <a:srgbClr val="000000"/>
                </a:solidFill>
              </a:rPr>
              <a:t> </a:t>
            </a:r>
            <a:r>
              <a:rPr dirty="0" u="none" sz="2750">
                <a:solidFill>
                  <a:srgbClr val="000000"/>
                </a:solidFill>
              </a:rPr>
              <a:t>&amp;</a:t>
            </a:r>
            <a:r>
              <a:rPr dirty="0" u="none" sz="2750" spc="90">
                <a:solidFill>
                  <a:srgbClr val="000000"/>
                </a:solidFill>
              </a:rPr>
              <a:t> </a:t>
            </a:r>
            <a:r>
              <a:rPr dirty="0" u="none" sz="2750" spc="-10">
                <a:solidFill>
                  <a:srgbClr val="000000"/>
                </a:solidFill>
              </a:rPr>
              <a:t>ENGINEERING</a:t>
            </a:r>
            <a:endParaRPr sz="2750"/>
          </a:p>
        </p:txBody>
      </p:sp>
      <p:sp>
        <p:nvSpPr>
          <p:cNvPr id="3" name="object 3"/>
          <p:cNvSpPr txBox="1"/>
          <p:nvPr/>
        </p:nvSpPr>
        <p:spPr>
          <a:xfrm>
            <a:off x="953452" y="2363649"/>
            <a:ext cx="10693400" cy="2613025"/>
          </a:xfrm>
          <a:prstGeom prst="rect">
            <a:avLst/>
          </a:prstGeom>
        </p:spPr>
        <p:txBody>
          <a:bodyPr wrap="square" lIns="0" tIns="224790" rIns="0" bIns="0" rtlCol="0" vert="horz">
            <a:spAutoFit/>
          </a:bodyPr>
          <a:lstStyle/>
          <a:p>
            <a:pPr algn="ctr" marL="6350">
              <a:lnSpc>
                <a:spcPct val="100000"/>
              </a:lnSpc>
              <a:spcBef>
                <a:spcPts val="1770"/>
              </a:spcBef>
            </a:pPr>
            <a:r>
              <a:rPr dirty="0" sz="2750" b="1">
                <a:latin typeface="Times New Roman"/>
                <a:cs typeface="Times New Roman"/>
              </a:rPr>
              <a:t>(Cyber</a:t>
            </a:r>
            <a:r>
              <a:rPr dirty="0" sz="2750" spc="75" b="1">
                <a:latin typeface="Times New Roman"/>
                <a:cs typeface="Times New Roman"/>
              </a:rPr>
              <a:t> </a:t>
            </a:r>
            <a:r>
              <a:rPr dirty="0" sz="2750" spc="-10" b="1">
                <a:latin typeface="Times New Roman"/>
                <a:cs typeface="Times New Roman"/>
              </a:rPr>
              <a:t>Security)</a:t>
            </a:r>
            <a:endParaRPr sz="2750">
              <a:latin typeface="Times New Roman"/>
              <a:cs typeface="Times New Roman"/>
            </a:endParaRPr>
          </a:p>
          <a:p>
            <a:pPr algn="ctr" marL="96520">
              <a:lnSpc>
                <a:spcPct val="100000"/>
              </a:lnSpc>
              <a:spcBef>
                <a:spcPts val="1255"/>
              </a:spcBef>
            </a:pPr>
            <a:r>
              <a:rPr dirty="0" sz="2100" b="1">
                <a:latin typeface="Times New Roman"/>
                <a:cs typeface="Times New Roman"/>
              </a:rPr>
              <a:t>Vision</a:t>
            </a:r>
            <a:r>
              <a:rPr dirty="0" sz="2100" spc="-75" b="1">
                <a:latin typeface="Times New Roman"/>
                <a:cs typeface="Times New Roman"/>
              </a:rPr>
              <a:t> </a:t>
            </a:r>
            <a:r>
              <a:rPr dirty="0" sz="2100" b="1">
                <a:latin typeface="Times New Roman"/>
                <a:cs typeface="Times New Roman"/>
              </a:rPr>
              <a:t>of</a:t>
            </a:r>
            <a:r>
              <a:rPr dirty="0" sz="2100" spc="-50" b="1">
                <a:latin typeface="Times New Roman"/>
                <a:cs typeface="Times New Roman"/>
              </a:rPr>
              <a:t> </a:t>
            </a:r>
            <a:r>
              <a:rPr dirty="0" sz="2100" b="1">
                <a:latin typeface="Times New Roman"/>
                <a:cs typeface="Times New Roman"/>
              </a:rPr>
              <a:t>the</a:t>
            </a:r>
            <a:r>
              <a:rPr dirty="0" sz="2100" spc="10" b="1">
                <a:latin typeface="Times New Roman"/>
                <a:cs typeface="Times New Roman"/>
              </a:rPr>
              <a:t> </a:t>
            </a:r>
            <a:r>
              <a:rPr dirty="0" sz="2100" spc="-10" b="1">
                <a:latin typeface="Times New Roman"/>
                <a:cs typeface="Times New Roman"/>
              </a:rPr>
              <a:t>Department</a:t>
            </a:r>
            <a:endParaRPr sz="2100">
              <a:latin typeface="Times New Roman"/>
              <a:cs typeface="Times New Roman"/>
            </a:endParaRPr>
          </a:p>
          <a:p>
            <a:pPr algn="ctr" marL="12700" marR="5080">
              <a:lnSpc>
                <a:spcPct val="150200"/>
              </a:lnSpc>
              <a:spcBef>
                <a:spcPts val="805"/>
              </a:spcBef>
            </a:pPr>
            <a:r>
              <a:rPr dirty="0" sz="2000" spc="-65">
                <a:latin typeface="Times New Roman"/>
                <a:cs typeface="Times New Roman"/>
              </a:rPr>
              <a:t>To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globally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recognized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centre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excellence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Cyber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Security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education,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research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innovation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by </a:t>
            </a:r>
            <a:r>
              <a:rPr dirty="0" sz="2000">
                <a:latin typeface="Times New Roman"/>
                <a:cs typeface="Times New Roman"/>
              </a:rPr>
              <a:t>nurturing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ethical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professionals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,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fostering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technological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advancement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through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responsible</a:t>
            </a:r>
            <a:r>
              <a:rPr dirty="0" sz="2000" spc="-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practice</a:t>
            </a:r>
            <a:r>
              <a:rPr dirty="0" sz="2000" spc="-9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and </a:t>
            </a:r>
            <a:r>
              <a:rPr dirty="0" sz="2000">
                <a:latin typeface="Times New Roman"/>
                <a:cs typeface="Times New Roman"/>
              </a:rPr>
              <a:t>contributing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secure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sustainable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digital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society.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Dept</a:t>
            </a:r>
            <a:r>
              <a:rPr dirty="0" spc="-5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10"/>
              <a:t>CSE(CY)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0" y="361950"/>
            <a:ext cx="10546692" cy="1713362"/>
          </a:xfrm>
          <a:prstGeom prst="rect">
            <a:avLst/>
          </a:prstGeom>
        </p:spPr>
      </p:pic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73835" y="2113343"/>
            <a:ext cx="9258935" cy="1360805"/>
          </a:xfrm>
          <a:prstGeom prst="rect"/>
        </p:spPr>
        <p:txBody>
          <a:bodyPr wrap="square" lIns="0" tIns="641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u="none" sz="2600" spc="-30">
                <a:solidFill>
                  <a:srgbClr val="000000"/>
                </a:solidFill>
              </a:rPr>
              <a:t>DEPARTMENT</a:t>
            </a:r>
            <a:r>
              <a:rPr dirty="0" u="none" sz="2600" spc="-110">
                <a:solidFill>
                  <a:srgbClr val="000000"/>
                </a:solidFill>
              </a:rPr>
              <a:t> </a:t>
            </a:r>
            <a:r>
              <a:rPr dirty="0" u="none" sz="2600">
                <a:solidFill>
                  <a:srgbClr val="000000"/>
                </a:solidFill>
              </a:rPr>
              <a:t>OF</a:t>
            </a:r>
            <a:r>
              <a:rPr dirty="0" u="none" sz="2600" spc="-165">
                <a:solidFill>
                  <a:srgbClr val="000000"/>
                </a:solidFill>
              </a:rPr>
              <a:t> </a:t>
            </a:r>
            <a:r>
              <a:rPr dirty="0" u="none" sz="2600">
                <a:solidFill>
                  <a:srgbClr val="000000"/>
                </a:solidFill>
              </a:rPr>
              <a:t>COMPUTER</a:t>
            </a:r>
            <a:r>
              <a:rPr dirty="0" u="none" sz="2600" spc="-20">
                <a:solidFill>
                  <a:srgbClr val="000000"/>
                </a:solidFill>
              </a:rPr>
              <a:t> </a:t>
            </a:r>
            <a:r>
              <a:rPr dirty="0" u="none" sz="2600">
                <a:solidFill>
                  <a:srgbClr val="000000"/>
                </a:solidFill>
              </a:rPr>
              <a:t>SCIENCE</a:t>
            </a:r>
            <a:r>
              <a:rPr dirty="0" u="none" sz="2600" spc="-25">
                <a:solidFill>
                  <a:srgbClr val="000000"/>
                </a:solidFill>
              </a:rPr>
              <a:t> </a:t>
            </a:r>
            <a:r>
              <a:rPr dirty="0" u="none" sz="2600">
                <a:solidFill>
                  <a:srgbClr val="000000"/>
                </a:solidFill>
              </a:rPr>
              <a:t>&amp;</a:t>
            </a:r>
            <a:r>
              <a:rPr dirty="0" u="none" sz="2600" spc="-85">
                <a:solidFill>
                  <a:srgbClr val="000000"/>
                </a:solidFill>
              </a:rPr>
              <a:t> </a:t>
            </a:r>
            <a:r>
              <a:rPr dirty="0" u="none" sz="2600" spc="-10">
                <a:solidFill>
                  <a:srgbClr val="000000"/>
                </a:solidFill>
              </a:rPr>
              <a:t>ENGINEERING</a:t>
            </a:r>
            <a:endParaRPr sz="2600"/>
          </a:p>
          <a:p>
            <a:pPr marL="2778125" marR="2700655" indent="672465">
              <a:lnSpc>
                <a:spcPct val="110700"/>
              </a:lnSpc>
              <a:spcBef>
                <a:spcPts val="75"/>
              </a:spcBef>
            </a:pPr>
            <a:r>
              <a:rPr dirty="0" u="none" sz="2600">
                <a:solidFill>
                  <a:srgbClr val="000000"/>
                </a:solidFill>
              </a:rPr>
              <a:t>(Cyber</a:t>
            </a:r>
            <a:r>
              <a:rPr dirty="0" u="none" sz="2600" spc="-90">
                <a:solidFill>
                  <a:srgbClr val="000000"/>
                </a:solidFill>
              </a:rPr>
              <a:t> </a:t>
            </a:r>
            <a:r>
              <a:rPr dirty="0" u="none" sz="2600" spc="-10">
                <a:solidFill>
                  <a:srgbClr val="000000"/>
                </a:solidFill>
              </a:rPr>
              <a:t>Security) </a:t>
            </a:r>
            <a:r>
              <a:rPr dirty="0" u="none" sz="2600">
                <a:solidFill>
                  <a:srgbClr val="000000"/>
                </a:solidFill>
              </a:rPr>
              <a:t>Mission</a:t>
            </a:r>
            <a:r>
              <a:rPr dirty="0" u="none" sz="2600" spc="-20">
                <a:solidFill>
                  <a:srgbClr val="000000"/>
                </a:solidFill>
              </a:rPr>
              <a:t> </a:t>
            </a:r>
            <a:r>
              <a:rPr dirty="0" u="none" sz="2600">
                <a:solidFill>
                  <a:srgbClr val="000000"/>
                </a:solidFill>
              </a:rPr>
              <a:t>of</a:t>
            </a:r>
            <a:r>
              <a:rPr dirty="0" u="none" sz="2600" spc="-25">
                <a:solidFill>
                  <a:srgbClr val="000000"/>
                </a:solidFill>
              </a:rPr>
              <a:t> </a:t>
            </a:r>
            <a:r>
              <a:rPr dirty="0" u="none" sz="2600">
                <a:solidFill>
                  <a:srgbClr val="000000"/>
                </a:solidFill>
              </a:rPr>
              <a:t>the</a:t>
            </a:r>
            <a:r>
              <a:rPr dirty="0" u="none" sz="2600" spc="-20">
                <a:solidFill>
                  <a:srgbClr val="000000"/>
                </a:solidFill>
              </a:rPr>
              <a:t> </a:t>
            </a:r>
            <a:r>
              <a:rPr dirty="0" u="none" sz="2600" spc="-10">
                <a:solidFill>
                  <a:srgbClr val="000000"/>
                </a:solidFill>
              </a:rPr>
              <a:t>Department</a:t>
            </a:r>
            <a:endParaRPr sz="2600"/>
          </a:p>
        </p:txBody>
      </p:sp>
      <p:sp>
        <p:nvSpPr>
          <p:cNvPr id="3" name="object 3"/>
          <p:cNvSpPr txBox="1"/>
          <p:nvPr/>
        </p:nvSpPr>
        <p:spPr>
          <a:xfrm>
            <a:off x="917575" y="3543871"/>
            <a:ext cx="10370185" cy="2587625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241300" marR="5715" indent="-229235">
              <a:lnSpc>
                <a:spcPct val="77400"/>
              </a:lnSpc>
              <a:spcBef>
                <a:spcPts val="58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700" b="1">
                <a:latin typeface="Times New Roman"/>
                <a:cs typeface="Times New Roman"/>
              </a:rPr>
              <a:t>M1:</a:t>
            </a:r>
            <a:r>
              <a:rPr dirty="0" sz="1700" spc="265" b="1">
                <a:latin typeface="Times New Roman"/>
                <a:cs typeface="Times New Roman"/>
              </a:rPr>
              <a:t> </a:t>
            </a:r>
            <a:r>
              <a:rPr dirty="0" sz="1700" b="1">
                <a:latin typeface="Times New Roman"/>
                <a:cs typeface="Times New Roman"/>
              </a:rPr>
              <a:t>Excellence</a:t>
            </a:r>
            <a:r>
              <a:rPr dirty="0" sz="1700" spc="260" b="1">
                <a:latin typeface="Times New Roman"/>
                <a:cs typeface="Times New Roman"/>
              </a:rPr>
              <a:t> </a:t>
            </a:r>
            <a:r>
              <a:rPr dirty="0" sz="1700" b="1">
                <a:latin typeface="Times New Roman"/>
                <a:cs typeface="Times New Roman"/>
              </a:rPr>
              <a:t>in</a:t>
            </a:r>
            <a:r>
              <a:rPr dirty="0" sz="1700" spc="290" b="1">
                <a:latin typeface="Times New Roman"/>
                <a:cs typeface="Times New Roman"/>
              </a:rPr>
              <a:t> </a:t>
            </a:r>
            <a:r>
              <a:rPr dirty="0" sz="1700" b="1">
                <a:latin typeface="Times New Roman"/>
                <a:cs typeface="Times New Roman"/>
              </a:rPr>
              <a:t>Education</a:t>
            </a:r>
            <a:r>
              <a:rPr dirty="0" sz="1700" spc="275" b="1">
                <a:latin typeface="Times New Roman"/>
                <a:cs typeface="Times New Roman"/>
              </a:rPr>
              <a:t> </a:t>
            </a:r>
            <a:r>
              <a:rPr dirty="0" sz="1700" b="1">
                <a:latin typeface="Arial"/>
                <a:cs typeface="Arial"/>
              </a:rPr>
              <a:t>:</a:t>
            </a:r>
            <a:r>
              <a:rPr dirty="0" sz="1700" spc="220" b="1">
                <a:latin typeface="Arial"/>
                <a:cs typeface="Arial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To</a:t>
            </a:r>
            <a:r>
              <a:rPr dirty="0" sz="1700" spc="28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provide</a:t>
            </a:r>
            <a:r>
              <a:rPr dirty="0" sz="1700" spc="27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outcome-</a:t>
            </a:r>
            <a:r>
              <a:rPr dirty="0" sz="1700">
                <a:latin typeface="Times New Roman"/>
                <a:cs typeface="Times New Roman"/>
              </a:rPr>
              <a:t>based</a:t>
            </a:r>
            <a:r>
              <a:rPr dirty="0" sz="1700" spc="28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29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industry-</a:t>
            </a:r>
            <a:r>
              <a:rPr dirty="0" sz="1700">
                <a:latin typeface="Times New Roman"/>
                <a:cs typeface="Times New Roman"/>
              </a:rPr>
              <a:t>oriented</a:t>
            </a:r>
            <a:r>
              <a:rPr dirty="0" sz="1700" spc="26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education</a:t>
            </a:r>
            <a:r>
              <a:rPr dirty="0" sz="1700" spc="229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by</a:t>
            </a:r>
            <a:r>
              <a:rPr dirty="0" sz="1700" spc="29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integrating</a:t>
            </a:r>
            <a:r>
              <a:rPr dirty="0" sz="1700" spc="265">
                <a:latin typeface="Times New Roman"/>
                <a:cs typeface="Times New Roman"/>
              </a:rPr>
              <a:t> </a:t>
            </a:r>
            <a:r>
              <a:rPr dirty="0" sz="1700" spc="-20">
                <a:latin typeface="Times New Roman"/>
                <a:cs typeface="Times New Roman"/>
              </a:rPr>
              <a:t>core </a:t>
            </a:r>
            <a:r>
              <a:rPr dirty="0" sz="1700">
                <a:latin typeface="Times New Roman"/>
                <a:cs typeface="Times New Roman"/>
              </a:rPr>
              <a:t>computer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science</a:t>
            </a:r>
            <a:r>
              <a:rPr dirty="0" sz="1700" spc="-7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principles</a:t>
            </a:r>
            <a:r>
              <a:rPr dirty="0" sz="1700" spc="-6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with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advanced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cybersecurity</a:t>
            </a:r>
            <a:r>
              <a:rPr dirty="0" sz="1700" spc="-6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technologies</a:t>
            </a:r>
            <a:r>
              <a:rPr dirty="0" sz="1700" spc="-5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practices.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5"/>
              </a:spcBef>
              <a:buFont typeface="Arial MT"/>
              <a:buChar char="•"/>
            </a:pPr>
            <a:endParaRPr sz="1700">
              <a:latin typeface="Times New Roman"/>
              <a:cs typeface="Times New Roman"/>
            </a:endParaRPr>
          </a:p>
          <a:p>
            <a:pPr marL="241300" marR="5080" indent="-229235">
              <a:lnSpc>
                <a:spcPts val="1650"/>
              </a:lnSpc>
              <a:buFont typeface="Arial MT"/>
              <a:buChar char="•"/>
              <a:tabLst>
                <a:tab pos="241300" algn="l"/>
              </a:tabLst>
            </a:pPr>
            <a:r>
              <a:rPr dirty="0" sz="1700" b="1">
                <a:latin typeface="Times New Roman"/>
                <a:cs typeface="Times New Roman"/>
              </a:rPr>
              <a:t>M2:</a:t>
            </a:r>
            <a:r>
              <a:rPr dirty="0" sz="1700" spc="-30" b="1">
                <a:latin typeface="Times New Roman"/>
                <a:cs typeface="Times New Roman"/>
              </a:rPr>
              <a:t> </a:t>
            </a:r>
            <a:r>
              <a:rPr dirty="0" sz="1700" b="1">
                <a:latin typeface="Times New Roman"/>
                <a:cs typeface="Times New Roman"/>
              </a:rPr>
              <a:t>Ethics</a:t>
            </a:r>
            <a:r>
              <a:rPr dirty="0" sz="1700" spc="-40" b="1">
                <a:latin typeface="Times New Roman"/>
                <a:cs typeface="Times New Roman"/>
              </a:rPr>
              <a:t> </a:t>
            </a:r>
            <a:r>
              <a:rPr dirty="0" sz="1700" b="1">
                <a:latin typeface="Times New Roman"/>
                <a:cs typeface="Times New Roman"/>
              </a:rPr>
              <a:t>and</a:t>
            </a:r>
            <a:r>
              <a:rPr dirty="0" sz="1700" spc="-25" b="1">
                <a:latin typeface="Times New Roman"/>
                <a:cs typeface="Times New Roman"/>
              </a:rPr>
              <a:t> </a:t>
            </a:r>
            <a:r>
              <a:rPr dirty="0" sz="1700" b="1">
                <a:latin typeface="Times New Roman"/>
                <a:cs typeface="Times New Roman"/>
              </a:rPr>
              <a:t>Professional</a:t>
            </a:r>
            <a:r>
              <a:rPr dirty="0" sz="1700" spc="-55" b="1">
                <a:latin typeface="Times New Roman"/>
                <a:cs typeface="Times New Roman"/>
              </a:rPr>
              <a:t> </a:t>
            </a:r>
            <a:r>
              <a:rPr dirty="0" sz="1700" b="1">
                <a:latin typeface="Times New Roman"/>
                <a:cs typeface="Times New Roman"/>
              </a:rPr>
              <a:t>Responsibility :</a:t>
            </a:r>
            <a:r>
              <a:rPr dirty="0" sz="1700" spc="-25" b="1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To </a:t>
            </a:r>
            <a:r>
              <a:rPr dirty="0" sz="1700">
                <a:latin typeface="Times New Roman"/>
                <a:cs typeface="Times New Roman"/>
              </a:rPr>
              <a:t>cultivate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ethical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values,</a:t>
            </a:r>
            <a:r>
              <a:rPr dirty="0" sz="1700" spc="-4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integrity,</a:t>
            </a:r>
            <a:r>
              <a:rPr dirty="0" sz="1700" spc="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social</a:t>
            </a:r>
            <a:r>
              <a:rPr dirty="0" sz="1700" spc="-4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responsibility,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secure </a:t>
            </a:r>
            <a:r>
              <a:rPr dirty="0" sz="1700">
                <a:latin typeface="Times New Roman"/>
                <a:cs typeface="Times New Roman"/>
              </a:rPr>
              <a:t>computing</a:t>
            </a:r>
            <a:r>
              <a:rPr dirty="0" sz="1700" spc="-4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practices</a:t>
            </a:r>
            <a:r>
              <a:rPr dirty="0" sz="1700" spc="-5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for</a:t>
            </a:r>
            <a:r>
              <a:rPr dirty="0" sz="1700" spc="-4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protecting</a:t>
            </a:r>
            <a:r>
              <a:rPr dirty="0" sz="1700" spc="-6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digital</a:t>
            </a:r>
            <a:r>
              <a:rPr dirty="0" sz="1700" spc="-4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assets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strengthening</a:t>
            </a:r>
            <a:r>
              <a:rPr dirty="0" sz="1700" spc="-2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cyber</a:t>
            </a:r>
            <a:r>
              <a:rPr dirty="0" sz="1700" spc="-5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trust.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9"/>
              </a:spcBef>
              <a:buFont typeface="Arial MT"/>
              <a:buChar char="•"/>
            </a:pPr>
            <a:endParaRPr sz="1700">
              <a:latin typeface="Times New Roman"/>
              <a:cs typeface="Times New Roman"/>
            </a:endParaRPr>
          </a:p>
          <a:p>
            <a:pPr marL="241300" marR="12065" indent="-229235">
              <a:lnSpc>
                <a:spcPts val="1650"/>
              </a:lnSpc>
              <a:buFont typeface="Arial MT"/>
              <a:buChar char="•"/>
              <a:tabLst>
                <a:tab pos="241300" algn="l"/>
              </a:tabLst>
            </a:pPr>
            <a:r>
              <a:rPr dirty="0" sz="1700" b="1">
                <a:latin typeface="Times New Roman"/>
                <a:cs typeface="Times New Roman"/>
              </a:rPr>
              <a:t>M3:</a:t>
            </a:r>
            <a:r>
              <a:rPr dirty="0" sz="1700" spc="-45" b="1">
                <a:latin typeface="Times New Roman"/>
                <a:cs typeface="Times New Roman"/>
              </a:rPr>
              <a:t> </a:t>
            </a:r>
            <a:r>
              <a:rPr dirty="0" sz="1700" b="1">
                <a:latin typeface="Times New Roman"/>
                <a:cs typeface="Times New Roman"/>
              </a:rPr>
              <a:t>Research,</a:t>
            </a:r>
            <a:r>
              <a:rPr dirty="0" sz="1700" spc="-50" b="1">
                <a:latin typeface="Times New Roman"/>
                <a:cs typeface="Times New Roman"/>
              </a:rPr>
              <a:t> </a:t>
            </a:r>
            <a:r>
              <a:rPr dirty="0" sz="1700" b="1">
                <a:latin typeface="Times New Roman"/>
                <a:cs typeface="Times New Roman"/>
              </a:rPr>
              <a:t>Innovation,</a:t>
            </a:r>
            <a:r>
              <a:rPr dirty="0" sz="1700" spc="-15" b="1">
                <a:latin typeface="Times New Roman"/>
                <a:cs typeface="Times New Roman"/>
              </a:rPr>
              <a:t> </a:t>
            </a:r>
            <a:r>
              <a:rPr dirty="0" sz="1700" b="1">
                <a:latin typeface="Times New Roman"/>
                <a:cs typeface="Times New Roman"/>
              </a:rPr>
              <a:t>and</a:t>
            </a:r>
            <a:r>
              <a:rPr dirty="0" sz="1700" spc="-25" b="1">
                <a:latin typeface="Times New Roman"/>
                <a:cs typeface="Times New Roman"/>
              </a:rPr>
              <a:t> </a:t>
            </a:r>
            <a:r>
              <a:rPr dirty="0" sz="1700" spc="-10" b="1">
                <a:latin typeface="Times New Roman"/>
                <a:cs typeface="Times New Roman"/>
              </a:rPr>
              <a:t>Entrepreneurship</a:t>
            </a:r>
            <a:r>
              <a:rPr dirty="0" sz="1700" spc="20" b="1">
                <a:latin typeface="Times New Roman"/>
                <a:cs typeface="Times New Roman"/>
              </a:rPr>
              <a:t> </a:t>
            </a:r>
            <a:r>
              <a:rPr dirty="0" sz="1700" b="1">
                <a:latin typeface="Times New Roman"/>
                <a:cs typeface="Times New Roman"/>
              </a:rPr>
              <a:t>:</a:t>
            </a:r>
            <a:r>
              <a:rPr dirty="0" sz="1700" spc="-30" b="1">
                <a:latin typeface="Times New Roman"/>
                <a:cs typeface="Times New Roman"/>
              </a:rPr>
              <a:t> </a:t>
            </a:r>
            <a:r>
              <a:rPr dirty="0" sz="1700" spc="-20">
                <a:latin typeface="Times New Roman"/>
                <a:cs typeface="Times New Roman"/>
              </a:rPr>
              <a:t>To</a:t>
            </a:r>
            <a:r>
              <a:rPr dirty="0" sz="1700" spc="-1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promote</a:t>
            </a:r>
            <a:r>
              <a:rPr dirty="0" sz="1700" spc="-6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research,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innovation,</a:t>
            </a:r>
            <a:r>
              <a:rPr dirty="0" sz="1700" spc="-3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entrepreneurial</a:t>
            </a:r>
            <a:r>
              <a:rPr dirty="0" sz="1700" spc="-7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thinking </a:t>
            </a:r>
            <a:r>
              <a:rPr dirty="0" sz="1700">
                <a:latin typeface="Times New Roman"/>
                <a:cs typeface="Times New Roman"/>
              </a:rPr>
              <a:t>for</a:t>
            </a:r>
            <a:r>
              <a:rPr dirty="0" sz="1700" spc="-6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developing</a:t>
            </a:r>
            <a:r>
              <a:rPr dirty="0" sz="1700" spc="-1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sustainable</a:t>
            </a:r>
            <a:r>
              <a:rPr dirty="0" sz="1700" spc="-6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solutions</a:t>
            </a:r>
            <a:r>
              <a:rPr dirty="0" sz="1700" spc="-4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to</a:t>
            </a:r>
            <a:r>
              <a:rPr dirty="0" sz="1700" spc="-2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emerging</a:t>
            </a:r>
            <a:r>
              <a:rPr dirty="0" sz="1700" spc="-5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cybersecurity</a:t>
            </a:r>
            <a:r>
              <a:rPr dirty="0" sz="1700" spc="-70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challenges.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1700">
              <a:latin typeface="Times New Roman"/>
              <a:cs typeface="Times New Roman"/>
            </a:endParaRPr>
          </a:p>
          <a:p>
            <a:pPr marL="241300" indent="-228600">
              <a:lnSpc>
                <a:spcPts val="1810"/>
              </a:lnSpc>
              <a:buFont typeface="Arial MT"/>
              <a:buChar char="•"/>
              <a:tabLst>
                <a:tab pos="241300" algn="l"/>
              </a:tabLst>
            </a:pPr>
            <a:r>
              <a:rPr dirty="0" sz="1700" b="1">
                <a:latin typeface="Times New Roman"/>
                <a:cs typeface="Times New Roman"/>
              </a:rPr>
              <a:t>M4:</a:t>
            </a:r>
            <a:r>
              <a:rPr dirty="0" sz="1700" spc="60" b="1">
                <a:latin typeface="Times New Roman"/>
                <a:cs typeface="Times New Roman"/>
              </a:rPr>
              <a:t>  </a:t>
            </a:r>
            <a:r>
              <a:rPr dirty="0" sz="1700" b="1">
                <a:latin typeface="Times New Roman"/>
                <a:cs typeface="Times New Roman"/>
              </a:rPr>
              <a:t>Holistic</a:t>
            </a:r>
            <a:r>
              <a:rPr dirty="0" sz="1700" spc="75" b="1">
                <a:latin typeface="Times New Roman"/>
                <a:cs typeface="Times New Roman"/>
              </a:rPr>
              <a:t>  </a:t>
            </a:r>
            <a:r>
              <a:rPr dirty="0" sz="1700" b="1">
                <a:latin typeface="Times New Roman"/>
                <a:cs typeface="Times New Roman"/>
              </a:rPr>
              <a:t>and</a:t>
            </a:r>
            <a:r>
              <a:rPr dirty="0" sz="1700" spc="65" b="1">
                <a:latin typeface="Times New Roman"/>
                <a:cs typeface="Times New Roman"/>
              </a:rPr>
              <a:t>  </a:t>
            </a:r>
            <a:r>
              <a:rPr dirty="0" sz="1700" b="1">
                <a:latin typeface="Times New Roman"/>
                <a:cs typeface="Times New Roman"/>
              </a:rPr>
              <a:t>Global</a:t>
            </a:r>
            <a:r>
              <a:rPr dirty="0" sz="1700" spc="80" b="1">
                <a:latin typeface="Times New Roman"/>
                <a:cs typeface="Times New Roman"/>
              </a:rPr>
              <a:t>  </a:t>
            </a:r>
            <a:r>
              <a:rPr dirty="0" sz="1700" b="1">
                <a:latin typeface="Times New Roman"/>
                <a:cs typeface="Times New Roman"/>
              </a:rPr>
              <a:t>Development</a:t>
            </a:r>
            <a:r>
              <a:rPr dirty="0" sz="1700" spc="40" b="1">
                <a:latin typeface="Times New Roman"/>
                <a:cs typeface="Times New Roman"/>
              </a:rPr>
              <a:t>  </a:t>
            </a:r>
            <a:r>
              <a:rPr dirty="0" sz="1700" b="1">
                <a:latin typeface="Times New Roman"/>
                <a:cs typeface="Times New Roman"/>
              </a:rPr>
              <a:t>:</a:t>
            </a:r>
            <a:r>
              <a:rPr dirty="0" sz="1700" spc="60" b="1">
                <a:latin typeface="Times New Roman"/>
                <a:cs typeface="Times New Roman"/>
              </a:rPr>
              <a:t>  </a:t>
            </a:r>
            <a:r>
              <a:rPr dirty="0" sz="1700">
                <a:latin typeface="Times New Roman"/>
                <a:cs typeface="Times New Roman"/>
              </a:rPr>
              <a:t>To</a:t>
            </a:r>
            <a:r>
              <a:rPr dirty="0" sz="1700" spc="70">
                <a:latin typeface="Times New Roman"/>
                <a:cs typeface="Times New Roman"/>
              </a:rPr>
              <a:t>  </a:t>
            </a:r>
            <a:r>
              <a:rPr dirty="0" sz="1700">
                <a:latin typeface="Times New Roman"/>
                <a:cs typeface="Times New Roman"/>
              </a:rPr>
              <a:t>enhance</a:t>
            </a:r>
            <a:r>
              <a:rPr dirty="0" sz="1700" spc="65">
                <a:latin typeface="Times New Roman"/>
                <a:cs typeface="Times New Roman"/>
              </a:rPr>
              <a:t>  </a:t>
            </a:r>
            <a:r>
              <a:rPr dirty="0" sz="1700">
                <a:latin typeface="Times New Roman"/>
                <a:cs typeface="Times New Roman"/>
              </a:rPr>
              <a:t>leadership,</a:t>
            </a:r>
            <a:r>
              <a:rPr dirty="0" sz="1700" spc="65">
                <a:latin typeface="Times New Roman"/>
                <a:cs typeface="Times New Roman"/>
              </a:rPr>
              <a:t>  </a:t>
            </a:r>
            <a:r>
              <a:rPr dirty="0" sz="1700">
                <a:latin typeface="Times New Roman"/>
                <a:cs typeface="Times New Roman"/>
              </a:rPr>
              <a:t>teamwork,</a:t>
            </a:r>
            <a:r>
              <a:rPr dirty="0" sz="1700" spc="50">
                <a:latin typeface="Times New Roman"/>
                <a:cs typeface="Times New Roman"/>
              </a:rPr>
              <a:t>  </a:t>
            </a:r>
            <a:r>
              <a:rPr dirty="0" sz="1700">
                <a:latin typeface="Times New Roman"/>
                <a:cs typeface="Times New Roman"/>
              </a:rPr>
              <a:t>lifelong</a:t>
            </a:r>
            <a:r>
              <a:rPr dirty="0" sz="1700" spc="70">
                <a:latin typeface="Times New Roman"/>
                <a:cs typeface="Times New Roman"/>
              </a:rPr>
              <a:t>  </a:t>
            </a:r>
            <a:r>
              <a:rPr dirty="0" sz="1700">
                <a:latin typeface="Times New Roman"/>
                <a:cs typeface="Times New Roman"/>
              </a:rPr>
              <a:t>learning,</a:t>
            </a:r>
            <a:r>
              <a:rPr dirty="0" sz="1700" spc="75">
                <a:latin typeface="Times New Roman"/>
                <a:cs typeface="Times New Roman"/>
              </a:rPr>
              <a:t> 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75">
                <a:latin typeface="Times New Roman"/>
                <a:cs typeface="Times New Roman"/>
              </a:rPr>
              <a:t>  </a:t>
            </a:r>
            <a:r>
              <a:rPr dirty="0" sz="1700" spc="-10">
                <a:latin typeface="Times New Roman"/>
                <a:cs typeface="Times New Roman"/>
              </a:rPr>
              <a:t>global</a:t>
            </a:r>
            <a:endParaRPr sz="1700">
              <a:latin typeface="Times New Roman"/>
              <a:cs typeface="Times New Roman"/>
            </a:endParaRPr>
          </a:p>
          <a:p>
            <a:pPr marL="241300">
              <a:lnSpc>
                <a:spcPts val="1810"/>
              </a:lnSpc>
            </a:pPr>
            <a:r>
              <a:rPr dirty="0" sz="1700">
                <a:latin typeface="Times New Roman"/>
                <a:cs typeface="Times New Roman"/>
              </a:rPr>
              <a:t>competence</a:t>
            </a:r>
            <a:r>
              <a:rPr dirty="0" sz="1700" spc="-6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through</a:t>
            </a:r>
            <a:r>
              <a:rPr dirty="0" sz="1700" spc="-5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industry</a:t>
            </a:r>
            <a:r>
              <a:rPr dirty="0" sz="1700" spc="-6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collaboration,</a:t>
            </a:r>
            <a:r>
              <a:rPr dirty="0" sz="1700" spc="-7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interdisciplinary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activities,</a:t>
            </a:r>
            <a:r>
              <a:rPr dirty="0" sz="1700" spc="-60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and</a:t>
            </a:r>
            <a:r>
              <a:rPr dirty="0" sz="1700" spc="-35">
                <a:latin typeface="Times New Roman"/>
                <a:cs typeface="Times New Roman"/>
              </a:rPr>
              <a:t> </a:t>
            </a:r>
            <a:r>
              <a:rPr dirty="0" sz="1700">
                <a:latin typeface="Times New Roman"/>
                <a:cs typeface="Times New Roman"/>
              </a:rPr>
              <a:t>community</a:t>
            </a:r>
            <a:r>
              <a:rPr dirty="0" sz="1700" spc="-55">
                <a:latin typeface="Times New Roman"/>
                <a:cs typeface="Times New Roman"/>
              </a:rPr>
              <a:t> </a:t>
            </a:r>
            <a:r>
              <a:rPr dirty="0" sz="1700" spc="-10">
                <a:latin typeface="Times New Roman"/>
                <a:cs typeface="Times New Roman"/>
              </a:rPr>
              <a:t>engagement.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Dept</a:t>
            </a:r>
            <a:r>
              <a:rPr dirty="0" spc="-5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10"/>
              <a:t>CSE(CY)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60039" y="2335149"/>
            <a:ext cx="6640195" cy="4495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z="275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Programme</a:t>
            </a:r>
            <a:r>
              <a:rPr dirty="0" u="sng" sz="2750" spc="225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 sz="275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Educational</a:t>
            </a:r>
            <a:r>
              <a:rPr dirty="0" u="sng" sz="2750" spc="11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 sz="275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Objectives</a:t>
            </a:r>
            <a:r>
              <a:rPr dirty="0" u="sng" sz="2750" spc="185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 sz="2750" spc="-1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(PEOs)</a:t>
            </a:r>
            <a:endParaRPr sz="2750"/>
          </a:p>
        </p:txBody>
      </p:sp>
      <p:sp>
        <p:nvSpPr>
          <p:cNvPr id="3" name="object 3"/>
          <p:cNvSpPr txBox="1"/>
          <p:nvPr/>
        </p:nvSpPr>
        <p:spPr>
          <a:xfrm>
            <a:off x="563562" y="2888551"/>
            <a:ext cx="11217910" cy="239903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241300" marR="22225" indent="-229235">
              <a:lnSpc>
                <a:spcPts val="1950"/>
              </a:lnSpc>
              <a:spcBef>
                <a:spcPts val="34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 b="1">
                <a:latin typeface="Times New Roman"/>
                <a:cs typeface="Times New Roman"/>
              </a:rPr>
              <a:t>PEO</a:t>
            </a:r>
            <a:r>
              <a:rPr dirty="0" sz="1800" spc="-6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1:</a:t>
            </a:r>
            <a:r>
              <a:rPr dirty="0" sz="1800" spc="60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Graduates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will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apply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strong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foundations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computer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science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cybersecurity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design,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develop,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10">
                <a:latin typeface="Times New Roman"/>
                <a:cs typeface="Times New Roman"/>
              </a:rPr>
              <a:t> manage </a:t>
            </a:r>
            <a:r>
              <a:rPr dirty="0" sz="1800">
                <a:latin typeface="Times New Roman"/>
                <a:cs typeface="Times New Roman"/>
              </a:rPr>
              <a:t>secure</a:t>
            </a:r>
            <a:r>
              <a:rPr dirty="0" sz="1800" spc="-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reliable computing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systems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industry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society.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5"/>
              </a:spcBef>
              <a:buFont typeface="Arial MT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241300" marR="5080" indent="-229235">
              <a:lnSpc>
                <a:spcPct val="90400"/>
              </a:lnSpc>
              <a:buFont typeface="Arial MT"/>
              <a:buChar char="•"/>
              <a:tabLst>
                <a:tab pos="241300" algn="l"/>
              </a:tabLst>
            </a:pPr>
            <a:r>
              <a:rPr dirty="0" sz="1800" b="1">
                <a:latin typeface="Times New Roman"/>
                <a:cs typeface="Times New Roman"/>
              </a:rPr>
              <a:t>PEO</a:t>
            </a:r>
            <a:r>
              <a:rPr dirty="0" sz="1800" spc="-6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2:</a:t>
            </a:r>
            <a:r>
              <a:rPr dirty="0" sz="1800" spc="65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Graduates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will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pursue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successful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careers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professionals,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innovators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or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entrepreneurs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engaged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technology </a:t>
            </a:r>
            <a:r>
              <a:rPr dirty="0" sz="1800">
                <a:latin typeface="Times New Roman"/>
                <a:cs typeface="Times New Roman"/>
              </a:rPr>
              <a:t>development,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deployment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or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engineering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system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implementation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industry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society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contribute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economic </a:t>
            </a:r>
            <a:r>
              <a:rPr dirty="0" sz="1800">
                <a:latin typeface="Times New Roman"/>
                <a:cs typeface="Times New Roman"/>
              </a:rPr>
              <a:t>growth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country.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65"/>
              </a:spcBef>
              <a:buFont typeface="Arial MT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241300" marR="300355" indent="-229235">
              <a:lnSpc>
                <a:spcPts val="195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 b="1">
                <a:latin typeface="Times New Roman"/>
                <a:cs typeface="Times New Roman"/>
              </a:rPr>
              <a:t>PEO</a:t>
            </a:r>
            <a:r>
              <a:rPr dirty="0" sz="1800" spc="-8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3:</a:t>
            </a:r>
            <a:r>
              <a:rPr dirty="0" sz="1800" spc="40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Graduates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will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demonstrate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ethical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responsibility,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leadership,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teamwork,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effective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communication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while </a:t>
            </a:r>
            <a:r>
              <a:rPr dirty="0" sz="1800">
                <a:latin typeface="Times New Roman"/>
                <a:cs typeface="Times New Roman"/>
              </a:rPr>
              <a:t>adapting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evolving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global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technological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environments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through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lifelong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learning.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Dept</a:t>
            </a:r>
            <a:r>
              <a:rPr dirty="0" spc="-5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10"/>
              <a:t>CSE(CY)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298950" y="2000186"/>
            <a:ext cx="3444875" cy="44894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 sz="275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Programme</a:t>
            </a:r>
            <a:r>
              <a:rPr dirty="0" u="sng" sz="2750" spc="16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 sz="2750" spc="-1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Outcomes</a:t>
            </a:r>
            <a:endParaRPr sz="2750"/>
          </a:p>
        </p:txBody>
      </p:sp>
      <p:sp>
        <p:nvSpPr>
          <p:cNvPr id="3" name="object 3"/>
          <p:cNvSpPr txBox="1"/>
          <p:nvPr/>
        </p:nvSpPr>
        <p:spPr>
          <a:xfrm>
            <a:off x="559117" y="2447858"/>
            <a:ext cx="10836275" cy="3956050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1400">
                <a:latin typeface="Times New Roman"/>
                <a:cs typeface="Times New Roman"/>
              </a:rPr>
              <a:t>Engineering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Graduates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will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able</a:t>
            </a:r>
            <a:r>
              <a:rPr dirty="0" sz="1400" spc="-25">
                <a:latin typeface="Times New Roman"/>
                <a:cs typeface="Times New Roman"/>
              </a:rPr>
              <a:t> to:</a:t>
            </a:r>
            <a:endParaRPr sz="1400">
              <a:latin typeface="Times New Roman"/>
              <a:cs typeface="Times New Roman"/>
            </a:endParaRPr>
          </a:p>
          <a:p>
            <a:pPr marL="292100" marR="6985" indent="196850">
              <a:lnSpc>
                <a:spcPts val="2100"/>
              </a:lnSpc>
              <a:spcBef>
                <a:spcPts val="65"/>
              </a:spcBef>
              <a:buFont typeface="Times New Roman"/>
              <a:buAutoNum type="arabicPeriod"/>
              <a:tabLst>
                <a:tab pos="488950" algn="l"/>
              </a:tabLst>
            </a:pPr>
            <a:r>
              <a:rPr dirty="0" sz="1500" b="1">
                <a:latin typeface="Times New Roman"/>
                <a:cs typeface="Times New Roman"/>
              </a:rPr>
              <a:t>Engineering</a:t>
            </a:r>
            <a:r>
              <a:rPr dirty="0" sz="1500" spc="60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knowledge:</a:t>
            </a:r>
            <a:r>
              <a:rPr dirty="0" sz="1500" spc="25" b="1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Apply</a:t>
            </a:r>
            <a:r>
              <a:rPr dirty="0" sz="1500" spc="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the</a:t>
            </a:r>
            <a:r>
              <a:rPr dirty="0" sz="1500" spc="-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knowledge</a:t>
            </a:r>
            <a:r>
              <a:rPr dirty="0" sz="1500" spc="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of</a:t>
            </a:r>
            <a:r>
              <a:rPr dirty="0" sz="1500" spc="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mathematics,</a:t>
            </a:r>
            <a:r>
              <a:rPr dirty="0" sz="1500" spc="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science,</a:t>
            </a:r>
            <a:r>
              <a:rPr dirty="0" sz="1500" spc="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engineering</a:t>
            </a:r>
            <a:r>
              <a:rPr dirty="0" sz="1500" spc="5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fundamentals,</a:t>
            </a:r>
            <a:r>
              <a:rPr dirty="0" sz="1500" spc="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</a:t>
            </a:r>
            <a:r>
              <a:rPr dirty="0" sz="1500" spc="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engineering</a:t>
            </a:r>
            <a:r>
              <a:rPr dirty="0" sz="1500" spc="3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specialization </a:t>
            </a:r>
            <a:r>
              <a:rPr dirty="0" sz="1500">
                <a:latin typeface="Times New Roman"/>
                <a:cs typeface="Times New Roman"/>
              </a:rPr>
              <a:t>to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the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solution</a:t>
            </a:r>
            <a:r>
              <a:rPr dirty="0" sz="1500" spc="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of</a:t>
            </a:r>
            <a:r>
              <a:rPr dirty="0" sz="1500" spc="-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complex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engineering</a:t>
            </a:r>
            <a:r>
              <a:rPr dirty="0" sz="1500" spc="1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problems.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0"/>
              </a:spcBef>
              <a:buFont typeface="Times New Roman"/>
              <a:buAutoNum type="arabicPeriod"/>
            </a:pPr>
            <a:endParaRPr sz="1500">
              <a:latin typeface="Times New Roman"/>
              <a:cs typeface="Times New Roman"/>
            </a:endParaRPr>
          </a:p>
          <a:p>
            <a:pPr algn="just" marL="292100" marR="13335" indent="207645">
              <a:lnSpc>
                <a:spcPct val="112700"/>
              </a:lnSpc>
              <a:spcBef>
                <a:spcPts val="5"/>
              </a:spcBef>
              <a:buFont typeface="Times New Roman"/>
              <a:buAutoNum type="arabicPeriod"/>
              <a:tabLst>
                <a:tab pos="499745" algn="l"/>
              </a:tabLst>
            </a:pPr>
            <a:r>
              <a:rPr dirty="0" sz="1500" b="1">
                <a:latin typeface="Times New Roman"/>
                <a:cs typeface="Times New Roman"/>
              </a:rPr>
              <a:t>Problem</a:t>
            </a:r>
            <a:r>
              <a:rPr dirty="0" sz="1500" spc="110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analysis:</a:t>
            </a:r>
            <a:r>
              <a:rPr dirty="0" sz="1500" spc="100" b="1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Identify,</a:t>
            </a:r>
            <a:r>
              <a:rPr dirty="0" sz="1500" spc="9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formulate,</a:t>
            </a:r>
            <a:r>
              <a:rPr dirty="0" sz="1500" spc="5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review</a:t>
            </a:r>
            <a:r>
              <a:rPr dirty="0" sz="1500" spc="9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research</a:t>
            </a:r>
            <a:r>
              <a:rPr dirty="0" sz="1500" spc="7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literature,</a:t>
            </a:r>
            <a:r>
              <a:rPr dirty="0" sz="1500" spc="10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9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analyze</a:t>
            </a:r>
            <a:r>
              <a:rPr dirty="0" sz="1500" spc="9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complex</a:t>
            </a:r>
            <a:r>
              <a:rPr dirty="0" sz="1500" spc="8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engineering</a:t>
            </a:r>
            <a:r>
              <a:rPr dirty="0" sz="1500" spc="1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problems</a:t>
            </a:r>
            <a:r>
              <a:rPr dirty="0" sz="1500" spc="7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reaching</a:t>
            </a:r>
            <a:r>
              <a:rPr dirty="0" sz="1500" spc="8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substantiated </a:t>
            </a:r>
            <a:r>
              <a:rPr dirty="0" sz="1500">
                <a:latin typeface="Times New Roman"/>
                <a:cs typeface="Times New Roman"/>
              </a:rPr>
              <a:t>conclusions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using</a:t>
            </a:r>
            <a:r>
              <a:rPr dirty="0" sz="1500" spc="-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first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principles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of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mathematics,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natural</a:t>
            </a:r>
            <a:r>
              <a:rPr dirty="0" sz="1500" spc="-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sciences,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engineering</a:t>
            </a:r>
            <a:r>
              <a:rPr dirty="0" sz="1500" spc="-10">
                <a:latin typeface="Times New Roman"/>
                <a:cs typeface="Times New Roman"/>
              </a:rPr>
              <a:t> sciences.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9"/>
              </a:spcBef>
              <a:buFont typeface="Times New Roman"/>
              <a:buAutoNum type="arabicPeriod"/>
            </a:pPr>
            <a:endParaRPr sz="1500">
              <a:latin typeface="Times New Roman"/>
              <a:cs typeface="Times New Roman"/>
            </a:endParaRPr>
          </a:p>
          <a:p>
            <a:pPr algn="just" marL="292100" marR="5080" indent="207010">
              <a:lnSpc>
                <a:spcPct val="114700"/>
              </a:lnSpc>
              <a:spcBef>
                <a:spcPts val="5"/>
              </a:spcBef>
              <a:buFont typeface="Times New Roman"/>
              <a:buAutoNum type="arabicPeriod"/>
              <a:tabLst>
                <a:tab pos="499109" algn="l"/>
              </a:tabLst>
            </a:pPr>
            <a:r>
              <a:rPr dirty="0" sz="1500" b="1">
                <a:latin typeface="Times New Roman"/>
                <a:cs typeface="Times New Roman"/>
              </a:rPr>
              <a:t>Design/development</a:t>
            </a:r>
            <a:r>
              <a:rPr dirty="0" sz="1500" spc="90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of</a:t>
            </a:r>
            <a:r>
              <a:rPr dirty="0" sz="1500" spc="105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solutions:</a:t>
            </a:r>
            <a:r>
              <a:rPr dirty="0" sz="1500" spc="110" b="1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Design</a:t>
            </a:r>
            <a:r>
              <a:rPr dirty="0" sz="1500" spc="9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solutions</a:t>
            </a:r>
            <a:r>
              <a:rPr dirty="0" sz="1500" spc="1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for</a:t>
            </a:r>
            <a:r>
              <a:rPr dirty="0" sz="1500" spc="8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complex</a:t>
            </a:r>
            <a:r>
              <a:rPr dirty="0" sz="1500" spc="7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engineering</a:t>
            </a:r>
            <a:r>
              <a:rPr dirty="0" sz="1500" spc="1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problems</a:t>
            </a:r>
            <a:r>
              <a:rPr dirty="0" sz="1500" spc="8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9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design</a:t>
            </a:r>
            <a:r>
              <a:rPr dirty="0" sz="1500" spc="1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system</a:t>
            </a:r>
            <a:r>
              <a:rPr dirty="0" sz="1500" spc="1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components</a:t>
            </a:r>
            <a:r>
              <a:rPr dirty="0" sz="1500" spc="9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or</a:t>
            </a:r>
            <a:r>
              <a:rPr dirty="0" sz="1500" spc="11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processes </a:t>
            </a:r>
            <a:r>
              <a:rPr dirty="0" sz="1500">
                <a:latin typeface="Times New Roman"/>
                <a:cs typeface="Times New Roman"/>
              </a:rPr>
              <a:t>that</a:t>
            </a:r>
            <a:r>
              <a:rPr dirty="0" sz="1500" spc="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meet</a:t>
            </a:r>
            <a:r>
              <a:rPr dirty="0" sz="1500" spc="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the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specified</a:t>
            </a:r>
            <a:r>
              <a:rPr dirty="0" sz="1500" spc="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needs</a:t>
            </a:r>
            <a:r>
              <a:rPr dirty="0" sz="1500" spc="-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with</a:t>
            </a:r>
            <a:r>
              <a:rPr dirty="0" sz="1500" spc="-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appropriate</a:t>
            </a:r>
            <a:r>
              <a:rPr dirty="0" sz="1500" spc="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consideration</a:t>
            </a:r>
            <a:r>
              <a:rPr dirty="0" sz="1500" spc="-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for</a:t>
            </a:r>
            <a:r>
              <a:rPr dirty="0" sz="1500" spc="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the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public</a:t>
            </a:r>
            <a:r>
              <a:rPr dirty="0" sz="1500" spc="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health</a:t>
            </a:r>
            <a:r>
              <a:rPr dirty="0" sz="1500" spc="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safety,</a:t>
            </a:r>
            <a:r>
              <a:rPr dirty="0" sz="1500" spc="6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the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cultural,</a:t>
            </a:r>
            <a:r>
              <a:rPr dirty="0" sz="1500" spc="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societal,</a:t>
            </a:r>
            <a:r>
              <a:rPr dirty="0" sz="1500" spc="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1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environmental considerations.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5"/>
              </a:spcBef>
              <a:buFont typeface="Times New Roman"/>
              <a:buAutoNum type="arabicPeriod"/>
            </a:pPr>
            <a:endParaRPr sz="1500">
              <a:latin typeface="Times New Roman"/>
              <a:cs typeface="Times New Roman"/>
            </a:endParaRPr>
          </a:p>
          <a:p>
            <a:pPr marL="484505" indent="-192405">
              <a:lnSpc>
                <a:spcPct val="100000"/>
              </a:lnSpc>
              <a:buFont typeface="Times New Roman"/>
              <a:buAutoNum type="arabicPeriod"/>
              <a:tabLst>
                <a:tab pos="484505" algn="l"/>
              </a:tabLst>
            </a:pPr>
            <a:r>
              <a:rPr dirty="0" sz="1500" b="1">
                <a:latin typeface="Times New Roman"/>
                <a:cs typeface="Times New Roman"/>
              </a:rPr>
              <a:t>Conduct</a:t>
            </a:r>
            <a:r>
              <a:rPr dirty="0" sz="1500" spc="-25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investigations</a:t>
            </a:r>
            <a:r>
              <a:rPr dirty="0" sz="1500" spc="-25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of</a:t>
            </a:r>
            <a:r>
              <a:rPr dirty="0" sz="1500" spc="-15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complex</a:t>
            </a:r>
            <a:r>
              <a:rPr dirty="0" sz="1500" spc="-10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problems:</a:t>
            </a:r>
            <a:r>
              <a:rPr dirty="0" sz="1500" spc="-10" b="1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Use</a:t>
            </a:r>
            <a:r>
              <a:rPr dirty="0" sz="1500" spc="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research-</a:t>
            </a:r>
            <a:r>
              <a:rPr dirty="0" sz="1500">
                <a:latin typeface="Times New Roman"/>
                <a:cs typeface="Times New Roman"/>
              </a:rPr>
              <a:t>based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knowledge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research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methods</a:t>
            </a:r>
            <a:r>
              <a:rPr dirty="0" sz="1500" spc="-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including</a:t>
            </a:r>
            <a:r>
              <a:rPr dirty="0" sz="1500" spc="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design of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experiments,</a:t>
            </a:r>
            <a:endParaRPr sz="1500">
              <a:latin typeface="Times New Roman"/>
              <a:cs typeface="Times New Roman"/>
            </a:endParaRPr>
          </a:p>
          <a:p>
            <a:pPr marL="292100">
              <a:lnSpc>
                <a:spcPct val="100000"/>
              </a:lnSpc>
              <a:spcBef>
                <a:spcPts val="305"/>
              </a:spcBef>
            </a:pPr>
            <a:r>
              <a:rPr dirty="0" sz="1500">
                <a:latin typeface="Times New Roman"/>
                <a:cs typeface="Times New Roman"/>
              </a:rPr>
              <a:t>analysis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interpretation</a:t>
            </a:r>
            <a:r>
              <a:rPr dirty="0" sz="1500" spc="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of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data, and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synthesis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of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the</a:t>
            </a:r>
            <a:r>
              <a:rPr dirty="0" sz="1500" spc="-5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information</a:t>
            </a:r>
            <a:r>
              <a:rPr dirty="0" sz="1500" spc="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to</a:t>
            </a:r>
            <a:r>
              <a:rPr dirty="0" sz="1500" spc="-5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provide</a:t>
            </a:r>
            <a:r>
              <a:rPr dirty="0" sz="1500" spc="-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valid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conclusions.</a:t>
            </a:r>
            <a:endParaRPr sz="1500">
              <a:latin typeface="Times New Roman"/>
              <a:cs typeface="Times New Roman"/>
            </a:endParaRPr>
          </a:p>
          <a:p>
            <a:pPr marL="292100" marR="12700" indent="223520">
              <a:lnSpc>
                <a:spcPts val="2100"/>
              </a:lnSpc>
              <a:spcBef>
                <a:spcPts val="30"/>
              </a:spcBef>
              <a:buFont typeface="Times New Roman"/>
              <a:buAutoNum type="arabicPeriod" startAt="5"/>
              <a:tabLst>
                <a:tab pos="515620" algn="l"/>
              </a:tabLst>
            </a:pPr>
            <a:r>
              <a:rPr dirty="0" sz="1500" b="1">
                <a:latin typeface="Times New Roman"/>
                <a:cs typeface="Times New Roman"/>
              </a:rPr>
              <a:t>Modern</a:t>
            </a:r>
            <a:r>
              <a:rPr dirty="0" sz="1500" spc="229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tool</a:t>
            </a:r>
            <a:r>
              <a:rPr dirty="0" sz="1500" spc="220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usage:</a:t>
            </a:r>
            <a:r>
              <a:rPr dirty="0" sz="1500" spc="245" b="1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Create,</a:t>
            </a:r>
            <a:r>
              <a:rPr dirty="0" sz="1500" spc="25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select,</a:t>
            </a:r>
            <a:r>
              <a:rPr dirty="0" sz="1500" spc="28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229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apply</a:t>
            </a:r>
            <a:r>
              <a:rPr dirty="0" sz="1500" spc="27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appropriate</a:t>
            </a:r>
            <a:r>
              <a:rPr dirty="0" sz="1500" spc="2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techniques,</a:t>
            </a:r>
            <a:r>
              <a:rPr dirty="0" sz="1500" spc="28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resources,</a:t>
            </a:r>
            <a:r>
              <a:rPr dirty="0" sz="1500" spc="2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23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modern</a:t>
            </a:r>
            <a:r>
              <a:rPr dirty="0" sz="1500" spc="25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engineering</a:t>
            </a:r>
            <a:r>
              <a:rPr dirty="0" sz="1500" spc="26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24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IT</a:t>
            </a:r>
            <a:r>
              <a:rPr dirty="0" sz="1500" spc="19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tools</a:t>
            </a:r>
            <a:r>
              <a:rPr dirty="0" sz="1500" spc="24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including </a:t>
            </a:r>
            <a:r>
              <a:rPr dirty="0" sz="1500">
                <a:latin typeface="Times New Roman"/>
                <a:cs typeface="Times New Roman"/>
              </a:rPr>
              <a:t>prediction</a:t>
            </a:r>
            <a:r>
              <a:rPr dirty="0" sz="1500" spc="-2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modeling</a:t>
            </a:r>
            <a:r>
              <a:rPr dirty="0" sz="1500" spc="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to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complex</a:t>
            </a:r>
            <a:r>
              <a:rPr dirty="0" sz="1500" spc="-3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engineering</a:t>
            </a:r>
            <a:r>
              <a:rPr dirty="0" sz="1500" spc="-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activities with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understanding</a:t>
            </a:r>
            <a:r>
              <a:rPr dirty="0" sz="1500" spc="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of</a:t>
            </a:r>
            <a:r>
              <a:rPr dirty="0" sz="1500" spc="-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the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limitations.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Dept</a:t>
            </a:r>
            <a:r>
              <a:rPr dirty="0" spc="-5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10"/>
              <a:t>CSE(CY)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4647" y="2438336"/>
            <a:ext cx="11400790" cy="39649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203835">
              <a:lnSpc>
                <a:spcPct val="116199"/>
              </a:lnSpc>
              <a:spcBef>
                <a:spcPts val="95"/>
              </a:spcBef>
              <a:buFont typeface="Times New Roman"/>
              <a:buAutoNum type="arabicPeriod" startAt="6"/>
              <a:tabLst>
                <a:tab pos="216535" algn="l"/>
              </a:tabLst>
            </a:pPr>
            <a:r>
              <a:rPr dirty="0" sz="1400" b="1">
                <a:latin typeface="Times New Roman"/>
                <a:cs typeface="Times New Roman"/>
              </a:rPr>
              <a:t>The</a:t>
            </a:r>
            <a:r>
              <a:rPr dirty="0" sz="1400" spc="16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engineer</a:t>
            </a:r>
            <a:r>
              <a:rPr dirty="0" sz="1400" spc="16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and</a:t>
            </a:r>
            <a:r>
              <a:rPr dirty="0" sz="1400" spc="14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society:</a:t>
            </a:r>
            <a:r>
              <a:rPr dirty="0" sz="1400" spc="175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Apply</a:t>
            </a:r>
            <a:r>
              <a:rPr dirty="0" sz="1400" spc="1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reasoning</a:t>
            </a:r>
            <a:r>
              <a:rPr dirty="0" sz="1400" spc="1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informed</a:t>
            </a:r>
            <a:r>
              <a:rPr dirty="0" sz="1400" spc="1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2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1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contextual</a:t>
            </a:r>
            <a:r>
              <a:rPr dirty="0" sz="1400" spc="1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knowledge</a:t>
            </a:r>
            <a:r>
              <a:rPr dirty="0" sz="1400" spc="1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1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assess</a:t>
            </a:r>
            <a:r>
              <a:rPr dirty="0" sz="1400" spc="1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societal,</a:t>
            </a:r>
            <a:r>
              <a:rPr dirty="0" sz="1400" spc="1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health,</a:t>
            </a:r>
            <a:r>
              <a:rPr dirty="0" sz="1400" spc="1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safety,</a:t>
            </a:r>
            <a:r>
              <a:rPr dirty="0" sz="1400" spc="2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legal</a:t>
            </a:r>
            <a:r>
              <a:rPr dirty="0" sz="1400" spc="1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1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cultural</a:t>
            </a:r>
            <a:r>
              <a:rPr dirty="0" sz="1400" spc="1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issues</a:t>
            </a:r>
            <a:r>
              <a:rPr dirty="0" sz="1400" spc="1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15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the </a:t>
            </a:r>
            <a:r>
              <a:rPr dirty="0" sz="1400">
                <a:latin typeface="Times New Roman"/>
                <a:cs typeface="Times New Roman"/>
              </a:rPr>
              <a:t>consequent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responsibilities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relevant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professional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engineering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practice.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15"/>
              </a:spcBef>
              <a:buFont typeface="Times New Roman"/>
              <a:buAutoNum type="arabicPeriod" startAt="6"/>
            </a:pPr>
            <a:endParaRPr sz="1400">
              <a:latin typeface="Times New Roman"/>
              <a:cs typeface="Times New Roman"/>
            </a:endParaRPr>
          </a:p>
          <a:p>
            <a:pPr marL="12700" marR="10160" indent="182245">
              <a:lnSpc>
                <a:spcPct val="111700"/>
              </a:lnSpc>
              <a:buFont typeface="Times New Roman"/>
              <a:buAutoNum type="arabicPeriod" startAt="6"/>
              <a:tabLst>
                <a:tab pos="194945" algn="l"/>
              </a:tabLst>
            </a:pPr>
            <a:r>
              <a:rPr dirty="0" sz="1400" b="1">
                <a:latin typeface="Times New Roman"/>
                <a:cs typeface="Times New Roman"/>
              </a:rPr>
              <a:t>Environment</a:t>
            </a:r>
            <a:r>
              <a:rPr dirty="0" sz="1400" spc="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and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sustainability: </a:t>
            </a:r>
            <a:r>
              <a:rPr dirty="0" sz="1400">
                <a:latin typeface="Times New Roman"/>
                <a:cs typeface="Times New Roman"/>
              </a:rPr>
              <a:t>Understand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impact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professional</a:t>
            </a:r>
            <a:r>
              <a:rPr dirty="0" sz="1400" spc="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engineering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solutions</a:t>
            </a:r>
            <a:r>
              <a:rPr dirty="0" sz="1400" spc="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societal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environmental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contexts,</a:t>
            </a:r>
            <a:r>
              <a:rPr dirty="0" sz="1400" spc="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demonstrate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knowledge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need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sustainable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development.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20"/>
              </a:spcBef>
              <a:buFont typeface="Times New Roman"/>
              <a:buAutoNum type="arabicPeriod" startAt="6"/>
            </a:pPr>
            <a:endParaRPr sz="1400">
              <a:latin typeface="Times New Roman"/>
              <a:cs typeface="Times New Roman"/>
            </a:endParaRPr>
          </a:p>
          <a:p>
            <a:pPr marL="189865" indent="-177165">
              <a:lnSpc>
                <a:spcPct val="100000"/>
              </a:lnSpc>
              <a:buFont typeface="Times New Roman"/>
              <a:buAutoNum type="arabicPeriod" startAt="6"/>
              <a:tabLst>
                <a:tab pos="189865" algn="l"/>
              </a:tabLst>
            </a:pPr>
            <a:r>
              <a:rPr dirty="0" sz="1400" spc="-10" b="1">
                <a:latin typeface="Times New Roman"/>
                <a:cs typeface="Times New Roman"/>
              </a:rPr>
              <a:t>Ethics:</a:t>
            </a:r>
            <a:r>
              <a:rPr dirty="0" sz="1400" spc="-90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Apply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ethical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principles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commit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professional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ethics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responsibilities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norms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engineering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practice.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35"/>
              </a:spcBef>
              <a:buFont typeface="Times New Roman"/>
              <a:buAutoNum type="arabicPeriod" startAt="6"/>
            </a:pPr>
            <a:endParaRPr sz="1400">
              <a:latin typeface="Times New Roman"/>
              <a:cs typeface="Times New Roman"/>
            </a:endParaRPr>
          </a:p>
          <a:p>
            <a:pPr marL="189865" indent="-177165">
              <a:lnSpc>
                <a:spcPct val="100000"/>
              </a:lnSpc>
              <a:spcBef>
                <a:spcPts val="5"/>
              </a:spcBef>
              <a:buFont typeface="Times New Roman"/>
              <a:buAutoNum type="arabicPeriod" startAt="6"/>
              <a:tabLst>
                <a:tab pos="189865" algn="l"/>
              </a:tabLst>
            </a:pPr>
            <a:r>
              <a:rPr dirty="0" sz="1400" b="1">
                <a:latin typeface="Times New Roman"/>
                <a:cs typeface="Times New Roman"/>
              </a:rPr>
              <a:t>Individual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and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team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work: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Function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effectively as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 individual,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member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leader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diverse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teams,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10">
                <a:latin typeface="Times New Roman"/>
                <a:cs typeface="Times New Roman"/>
              </a:rPr>
              <a:t> multidisciplinary</a:t>
            </a:r>
            <a:r>
              <a:rPr dirty="0" sz="140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settings.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buFont typeface="Times New Roman"/>
              <a:buAutoNum type="arabicPeriod" startAt="6"/>
            </a:pPr>
            <a:endParaRPr sz="1400">
              <a:latin typeface="Times New Roman"/>
              <a:cs typeface="Times New Roman"/>
            </a:endParaRPr>
          </a:p>
          <a:p>
            <a:pPr marL="12700" marR="10795" indent="280670">
              <a:lnSpc>
                <a:spcPct val="116300"/>
              </a:lnSpc>
              <a:buFont typeface="Times New Roman"/>
              <a:buAutoNum type="arabicPeriod" startAt="6"/>
              <a:tabLst>
                <a:tab pos="293370" algn="l"/>
              </a:tabLst>
            </a:pPr>
            <a:r>
              <a:rPr dirty="0" sz="1400" b="1">
                <a:latin typeface="Times New Roman"/>
                <a:cs typeface="Times New Roman"/>
              </a:rPr>
              <a:t>Communication:</a:t>
            </a:r>
            <a:r>
              <a:rPr dirty="0" sz="1400" spc="80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Communicate</a:t>
            </a:r>
            <a:r>
              <a:rPr dirty="0" sz="1400" spc="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effectively</a:t>
            </a:r>
            <a:r>
              <a:rPr dirty="0" sz="1400" spc="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1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complex</a:t>
            </a:r>
            <a:r>
              <a:rPr dirty="0" sz="1400" spc="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engineering</a:t>
            </a:r>
            <a:r>
              <a:rPr dirty="0" sz="1400" spc="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activities</a:t>
            </a:r>
            <a:r>
              <a:rPr dirty="0" sz="1400" spc="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</a:t>
            </a:r>
            <a:r>
              <a:rPr dirty="0" sz="1400" spc="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engineering</a:t>
            </a:r>
            <a:r>
              <a:rPr dirty="0" sz="1400" spc="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community</a:t>
            </a:r>
            <a:r>
              <a:rPr dirty="0" sz="1400" spc="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</a:t>
            </a:r>
            <a:r>
              <a:rPr dirty="0" sz="1400" spc="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society</a:t>
            </a:r>
            <a:r>
              <a:rPr dirty="0" sz="1400" spc="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</a:t>
            </a:r>
            <a:r>
              <a:rPr dirty="0" sz="1400" spc="1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large,</a:t>
            </a:r>
            <a:r>
              <a:rPr dirty="0" sz="1400" spc="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such</a:t>
            </a:r>
            <a:r>
              <a:rPr dirty="0" sz="1400" spc="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as,</a:t>
            </a:r>
            <a:r>
              <a:rPr dirty="0" sz="1400" spc="6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being </a:t>
            </a:r>
            <a:r>
              <a:rPr dirty="0" sz="1400">
                <a:latin typeface="Times New Roman"/>
                <a:cs typeface="Times New Roman"/>
              </a:rPr>
              <a:t>able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comprehend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write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effective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reports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design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documentation,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make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effective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presentations,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give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receive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clear</a:t>
            </a:r>
            <a:r>
              <a:rPr dirty="0" sz="1400" spc="-10">
                <a:latin typeface="Times New Roman"/>
                <a:cs typeface="Times New Roman"/>
              </a:rPr>
              <a:t> instructions.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40"/>
              </a:spcBef>
              <a:buFont typeface="Times New Roman"/>
              <a:buAutoNum type="arabicPeriod" startAt="6"/>
            </a:pPr>
            <a:endParaRPr sz="1400">
              <a:latin typeface="Times New Roman"/>
              <a:cs typeface="Times New Roman"/>
            </a:endParaRPr>
          </a:p>
          <a:p>
            <a:pPr marL="288290" indent="-275590">
              <a:lnSpc>
                <a:spcPct val="100000"/>
              </a:lnSpc>
              <a:buFont typeface="Times New Roman"/>
              <a:buAutoNum type="arabicPeriod" startAt="6"/>
              <a:tabLst>
                <a:tab pos="288290" algn="l"/>
              </a:tabLst>
            </a:pPr>
            <a:r>
              <a:rPr dirty="0" sz="1400" b="1">
                <a:latin typeface="Times New Roman"/>
                <a:cs typeface="Times New Roman"/>
              </a:rPr>
              <a:t>Project</a:t>
            </a:r>
            <a:r>
              <a:rPr dirty="0" sz="1400" spc="1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management</a:t>
            </a:r>
            <a:r>
              <a:rPr dirty="0" sz="1400" spc="1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and</a:t>
            </a:r>
            <a:r>
              <a:rPr dirty="0" sz="1400" spc="6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finance:</a:t>
            </a:r>
            <a:r>
              <a:rPr dirty="0" sz="1400" spc="90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Demonstrate</a:t>
            </a:r>
            <a:r>
              <a:rPr dirty="0" sz="1400" spc="1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knowledge</a:t>
            </a:r>
            <a:r>
              <a:rPr dirty="0" sz="1400" spc="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understanding</a:t>
            </a:r>
            <a:r>
              <a:rPr dirty="0" sz="1400" spc="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1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6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engineering</a:t>
            </a:r>
            <a:r>
              <a:rPr dirty="0" sz="1400" spc="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management</a:t>
            </a:r>
            <a:r>
              <a:rPr dirty="0" sz="1400" spc="1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principles</a:t>
            </a:r>
            <a:r>
              <a:rPr dirty="0" sz="1400" spc="1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apply</a:t>
            </a:r>
            <a:r>
              <a:rPr dirty="0" sz="1400" spc="1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these</a:t>
            </a:r>
            <a:r>
              <a:rPr dirty="0" sz="1400" spc="1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10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one’s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  <a:tabLst>
                <a:tab pos="609600" algn="l"/>
                <a:tab pos="1311275" algn="l"/>
                <a:tab pos="1751964" algn="l"/>
                <a:tab pos="2122170" algn="l"/>
                <a:tab pos="2996565" algn="l"/>
                <a:tab pos="3545204" algn="l"/>
                <a:tab pos="4271645" algn="l"/>
                <a:tab pos="4700905" algn="l"/>
                <a:tab pos="5071110" algn="l"/>
                <a:tab pos="5753100" algn="l"/>
                <a:tab pos="6182995" algn="l"/>
                <a:tab pos="7028815" algn="l"/>
                <a:tab pos="7884159" algn="l"/>
                <a:tab pos="8432165" algn="l"/>
                <a:tab pos="8861425" algn="l"/>
                <a:tab pos="10368280" algn="l"/>
              </a:tabLst>
            </a:pPr>
            <a:r>
              <a:rPr dirty="0" sz="1400" spc="-25">
                <a:latin typeface="Times New Roman"/>
                <a:cs typeface="Times New Roman"/>
              </a:rPr>
              <a:t>own</a:t>
            </a:r>
            <a:r>
              <a:rPr dirty="0" sz="1400">
                <a:latin typeface="Times New Roman"/>
                <a:cs typeface="Times New Roman"/>
              </a:rPr>
              <a:t>	</a:t>
            </a:r>
            <a:r>
              <a:rPr dirty="0" sz="1400" spc="-20">
                <a:latin typeface="Times New Roman"/>
                <a:cs typeface="Times New Roman"/>
              </a:rPr>
              <a:t>work,</a:t>
            </a:r>
            <a:r>
              <a:rPr dirty="0" sz="1400">
                <a:latin typeface="Times New Roman"/>
                <a:cs typeface="Times New Roman"/>
              </a:rPr>
              <a:t>	</a:t>
            </a:r>
            <a:r>
              <a:rPr dirty="0" sz="1400" spc="-25">
                <a:latin typeface="Times New Roman"/>
                <a:cs typeface="Times New Roman"/>
              </a:rPr>
              <a:t>as</a:t>
            </a:r>
            <a:r>
              <a:rPr dirty="0" sz="1400">
                <a:latin typeface="Times New Roman"/>
                <a:cs typeface="Times New Roman"/>
              </a:rPr>
              <a:t>	</a:t>
            </a:r>
            <a:r>
              <a:rPr dirty="0" sz="1400" spc="-50">
                <a:latin typeface="Times New Roman"/>
                <a:cs typeface="Times New Roman"/>
              </a:rPr>
              <a:t>a</a:t>
            </a:r>
            <a:r>
              <a:rPr dirty="0" sz="1400">
                <a:latin typeface="Times New Roman"/>
                <a:cs typeface="Times New Roman"/>
              </a:rPr>
              <a:t>	</a:t>
            </a:r>
            <a:r>
              <a:rPr dirty="0" sz="1400" spc="-10">
                <a:latin typeface="Times New Roman"/>
                <a:cs typeface="Times New Roman"/>
              </a:rPr>
              <a:t>member</a:t>
            </a:r>
            <a:r>
              <a:rPr dirty="0" sz="1400">
                <a:latin typeface="Times New Roman"/>
                <a:cs typeface="Times New Roman"/>
              </a:rPr>
              <a:t>	</a:t>
            </a:r>
            <a:r>
              <a:rPr dirty="0" sz="1400" spc="-25">
                <a:latin typeface="Times New Roman"/>
                <a:cs typeface="Times New Roman"/>
              </a:rPr>
              <a:t>and</a:t>
            </a:r>
            <a:r>
              <a:rPr dirty="0" sz="1400">
                <a:latin typeface="Times New Roman"/>
                <a:cs typeface="Times New Roman"/>
              </a:rPr>
              <a:t>	</a:t>
            </a:r>
            <a:r>
              <a:rPr dirty="0" sz="1400" spc="-10">
                <a:latin typeface="Times New Roman"/>
                <a:cs typeface="Times New Roman"/>
              </a:rPr>
              <a:t>leader</a:t>
            </a:r>
            <a:r>
              <a:rPr dirty="0" sz="1400">
                <a:latin typeface="Times New Roman"/>
                <a:cs typeface="Times New Roman"/>
              </a:rPr>
              <a:t>	</a:t>
            </a:r>
            <a:r>
              <a:rPr dirty="0" sz="1400" spc="-25">
                <a:latin typeface="Times New Roman"/>
                <a:cs typeface="Times New Roman"/>
              </a:rPr>
              <a:t>in</a:t>
            </a:r>
            <a:r>
              <a:rPr dirty="0" sz="1400">
                <a:latin typeface="Times New Roman"/>
                <a:cs typeface="Times New Roman"/>
              </a:rPr>
              <a:t>	</a:t>
            </a:r>
            <a:r>
              <a:rPr dirty="0" sz="1400" spc="-50">
                <a:latin typeface="Times New Roman"/>
                <a:cs typeface="Times New Roman"/>
              </a:rPr>
              <a:t>a</a:t>
            </a:r>
            <a:r>
              <a:rPr dirty="0" sz="1400">
                <a:latin typeface="Times New Roman"/>
                <a:cs typeface="Times New Roman"/>
              </a:rPr>
              <a:t>	</a:t>
            </a:r>
            <a:r>
              <a:rPr dirty="0" sz="1400" spc="-10">
                <a:latin typeface="Times New Roman"/>
                <a:cs typeface="Times New Roman"/>
              </a:rPr>
              <a:t>team,</a:t>
            </a:r>
            <a:r>
              <a:rPr dirty="0" sz="1400">
                <a:latin typeface="Times New Roman"/>
                <a:cs typeface="Times New Roman"/>
              </a:rPr>
              <a:t>	</a:t>
            </a:r>
            <a:r>
              <a:rPr dirty="0" sz="1400" spc="-25">
                <a:latin typeface="Times New Roman"/>
                <a:cs typeface="Times New Roman"/>
              </a:rPr>
              <a:t>to</a:t>
            </a:r>
            <a:r>
              <a:rPr dirty="0" sz="1400">
                <a:latin typeface="Times New Roman"/>
                <a:cs typeface="Times New Roman"/>
              </a:rPr>
              <a:t>	</a:t>
            </a:r>
            <a:r>
              <a:rPr dirty="0" sz="1400" spc="-10">
                <a:latin typeface="Times New Roman"/>
                <a:cs typeface="Times New Roman"/>
              </a:rPr>
              <a:t>manage</a:t>
            </a:r>
            <a:r>
              <a:rPr dirty="0" sz="1400">
                <a:latin typeface="Times New Roman"/>
                <a:cs typeface="Times New Roman"/>
              </a:rPr>
              <a:t>	</a:t>
            </a:r>
            <a:r>
              <a:rPr dirty="0" sz="1400" spc="-10">
                <a:latin typeface="Times New Roman"/>
                <a:cs typeface="Times New Roman"/>
              </a:rPr>
              <a:t>projects</a:t>
            </a:r>
            <a:r>
              <a:rPr dirty="0" sz="1400">
                <a:latin typeface="Times New Roman"/>
                <a:cs typeface="Times New Roman"/>
              </a:rPr>
              <a:t>	</a:t>
            </a:r>
            <a:r>
              <a:rPr dirty="0" sz="1400" spc="-25">
                <a:latin typeface="Times New Roman"/>
                <a:cs typeface="Times New Roman"/>
              </a:rPr>
              <a:t>and</a:t>
            </a:r>
            <a:r>
              <a:rPr dirty="0" sz="1400">
                <a:latin typeface="Times New Roman"/>
                <a:cs typeface="Times New Roman"/>
              </a:rPr>
              <a:t>	</a:t>
            </a:r>
            <a:r>
              <a:rPr dirty="0" sz="1400" spc="-25">
                <a:latin typeface="Times New Roman"/>
                <a:cs typeface="Times New Roman"/>
              </a:rPr>
              <a:t>in</a:t>
            </a:r>
            <a:r>
              <a:rPr dirty="0" sz="1400">
                <a:latin typeface="Times New Roman"/>
                <a:cs typeface="Times New Roman"/>
              </a:rPr>
              <a:t>	</a:t>
            </a:r>
            <a:r>
              <a:rPr dirty="0" sz="1400" spc="-10">
                <a:latin typeface="Times New Roman"/>
                <a:cs typeface="Times New Roman"/>
              </a:rPr>
              <a:t>multidisciplinary</a:t>
            </a:r>
            <a:r>
              <a:rPr dirty="0" sz="1400">
                <a:latin typeface="Times New Roman"/>
                <a:cs typeface="Times New Roman"/>
              </a:rPr>
              <a:t>	</a:t>
            </a:r>
            <a:r>
              <a:rPr dirty="0" sz="1400" spc="-10">
                <a:latin typeface="Times New Roman"/>
                <a:cs typeface="Times New Roman"/>
              </a:rPr>
              <a:t>environments.</a:t>
            </a:r>
            <a:endParaRPr sz="1400">
              <a:latin typeface="Times New Roman"/>
              <a:cs typeface="Times New Roman"/>
            </a:endParaRPr>
          </a:p>
          <a:p>
            <a:pPr marL="281305" indent="-268605">
              <a:lnSpc>
                <a:spcPct val="100000"/>
              </a:lnSpc>
              <a:spcBef>
                <a:spcPts val="270"/>
              </a:spcBef>
              <a:buFont typeface="Times New Roman"/>
              <a:buAutoNum type="arabicPeriod" startAt="12"/>
              <a:tabLst>
                <a:tab pos="281305" algn="l"/>
              </a:tabLst>
            </a:pPr>
            <a:r>
              <a:rPr dirty="0" sz="1400" spc="-10" b="1">
                <a:latin typeface="Times New Roman"/>
                <a:cs typeface="Times New Roman"/>
              </a:rPr>
              <a:t>Life-</a:t>
            </a:r>
            <a:r>
              <a:rPr dirty="0" sz="1400" b="1">
                <a:latin typeface="Times New Roman"/>
                <a:cs typeface="Times New Roman"/>
              </a:rPr>
              <a:t>long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learning: </a:t>
            </a:r>
            <a:r>
              <a:rPr dirty="0" sz="1400">
                <a:latin typeface="Times New Roman"/>
                <a:cs typeface="Times New Roman"/>
              </a:rPr>
              <a:t>Recognize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need for, 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have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preparation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ability</a:t>
            </a:r>
            <a:r>
              <a:rPr dirty="0" sz="1400" spc="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engage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independent</a:t>
            </a:r>
            <a:r>
              <a:rPr dirty="0" sz="1400" spc="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life-</a:t>
            </a:r>
            <a:r>
              <a:rPr dirty="0" sz="1400">
                <a:latin typeface="Times New Roman"/>
                <a:cs typeface="Times New Roman"/>
              </a:rPr>
              <a:t>long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learning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broadest</a:t>
            </a:r>
            <a:r>
              <a:rPr dirty="0" sz="1400" spc="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context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of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4647" y="6408102"/>
            <a:ext cx="157543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>
                <a:latin typeface="Times New Roman"/>
                <a:cs typeface="Times New Roman"/>
              </a:rPr>
              <a:t>technological</a:t>
            </a:r>
            <a:r>
              <a:rPr dirty="0" sz="1400" spc="-7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change</a:t>
            </a:r>
            <a:r>
              <a:rPr dirty="0" sz="1250" spc="-10">
                <a:latin typeface="Times New Roman"/>
                <a:cs typeface="Times New Roman"/>
              </a:rPr>
              <a:t>.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92826" y="6434454"/>
            <a:ext cx="10134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Dept</a:t>
            </a:r>
            <a:r>
              <a:rPr dirty="0" sz="1200" spc="-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Of</a:t>
            </a:r>
            <a:r>
              <a:rPr dirty="0" sz="1200" spc="-4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888888"/>
                </a:solidFill>
                <a:latin typeface="Calibri"/>
                <a:cs typeface="Calibri"/>
              </a:rPr>
              <a:t>CSE(CY)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45866" y="2301557"/>
            <a:ext cx="5875020" cy="44894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 sz="275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Programme</a:t>
            </a:r>
            <a:r>
              <a:rPr dirty="0" u="sng" sz="2750" spc="2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 sz="275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Specific</a:t>
            </a:r>
            <a:r>
              <a:rPr dirty="0" u="sng" sz="2750" spc="155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 sz="275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Outcomes</a:t>
            </a:r>
            <a:r>
              <a:rPr dirty="0" u="sng" sz="2750" spc="15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 sz="2750" spc="-1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(PSOs)</a:t>
            </a:r>
            <a:endParaRPr sz="2750"/>
          </a:p>
        </p:txBody>
      </p:sp>
      <p:sp>
        <p:nvSpPr>
          <p:cNvPr id="3" name="object 3"/>
          <p:cNvSpPr txBox="1"/>
          <p:nvPr/>
        </p:nvSpPr>
        <p:spPr>
          <a:xfrm>
            <a:off x="591184" y="3093021"/>
            <a:ext cx="10875645" cy="2284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985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On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completion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Computer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Science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&amp;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Engineering program,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students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will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possess: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Font typeface="Arial MT"/>
              <a:buChar char="•"/>
              <a:tabLst>
                <a:tab pos="297815" algn="l"/>
              </a:tabLst>
            </a:pPr>
            <a:r>
              <a:rPr dirty="0" sz="1800" b="1">
                <a:latin typeface="Times New Roman"/>
                <a:cs typeface="Times New Roman"/>
              </a:rPr>
              <a:t>PSO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1</a:t>
            </a:r>
            <a:r>
              <a:rPr dirty="0" sz="1800">
                <a:latin typeface="Times New Roman"/>
                <a:cs typeface="Times New Roman"/>
              </a:rPr>
              <a:t>:</a:t>
            </a:r>
            <a:r>
              <a:rPr dirty="0" sz="1800" spc="-11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Apply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cyber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security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principles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mitigate cyber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risk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analyze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security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requirements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organization.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05"/>
              </a:spcBef>
              <a:buFont typeface="Arial MT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</a:tabLst>
            </a:pPr>
            <a:r>
              <a:rPr dirty="0" sz="1800" b="1">
                <a:latin typeface="Times New Roman"/>
                <a:cs typeface="Times New Roman"/>
              </a:rPr>
              <a:t>PSO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2</a:t>
            </a:r>
            <a:r>
              <a:rPr dirty="0" sz="1800">
                <a:latin typeface="Times New Roman"/>
                <a:cs typeface="Times New Roman"/>
              </a:rPr>
              <a:t>: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Develop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deploy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secure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software and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infrastructure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using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modern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tools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industry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standards.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75"/>
              </a:spcBef>
              <a:buFont typeface="Arial MT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</a:tabLst>
            </a:pPr>
            <a:r>
              <a:rPr dirty="0" sz="1800" b="1">
                <a:latin typeface="Times New Roman"/>
                <a:cs typeface="Times New Roman"/>
              </a:rPr>
              <a:t>PSO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3</a:t>
            </a:r>
            <a:r>
              <a:rPr dirty="0" sz="1800">
                <a:latin typeface="Times New Roman"/>
                <a:cs typeface="Times New Roman"/>
              </a:rPr>
              <a:t>: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Uphold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ethical,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legal,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societal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responsibilities while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protecting </a:t>
            </a:r>
            <a:r>
              <a:rPr dirty="0" sz="1800" spc="-10">
                <a:latin typeface="Times New Roman"/>
                <a:cs typeface="Times New Roman"/>
              </a:rPr>
              <a:t>privacy,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data,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digital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assets.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Dept</a:t>
            </a:r>
            <a:r>
              <a:rPr dirty="0" spc="-5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10"/>
              <a:t>CSE(CY)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627380">
              <a:lnSpc>
                <a:spcPct val="100000"/>
              </a:lnSpc>
              <a:spcBef>
                <a:spcPts val="130"/>
              </a:spcBef>
            </a:pPr>
            <a:r>
              <a:rPr dirty="0" u="sng" spc="-1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CONTENTS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99158" y="2933128"/>
            <a:ext cx="2994660" cy="25850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ts val="2865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400" spc="-10" b="1">
                <a:solidFill>
                  <a:srgbClr val="001F5F"/>
                </a:solidFill>
                <a:latin typeface="Times New Roman"/>
                <a:cs typeface="Times New Roman"/>
              </a:rPr>
              <a:t>Motivation</a:t>
            </a:r>
            <a:endParaRPr sz="2400">
              <a:latin typeface="Times New Roman"/>
              <a:cs typeface="Times New Roman"/>
            </a:endParaRPr>
          </a:p>
          <a:p>
            <a:pPr marL="240665" indent="-227965">
              <a:lnSpc>
                <a:spcPts val="2865"/>
              </a:lnSpc>
              <a:buFont typeface="Arial MT"/>
              <a:buChar char="•"/>
              <a:tabLst>
                <a:tab pos="240665" algn="l"/>
              </a:tabLst>
            </a:pPr>
            <a:r>
              <a:rPr dirty="0" sz="2400" spc="-10" b="1">
                <a:solidFill>
                  <a:srgbClr val="001F5F"/>
                </a:solidFill>
                <a:latin typeface="Times New Roman"/>
                <a:cs typeface="Times New Roman"/>
              </a:rPr>
              <a:t>Introduction</a:t>
            </a:r>
            <a:endParaRPr sz="2400">
              <a:latin typeface="Times New Roman"/>
              <a:cs typeface="Times New Roman"/>
            </a:endParaRPr>
          </a:p>
          <a:p>
            <a:pPr marL="240665" indent="-227965">
              <a:lnSpc>
                <a:spcPts val="2865"/>
              </a:lnSpc>
              <a:spcBef>
                <a:spcPts val="5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400" b="1">
                <a:solidFill>
                  <a:srgbClr val="001F5F"/>
                </a:solidFill>
                <a:latin typeface="Times New Roman"/>
                <a:cs typeface="Times New Roman"/>
              </a:rPr>
              <a:t>Problem</a:t>
            </a:r>
            <a:r>
              <a:rPr dirty="0" sz="2400" spc="-90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001F5F"/>
                </a:solidFill>
                <a:latin typeface="Times New Roman"/>
                <a:cs typeface="Times New Roman"/>
              </a:rPr>
              <a:t>Statement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ts val="2865"/>
              </a:lnSpc>
              <a:buFont typeface="Arial MT"/>
              <a:buChar char="•"/>
              <a:tabLst>
                <a:tab pos="240029" algn="l"/>
              </a:tabLst>
            </a:pPr>
            <a:r>
              <a:rPr dirty="0" sz="2400" b="1">
                <a:solidFill>
                  <a:srgbClr val="001F5F"/>
                </a:solidFill>
                <a:latin typeface="Times New Roman"/>
                <a:cs typeface="Times New Roman"/>
              </a:rPr>
              <a:t>Proposed</a:t>
            </a:r>
            <a:r>
              <a:rPr dirty="0" sz="2400" spc="-125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001F5F"/>
                </a:solidFill>
                <a:latin typeface="Times New Roman"/>
                <a:cs typeface="Times New Roman"/>
              </a:rPr>
              <a:t>Method</a:t>
            </a:r>
            <a:endParaRPr sz="2400">
              <a:latin typeface="Times New Roman"/>
              <a:cs typeface="Times New Roman"/>
            </a:endParaRPr>
          </a:p>
          <a:p>
            <a:pPr marL="240665" indent="-227965">
              <a:lnSpc>
                <a:spcPts val="2865"/>
              </a:lnSpc>
              <a:spcBef>
                <a:spcPts val="5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400" b="1">
                <a:solidFill>
                  <a:srgbClr val="001F5F"/>
                </a:solidFill>
                <a:latin typeface="Times New Roman"/>
                <a:cs typeface="Times New Roman"/>
              </a:rPr>
              <a:t>Basic</a:t>
            </a:r>
            <a:r>
              <a:rPr dirty="0" sz="2400" spc="-50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001F5F"/>
                </a:solidFill>
                <a:latin typeface="Times New Roman"/>
                <a:cs typeface="Times New Roman"/>
              </a:rPr>
              <a:t>Block</a:t>
            </a:r>
            <a:r>
              <a:rPr dirty="0" sz="2400" spc="-30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001F5F"/>
                </a:solidFill>
                <a:latin typeface="Times New Roman"/>
                <a:cs typeface="Times New Roman"/>
              </a:rPr>
              <a:t>Diagram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ts val="2855"/>
              </a:lnSpc>
              <a:buFont typeface="Arial MT"/>
              <a:buChar char="•"/>
              <a:tabLst>
                <a:tab pos="240029" algn="l"/>
              </a:tabLst>
            </a:pPr>
            <a:r>
              <a:rPr dirty="0" sz="2400" spc="-10" b="1">
                <a:solidFill>
                  <a:srgbClr val="001F5F"/>
                </a:solidFill>
                <a:latin typeface="Times New Roman"/>
                <a:cs typeface="Times New Roman"/>
              </a:rPr>
              <a:t>Conclusion</a:t>
            </a:r>
            <a:endParaRPr sz="2400">
              <a:latin typeface="Times New Roman"/>
              <a:cs typeface="Times New Roman"/>
            </a:endParaRPr>
          </a:p>
          <a:p>
            <a:pPr marL="240665" indent="-227965">
              <a:lnSpc>
                <a:spcPts val="2870"/>
              </a:lnSpc>
              <a:buFont typeface="Arial MT"/>
              <a:buChar char="•"/>
              <a:tabLst>
                <a:tab pos="240665" algn="l"/>
              </a:tabLst>
            </a:pPr>
            <a:r>
              <a:rPr dirty="0" sz="2400" spc="-10" b="1">
                <a:solidFill>
                  <a:srgbClr val="001F5F"/>
                </a:solidFill>
                <a:latin typeface="Times New Roman"/>
                <a:cs typeface="Times New Roman"/>
              </a:rPr>
              <a:t>References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Dept</a:t>
            </a:r>
            <a:r>
              <a:rPr dirty="0" spc="-5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10"/>
              <a:t>CSE(CY)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70678" y="2030031"/>
            <a:ext cx="2418715" cy="6324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pc="-1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Motivation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6235" algn="l"/>
              </a:tabLst>
            </a:pPr>
            <a:r>
              <a:rPr dirty="0"/>
              <a:t>Protect</a:t>
            </a:r>
            <a:r>
              <a:rPr dirty="0" spc="-80"/>
              <a:t> </a:t>
            </a:r>
            <a:r>
              <a:rPr dirty="0" spc="-10"/>
              <a:t>confidential</a:t>
            </a:r>
            <a:r>
              <a:rPr dirty="0" spc="-45"/>
              <a:t> </a:t>
            </a:r>
            <a:r>
              <a:rPr dirty="0"/>
              <a:t>documents</a:t>
            </a:r>
            <a:r>
              <a:rPr dirty="0" spc="-40"/>
              <a:t> </a:t>
            </a:r>
            <a:r>
              <a:rPr dirty="0"/>
              <a:t>from</a:t>
            </a:r>
            <a:r>
              <a:rPr dirty="0" spc="-25"/>
              <a:t> </a:t>
            </a:r>
            <a:r>
              <a:rPr dirty="0" spc="-10"/>
              <a:t>unauthorized</a:t>
            </a:r>
            <a:r>
              <a:rPr dirty="0" spc="-45"/>
              <a:t> </a:t>
            </a:r>
            <a:r>
              <a:rPr dirty="0" spc="-10"/>
              <a:t>access.</a:t>
            </a:r>
          </a:p>
          <a:p>
            <a:pPr marL="355600" indent="-342900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356235" algn="l"/>
              </a:tabLst>
            </a:pPr>
            <a:r>
              <a:rPr dirty="0" spc="-10"/>
              <a:t>Improve</a:t>
            </a:r>
            <a:r>
              <a:rPr dirty="0" spc="-70"/>
              <a:t> </a:t>
            </a:r>
            <a:r>
              <a:rPr dirty="0"/>
              <a:t>security using</a:t>
            </a:r>
            <a:r>
              <a:rPr dirty="0" spc="-25"/>
              <a:t> </a:t>
            </a:r>
            <a:r>
              <a:rPr dirty="0"/>
              <a:t>RFID</a:t>
            </a:r>
            <a:r>
              <a:rPr dirty="0" spc="-65"/>
              <a:t> </a:t>
            </a:r>
            <a:r>
              <a:rPr dirty="0"/>
              <a:t>and</a:t>
            </a:r>
            <a:r>
              <a:rPr dirty="0" spc="-50"/>
              <a:t> </a:t>
            </a:r>
            <a:r>
              <a:rPr dirty="0"/>
              <a:t>password</a:t>
            </a:r>
            <a:r>
              <a:rPr dirty="0" spc="-50"/>
              <a:t> </a:t>
            </a:r>
            <a:r>
              <a:rPr dirty="0" spc="-10"/>
              <a:t>authentication.</a:t>
            </a:r>
          </a:p>
          <a:p>
            <a:pPr marL="355600" indent="-342900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356235" algn="l"/>
              </a:tabLst>
            </a:pPr>
            <a:r>
              <a:rPr dirty="0"/>
              <a:t>Detect</a:t>
            </a:r>
            <a:r>
              <a:rPr dirty="0" spc="-60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alert</a:t>
            </a:r>
            <a:r>
              <a:rPr dirty="0" spc="-60"/>
              <a:t> </a:t>
            </a:r>
            <a:r>
              <a:rPr dirty="0"/>
              <a:t>users</a:t>
            </a:r>
            <a:r>
              <a:rPr dirty="0" spc="-15"/>
              <a:t> </a:t>
            </a:r>
            <a:r>
              <a:rPr dirty="0"/>
              <a:t>about</a:t>
            </a:r>
            <a:r>
              <a:rPr dirty="0" spc="-55"/>
              <a:t> </a:t>
            </a:r>
            <a:r>
              <a:rPr dirty="0"/>
              <a:t>tampering</a:t>
            </a:r>
            <a:r>
              <a:rPr dirty="0" spc="-75"/>
              <a:t> </a:t>
            </a:r>
            <a:r>
              <a:rPr dirty="0" spc="-10"/>
              <a:t>attempts.</a:t>
            </a:r>
          </a:p>
          <a:p>
            <a:pPr marL="355600" marR="5080" indent="-343535">
              <a:lnSpc>
                <a:spcPct val="100800"/>
              </a:lnSpc>
              <a:buFont typeface="Arial MT"/>
              <a:buChar char="•"/>
              <a:tabLst>
                <a:tab pos="356235" algn="l"/>
              </a:tabLst>
            </a:pPr>
            <a:r>
              <a:rPr dirty="0" spc="-10"/>
              <a:t>Demonstrate</a:t>
            </a:r>
            <a:r>
              <a:rPr dirty="0" spc="-25"/>
              <a:t> </a:t>
            </a:r>
            <a:r>
              <a:rPr dirty="0" spc="-10"/>
              <a:t>practical</a:t>
            </a:r>
            <a:r>
              <a:rPr dirty="0" spc="-55"/>
              <a:t> </a:t>
            </a:r>
            <a:r>
              <a:rPr dirty="0" spc="-10"/>
              <a:t>cybersecurity</a:t>
            </a:r>
            <a:r>
              <a:rPr dirty="0" spc="-20"/>
              <a:t> </a:t>
            </a:r>
            <a:r>
              <a:rPr dirty="0"/>
              <a:t>concepts</a:t>
            </a:r>
            <a:r>
              <a:rPr dirty="0" spc="-55"/>
              <a:t> </a:t>
            </a:r>
            <a:r>
              <a:rPr dirty="0"/>
              <a:t>using</a:t>
            </a:r>
            <a:r>
              <a:rPr dirty="0" spc="-45"/>
              <a:t> </a:t>
            </a:r>
            <a:r>
              <a:rPr dirty="0" spc="-10"/>
              <a:t>Arduino </a:t>
            </a:r>
            <a:r>
              <a:rPr dirty="0" spc="-20"/>
              <a:t>Uno.</a:t>
            </a:r>
          </a:p>
          <a:p>
            <a:pPr marL="355600" indent="-342900">
              <a:lnSpc>
                <a:spcPts val="2105"/>
              </a:lnSpc>
              <a:buFont typeface="Arial MT"/>
              <a:buChar char="•"/>
              <a:tabLst>
                <a:tab pos="356235" algn="l"/>
              </a:tabLst>
            </a:pPr>
            <a:r>
              <a:rPr dirty="0"/>
              <a:t>Develop a</a:t>
            </a:r>
            <a:r>
              <a:rPr dirty="0" spc="-55"/>
              <a:t> </a:t>
            </a:r>
            <a:r>
              <a:rPr dirty="0"/>
              <a:t>simple,</a:t>
            </a:r>
            <a:r>
              <a:rPr dirty="0" spc="-85"/>
              <a:t> </a:t>
            </a:r>
            <a:r>
              <a:rPr dirty="0"/>
              <a:t>low-cost,</a:t>
            </a:r>
            <a:r>
              <a:rPr dirty="0" spc="-85"/>
              <a:t> </a:t>
            </a:r>
            <a:r>
              <a:rPr dirty="0"/>
              <a:t>and reliable</a:t>
            </a:r>
            <a:r>
              <a:rPr dirty="0" spc="-20"/>
              <a:t> </a:t>
            </a:r>
            <a:r>
              <a:rPr dirty="0"/>
              <a:t>security</a:t>
            </a:r>
            <a:r>
              <a:rPr dirty="0" spc="-80"/>
              <a:t> </a:t>
            </a:r>
            <a:r>
              <a:rPr dirty="0" spc="-10"/>
              <a:t>system.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Dept</a:t>
            </a:r>
            <a:r>
              <a:rPr dirty="0" spc="-5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10"/>
              <a:t>CSE(CY)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2805176" y="-24701"/>
            <a:ext cx="543369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E7E6E6"/>
                </a:solidFill>
                <a:latin typeface="Calibri"/>
                <a:cs typeface="Calibri"/>
              </a:rPr>
              <a:t>Secure</a:t>
            </a:r>
            <a:r>
              <a:rPr dirty="0" sz="1200" spc="-30" b="1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E7E6E6"/>
                </a:solidFill>
                <a:latin typeface="Calibri"/>
                <a:cs typeface="Calibri"/>
              </a:rPr>
              <a:t>Confidential</a:t>
            </a:r>
            <a:r>
              <a:rPr dirty="0" sz="1200" spc="-5" b="1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E7E6E6"/>
                </a:solidFill>
                <a:latin typeface="Calibri"/>
                <a:cs typeface="Calibri"/>
              </a:rPr>
              <a:t>Document</a:t>
            </a:r>
            <a:r>
              <a:rPr dirty="0" sz="1200" spc="-45" b="1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E7E6E6"/>
                </a:solidFill>
                <a:latin typeface="Calibri"/>
                <a:cs typeface="Calibri"/>
              </a:rPr>
              <a:t>Storage</a:t>
            </a:r>
            <a:r>
              <a:rPr dirty="0" sz="1200" spc="-10" b="1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E7E6E6"/>
                </a:solidFill>
                <a:latin typeface="Calibri"/>
                <a:cs typeface="Calibri"/>
              </a:rPr>
              <a:t>Box</a:t>
            </a:r>
            <a:r>
              <a:rPr dirty="0" sz="1200" spc="-35" b="1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E7E6E6"/>
                </a:solidFill>
                <a:latin typeface="Calibri"/>
                <a:cs typeface="Calibri"/>
              </a:rPr>
              <a:t>with</a:t>
            </a:r>
            <a:r>
              <a:rPr dirty="0" sz="1200" spc="15" b="1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dirty="0" sz="1200" spc="-25" b="1">
                <a:solidFill>
                  <a:srgbClr val="E7E6E6"/>
                </a:solidFill>
                <a:latin typeface="Calibri"/>
                <a:cs typeface="Calibri"/>
              </a:rPr>
              <a:t>Tamper</a:t>
            </a:r>
            <a:r>
              <a:rPr dirty="0" sz="1200" spc="-40" b="1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E7E6E6"/>
                </a:solidFill>
                <a:latin typeface="Calibri"/>
                <a:cs typeface="Calibri"/>
              </a:rPr>
              <a:t>Detection</a:t>
            </a:r>
            <a:r>
              <a:rPr dirty="0" sz="1200" spc="-50" b="1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E7E6E6"/>
                </a:solidFill>
                <a:latin typeface="Calibri"/>
                <a:cs typeface="Calibri"/>
              </a:rPr>
              <a:t>using</a:t>
            </a:r>
            <a:r>
              <a:rPr dirty="0" sz="1200" spc="-50" b="1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E7E6E6"/>
                </a:solidFill>
                <a:latin typeface="Calibri"/>
                <a:cs typeface="Calibri"/>
              </a:rPr>
              <a:t>Arduino</a:t>
            </a:r>
            <a:r>
              <a:rPr dirty="0" sz="1200" spc="-45" b="1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dirty="0" sz="1200" spc="-25" b="1">
                <a:solidFill>
                  <a:srgbClr val="E7E6E6"/>
                </a:solidFill>
                <a:latin typeface="Calibri"/>
                <a:cs typeface="Calibri"/>
              </a:rPr>
              <a:t>Uno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390525">
              <a:lnSpc>
                <a:spcPct val="100000"/>
              </a:lnSpc>
              <a:spcBef>
                <a:spcPts val="130"/>
              </a:spcBef>
            </a:pPr>
            <a:r>
              <a:rPr dirty="0" u="sng" spc="-1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8155" y="2749232"/>
            <a:ext cx="9098915" cy="2226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800">
                <a:latin typeface="Calibri"/>
                <a:cs typeface="Calibri"/>
              </a:rPr>
              <a:t>Arduino </a:t>
            </a:r>
            <a:r>
              <a:rPr dirty="0" sz="1800" spc="-25">
                <a:latin typeface="Calibri"/>
                <a:cs typeface="Calibri"/>
              </a:rPr>
              <a:t>Uno–</a:t>
            </a:r>
            <a:r>
              <a:rPr dirty="0" sz="1800">
                <a:latin typeface="Calibri"/>
                <a:cs typeface="Calibri"/>
              </a:rPr>
              <a:t>based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security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system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protecting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confidential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documents.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800">
                <a:latin typeface="Calibri"/>
                <a:cs typeface="Calibri"/>
              </a:rPr>
              <a:t>Uses RFID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card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password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 </a:t>
            </a:r>
            <a:r>
              <a:rPr dirty="0" sz="1800" spc="-10">
                <a:latin typeface="Calibri"/>
                <a:cs typeface="Calibri"/>
              </a:rPr>
              <a:t>secure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user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authentication.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800">
                <a:latin typeface="Calibri"/>
                <a:cs typeface="Calibri"/>
              </a:rPr>
              <a:t>Servo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motor</a:t>
            </a:r>
            <a:r>
              <a:rPr dirty="0" sz="1800" spc="-9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locks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unlocks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storage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box.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800" spc="-10">
                <a:latin typeface="Calibri"/>
                <a:cs typeface="Calibri"/>
              </a:rPr>
              <a:t>Tamper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detection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switch </a:t>
            </a:r>
            <a:r>
              <a:rPr dirty="0" sz="1800" spc="-10">
                <a:latin typeface="Calibri"/>
                <a:cs typeface="Calibri"/>
              </a:rPr>
              <a:t>identifies</a:t>
            </a:r>
            <a:r>
              <a:rPr dirty="0" sz="1800" spc="-9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unauthorized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opening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attempts.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ts val="2130"/>
              </a:lnSpc>
              <a:spcBef>
                <a:spcPts val="2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800" spc="-25">
                <a:latin typeface="Calibri"/>
                <a:cs typeface="Calibri"/>
              </a:rPr>
              <a:t>Buzzer,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LEDs,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LCD</a:t>
            </a:r>
            <a:r>
              <a:rPr dirty="0" sz="1800" spc="1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provide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security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alerts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system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status.</a:t>
            </a:r>
            <a:endParaRPr sz="1800">
              <a:latin typeface="Calibri"/>
              <a:cs typeface="Calibri"/>
            </a:endParaRPr>
          </a:p>
          <a:p>
            <a:pPr marL="355600" marR="5080" indent="-342900">
              <a:lnSpc>
                <a:spcPts val="2180"/>
              </a:lnSpc>
              <a:spcBef>
                <a:spcPts val="2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00" spc="-10">
                <a:latin typeface="Calibri"/>
                <a:cs typeface="Calibri"/>
              </a:rPr>
              <a:t>Demonstrates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cybersecurity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concepts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such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authentication,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access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control,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physical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security,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tamper</a:t>
            </a:r>
            <a:r>
              <a:rPr dirty="0" sz="1800" spc="-10">
                <a:latin typeface="Calibri"/>
                <a:cs typeface="Calibri"/>
              </a:rPr>
              <a:t> detection.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ts val="21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1800" spc="-10">
                <a:latin typeface="Calibri"/>
                <a:cs typeface="Calibri"/>
              </a:rPr>
              <a:t>Developed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using the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Arduino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IDE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with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low-</a:t>
            </a:r>
            <a:r>
              <a:rPr dirty="0" sz="1800">
                <a:latin typeface="Calibri"/>
                <a:cs typeface="Calibri"/>
              </a:rPr>
              <a:t>cost,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easily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available</a:t>
            </a:r>
            <a:r>
              <a:rPr dirty="0" sz="1800" spc="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components.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Dept</a:t>
            </a:r>
            <a:r>
              <a:rPr dirty="0" spc="-5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10"/>
              <a:t>CSE(CY)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204591" y="-13081"/>
            <a:ext cx="5003165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b="1">
                <a:solidFill>
                  <a:srgbClr val="E7E6E6"/>
                </a:solidFill>
                <a:latin typeface="Calibri"/>
                <a:cs typeface="Calibri"/>
              </a:rPr>
              <a:t>Secure</a:t>
            </a:r>
            <a:r>
              <a:rPr dirty="0" sz="1100" spc="-65" b="1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E7E6E6"/>
                </a:solidFill>
                <a:latin typeface="Calibri"/>
                <a:cs typeface="Calibri"/>
              </a:rPr>
              <a:t>Confidential</a:t>
            </a:r>
            <a:r>
              <a:rPr dirty="0" sz="1100" spc="-50" b="1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E7E6E6"/>
                </a:solidFill>
                <a:latin typeface="Calibri"/>
                <a:cs typeface="Calibri"/>
              </a:rPr>
              <a:t>Document</a:t>
            </a:r>
            <a:r>
              <a:rPr dirty="0" sz="1100" spc="10" b="1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E7E6E6"/>
                </a:solidFill>
                <a:latin typeface="Calibri"/>
                <a:cs typeface="Calibri"/>
              </a:rPr>
              <a:t>Storage</a:t>
            </a:r>
            <a:r>
              <a:rPr dirty="0" sz="1100" spc="-15" b="1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E7E6E6"/>
                </a:solidFill>
                <a:latin typeface="Calibri"/>
                <a:cs typeface="Calibri"/>
              </a:rPr>
              <a:t>Box</a:t>
            </a:r>
            <a:r>
              <a:rPr dirty="0" sz="1100" spc="-40" b="1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E7E6E6"/>
                </a:solidFill>
                <a:latin typeface="Calibri"/>
                <a:cs typeface="Calibri"/>
              </a:rPr>
              <a:t>with</a:t>
            </a:r>
            <a:r>
              <a:rPr dirty="0" sz="1100" spc="-50" b="1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E7E6E6"/>
                </a:solidFill>
                <a:latin typeface="Calibri"/>
                <a:cs typeface="Calibri"/>
              </a:rPr>
              <a:t>Tamper Detection</a:t>
            </a:r>
            <a:r>
              <a:rPr dirty="0" sz="1100" spc="20" b="1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E7E6E6"/>
                </a:solidFill>
                <a:latin typeface="Calibri"/>
                <a:cs typeface="Calibri"/>
              </a:rPr>
              <a:t>using</a:t>
            </a:r>
            <a:r>
              <a:rPr dirty="0" sz="1100" spc="-55" b="1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E7E6E6"/>
                </a:solidFill>
                <a:latin typeface="Calibri"/>
                <a:cs typeface="Calibri"/>
              </a:rPr>
              <a:t>Arduino</a:t>
            </a:r>
            <a:r>
              <a:rPr dirty="0" sz="1100" spc="-50" b="1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dirty="0" sz="1100" spc="-25" b="1">
                <a:solidFill>
                  <a:srgbClr val="E7E6E6"/>
                </a:solidFill>
                <a:latin typeface="Calibri"/>
                <a:cs typeface="Calibri"/>
              </a:rPr>
              <a:t>Uno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Problem</a:t>
            </a:r>
            <a:r>
              <a:rPr dirty="0" spc="25"/>
              <a:t> </a:t>
            </a:r>
            <a:r>
              <a:rPr dirty="0" spc="-1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5765" y="2827591"/>
            <a:ext cx="8630285" cy="2226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800">
                <a:latin typeface="Calibri"/>
                <a:cs typeface="Calibri"/>
              </a:rPr>
              <a:t>Confidential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documents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are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vulnerable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unauthorized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access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theft.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800" spc="-10">
                <a:latin typeface="Calibri"/>
                <a:cs typeface="Calibri"/>
              </a:rPr>
              <a:t>Traditional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lock-and-</a:t>
            </a:r>
            <a:r>
              <a:rPr dirty="0" sz="1800">
                <a:latin typeface="Calibri"/>
                <a:cs typeface="Calibri"/>
              </a:rPr>
              <a:t>key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systems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provide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limited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security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can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easily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compromised.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800">
                <a:latin typeface="Calibri"/>
                <a:cs typeface="Calibri"/>
              </a:rPr>
              <a:t>There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no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immediate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alert</a:t>
            </a:r>
            <a:r>
              <a:rPr dirty="0" sz="1800" spc="-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when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someone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attempts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force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open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storage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box.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secure,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low-</a:t>
            </a:r>
            <a:r>
              <a:rPr dirty="0" sz="1800">
                <a:latin typeface="Calibri"/>
                <a:cs typeface="Calibri"/>
              </a:rPr>
              <a:t>cost,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40">
                <a:latin typeface="Calibri"/>
                <a:cs typeface="Calibri"/>
              </a:rPr>
              <a:t> </a:t>
            </a:r>
            <a:r>
              <a:rPr dirty="0" sz="1800" spc="-30">
                <a:latin typeface="Calibri"/>
                <a:cs typeface="Calibri"/>
              </a:rPr>
              <a:t>easy-</a:t>
            </a:r>
            <a:r>
              <a:rPr dirty="0" sz="1800" spc="-10">
                <a:latin typeface="Calibri"/>
                <a:cs typeface="Calibri"/>
              </a:rPr>
              <a:t>to-</a:t>
            </a:r>
            <a:r>
              <a:rPr dirty="0" sz="1800">
                <a:latin typeface="Calibri"/>
                <a:cs typeface="Calibri"/>
              </a:rPr>
              <a:t>use</a:t>
            </a:r>
            <a:r>
              <a:rPr dirty="0" sz="1800" spc="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document</a:t>
            </a:r>
            <a:r>
              <a:rPr dirty="0" sz="1800" spc="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protection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system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needed.</a:t>
            </a:r>
            <a:endParaRPr sz="1800">
              <a:latin typeface="Calibri"/>
              <a:cs typeface="Calibri"/>
            </a:endParaRPr>
          </a:p>
          <a:p>
            <a:pPr marL="355600" marR="154305" indent="-342900">
              <a:lnSpc>
                <a:spcPts val="2100"/>
              </a:lnSpc>
              <a:spcBef>
                <a:spcPts val="13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system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should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restrict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access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authorized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users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detect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tampering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attempts</a:t>
            </a:r>
            <a:r>
              <a:rPr dirty="0" sz="1800" spc="-9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in </a:t>
            </a:r>
            <a:r>
              <a:rPr dirty="0" sz="1800">
                <a:latin typeface="Calibri"/>
                <a:cs typeface="Calibri"/>
              </a:rPr>
              <a:t>real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time.</a:t>
            </a:r>
            <a:endParaRPr sz="1800">
              <a:latin typeface="Calibri"/>
              <a:cs typeface="Calibri"/>
            </a:endParaRPr>
          </a:p>
          <a:p>
            <a:pPr marL="355600" marR="186690" indent="-342900">
              <a:lnSpc>
                <a:spcPts val="2180"/>
              </a:lnSpc>
              <a:spcBef>
                <a:spcPts val="2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00">
                <a:latin typeface="Calibri"/>
                <a:cs typeface="Calibri"/>
              </a:rPr>
              <a:t>Existing</a:t>
            </a:r>
            <a:r>
              <a:rPr dirty="0" sz="1800" spc="-10">
                <a:latin typeface="Calibri"/>
                <a:cs typeface="Calibri"/>
              </a:rPr>
              <a:t> storage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systems</a:t>
            </a:r>
            <a:r>
              <a:rPr dirty="0" sz="1800" spc="-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lack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integrated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authentication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tamper</a:t>
            </a:r>
            <a:r>
              <a:rPr dirty="0" sz="1800" spc="-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detection,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reducing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overall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security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confidential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documents.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Dept</a:t>
            </a:r>
            <a:r>
              <a:rPr dirty="0" spc="-5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10"/>
              <a:t>CSE(CY)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82880">
              <a:lnSpc>
                <a:spcPct val="100000"/>
              </a:lnSpc>
              <a:spcBef>
                <a:spcPts val="130"/>
              </a:spcBef>
            </a:pPr>
            <a:r>
              <a:rPr dirty="0"/>
              <a:t>Proposed</a:t>
            </a:r>
            <a:r>
              <a:rPr dirty="0" spc="20"/>
              <a:t> </a:t>
            </a:r>
            <a:r>
              <a:rPr dirty="0" spc="-10"/>
              <a:t>Method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9109" y="2846006"/>
            <a:ext cx="8105775" cy="27806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00">
                <a:latin typeface="Calibri"/>
                <a:cs typeface="Calibri"/>
              </a:rPr>
              <a:t>Design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secure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document</a:t>
            </a:r>
            <a:r>
              <a:rPr dirty="0" sz="1800" spc="-9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storage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box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using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Arduino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Uno.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00" spc="-10">
                <a:latin typeface="Calibri"/>
                <a:cs typeface="Calibri"/>
              </a:rPr>
              <a:t>Authenticate</a:t>
            </a:r>
            <a:r>
              <a:rPr dirty="0" sz="1800" spc="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users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using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RFID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card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10">
                <a:latin typeface="Calibri"/>
                <a:cs typeface="Calibri"/>
              </a:rPr>
              <a:t> password.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00">
                <a:latin typeface="Calibri"/>
                <a:cs typeface="Calibri"/>
              </a:rPr>
              <a:t>Control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box</a:t>
            </a:r>
            <a:r>
              <a:rPr dirty="0" sz="1800" spc="-9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lock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unlock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mechanism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using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servo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motor.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00" spc="-10">
                <a:latin typeface="Calibri"/>
                <a:cs typeface="Calibri"/>
              </a:rPr>
              <a:t>Continuously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monitor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box</a:t>
            </a:r>
            <a:r>
              <a:rPr dirty="0" sz="1800" spc="-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using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tamper switch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detect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unauthorized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access.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ts val="2130"/>
              </a:lnSpc>
              <a:spcBef>
                <a:spcPts val="2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00" spc="-10">
                <a:latin typeface="Calibri"/>
                <a:cs typeface="Calibri"/>
              </a:rPr>
              <a:t>Trigger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35">
                <a:latin typeface="Calibri"/>
                <a:cs typeface="Calibri"/>
              </a:rPr>
              <a:t>buzzer,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warning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LED,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LCD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alert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when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tampering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detected.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ts val="213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1800">
                <a:latin typeface="Calibri"/>
                <a:cs typeface="Calibri"/>
              </a:rPr>
              <a:t>Allow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only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authorized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users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reset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system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regain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access.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00" spc="-10">
                <a:latin typeface="Calibri"/>
                <a:cs typeface="Calibri"/>
              </a:rPr>
              <a:t>Verify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user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identity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before</a:t>
            </a:r>
            <a:r>
              <a:rPr dirty="0" sz="1800" spc="-10">
                <a:latin typeface="Calibri"/>
                <a:cs typeface="Calibri"/>
              </a:rPr>
              <a:t> granting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access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stored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documents.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00" spc="-10">
                <a:latin typeface="Calibri"/>
                <a:cs typeface="Calibri"/>
              </a:rPr>
              <a:t>Prevent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unauthorized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access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by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keeping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box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locked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during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security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violations.</a:t>
            </a:r>
            <a:endParaRPr sz="1800">
              <a:latin typeface="Calibri"/>
              <a:cs typeface="Calibri"/>
            </a:endParaRPr>
          </a:p>
          <a:p>
            <a:pPr marL="355600" marR="347345" indent="-343535">
              <a:lnSpc>
                <a:spcPct val="1008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00">
                <a:latin typeface="Calibri"/>
                <a:cs typeface="Calibri"/>
              </a:rPr>
              <a:t>Enhance</a:t>
            </a:r>
            <a:r>
              <a:rPr dirty="0" sz="1800" spc="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document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security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by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combining</a:t>
            </a:r>
            <a:r>
              <a:rPr dirty="0" sz="1800" spc="-10">
                <a:latin typeface="Calibri"/>
                <a:cs typeface="Calibri"/>
              </a:rPr>
              <a:t> authentication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with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real-time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tamper detection.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Dept</a:t>
            </a:r>
            <a:r>
              <a:rPr dirty="0" spc="-5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10"/>
              <a:t>CSE(CY)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113910" y="1689099"/>
            <a:ext cx="4145279" cy="57531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/>
              <a:t>Basic</a:t>
            </a:r>
            <a:r>
              <a:rPr dirty="0" sz="3600" spc="-20"/>
              <a:t> </a:t>
            </a:r>
            <a:r>
              <a:rPr dirty="0" sz="3600"/>
              <a:t>Block</a:t>
            </a:r>
            <a:r>
              <a:rPr dirty="0" sz="3600" spc="15"/>
              <a:t> </a:t>
            </a:r>
            <a:r>
              <a:rPr dirty="0" sz="3600" spc="-10"/>
              <a:t>Diagram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95475" y="2305050"/>
            <a:ext cx="6981825" cy="432435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Dept</a:t>
            </a:r>
            <a:r>
              <a:rPr dirty="0" spc="-5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10"/>
              <a:t>CSE(CY)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92954" y="1806574"/>
            <a:ext cx="2582545" cy="6324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0"/>
              <a:t>Conclusion 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5350" y="247650"/>
            <a:ext cx="10572750" cy="17430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70597" y="3033077"/>
            <a:ext cx="7865109" cy="27806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00">
                <a:latin typeface="Calibri"/>
                <a:cs typeface="Calibri"/>
              </a:rPr>
              <a:t>Successfully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developed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secure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document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storage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system</a:t>
            </a:r>
            <a:r>
              <a:rPr dirty="0" sz="1800" spc="-9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using</a:t>
            </a:r>
            <a:r>
              <a:rPr dirty="0" sz="1800" spc="-10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Arduino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Uno.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00">
                <a:latin typeface="Calibri"/>
                <a:cs typeface="Calibri"/>
              </a:rPr>
              <a:t>Enhanced</a:t>
            </a:r>
            <a:r>
              <a:rPr dirty="0" sz="1800" spc="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security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through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RFID</a:t>
            </a:r>
            <a:r>
              <a:rPr dirty="0" sz="1800" spc="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password-</a:t>
            </a:r>
            <a:r>
              <a:rPr dirty="0" sz="1800">
                <a:latin typeface="Calibri"/>
                <a:cs typeface="Calibri"/>
              </a:rPr>
              <a:t>based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authentication.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00">
                <a:latin typeface="Calibri"/>
                <a:cs typeface="Calibri"/>
              </a:rPr>
              <a:t>Detected</a:t>
            </a:r>
            <a:r>
              <a:rPr dirty="0" sz="1800" spc="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unauthorized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access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using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tamper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detection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mechanism.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00">
                <a:latin typeface="Calibri"/>
                <a:cs typeface="Calibri"/>
              </a:rPr>
              <a:t>Provided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real-</a:t>
            </a:r>
            <a:r>
              <a:rPr dirty="0" sz="1800">
                <a:latin typeface="Calibri"/>
                <a:cs typeface="Calibri"/>
              </a:rPr>
              <a:t>time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alerts</a:t>
            </a:r>
            <a:r>
              <a:rPr dirty="0" sz="1800" spc="-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using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buzzer,</a:t>
            </a:r>
            <a:r>
              <a:rPr dirty="0" sz="1800" spc="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LEDs,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LCD</a:t>
            </a:r>
            <a:r>
              <a:rPr dirty="0" sz="1800" spc="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display.</a:t>
            </a:r>
            <a:endParaRPr sz="1800">
              <a:latin typeface="Calibri"/>
              <a:cs typeface="Calibri"/>
            </a:endParaRPr>
          </a:p>
          <a:p>
            <a:pPr marL="355600" marR="324485" indent="-343535">
              <a:lnSpc>
                <a:spcPts val="2100"/>
              </a:lnSpc>
              <a:spcBef>
                <a:spcPts val="14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00" spc="-10">
                <a:latin typeface="Calibri"/>
                <a:cs typeface="Calibri"/>
              </a:rPr>
              <a:t>Demonstrated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practical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cybersecurity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concepts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with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low-</a:t>
            </a:r>
            <a:r>
              <a:rPr dirty="0" sz="1800">
                <a:latin typeface="Calibri"/>
                <a:cs typeface="Calibri"/>
              </a:rPr>
              <a:t>cost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 </a:t>
            </a:r>
            <a:r>
              <a:rPr dirty="0" sz="1800" spc="-10">
                <a:latin typeface="Calibri"/>
                <a:cs typeface="Calibri"/>
              </a:rPr>
              <a:t>beginner-</a:t>
            </a:r>
            <a:r>
              <a:rPr dirty="0" sz="1800">
                <a:latin typeface="Calibri"/>
                <a:cs typeface="Calibri"/>
              </a:rPr>
              <a:t>friendly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solution.</a:t>
            </a:r>
            <a:endParaRPr sz="1800">
              <a:latin typeface="Calibri"/>
              <a:cs typeface="Calibri"/>
            </a:endParaRPr>
          </a:p>
          <a:p>
            <a:pPr marL="355600" marR="5080" indent="-343535">
              <a:lnSpc>
                <a:spcPts val="2180"/>
              </a:lnSpc>
              <a:spcBef>
                <a:spcPts val="1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00">
                <a:latin typeface="Calibri"/>
                <a:cs typeface="Calibri"/>
              </a:rPr>
              <a:t>The project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easy</a:t>
            </a:r>
            <a:r>
              <a:rPr dirty="0" sz="1800" spc="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implement,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cost-</a:t>
            </a:r>
            <a:r>
              <a:rPr dirty="0" sz="1800" spc="-10">
                <a:latin typeface="Calibri"/>
                <a:cs typeface="Calibri"/>
              </a:rPr>
              <a:t>effective,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suitable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10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educational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and </a:t>
            </a:r>
            <a:r>
              <a:rPr dirty="0" sz="1800">
                <a:latin typeface="Calibri"/>
                <a:cs typeface="Calibri"/>
              </a:rPr>
              <a:t>office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applications.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ts val="21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system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can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further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enhanced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by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integrating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Wi-</a:t>
            </a:r>
            <a:r>
              <a:rPr dirty="0" sz="1800">
                <a:latin typeface="Calibri"/>
                <a:cs typeface="Calibri"/>
              </a:rPr>
              <a:t>Fi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alerts,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fingerprint</a:t>
            </a:r>
            <a:endParaRPr sz="18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5"/>
              </a:spcBef>
            </a:pPr>
            <a:r>
              <a:rPr dirty="0" sz="1800" spc="-10">
                <a:latin typeface="Calibri"/>
                <a:cs typeface="Calibri"/>
              </a:rPr>
              <a:t>authentication,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or</a:t>
            </a:r>
            <a:r>
              <a:rPr dirty="0" sz="1800" spc="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cloud-</a:t>
            </a:r>
            <a:r>
              <a:rPr dirty="0" sz="1800">
                <a:latin typeface="Calibri"/>
                <a:cs typeface="Calibri"/>
              </a:rPr>
              <a:t>based</a:t>
            </a:r>
            <a:r>
              <a:rPr dirty="0" sz="1800" spc="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monitoring.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Dept</a:t>
            </a:r>
            <a:r>
              <a:rPr dirty="0" spc="-5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10"/>
              <a:t>CSE(CY)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90364" y="1806574"/>
            <a:ext cx="2381885" cy="6324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u="sng" spc="-1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References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5350" y="247650"/>
            <a:ext cx="10572750" cy="17430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7842" y="2707957"/>
            <a:ext cx="6693534" cy="1130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800" i="1">
                <a:latin typeface="Calibri"/>
                <a:cs typeface="Calibri"/>
              </a:rPr>
              <a:t>Arduino</a:t>
            </a:r>
            <a:r>
              <a:rPr dirty="0" sz="1800" spc="-4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Official</a:t>
            </a:r>
            <a:r>
              <a:rPr dirty="0" sz="1800" spc="15" i="1">
                <a:latin typeface="Calibri"/>
                <a:cs typeface="Calibri"/>
              </a:rPr>
              <a:t> </a:t>
            </a:r>
            <a:r>
              <a:rPr dirty="0" sz="1800" spc="-10" i="1">
                <a:latin typeface="Calibri"/>
                <a:cs typeface="Calibri"/>
              </a:rPr>
              <a:t>Documentation</a:t>
            </a:r>
            <a:r>
              <a:rPr dirty="0" sz="1800" spc="-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–</a:t>
            </a:r>
            <a:r>
              <a:rPr dirty="0" sz="1800" spc="20" i="1">
                <a:latin typeface="Calibri"/>
                <a:cs typeface="Calibri"/>
              </a:rPr>
              <a:t> </a:t>
            </a:r>
            <a:r>
              <a:rPr dirty="0" u="heavy" sz="1800" spc="-10" i="1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https://docs.arduino.cc/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800" i="1">
                <a:latin typeface="Calibri"/>
                <a:cs typeface="Calibri"/>
              </a:rPr>
              <a:t>Arduino</a:t>
            </a:r>
            <a:r>
              <a:rPr dirty="0" sz="1800" spc="-7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IDE</a:t>
            </a:r>
            <a:r>
              <a:rPr dirty="0" sz="1800" spc="-35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Documentation</a:t>
            </a:r>
            <a:r>
              <a:rPr dirty="0" sz="1800" spc="-20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–</a:t>
            </a:r>
            <a:r>
              <a:rPr dirty="0" sz="1800" spc="-15" i="1">
                <a:latin typeface="Calibri"/>
                <a:cs typeface="Calibri"/>
              </a:rPr>
              <a:t> </a:t>
            </a:r>
            <a:r>
              <a:rPr dirty="0" u="heavy" sz="1800" spc="-10" i="1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https://docs.arduino.cc/software/ide/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800" i="1">
                <a:latin typeface="Calibri"/>
                <a:cs typeface="Calibri"/>
              </a:rPr>
              <a:t>MFRC522 RFID</a:t>
            </a:r>
            <a:r>
              <a:rPr dirty="0" sz="1800" spc="-40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Library</a:t>
            </a:r>
            <a:r>
              <a:rPr dirty="0" sz="1800" spc="-40" i="1">
                <a:latin typeface="Calibri"/>
                <a:cs typeface="Calibri"/>
              </a:rPr>
              <a:t> </a:t>
            </a:r>
            <a:r>
              <a:rPr dirty="0" sz="1800" spc="-10" i="1">
                <a:latin typeface="Calibri"/>
                <a:cs typeface="Calibri"/>
              </a:rPr>
              <a:t>(GitHub)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800" i="1">
                <a:latin typeface="Calibri"/>
                <a:cs typeface="Calibri"/>
              </a:rPr>
              <a:t>Arduino</a:t>
            </a:r>
            <a:r>
              <a:rPr dirty="0" sz="1800" spc="-40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Servo</a:t>
            </a:r>
            <a:r>
              <a:rPr dirty="0" sz="1800" spc="-40" i="1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Library</a:t>
            </a:r>
            <a:r>
              <a:rPr dirty="0" sz="1800" spc="5" i="1">
                <a:latin typeface="Calibri"/>
                <a:cs typeface="Calibri"/>
              </a:rPr>
              <a:t> </a:t>
            </a:r>
            <a:r>
              <a:rPr dirty="0" sz="1800" spc="-10" i="1">
                <a:latin typeface="Calibri"/>
                <a:cs typeface="Calibri"/>
              </a:rPr>
              <a:t>Documentation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Dept</a:t>
            </a:r>
            <a:r>
              <a:rPr dirty="0" spc="-5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10"/>
              <a:t>CSE(CY)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2026-07-30T02:21:18Z</dcterms:created>
  <dcterms:modified xsi:type="dcterms:W3CDTF">2026-07-30T02:21:18Z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v10.0.20070.1</vt:lpwstr>
  </property>
  <property fmtid="{D5CDD505-2E9C-101B-9397-08002B2CF9AE}" pid="3" name="Created">
    <vt:filetime>2026-07-29T00:00:00Z</vt:filetime>
  </property>
  <property fmtid="{D5CDD505-2E9C-101B-9397-08002B2CF9AE}" pid="4" name="LastSaved">
    <vt:filetime>2026-07-30T00:00:00Z</vt:filetime>
  </property>
</Properties>
</file>