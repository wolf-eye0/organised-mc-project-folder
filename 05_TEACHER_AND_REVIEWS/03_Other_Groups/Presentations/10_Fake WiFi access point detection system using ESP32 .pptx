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82" y="-10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37C198-4474-4695-B6D7-29BF0D8F11F2}" type="datetimeFigureOut">
              <a:rPr lang="en-US" smtClean="0"/>
              <a:t>7/29/2026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174-BFF0-4CB7-8894-D08F7200AD9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IN"/>
              <a:t>30-07-2026</a:t>
            </a:r>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IN"/>
              <a:t>30-07-2026</a:t>
            </a:r>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IN"/>
              <a:t>30-07-2026</a:t>
            </a:r>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IN"/>
              <a:t>30-07-2026</a:t>
            </a:r>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IN"/>
              <a:t>30-07-2026</a:t>
            </a:r>
          </a:p>
        </p:txBody>
      </p:sp>
      <p:sp>
        <p:nvSpPr>
          <p:cNvPr id="8" name="Footer Placeholder 7"/>
          <p:cNvSpPr>
            <a:spLocks noGrp="1"/>
          </p:cNvSpPr>
          <p:nvPr>
            <p:ph type="ftr" sz="quarter" idx="11"/>
          </p:nvPr>
        </p:nvSpPr>
        <p:spPr/>
        <p:txBody>
          <a:bodyPr/>
          <a:lstStyle/>
          <a:p>
            <a:r>
              <a:rPr lang="en-IN"/>
              <a:t>Dept of CSE(CY)</a:t>
            </a:r>
          </a:p>
        </p:txBody>
      </p:sp>
      <p:sp>
        <p:nvSpPr>
          <p:cNvPr id="9" name="Slide Number Placeholder 8"/>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IN"/>
              <a:t>30-07-2026</a:t>
            </a:r>
          </a:p>
        </p:txBody>
      </p:sp>
      <p:sp>
        <p:nvSpPr>
          <p:cNvPr id="4" name="Footer Placeholder 3"/>
          <p:cNvSpPr>
            <a:spLocks noGrp="1"/>
          </p:cNvSpPr>
          <p:nvPr>
            <p:ph type="ftr" sz="quarter" idx="11"/>
          </p:nvPr>
        </p:nvSpPr>
        <p:spPr/>
        <p:txBody>
          <a:bodyPr/>
          <a:lstStyle/>
          <a:p>
            <a:r>
              <a:rPr lang="en-IN"/>
              <a:t>Dept of CSE(CY)</a:t>
            </a:r>
          </a:p>
        </p:txBody>
      </p:sp>
      <p:sp>
        <p:nvSpPr>
          <p:cNvPr id="5" name="Slide Number Placeholder 4"/>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IN"/>
              <a:t>30-07-2026</a:t>
            </a:r>
          </a:p>
        </p:txBody>
      </p:sp>
      <p:sp>
        <p:nvSpPr>
          <p:cNvPr id="3" name="Footer Placeholder 2"/>
          <p:cNvSpPr>
            <a:spLocks noGrp="1"/>
          </p:cNvSpPr>
          <p:nvPr>
            <p:ph type="ftr" sz="quarter" idx="11"/>
          </p:nvPr>
        </p:nvSpPr>
        <p:spPr/>
        <p:txBody>
          <a:bodyPr/>
          <a:lstStyle/>
          <a:p>
            <a:r>
              <a:rPr lang="en-IN"/>
              <a:t>Dept of CSE(CY)</a:t>
            </a:r>
          </a:p>
        </p:txBody>
      </p:sp>
      <p:sp>
        <p:nvSpPr>
          <p:cNvPr id="4" name="Slide Number Placeholder 3"/>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30-07-2026</a:t>
            </a:r>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30-07-2026</a:t>
            </a:r>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IN"/>
              <a:t>30-07-2026</a:t>
            </a:r>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IN"/>
              <a:t>30-07-2026</a:t>
            </a:r>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pPr/>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30-07-2026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CSE(CY)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pPr/>
              <a:t>‹#›</a:t>
            </a:fld>
            <a:endParaRPr lang="en-IN"/>
          </a:p>
        </p:txBody>
      </p:sp>
      <p:sp>
        <p:nvSpPr>
          <p:cNvPr id="7" name="TextBox 6"/>
          <p:cNvSpPr txBox="1"/>
          <p:nvPr userDrawn="1"/>
        </p:nvSpPr>
        <p:spPr>
          <a:xfrm>
            <a:off x="9329979" y="108488"/>
            <a:ext cx="2739468" cy="369332"/>
          </a:xfrm>
          <a:prstGeom prst="rect">
            <a:avLst/>
          </a:prstGeom>
          <a:noFill/>
        </p:spPr>
        <p:txBody>
          <a:bodyPr wrap="none" rtlCol="0">
            <a:spAutoFit/>
          </a:bodyPr>
          <a:lstStyle/>
          <a:p>
            <a:r>
              <a:rPr lang="en-IN" dirty="0"/>
              <a:t>Fake</a:t>
            </a:r>
            <a:r>
              <a:rPr lang="en-IN" baseline="0" dirty="0"/>
              <a:t> Wi-Fi Detection ESP32</a:t>
            </a:r>
            <a:endParaRPr lang="en-US" dirty="0"/>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4" name="Date Placeholder 3"/>
          <p:cNvSpPr>
            <a:spLocks noGrp="1"/>
          </p:cNvSpPr>
          <p:nvPr>
            <p:ph type="dt" sz="half" idx="10"/>
          </p:nvPr>
        </p:nvSpPr>
        <p:spPr/>
        <p:txBody>
          <a:bodyPr/>
          <a:lstStyle/>
          <a:p>
            <a:r>
              <a:rPr lang="en-IN"/>
              <a:t>30-07-2026</a:t>
            </a:r>
          </a:p>
        </p:txBody>
      </p:sp>
      <p:sp>
        <p:nvSpPr>
          <p:cNvPr id="5" name="Slide Number Placeholder 4"/>
          <p:cNvSpPr>
            <a:spLocks noGrp="1"/>
          </p:cNvSpPr>
          <p:nvPr>
            <p:ph type="sldNum" sz="quarter" idx="12"/>
          </p:nvPr>
        </p:nvSpPr>
        <p:spPr/>
        <p:txBody>
          <a:bodyPr/>
          <a:lstStyle/>
          <a:p>
            <a:fld id="{7C33CCD4-7228-4506-A3A6-5A9074B2CE31}" type="slidenum">
              <a:rPr lang="en-IN" smtClean="0"/>
              <a:pPr/>
              <a:t>1</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907590" y="1459986"/>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Title:-Fake Wi-Fi Access Point Detection System using    ESP32 </a:t>
            </a:r>
          </a:p>
          <a:p>
            <a:pPr marL="114300" indent="0" algn="just">
              <a:buSzPts val="1800"/>
              <a:buFont typeface="Arial" panose="020B0604020202020204" pitchFamily="34" charset="0"/>
              <a:buNone/>
              <a:defRPr/>
            </a:pPr>
            <a:endParaRPr lang="en-US" dirty="0">
              <a:solidFill>
                <a:srgbClr val="0070C0"/>
              </a:solidFill>
            </a:endParaRPr>
          </a:p>
        </p:txBody>
      </p:sp>
      <p:sp>
        <p:nvSpPr>
          <p:cNvPr id="8" name="Google Shape;187;p1"/>
          <p:cNvSpPr txBox="1">
            <a:spLocks/>
          </p:cNvSpPr>
          <p:nvPr/>
        </p:nvSpPr>
        <p:spPr bwMode="auto">
          <a:xfrm>
            <a:off x="637116" y="3113067"/>
            <a:ext cx="6447293" cy="3136283"/>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sz="2400" dirty="0">
                <a:solidFill>
                  <a:srgbClr val="00B050"/>
                </a:solidFill>
                <a:latin typeface="Times New Roman" panose="02020603050405020304" pitchFamily="18" charset="0"/>
                <a:cs typeface="Times New Roman" panose="02020603050405020304" pitchFamily="18" charset="0"/>
              </a:rPr>
              <a:t>Group No:10</a:t>
            </a:r>
          </a:p>
          <a:p>
            <a:pPr marL="114300" indent="0">
              <a:buSzPts val="1800"/>
              <a:buNone/>
              <a:defRPr/>
            </a:pPr>
            <a:r>
              <a:rPr lang="en-US" sz="2400" dirty="0">
                <a:solidFill>
                  <a:srgbClr val="C00000"/>
                </a:solidFill>
                <a:latin typeface="Times New Roman" panose="02020603050405020304" pitchFamily="18" charset="0"/>
                <a:cs typeface="Times New Roman" panose="02020603050405020304" pitchFamily="18" charset="0"/>
              </a:rPr>
              <a:t>Members: </a:t>
            </a:r>
          </a:p>
          <a:p>
            <a:pPr marL="114300" indent="0">
              <a:buSzPts val="1800"/>
              <a:defRPr/>
            </a:pPr>
            <a:r>
              <a:rPr lang="en-US" sz="2400" dirty="0" err="1">
                <a:solidFill>
                  <a:srgbClr val="C00000"/>
                </a:solidFill>
                <a:latin typeface="Times New Roman" panose="02020603050405020304" pitchFamily="18" charset="0"/>
                <a:cs typeface="Times New Roman" panose="02020603050405020304" pitchFamily="18" charset="0"/>
              </a:rPr>
              <a:t>Adhith</a:t>
            </a:r>
            <a:r>
              <a:rPr lang="en-US" sz="2400" dirty="0">
                <a:solidFill>
                  <a:srgbClr val="C00000"/>
                </a:solidFill>
                <a:latin typeface="Times New Roman" panose="02020603050405020304" pitchFamily="18" charset="0"/>
                <a:cs typeface="Times New Roman" panose="02020603050405020304" pitchFamily="18" charset="0"/>
              </a:rPr>
              <a:t> Kumar A S -JEC24CC005</a:t>
            </a:r>
          </a:p>
          <a:p>
            <a:pPr marL="114300" indent="0">
              <a:buSzPts val="1800"/>
              <a:defRPr/>
            </a:pPr>
            <a:r>
              <a:rPr lang="en-US" sz="2400" dirty="0">
                <a:solidFill>
                  <a:srgbClr val="C00000"/>
                </a:solidFill>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Annliya</a:t>
            </a:r>
            <a:r>
              <a:rPr lang="en-US" sz="2400" dirty="0">
                <a:solidFill>
                  <a:srgbClr val="C00000"/>
                </a:solidFill>
                <a:latin typeface="Times New Roman" panose="02020603050405020304" pitchFamily="18" charset="0"/>
                <a:cs typeface="Times New Roman" panose="02020603050405020304" pitchFamily="18" charset="0"/>
              </a:rPr>
              <a:t> P J -JEC24CC022</a:t>
            </a:r>
          </a:p>
          <a:p>
            <a:pPr marL="114300" indent="0">
              <a:buSzPts val="1800"/>
              <a:defRPr/>
            </a:pPr>
            <a:r>
              <a:rPr lang="en-US" sz="2400" dirty="0">
                <a:solidFill>
                  <a:srgbClr val="C00000"/>
                </a:solidFill>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Buvana</a:t>
            </a:r>
            <a:r>
              <a:rPr lang="en-US" sz="2400" dirty="0">
                <a:solidFill>
                  <a:srgbClr val="C00000"/>
                </a:solidFill>
                <a:latin typeface="Times New Roman" panose="02020603050405020304" pitchFamily="18" charset="0"/>
                <a:cs typeface="Times New Roman" panose="02020603050405020304" pitchFamily="18" charset="0"/>
              </a:rPr>
              <a:t> Krishna V B -JEC24CC027</a:t>
            </a:r>
          </a:p>
          <a:p>
            <a:pPr marL="114300" indent="0">
              <a:buSzPts val="1800"/>
              <a:defRPr/>
            </a:pPr>
            <a:r>
              <a:rPr lang="en-US" sz="2400" dirty="0">
                <a:solidFill>
                  <a:srgbClr val="C00000"/>
                </a:solidFill>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Ciril</a:t>
            </a:r>
            <a:r>
              <a:rPr lang="en-US" sz="2400" dirty="0">
                <a:solidFill>
                  <a:srgbClr val="C00000"/>
                </a:solidFill>
                <a:latin typeface="Times New Roman" panose="02020603050405020304" pitchFamily="18" charset="0"/>
                <a:cs typeface="Times New Roman" panose="02020603050405020304" pitchFamily="18" charset="0"/>
              </a:rPr>
              <a:t> J Chiramel-JEC24CC028</a:t>
            </a:r>
          </a:p>
          <a:p>
            <a:pPr marL="114300" indent="0">
              <a:buSzPts val="1800"/>
              <a:defRPr/>
            </a:pPr>
            <a:r>
              <a:rPr lang="en-US" sz="2400" dirty="0">
                <a:solidFill>
                  <a:srgbClr val="C00000"/>
                </a:solidFill>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Gautham</a:t>
            </a:r>
            <a:r>
              <a:rPr lang="en-US" sz="2400" dirty="0">
                <a:solidFill>
                  <a:srgbClr val="C00000"/>
                </a:solidFill>
                <a:latin typeface="Times New Roman" panose="02020603050405020304" pitchFamily="18" charset="0"/>
                <a:cs typeface="Times New Roman" panose="02020603050405020304" pitchFamily="18" charset="0"/>
              </a:rPr>
              <a:t> Krishna C A – JEC24CC034</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                </a:t>
            </a:r>
          </a:p>
        </p:txBody>
      </p:sp>
      <p:sp>
        <p:nvSpPr>
          <p:cNvPr id="9" name="Google Shape;186;p1"/>
          <p:cNvSpPr txBox="1">
            <a:spLocks/>
          </p:cNvSpPr>
          <p:nvPr/>
        </p:nvSpPr>
        <p:spPr bwMode="auto">
          <a:xfrm>
            <a:off x="8276660" y="4477902"/>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sz="2400"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sz="2400" dirty="0" err="1">
                <a:solidFill>
                  <a:schemeClr val="bg2">
                    <a:lumMod val="10000"/>
                  </a:schemeClr>
                </a:solidFill>
                <a:latin typeface="Times New Roman" panose="02020603050405020304" pitchFamily="18" charset="0"/>
                <a:cs typeface="Times New Roman" panose="02020603050405020304" pitchFamily="18" charset="0"/>
              </a:rPr>
              <a:t>Ms.Sagna</a:t>
            </a:r>
            <a:r>
              <a:rPr lang="en-US" sz="2400"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sz="2400"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sz="2400" dirty="0">
              <a:solidFill>
                <a:schemeClr val="bg2">
                  <a:lumMod val="10000"/>
                </a:schemeClr>
              </a:solidFill>
            </a:endParaRPr>
          </a:p>
        </p:txBody>
      </p:sp>
      <p:sp>
        <p:nvSpPr>
          <p:cNvPr id="10" name="Date Placeholder 9"/>
          <p:cNvSpPr>
            <a:spLocks noGrp="1"/>
          </p:cNvSpPr>
          <p:nvPr>
            <p:ph type="dt" sz="half" idx="10"/>
          </p:nvPr>
        </p:nvSpPr>
        <p:spPr/>
        <p:txBody>
          <a:bodyPr/>
          <a:lstStyle/>
          <a:p>
            <a:r>
              <a:rPr lang="en-IN"/>
              <a:t>30-07-2026</a:t>
            </a:r>
          </a:p>
        </p:txBody>
      </p:sp>
      <p:sp>
        <p:nvSpPr>
          <p:cNvPr id="11" name="Slide Number Placeholder 10"/>
          <p:cNvSpPr>
            <a:spLocks noGrp="1"/>
          </p:cNvSpPr>
          <p:nvPr>
            <p:ph type="sldNum" sz="quarter" idx="12"/>
          </p:nvPr>
        </p:nvSpPr>
        <p:spPr/>
        <p:txBody>
          <a:bodyPr/>
          <a:lstStyle/>
          <a:p>
            <a:fld id="{7C33CCD4-7228-4506-A3A6-5A9074B2CE31}" type="slidenum">
              <a:rPr lang="en-IN" smtClean="0"/>
              <a:pPr/>
              <a:t>2</a:t>
            </a:fld>
            <a:endParaRPr lang="en-IN"/>
          </a:p>
        </p:txBody>
      </p:sp>
      <p:sp>
        <p:nvSpPr>
          <p:cNvPr id="12" name="Footer Placeholder 11"/>
          <p:cNvSpPr>
            <a:spLocks noGrp="1"/>
          </p:cNvSpPr>
          <p:nvPr>
            <p:ph type="ftr" sz="quarter" idx="11"/>
          </p:nvPr>
        </p:nvSpPr>
        <p:spPr/>
        <p:txBody>
          <a:bodyPr/>
          <a:lstStyle/>
          <a:p>
            <a:r>
              <a:rPr lang="en-IN" dirty="0"/>
              <a:t>Dept of CSE(CY)</a:t>
            </a: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4" name="Date Placeholder 3"/>
          <p:cNvSpPr>
            <a:spLocks noGrp="1"/>
          </p:cNvSpPr>
          <p:nvPr>
            <p:ph type="dt" sz="half" idx="10"/>
          </p:nvPr>
        </p:nvSpPr>
        <p:spPr/>
        <p:txBody>
          <a:bodyPr/>
          <a:lstStyle/>
          <a:p>
            <a:r>
              <a:rPr lang="en-IN"/>
              <a:t>30-07-2026</a:t>
            </a:r>
          </a:p>
        </p:txBody>
      </p:sp>
      <p:sp>
        <p:nvSpPr>
          <p:cNvPr id="5" name="Slide Number Placeholder 4"/>
          <p:cNvSpPr>
            <a:spLocks noGrp="1"/>
          </p:cNvSpPr>
          <p:nvPr>
            <p:ph type="sldNum" sz="quarter" idx="12"/>
          </p:nvPr>
        </p:nvSpPr>
        <p:spPr/>
        <p:txBody>
          <a:bodyPr/>
          <a:lstStyle/>
          <a:p>
            <a:fld id="{7C33CCD4-7228-4506-A3A6-5A9074B2CE31}" type="slidenum">
              <a:rPr lang="en-IN" smtClean="0"/>
              <a:pPr/>
              <a:t>3</a:t>
            </a:fld>
            <a:endParaRPr lang="en-IN"/>
          </a:p>
        </p:txBody>
      </p:sp>
      <p:sp>
        <p:nvSpPr>
          <p:cNvPr id="7" name="Footer Placeholder 6"/>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
        <p:nvSpPr>
          <p:cNvPr id="5" name="Date Placeholder 4"/>
          <p:cNvSpPr>
            <a:spLocks noGrp="1"/>
          </p:cNvSpPr>
          <p:nvPr>
            <p:ph type="dt" sz="half" idx="10"/>
          </p:nvPr>
        </p:nvSpPr>
        <p:spPr/>
        <p:txBody>
          <a:bodyPr/>
          <a:lstStyle/>
          <a:p>
            <a:r>
              <a:rPr lang="en-IN"/>
              <a:t>30-07-2026</a:t>
            </a:r>
          </a:p>
        </p:txBody>
      </p:sp>
      <p:sp>
        <p:nvSpPr>
          <p:cNvPr id="6" name="Slide Number Placeholder 5"/>
          <p:cNvSpPr>
            <a:spLocks noGrp="1"/>
          </p:cNvSpPr>
          <p:nvPr>
            <p:ph type="sldNum" sz="quarter" idx="12"/>
          </p:nvPr>
        </p:nvSpPr>
        <p:spPr/>
        <p:txBody>
          <a:bodyPr/>
          <a:lstStyle/>
          <a:p>
            <a:fld id="{7C33CCD4-7228-4506-A3A6-5A9074B2CE31}" type="slidenum">
              <a:rPr lang="en-IN" smtClean="0"/>
              <a:pPr/>
              <a:t>4</a:t>
            </a:fld>
            <a:endParaRPr lang="en-IN"/>
          </a:p>
        </p:txBody>
      </p:sp>
      <p:sp>
        <p:nvSpPr>
          <p:cNvPr id="7" name="Footer Placeholder 6"/>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5" name="Date Placeholder 4"/>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5</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4" name="Date Placeholder 3"/>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6</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5" name="Date Placeholder 4"/>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7</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4" name="Date Placeholder 3"/>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8</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5" name="Date Placeholder 4"/>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9</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1990845"/>
            <a:ext cx="8229240" cy="819154"/>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4" name="Rectangle 3"/>
          <p:cNvSpPr/>
          <p:nvPr/>
        </p:nvSpPr>
        <p:spPr>
          <a:xfrm>
            <a:off x="891251" y="3051274"/>
            <a:ext cx="10027403" cy="1815882"/>
          </a:xfrm>
          <a:prstGeom prst="rect">
            <a:avLst/>
          </a:prstGeom>
        </p:spPr>
        <p:txBody>
          <a:bodyPr wrap="square">
            <a:spAutoFit/>
          </a:bodyPr>
          <a:lstStyle/>
          <a:p>
            <a:pPr>
              <a:buFont typeface="Arial" pitchFamily="34" charset="0"/>
              <a:buChar char="•"/>
            </a:pPr>
            <a:r>
              <a:rPr lang="en-US" sz="2800" dirty="0"/>
              <a:t>  Public Wi-Fi networks are widely used. </a:t>
            </a:r>
          </a:p>
          <a:p>
            <a:pPr>
              <a:buFont typeface="Arial" pitchFamily="34" charset="0"/>
              <a:buChar char="•"/>
            </a:pPr>
            <a:r>
              <a:rPr lang="en-US" sz="2800" dirty="0"/>
              <a:t>  Attackers create fake Wi-Fi hotspots (Evil Twin). </a:t>
            </a:r>
          </a:p>
          <a:p>
            <a:pPr>
              <a:buFont typeface="Arial" pitchFamily="34" charset="0"/>
              <a:buChar char="•"/>
            </a:pPr>
            <a:r>
              <a:rPr lang="en-US" sz="2800" dirty="0"/>
              <a:t>  Users may unknowingly connect and lose sensitive information. </a:t>
            </a:r>
          </a:p>
          <a:p>
            <a:pPr>
              <a:buFont typeface="Arial" pitchFamily="34" charset="0"/>
              <a:buChar char="•"/>
            </a:pPr>
            <a:r>
              <a:rPr lang="en-US" sz="2800" dirty="0"/>
              <a:t>  Need for a low-cost, portable detection system. </a:t>
            </a:r>
          </a:p>
        </p:txBody>
      </p:sp>
      <p:sp>
        <p:nvSpPr>
          <p:cNvPr id="5" name="Date Placeholder 4"/>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10</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4" name="Rectangle 3"/>
          <p:cNvSpPr/>
          <p:nvPr/>
        </p:nvSpPr>
        <p:spPr>
          <a:xfrm>
            <a:off x="891251" y="2973268"/>
            <a:ext cx="11027043" cy="1938992"/>
          </a:xfrm>
          <a:prstGeom prst="rect">
            <a:avLst/>
          </a:prstGeom>
        </p:spPr>
        <p:txBody>
          <a:bodyPr wrap="square">
            <a:spAutoFit/>
          </a:bodyPr>
          <a:lstStyle/>
          <a:p>
            <a:pPr>
              <a:buFont typeface="Arial" pitchFamily="34" charset="0"/>
              <a:buChar char="•"/>
            </a:pPr>
            <a:r>
              <a:rPr lang="en-US" sz="2400" dirty="0"/>
              <a:t>ESP32 scans nearby Wi-Fi networks.
Detects suspicious access points using SSID, BSSID, security type, and signal strength.
Compares the detected network with a trusted Wi-Fi database to identify possible fake (Evil Twin) access points.
Alerts users through LED, buzzer, OLED display, and a web dashboard.</a:t>
            </a:r>
          </a:p>
        </p:txBody>
      </p:sp>
      <p:sp>
        <p:nvSpPr>
          <p:cNvPr id="5" name="Date Placeholder 4"/>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11</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4" name="Rectangle 3"/>
          <p:cNvSpPr/>
          <p:nvPr/>
        </p:nvSpPr>
        <p:spPr>
          <a:xfrm>
            <a:off x="838200" y="2828834"/>
            <a:ext cx="11353800" cy="1569660"/>
          </a:xfrm>
          <a:prstGeom prst="rect">
            <a:avLst/>
          </a:prstGeom>
        </p:spPr>
        <p:txBody>
          <a:bodyPr wrap="square">
            <a:spAutoFit/>
          </a:bodyPr>
          <a:lstStyle/>
          <a:p>
            <a:pPr>
              <a:buFont typeface="Arial" pitchFamily="34" charset="0"/>
              <a:buChar char="•"/>
            </a:pPr>
            <a:r>
              <a:rPr lang="en-US" sz="2400" dirty="0"/>
              <a:t>Fake Wi-Fi hotspots are difficult for users to identify.
Existing detection methods are expensive or require technical expertise.
Users are at risk of data theft and credential theft.
There is a need for an affordable, real-time Wi-Fi monitoring and detection system.. </a:t>
            </a:r>
          </a:p>
        </p:txBody>
      </p:sp>
      <p:sp>
        <p:nvSpPr>
          <p:cNvPr id="7" name="Date Placeholder 6"/>
          <p:cNvSpPr>
            <a:spLocks noGrp="1"/>
          </p:cNvSpPr>
          <p:nvPr>
            <p:ph type="dt" sz="half" idx="10"/>
          </p:nvPr>
        </p:nvSpPr>
        <p:spPr/>
        <p:txBody>
          <a:bodyPr/>
          <a:lstStyle/>
          <a:p>
            <a:r>
              <a:rPr lang="en-IN"/>
              <a:t>30-07-2026</a:t>
            </a:r>
          </a:p>
        </p:txBody>
      </p:sp>
      <p:sp>
        <p:nvSpPr>
          <p:cNvPr id="8" name="Slide Number Placeholder 7"/>
          <p:cNvSpPr>
            <a:spLocks noGrp="1"/>
          </p:cNvSpPr>
          <p:nvPr>
            <p:ph type="sldNum" sz="quarter" idx="12"/>
          </p:nvPr>
        </p:nvSpPr>
        <p:spPr/>
        <p:txBody>
          <a:bodyPr/>
          <a:lstStyle/>
          <a:p>
            <a:fld id="{7C33CCD4-7228-4506-A3A6-5A9074B2CE31}" type="slidenum">
              <a:rPr lang="en-IN" smtClean="0"/>
              <a:pPr/>
              <a:t>12</a:t>
            </a:fld>
            <a:endParaRPr lang="en-IN"/>
          </a:p>
        </p:txBody>
      </p:sp>
      <p:sp>
        <p:nvSpPr>
          <p:cNvPr id="9" name="Footer Placeholder 8"/>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4" name="Rectangle 3"/>
          <p:cNvSpPr/>
          <p:nvPr/>
        </p:nvSpPr>
        <p:spPr>
          <a:xfrm>
            <a:off x="891251" y="2715527"/>
            <a:ext cx="8111823" cy="3046988"/>
          </a:xfrm>
          <a:prstGeom prst="rect">
            <a:avLst/>
          </a:prstGeom>
        </p:spPr>
        <p:txBody>
          <a:bodyPr wrap="square">
            <a:spAutoFit/>
          </a:bodyPr>
          <a:lstStyle/>
          <a:p>
            <a:pPr>
              <a:buFont typeface="Arial" pitchFamily="34" charset="0"/>
              <a:buChar char="•"/>
            </a:pPr>
            <a:r>
              <a:rPr lang="en-US" sz="2400" dirty="0"/>
              <a:t>ESP32 scans nearby Wi-Fi networks. </a:t>
            </a:r>
          </a:p>
          <a:p>
            <a:pPr>
              <a:buFont typeface="Arial" pitchFamily="34" charset="0"/>
              <a:buChar char="•"/>
            </a:pPr>
            <a:r>
              <a:rPr lang="en-US" sz="2400" dirty="0"/>
              <a:t>Compare detected networks with trusted network information. </a:t>
            </a:r>
          </a:p>
          <a:p>
            <a:pPr>
              <a:buFont typeface="Arial" pitchFamily="34" charset="0"/>
              <a:buChar char="•"/>
            </a:pPr>
            <a:r>
              <a:rPr lang="en-US" sz="2400" dirty="0"/>
              <a:t>Detect: </a:t>
            </a:r>
          </a:p>
          <a:p>
            <a:pPr lvl="1">
              <a:buFont typeface="Arial" pitchFamily="34" charset="0"/>
              <a:buChar char="•"/>
            </a:pPr>
            <a:r>
              <a:rPr lang="en-US" sz="2400" dirty="0"/>
              <a:t>Different BSSID for the same SSID. </a:t>
            </a:r>
          </a:p>
          <a:p>
            <a:pPr lvl="1">
              <a:buFont typeface="Arial" pitchFamily="34" charset="0"/>
              <a:buChar char="•"/>
            </a:pPr>
            <a:r>
              <a:rPr lang="en-US" sz="2400" dirty="0"/>
              <a:t>Security downgrade. </a:t>
            </a:r>
          </a:p>
          <a:p>
            <a:pPr lvl="1">
              <a:buFont typeface="Arial" pitchFamily="34" charset="0"/>
              <a:buChar char="•"/>
            </a:pPr>
            <a:r>
              <a:rPr lang="en-US" sz="2400" dirty="0"/>
              <a:t>Duplicate SSIDs. </a:t>
            </a:r>
          </a:p>
          <a:p>
            <a:pPr lvl="1">
              <a:buFont typeface="Arial" pitchFamily="34" charset="0"/>
              <a:buChar char="•"/>
            </a:pPr>
            <a:r>
              <a:rPr lang="en-US" sz="2400" dirty="0"/>
              <a:t>Sudden RSSI changes. </a:t>
            </a:r>
          </a:p>
          <a:p>
            <a:pPr>
              <a:buFont typeface="Arial" pitchFamily="34" charset="0"/>
              <a:buChar char="•"/>
            </a:pPr>
            <a:r>
              <a:rPr lang="en-US" sz="2400" dirty="0"/>
              <a:t>Generate alerts via LED, buzzer, OLED, and dashboard. </a:t>
            </a:r>
          </a:p>
        </p:txBody>
      </p:sp>
      <p:sp>
        <p:nvSpPr>
          <p:cNvPr id="5" name="Date Placeholder 4"/>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13</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4" name="Picture 3" descr="WhatsApp Image 2026-07-28 at 8.44.21 PM.jpeg"/>
          <p:cNvPicPr>
            <a:picLocks noChangeAspect="1"/>
          </p:cNvPicPr>
          <p:nvPr/>
        </p:nvPicPr>
        <p:blipFill>
          <a:blip r:embed="rId3"/>
          <a:stretch>
            <a:fillRect/>
          </a:stretch>
        </p:blipFill>
        <p:spPr>
          <a:xfrm>
            <a:off x="3399295" y="2433235"/>
            <a:ext cx="5486400" cy="4424765"/>
          </a:xfrm>
          <a:prstGeom prst="rect">
            <a:avLst/>
          </a:prstGeom>
        </p:spPr>
      </p:pic>
      <p:sp>
        <p:nvSpPr>
          <p:cNvPr id="5" name="Date Placeholder 4"/>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14</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Rectangle 4"/>
          <p:cNvSpPr/>
          <p:nvPr/>
        </p:nvSpPr>
        <p:spPr>
          <a:xfrm>
            <a:off x="864031" y="2979989"/>
            <a:ext cx="9363464" cy="1569660"/>
          </a:xfrm>
          <a:prstGeom prst="rect">
            <a:avLst/>
          </a:prstGeom>
        </p:spPr>
        <p:txBody>
          <a:bodyPr wrap="square">
            <a:spAutoFit/>
          </a:bodyPr>
          <a:lstStyle/>
          <a:p>
            <a:pPr>
              <a:buFont typeface="Arial" pitchFamily="34" charset="0"/>
              <a:buChar char="•"/>
            </a:pPr>
            <a:r>
              <a:rPr lang="en-US" sz="2400" dirty="0"/>
              <a:t>Detects fake Wi-Fi access points in real time. </a:t>
            </a:r>
          </a:p>
          <a:p>
            <a:pPr>
              <a:buFont typeface="Arial" pitchFamily="34" charset="0"/>
              <a:buChar char="•"/>
            </a:pPr>
            <a:r>
              <a:rPr lang="en-US" sz="2400" dirty="0"/>
              <a:t>Low-cost and portable solution. </a:t>
            </a:r>
          </a:p>
          <a:p>
            <a:pPr>
              <a:buFont typeface="Arial" pitchFamily="34" charset="0"/>
              <a:buChar char="•"/>
            </a:pPr>
            <a:r>
              <a:rPr lang="en-US" sz="2400" dirty="0"/>
              <a:t>Improves user awareness and network security. </a:t>
            </a:r>
          </a:p>
          <a:p>
            <a:pPr>
              <a:buFont typeface="Arial" pitchFamily="34" charset="0"/>
              <a:buChar char="•"/>
            </a:pPr>
            <a:r>
              <a:rPr lang="en-US" sz="2400" dirty="0"/>
              <a:t>Can be enhanced with Telegram alerts and cloud logging. </a:t>
            </a:r>
          </a:p>
        </p:txBody>
      </p:sp>
      <p:sp>
        <p:nvSpPr>
          <p:cNvPr id="6" name="Date Placeholder 5"/>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15</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680078" y="1979663"/>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753" y="243144"/>
            <a:ext cx="10579260" cy="1747701"/>
          </a:xfrm>
          <a:prstGeom prst="rect">
            <a:avLst/>
          </a:prstGeom>
        </p:spPr>
      </p:pic>
      <p:sp>
        <p:nvSpPr>
          <p:cNvPr id="5" name="Rectangle 4"/>
          <p:cNvSpPr/>
          <p:nvPr/>
        </p:nvSpPr>
        <p:spPr>
          <a:xfrm>
            <a:off x="876669" y="2942534"/>
            <a:ext cx="6096000" cy="1569660"/>
          </a:xfrm>
          <a:prstGeom prst="rect">
            <a:avLst/>
          </a:prstGeom>
        </p:spPr>
        <p:txBody>
          <a:bodyPr>
            <a:spAutoFit/>
          </a:bodyPr>
          <a:lstStyle/>
          <a:p>
            <a:pPr>
              <a:buFont typeface="Arial" pitchFamily="34" charset="0"/>
              <a:buChar char="•"/>
            </a:pPr>
            <a:r>
              <a:rPr lang="en-US" sz="2400" dirty="0"/>
              <a:t>ESP32 </a:t>
            </a:r>
            <a:r>
              <a:rPr lang="en-US" sz="2400" dirty="0" err="1"/>
              <a:t>Arduino</a:t>
            </a:r>
            <a:r>
              <a:rPr lang="en-US" sz="2400" dirty="0"/>
              <a:t> Documentation </a:t>
            </a:r>
          </a:p>
          <a:p>
            <a:pPr>
              <a:buFont typeface="Arial" pitchFamily="34" charset="0"/>
              <a:buChar char="•"/>
            </a:pPr>
            <a:r>
              <a:rPr lang="en-US" sz="2400" dirty="0"/>
              <a:t>IEEE Papers on Evil Twin Attacks </a:t>
            </a:r>
          </a:p>
          <a:p>
            <a:pPr>
              <a:buFont typeface="Arial" pitchFamily="34" charset="0"/>
              <a:buChar char="•"/>
            </a:pPr>
            <a:r>
              <a:rPr lang="en-US" sz="2400" dirty="0" err="1"/>
              <a:t>Espressif</a:t>
            </a:r>
            <a:r>
              <a:rPr lang="en-US" sz="2400" dirty="0"/>
              <a:t> ESP32 Documentation </a:t>
            </a:r>
          </a:p>
          <a:p>
            <a:pPr>
              <a:buFont typeface="Arial" pitchFamily="34" charset="0"/>
              <a:buChar char="•"/>
            </a:pPr>
            <a:r>
              <a:rPr lang="en-US" sz="2400" dirty="0" err="1"/>
              <a:t>Arduino</a:t>
            </a:r>
            <a:r>
              <a:rPr lang="en-US" sz="2400" dirty="0"/>
              <a:t> IDE Documentation </a:t>
            </a:r>
          </a:p>
        </p:txBody>
      </p:sp>
      <p:sp>
        <p:nvSpPr>
          <p:cNvPr id="6" name="Date Placeholder 5"/>
          <p:cNvSpPr>
            <a:spLocks noGrp="1"/>
          </p:cNvSpPr>
          <p:nvPr>
            <p:ph type="dt" sz="half" idx="10"/>
          </p:nvPr>
        </p:nvSpPr>
        <p:spPr/>
        <p:txBody>
          <a:bodyPr/>
          <a:lstStyle/>
          <a:p>
            <a:r>
              <a:rPr lang="en-IN"/>
              <a:t>30-07-2026</a:t>
            </a:r>
          </a:p>
        </p:txBody>
      </p:sp>
      <p:sp>
        <p:nvSpPr>
          <p:cNvPr id="7" name="Slide Number Placeholder 6"/>
          <p:cNvSpPr>
            <a:spLocks noGrp="1"/>
          </p:cNvSpPr>
          <p:nvPr>
            <p:ph type="sldNum" sz="quarter" idx="12"/>
          </p:nvPr>
        </p:nvSpPr>
        <p:spPr/>
        <p:txBody>
          <a:bodyPr/>
          <a:lstStyle/>
          <a:p>
            <a:fld id="{7C33CCD4-7228-4506-A3A6-5A9074B2CE31}" type="slidenum">
              <a:rPr lang="en-IN" smtClean="0"/>
              <a:pPr/>
              <a:t>16</a:t>
            </a:fld>
            <a:endParaRPr lang="en-IN"/>
          </a:p>
        </p:txBody>
      </p:sp>
      <p:sp>
        <p:nvSpPr>
          <p:cNvPr id="8" name="Footer Placeholder 7"/>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425</TotalTime>
  <Words>772</Words>
  <Application>Microsoft Office PowerPoint</Application>
  <PresentationFormat>Widescreen</PresentationFormat>
  <Paragraphs>145</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Buvana krishna</cp:lastModifiedBy>
  <cp:revision>25</cp:revision>
  <dcterms:created xsi:type="dcterms:W3CDTF">2025-10-04T04:58:01Z</dcterms:created>
  <dcterms:modified xsi:type="dcterms:W3CDTF">2026-07-29T15:27:50Z</dcterms:modified>
</cp:coreProperties>
</file>