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04" r:id="rId3"/>
    <p:sldId id="282" r:id="rId4"/>
    <p:sldId id="305" r:id="rId5"/>
    <p:sldId id="283" r:id="rId6"/>
    <p:sldId id="284" r:id="rId7"/>
    <p:sldId id="285" r:id="rId8"/>
    <p:sldId id="286" r:id="rId9"/>
    <p:sldId id="287" r:id="rId10"/>
    <p:sldId id="288" r:id="rId11"/>
    <p:sldId id="289" r:id="rId12"/>
    <p:sldId id="295" r:id="rId13"/>
    <p:sldId id="296" r:id="rId14"/>
    <p:sldId id="303" r:id="rId15"/>
    <p:sldId id="279"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4F3D910-6FC6-443F-BE9B-87599B114612}"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4F3D910-6FC6-443F-BE9B-87599B114612}" type="datetimeFigureOut">
              <a:rPr lang="en-IN" smtClean="0"/>
              <a:t>29-07-2026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4F3D910-6FC6-443F-BE9B-87599B114612}" type="datetimeFigureOut">
              <a:rPr lang="en-IN" smtClean="0"/>
              <a:t>29-07-2026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F3D910-6FC6-443F-BE9B-87599B114612}" type="datetimeFigureOut">
              <a:rPr lang="en-IN" smtClean="0"/>
              <a:t>29-07-2026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3D910-6FC6-443F-BE9B-87599B114612}"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4F3D910-6FC6-443F-BE9B-87599B114612}"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F3D910-6FC6-443F-BE9B-87599B114612}" type="datetimeFigureOut">
              <a:rPr lang="en-IN" smtClean="0"/>
              <a:t>29-07-2026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844889" y="2239060"/>
            <a:ext cx="9722822"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352223" y="1785464"/>
            <a:ext cx="11600291" cy="1481938"/>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just">
              <a:buSzPts val="1800"/>
              <a:buNone/>
              <a:defRPr/>
            </a:pPr>
            <a:r>
              <a:rPr lang="en-US" b="1" dirty="0">
                <a:solidFill>
                  <a:srgbClr val="0070C0"/>
                </a:solidFill>
                <a:latin typeface="Times New Roman"/>
                <a:ea typeface="Times New Roman"/>
                <a:cs typeface="Times New Roman"/>
              </a:rPr>
              <a:t>       </a:t>
            </a:r>
            <a:r>
              <a:rPr lang="en-IN" b="1" u="sng" dirty="0">
                <a:solidFill>
                  <a:srgbClr val="0070C0"/>
                </a:solidFill>
                <a:latin typeface="Times New Roman"/>
                <a:ea typeface="Times New Roman"/>
                <a:cs typeface="Times New Roman"/>
              </a:rPr>
              <a:t>USB ATTACK DETECTION AND AUTO ISOLATION SYSTEM</a:t>
            </a:r>
            <a:endParaRPr lang="en-US" u="sng" dirty="0">
              <a:solidFill>
                <a:srgbClr val="0070C0"/>
              </a:solidFill>
            </a:endParaRPr>
          </a:p>
        </p:txBody>
      </p:sp>
      <p:sp>
        <p:nvSpPr>
          <p:cNvPr id="8" name="Google Shape;187;p1"/>
          <p:cNvSpPr txBox="1">
            <a:spLocks/>
          </p:cNvSpPr>
          <p:nvPr/>
        </p:nvSpPr>
        <p:spPr bwMode="auto">
          <a:xfrm>
            <a:off x="352223" y="3343361"/>
            <a:ext cx="4620993" cy="2932721"/>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sz="2200" dirty="0">
                <a:solidFill>
                  <a:srgbClr val="00B050"/>
                </a:solidFill>
                <a:latin typeface="Times New Roman" panose="02020603050405020304" pitchFamily="18" charset="0"/>
                <a:cs typeface="Times New Roman" panose="02020603050405020304" pitchFamily="18" charset="0"/>
              </a:rPr>
              <a:t>Group No: 7</a:t>
            </a:r>
          </a:p>
          <a:p>
            <a:pPr marL="114300" indent="0">
              <a:buSzPts val="1800"/>
              <a:buFont typeface="Arial" panose="020B0604020202020204" pitchFamily="34" charset="0"/>
              <a:buNone/>
              <a:defRPr/>
            </a:pPr>
            <a:r>
              <a:rPr lang="en-US" sz="2200" dirty="0">
                <a:solidFill>
                  <a:srgbClr val="C00000"/>
                </a:solidFill>
                <a:latin typeface="Times New Roman" panose="02020603050405020304" pitchFamily="18" charset="0"/>
                <a:cs typeface="Times New Roman" panose="02020603050405020304" pitchFamily="18" charset="0"/>
              </a:rPr>
              <a:t>Members:</a:t>
            </a:r>
          </a:p>
          <a:p>
            <a:pPr marL="114300" indent="0">
              <a:buSzPts val="1800"/>
              <a:buFont typeface="Arial" panose="020B0604020202020204" pitchFamily="34" charset="0"/>
              <a:buNone/>
              <a:defRPr/>
            </a:pPr>
            <a:r>
              <a:rPr lang="en-US" sz="2000" dirty="0">
                <a:solidFill>
                  <a:srgbClr val="C00000"/>
                </a:solidFill>
                <a:latin typeface="Times New Roman" panose="02020603050405020304" pitchFamily="18" charset="0"/>
                <a:cs typeface="Times New Roman" panose="02020603050405020304" pitchFamily="18" charset="0"/>
              </a:rPr>
              <a:t>ABHISHEK TV (JEC24CC002)</a:t>
            </a:r>
          </a:p>
          <a:p>
            <a:pPr marL="114300" indent="0">
              <a:buSzPts val="1800"/>
              <a:buFont typeface="Arial" panose="020B0604020202020204" pitchFamily="34" charset="0"/>
              <a:buNone/>
              <a:defRPr/>
            </a:pPr>
            <a:r>
              <a:rPr lang="en-US" sz="2000" dirty="0">
                <a:solidFill>
                  <a:srgbClr val="C00000"/>
                </a:solidFill>
                <a:latin typeface="Times New Roman" panose="02020603050405020304" pitchFamily="18" charset="0"/>
                <a:cs typeface="Times New Roman" panose="02020603050405020304" pitchFamily="18" charset="0"/>
              </a:rPr>
              <a:t>AKASH BOBAN (JEC24CC011) </a:t>
            </a:r>
          </a:p>
          <a:p>
            <a:pPr marL="114300" indent="0">
              <a:buSzPts val="1800"/>
              <a:buFont typeface="Arial" panose="020B0604020202020204" pitchFamily="34" charset="0"/>
              <a:buNone/>
              <a:defRPr/>
            </a:pPr>
            <a:r>
              <a:rPr lang="en-US" sz="2000" dirty="0">
                <a:solidFill>
                  <a:srgbClr val="C00000"/>
                </a:solidFill>
                <a:latin typeface="Times New Roman" panose="02020603050405020304" pitchFamily="18" charset="0"/>
                <a:cs typeface="Times New Roman" panose="02020603050405020304" pitchFamily="18" charset="0"/>
              </a:rPr>
              <a:t>AMRIT</a:t>
            </a:r>
            <a:r>
              <a:rPr lang="en-IN" sz="2000" dirty="0">
                <a:solidFill>
                  <a:srgbClr val="C00000"/>
                </a:solidFill>
                <a:latin typeface="Times New Roman" panose="02020603050405020304" pitchFamily="18" charset="0"/>
                <a:cs typeface="Times New Roman" panose="02020603050405020304" pitchFamily="18" charset="0"/>
              </a:rPr>
              <a:t>HA </a:t>
            </a:r>
            <a:r>
              <a:rPr lang="en-US" sz="2000" dirty="0">
                <a:solidFill>
                  <a:srgbClr val="C00000"/>
                </a:solidFill>
                <a:latin typeface="Times New Roman" panose="02020603050405020304" pitchFamily="18" charset="0"/>
                <a:cs typeface="Times New Roman" panose="02020603050405020304" pitchFamily="18" charset="0"/>
              </a:rPr>
              <a:t>M (JEC24CC017)</a:t>
            </a:r>
          </a:p>
          <a:p>
            <a:pPr marL="114300" indent="0">
              <a:buSzPts val="1800"/>
              <a:buFont typeface="Arial" panose="020B0604020202020204" pitchFamily="34" charset="0"/>
              <a:buNone/>
              <a:defRPr/>
            </a:pPr>
            <a:r>
              <a:rPr lang="en-US" sz="2000" dirty="0">
                <a:solidFill>
                  <a:srgbClr val="C00000"/>
                </a:solidFill>
                <a:latin typeface="Times New Roman" panose="02020603050405020304" pitchFamily="18" charset="0"/>
                <a:cs typeface="Times New Roman" panose="02020603050405020304" pitchFamily="18" charset="0"/>
              </a:rPr>
              <a:t>MOHAMMED BILAL AT (JEC24CC043)</a:t>
            </a:r>
          </a:p>
          <a:p>
            <a:pPr marL="114300" indent="0">
              <a:buSzPts val="1800"/>
              <a:buFont typeface="Arial" panose="020B0604020202020204" pitchFamily="34" charset="0"/>
              <a:buNone/>
              <a:defRPr/>
            </a:pPr>
            <a:r>
              <a:rPr lang="en-US" sz="2000" dirty="0">
                <a:solidFill>
                  <a:srgbClr val="C00000"/>
                </a:solidFill>
                <a:latin typeface="Times New Roman" panose="02020603050405020304" pitchFamily="18" charset="0"/>
                <a:cs typeface="Times New Roman" panose="02020603050405020304" pitchFamily="18" charset="0"/>
              </a:rPr>
              <a:t>MS DEVADATHAN (JEC24CC045)</a:t>
            </a:r>
          </a:p>
        </p:txBody>
      </p:sp>
      <p:sp>
        <p:nvSpPr>
          <p:cNvPr id="9" name="Google Shape;186;p1"/>
          <p:cNvSpPr txBox="1">
            <a:spLocks/>
          </p:cNvSpPr>
          <p:nvPr/>
        </p:nvSpPr>
        <p:spPr bwMode="auto">
          <a:xfrm>
            <a:off x="8176500" y="4705732"/>
            <a:ext cx="4015500" cy="1570349"/>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sz="2400"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sz="2400" dirty="0" err="1">
                <a:solidFill>
                  <a:schemeClr val="bg2">
                    <a:lumMod val="10000"/>
                  </a:schemeClr>
                </a:solidFill>
                <a:latin typeface="Times New Roman" panose="02020603050405020304" pitchFamily="18" charset="0"/>
                <a:cs typeface="Times New Roman" panose="02020603050405020304" pitchFamily="18" charset="0"/>
              </a:rPr>
              <a:t>Ms.Sagna</a:t>
            </a:r>
            <a:r>
              <a:rPr lang="en-US" sz="2400"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sz="2400"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p:txBody>
          <a:bodyPr/>
          <a:lstStyle/>
          <a:p>
            <a:endParaRPr lang="en-IN"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65319" y="1990845"/>
            <a:ext cx="8229240" cy="819154"/>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
        <p:nvSpPr>
          <p:cNvPr id="4" name="TextBox 3">
            <a:extLst>
              <a:ext uri="{FF2B5EF4-FFF2-40B4-BE49-F238E27FC236}">
                <a16:creationId xmlns:a16="http://schemas.microsoft.com/office/drawing/2014/main" id="{5D1DB745-C326-EE65-AE1B-D89CA5E67567}"/>
              </a:ext>
            </a:extLst>
          </p:cNvPr>
          <p:cNvSpPr txBox="1"/>
          <p:nvPr/>
        </p:nvSpPr>
        <p:spPr>
          <a:xfrm>
            <a:off x="975536" y="3071256"/>
            <a:ext cx="9622193" cy="3139321"/>
          </a:xfrm>
          <a:prstGeom prst="rect">
            <a:avLst/>
          </a:prstGeom>
          <a:noFill/>
        </p:spPr>
        <p:txBody>
          <a:bodyPr wrap="square">
            <a:spAutoFit/>
          </a:bodyPr>
          <a:lstStyle/>
          <a:p>
            <a:pPr>
              <a:buNone/>
            </a:pPr>
            <a:r>
              <a:rPr lang="en-IN" b="1" dirty="0"/>
              <a:t>Hardware-Level Exploits:</a:t>
            </a:r>
            <a:r>
              <a:rPr lang="en-IN" dirty="0"/>
              <a:t> Malicious USB devices (e.g., </a:t>
            </a:r>
            <a:r>
              <a:rPr lang="en-IN" dirty="0" err="1"/>
              <a:t>BadUSB</a:t>
            </a:r>
            <a:r>
              <a:rPr lang="en-IN" dirty="0"/>
              <a:t>, Rubber Ducky) impersonate legitimate Human Interface Devices (HID) to bypass traditional software firewalls and antivirus protections.</a:t>
            </a:r>
          </a:p>
          <a:p>
            <a:pPr>
              <a:buNone/>
            </a:pPr>
            <a:endParaRPr lang="en-IN" dirty="0"/>
          </a:p>
          <a:p>
            <a:pPr>
              <a:buNone/>
            </a:pPr>
            <a:r>
              <a:rPr lang="en-IN" b="1" dirty="0"/>
              <a:t>Rapid Attack Vectors:</a:t>
            </a:r>
            <a:r>
              <a:rPr lang="en-IN" dirty="0"/>
              <a:t> Automated keystroke injection attacks execute payloads within seconds of insertion, leaving human operators no time to react.</a:t>
            </a:r>
          </a:p>
          <a:p>
            <a:pPr>
              <a:buNone/>
            </a:pPr>
            <a:endParaRPr lang="en-IN" dirty="0"/>
          </a:p>
          <a:p>
            <a:pPr>
              <a:buNone/>
            </a:pPr>
            <a:r>
              <a:rPr lang="en-IN" b="1" dirty="0"/>
              <a:t>Critical System Vulnerabilities:</a:t>
            </a:r>
            <a:r>
              <a:rPr lang="en-IN" dirty="0"/>
              <a:t> Air-gapped and industrial systems often rely on physical USB ports, making hardware-level USB threats a major breach vector.</a:t>
            </a:r>
          </a:p>
          <a:p>
            <a:pPr>
              <a:buNone/>
            </a:pPr>
            <a:endParaRPr lang="en-IN" dirty="0"/>
          </a:p>
          <a:p>
            <a:pPr>
              <a:buNone/>
            </a:pPr>
            <a:r>
              <a:rPr lang="en-IN" b="1" dirty="0"/>
              <a:t>Proactive </a:t>
            </a:r>
            <a:r>
              <a:rPr lang="en-IN" b="1" dirty="0" err="1"/>
              <a:t>Defense</a:t>
            </a:r>
            <a:r>
              <a:rPr lang="en-IN" b="1" dirty="0"/>
              <a:t> Need:</a:t>
            </a:r>
            <a:r>
              <a:rPr lang="en-IN" dirty="0"/>
              <a:t> Requirement for an automated, hardware-interfaced micro-controller solution that detects anomalous USB </a:t>
            </a:r>
            <a:r>
              <a:rPr lang="en-IN" dirty="0" err="1"/>
              <a:t>behavior</a:t>
            </a:r>
            <a:r>
              <a:rPr lang="en-IN" dirty="0"/>
              <a:t> and physically/logically isolates the threat instantly.</a:t>
            </a:r>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32268" y="2070319"/>
            <a:ext cx="8229240" cy="628135"/>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
        <p:nvSpPr>
          <p:cNvPr id="4" name="TextBox 3">
            <a:extLst>
              <a:ext uri="{FF2B5EF4-FFF2-40B4-BE49-F238E27FC236}">
                <a16:creationId xmlns:a16="http://schemas.microsoft.com/office/drawing/2014/main" id="{ED60AC33-DB0D-B000-5F5C-3FD722EEE783}"/>
              </a:ext>
            </a:extLst>
          </p:cNvPr>
          <p:cNvSpPr txBox="1"/>
          <p:nvPr/>
        </p:nvSpPr>
        <p:spPr>
          <a:xfrm>
            <a:off x="1152424" y="2921537"/>
            <a:ext cx="9388928" cy="3693319"/>
          </a:xfrm>
          <a:prstGeom prst="rect">
            <a:avLst/>
          </a:prstGeom>
          <a:noFill/>
        </p:spPr>
        <p:txBody>
          <a:bodyPr wrap="square">
            <a:spAutoFit/>
          </a:bodyPr>
          <a:lstStyle/>
          <a:p>
            <a:pPr>
              <a:buNone/>
            </a:pPr>
            <a:r>
              <a:rPr lang="en-IN" b="1" dirty="0"/>
              <a:t>Concept:</a:t>
            </a:r>
            <a:r>
              <a:rPr lang="en-IN" dirty="0"/>
              <a:t> The </a:t>
            </a:r>
            <a:r>
              <a:rPr lang="en-IN" i="1" dirty="0"/>
              <a:t>USB Device Attack Detection and Auto Isolation System</a:t>
            </a:r>
            <a:r>
              <a:rPr lang="en-IN" dirty="0"/>
              <a:t> is a microcontroller-based hardware security mechanism designed to monitor USB traffic and power patterns.</a:t>
            </a:r>
          </a:p>
          <a:p>
            <a:pPr>
              <a:buNone/>
            </a:pPr>
            <a:endParaRPr lang="en-IN" dirty="0"/>
          </a:p>
          <a:p>
            <a:pPr>
              <a:buNone/>
            </a:pPr>
            <a:r>
              <a:rPr lang="en-IN" b="1" dirty="0"/>
              <a:t>Key Objective:</a:t>
            </a:r>
            <a:r>
              <a:rPr lang="en-IN" dirty="0"/>
              <a:t> To protect end-user operating systems and critical infrastructure from rogue USB hardware attacks.</a:t>
            </a:r>
          </a:p>
          <a:p>
            <a:pPr>
              <a:buNone/>
            </a:pPr>
            <a:endParaRPr lang="en-IN" dirty="0"/>
          </a:p>
          <a:p>
            <a:pPr>
              <a:buNone/>
            </a:pPr>
            <a:r>
              <a:rPr lang="en-IN" b="1" dirty="0"/>
              <a:t>Core Mechanisms:</a:t>
            </a:r>
            <a:endParaRPr lang="en-IN" dirty="0"/>
          </a:p>
          <a:p>
            <a:pPr>
              <a:buFont typeface="Arial" panose="020B0604020202020204" pitchFamily="34" charset="0"/>
              <a:buChar char="•"/>
            </a:pPr>
            <a:r>
              <a:rPr lang="en-IN" dirty="0"/>
              <a:t>Real-time monitoring of HID activity (keystroke frequency, payload signatures, power draw).</a:t>
            </a:r>
          </a:p>
          <a:p>
            <a:pPr>
              <a:buFont typeface="Arial" panose="020B0604020202020204" pitchFamily="34" charset="0"/>
              <a:buChar char="•"/>
            </a:pPr>
            <a:r>
              <a:rPr lang="en-IN" dirty="0"/>
              <a:t>Automated physical cut-off (using relays/MOSFETs) or host-level driver disabling upon detecting malicious profiles.</a:t>
            </a:r>
          </a:p>
          <a:p>
            <a:endParaRPr lang="en-IN" dirty="0"/>
          </a:p>
          <a:p>
            <a:pPr>
              <a:buNone/>
            </a:pPr>
            <a:r>
              <a:rPr lang="en-IN" b="1" dirty="0"/>
              <a:t>Microcontroller Role:</a:t>
            </a:r>
            <a:r>
              <a:rPr lang="en-IN" dirty="0"/>
              <a:t> Serves as an intermediary host/bridge (e.g., STM32/ESP32/Raspberry Pi Pico) that inspects device descriptors before exposing them to the target machine.</a:t>
            </a:r>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3" name="TextBox 2">
            <a:extLst>
              <a:ext uri="{FF2B5EF4-FFF2-40B4-BE49-F238E27FC236}">
                <a16:creationId xmlns:a16="http://schemas.microsoft.com/office/drawing/2014/main" id="{BDF929BE-17E2-A69E-04E9-617D903BC43F}"/>
              </a:ext>
            </a:extLst>
          </p:cNvPr>
          <p:cNvSpPr txBox="1"/>
          <p:nvPr/>
        </p:nvSpPr>
        <p:spPr>
          <a:xfrm>
            <a:off x="1609270" y="3007245"/>
            <a:ext cx="9143222" cy="3139321"/>
          </a:xfrm>
          <a:prstGeom prst="rect">
            <a:avLst/>
          </a:prstGeom>
          <a:noFill/>
        </p:spPr>
        <p:txBody>
          <a:bodyPr wrap="square">
            <a:spAutoFit/>
          </a:bodyPr>
          <a:lstStyle/>
          <a:p>
            <a:pPr>
              <a:buNone/>
            </a:pPr>
            <a:r>
              <a:rPr lang="en-IN" dirty="0"/>
              <a:t>Traditional host operating systems automatically trust hardware components identified as USB Human Interface Devices (HID). Attackers exploit this trust using microcontrollers programmed to mimic keyboards/mice, injecting malicious command scripts (e.g., PowerShell commands, reverse shells) faster than human capability.</a:t>
            </a:r>
          </a:p>
          <a:p>
            <a:pPr>
              <a:buNone/>
            </a:pPr>
            <a:endParaRPr lang="en-IN" dirty="0"/>
          </a:p>
          <a:p>
            <a:pPr>
              <a:buNone/>
            </a:pPr>
            <a:endParaRPr lang="en-IN" dirty="0"/>
          </a:p>
          <a:p>
            <a:pPr>
              <a:buNone/>
            </a:pPr>
            <a:r>
              <a:rPr lang="en-IN" b="1" dirty="0"/>
              <a:t>Existing Limitations:</a:t>
            </a:r>
          </a:p>
          <a:p>
            <a:pPr>
              <a:buNone/>
            </a:pPr>
            <a:endParaRPr lang="en-IN" dirty="0"/>
          </a:p>
          <a:p>
            <a:pPr>
              <a:buFont typeface="Arial" panose="020B0604020202020204" pitchFamily="34" charset="0"/>
              <a:buChar char="•"/>
            </a:pPr>
            <a:r>
              <a:rPr lang="en-IN" dirty="0"/>
              <a:t>Software antivirus fails to block rogue keyboards because keystrokes appear as valid user input.</a:t>
            </a:r>
          </a:p>
          <a:p>
            <a:pPr>
              <a:buFont typeface="Arial" panose="020B0604020202020204" pitchFamily="34" charset="0"/>
              <a:buChar char="•"/>
            </a:pPr>
            <a:r>
              <a:rPr lang="en-IN" dirty="0"/>
              <a:t>Manual unplugging by the user is ineffective due to the high execution speed of payload scripts.</a:t>
            </a:r>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93821"/>
            <a:ext cx="10579260" cy="1747701"/>
          </a:xfrm>
          <a:prstGeom prst="rect">
            <a:avLst/>
          </a:prstGeom>
        </p:spPr>
      </p:pic>
      <p:sp>
        <p:nvSpPr>
          <p:cNvPr id="3" name="Title 1"/>
          <p:cNvSpPr>
            <a:spLocks noGrp="1"/>
          </p:cNvSpPr>
          <p:nvPr>
            <p:ph type="title"/>
          </p:nvPr>
        </p:nvSpPr>
        <p:spPr bwMode="auto">
          <a:xfrm>
            <a:off x="2066261" y="1841522"/>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4" name="TextBox 3">
            <a:extLst>
              <a:ext uri="{FF2B5EF4-FFF2-40B4-BE49-F238E27FC236}">
                <a16:creationId xmlns:a16="http://schemas.microsoft.com/office/drawing/2014/main" id="{ED1FF6A3-D065-E534-4822-ED79AD22CA0B}"/>
              </a:ext>
            </a:extLst>
          </p:cNvPr>
          <p:cNvSpPr txBox="1"/>
          <p:nvPr/>
        </p:nvSpPr>
        <p:spPr>
          <a:xfrm>
            <a:off x="891251" y="2432887"/>
            <a:ext cx="10667222" cy="3970318"/>
          </a:xfrm>
          <a:prstGeom prst="rect">
            <a:avLst/>
          </a:prstGeom>
          <a:noFill/>
        </p:spPr>
        <p:txBody>
          <a:bodyPr wrap="square">
            <a:spAutoFit/>
          </a:bodyPr>
          <a:lstStyle/>
          <a:p>
            <a:pPr>
              <a:buNone/>
            </a:pPr>
            <a:endParaRPr lang="en-IN" b="1" dirty="0"/>
          </a:p>
          <a:p>
            <a:pPr>
              <a:buNone/>
            </a:pPr>
            <a:r>
              <a:rPr lang="en-IN" b="1" dirty="0"/>
              <a:t>Intermediate Inline Inspection:</a:t>
            </a:r>
            <a:r>
              <a:rPr lang="en-IN" dirty="0"/>
              <a:t> Place a hardware shield/microcontroller inline between the USB device and the target host system.</a:t>
            </a:r>
          </a:p>
          <a:p>
            <a:pPr>
              <a:buNone/>
            </a:pPr>
            <a:endParaRPr lang="en-IN" dirty="0"/>
          </a:p>
          <a:p>
            <a:pPr>
              <a:buNone/>
            </a:pPr>
            <a:r>
              <a:rPr lang="en-IN" b="1" dirty="0"/>
              <a:t>Anomalous </a:t>
            </a:r>
            <a:r>
              <a:rPr lang="en-IN" b="1" dirty="0" err="1"/>
              <a:t>Behavior</a:t>
            </a:r>
            <a:r>
              <a:rPr lang="en-IN" b="1" dirty="0"/>
              <a:t> Detection:</a:t>
            </a:r>
          </a:p>
          <a:p>
            <a:pPr>
              <a:buNone/>
            </a:pPr>
            <a:endParaRPr lang="en-IN" dirty="0"/>
          </a:p>
          <a:p>
            <a:pPr>
              <a:buFont typeface="Arial" panose="020B0604020202020204" pitchFamily="34" charset="0"/>
              <a:buChar char="•"/>
            </a:pPr>
            <a:r>
              <a:rPr lang="en-IN" dirty="0" err="1"/>
              <a:t>Analyze</a:t>
            </a:r>
            <a:r>
              <a:rPr lang="en-IN" dirty="0"/>
              <a:t> typing speed (e.g., &gt;100 WPM anomaly threshold).</a:t>
            </a:r>
          </a:p>
          <a:p>
            <a:pPr>
              <a:buFont typeface="Arial" panose="020B0604020202020204" pitchFamily="34" charset="0"/>
              <a:buChar char="•"/>
            </a:pPr>
            <a:r>
              <a:rPr lang="en-IN" dirty="0"/>
              <a:t>Monitor power profiles for USB Killer-type electrical overstress attacks.</a:t>
            </a:r>
          </a:p>
          <a:p>
            <a:endParaRPr lang="en-IN" dirty="0"/>
          </a:p>
          <a:p>
            <a:pPr>
              <a:buNone/>
            </a:pPr>
            <a:r>
              <a:rPr lang="en-IN" b="1" dirty="0"/>
              <a:t>Auto-Isolation Mechanism:</a:t>
            </a:r>
          </a:p>
          <a:p>
            <a:pPr>
              <a:buNone/>
            </a:pPr>
            <a:endParaRPr lang="en-IN" dirty="0"/>
          </a:p>
          <a:p>
            <a:pPr>
              <a:buFont typeface="Arial" panose="020B0604020202020204" pitchFamily="34" charset="0"/>
              <a:buChar char="•"/>
            </a:pPr>
            <a:r>
              <a:rPr lang="en-IN" dirty="0"/>
              <a:t>Trigger an immediate hardware disconnect via power/data line switching components (Relay/MOSFET) upon detection.</a:t>
            </a:r>
          </a:p>
          <a:p>
            <a:pPr>
              <a:buFont typeface="Arial" panose="020B0604020202020204" pitchFamily="34" charset="0"/>
              <a:buChar char="•"/>
            </a:pPr>
            <a:r>
              <a:rPr lang="en-IN" dirty="0"/>
              <a:t>Send visual/audible alert signals (LED/Buzzer) to notify system administrators.</a:t>
            </a:r>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2066260" y="1772148"/>
            <a:ext cx="8229240" cy="628135"/>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pic>
        <p:nvPicPr>
          <p:cNvPr id="9" name="Picture 8">
            <a:extLst>
              <a:ext uri="{FF2B5EF4-FFF2-40B4-BE49-F238E27FC236}">
                <a16:creationId xmlns:a16="http://schemas.microsoft.com/office/drawing/2014/main" id="{EA07B84D-82CF-57D2-A8A3-E48D0A49FE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1187" y="2400283"/>
            <a:ext cx="7639386" cy="4162912"/>
          </a:xfrm>
          <a:prstGeom prst="rect">
            <a:avLst/>
          </a:prstGeom>
        </p:spPr>
      </p:pic>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74650" y="1919568"/>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extBox 4">
            <a:extLst>
              <a:ext uri="{FF2B5EF4-FFF2-40B4-BE49-F238E27FC236}">
                <a16:creationId xmlns:a16="http://schemas.microsoft.com/office/drawing/2014/main" id="{7127DFD6-200F-E77B-FF0B-4B7633B829D7}"/>
              </a:ext>
            </a:extLst>
          </p:cNvPr>
          <p:cNvSpPr txBox="1"/>
          <p:nvPr/>
        </p:nvSpPr>
        <p:spPr>
          <a:xfrm>
            <a:off x="1257300" y="2843274"/>
            <a:ext cx="10579259" cy="3139321"/>
          </a:xfrm>
          <a:prstGeom prst="rect">
            <a:avLst/>
          </a:prstGeom>
          <a:noFill/>
        </p:spPr>
        <p:txBody>
          <a:bodyPr wrap="square">
            <a:spAutoFit/>
          </a:bodyPr>
          <a:lstStyle/>
          <a:p>
            <a:endParaRPr lang="en-IN" b="1" dirty="0"/>
          </a:p>
          <a:p>
            <a:r>
              <a:rPr lang="en-IN" dirty="0"/>
              <a:t>The proposed </a:t>
            </a:r>
            <a:r>
              <a:rPr lang="en-IN" b="1" dirty="0"/>
              <a:t>USB Device Attack Detection and Auto Isolation System</a:t>
            </a:r>
            <a:r>
              <a:rPr lang="en-IN" dirty="0"/>
              <a:t> bridges the gap between hardware trust and software security.</a:t>
            </a:r>
          </a:p>
          <a:p>
            <a:endParaRPr lang="en-IN" dirty="0"/>
          </a:p>
          <a:p>
            <a:pPr>
              <a:buFont typeface="Arial" panose="020B0604020202020204" pitchFamily="34" charset="0"/>
              <a:buChar char="•"/>
            </a:pPr>
            <a:r>
              <a:rPr lang="en-IN" dirty="0"/>
              <a:t>Provides a real-time, low-latency </a:t>
            </a:r>
            <a:r>
              <a:rPr lang="en-IN" dirty="0" err="1"/>
              <a:t>defense</a:t>
            </a:r>
            <a:r>
              <a:rPr lang="en-IN" dirty="0"/>
              <a:t> mechanism against keystroke injection and rogue USB hardware attacks.</a:t>
            </a:r>
          </a:p>
          <a:p>
            <a:endParaRPr lang="en-IN" dirty="0"/>
          </a:p>
          <a:p>
            <a:pPr>
              <a:buFont typeface="Arial" panose="020B0604020202020204" pitchFamily="34" charset="0"/>
              <a:buChar char="•"/>
            </a:pPr>
            <a:r>
              <a:rPr lang="en-IN" dirty="0"/>
              <a:t>Safeguards critical machines without relying on vulnerable host OS security layers.</a:t>
            </a:r>
          </a:p>
          <a:p>
            <a:endParaRPr lang="en-IN" dirty="0"/>
          </a:p>
          <a:p>
            <a:pPr>
              <a:buFont typeface="Arial" panose="020B0604020202020204" pitchFamily="34" charset="0"/>
              <a:buChar char="•"/>
            </a:pPr>
            <a:r>
              <a:rPr lang="en-IN" b="1" dirty="0"/>
              <a:t>Future Scope:</a:t>
            </a:r>
            <a:r>
              <a:rPr lang="en-IN" dirty="0"/>
              <a:t> Integrating machine learning algorithms on edge microcontrollers to detect zero-day USB </a:t>
            </a:r>
            <a:r>
              <a:rPr lang="en-IN" dirty="0" err="1"/>
              <a:t>behavior</a:t>
            </a:r>
            <a:r>
              <a:rPr lang="en-IN" dirty="0"/>
              <a:t> anomalies.</a:t>
            </a:r>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81693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extBox 4">
            <a:extLst>
              <a:ext uri="{FF2B5EF4-FFF2-40B4-BE49-F238E27FC236}">
                <a16:creationId xmlns:a16="http://schemas.microsoft.com/office/drawing/2014/main" id="{DB555B25-BFB3-2649-3463-FB370238B52B}"/>
              </a:ext>
            </a:extLst>
          </p:cNvPr>
          <p:cNvSpPr txBox="1"/>
          <p:nvPr/>
        </p:nvSpPr>
        <p:spPr>
          <a:xfrm>
            <a:off x="762777" y="2843274"/>
            <a:ext cx="10707733" cy="2585323"/>
          </a:xfrm>
          <a:prstGeom prst="rect">
            <a:avLst/>
          </a:prstGeom>
          <a:noFill/>
        </p:spPr>
        <p:txBody>
          <a:bodyPr wrap="square">
            <a:spAutoFit/>
          </a:bodyPr>
          <a:lstStyle/>
          <a:p>
            <a:r>
              <a:rPr lang="en-IN" dirty="0"/>
              <a:t>1) K. Nohl, S. </a:t>
            </a:r>
            <a:r>
              <a:rPr lang="en-IN" dirty="0" err="1"/>
              <a:t>Krißler</a:t>
            </a:r>
            <a:r>
              <a:rPr lang="en-IN" dirty="0"/>
              <a:t>, and J. Lell, "</a:t>
            </a:r>
            <a:r>
              <a:rPr lang="en-IN" dirty="0" err="1"/>
              <a:t>BadUSB</a:t>
            </a:r>
            <a:r>
              <a:rPr lang="en-IN" dirty="0"/>
              <a:t> – On accessories that turn evil," in Black Hat USA, Las Vegas, NV, 2014.</a:t>
            </a:r>
          </a:p>
          <a:p>
            <a:endParaRPr lang="en-IN" dirty="0"/>
          </a:p>
          <a:p>
            <a:r>
              <a:rPr lang="en-IN" dirty="0"/>
              <a:t>2) USB Implementers Forum, "Device Class Definition for Human Interface Devices (HID)," Specification Version 1.11.</a:t>
            </a:r>
          </a:p>
          <a:p>
            <a:endParaRPr lang="en-IN" dirty="0"/>
          </a:p>
          <a:p>
            <a:r>
              <a:rPr lang="en-IN" dirty="0"/>
              <a:t>3) D. Kitchen, "USB Rubber Ducky: Keystroke Injection &amp; Hardware Attack Vectors," Hak5 Security Research, 2022.</a:t>
            </a:r>
          </a:p>
          <a:p>
            <a:endParaRPr lang="en-IN" dirty="0"/>
          </a:p>
          <a:p>
            <a:r>
              <a:rPr lang="en-IN" dirty="0"/>
              <a:t>4) C. Doctorow, "USG: Open-Source Hardware USB Firewall," Embedded Hardware Security Review, 2017.</a:t>
            </a:r>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TotalTime>
  <Words>1443</Words>
  <Application>Microsoft Office PowerPoint</Application>
  <PresentationFormat>Widescreen</PresentationFormat>
  <Paragraphs>120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amrithamurukankutty@gmail.com</cp:lastModifiedBy>
  <cp:revision>11</cp:revision>
  <dcterms:created xsi:type="dcterms:W3CDTF">2025-10-04T04:58:01Z</dcterms:created>
  <dcterms:modified xsi:type="dcterms:W3CDTF">2026-07-29T15:51:03Z</dcterms:modified>
</cp:coreProperties>
</file>