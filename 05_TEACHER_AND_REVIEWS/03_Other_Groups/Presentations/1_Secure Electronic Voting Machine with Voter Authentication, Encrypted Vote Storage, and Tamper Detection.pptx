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5F986-2618-1AD2-7A62-71BDAC58000B}" v="77" dt="2026-07-29T17:07:11.392"/>
    <p1510:client id="{7CB08F87-3206-7E51-41AA-F0B8DD2F76C7}" v="2" dt="2026-07-29T16:50:04.388"/>
    <p1510:client id="{B5AE13E1-00AE-40FF-B48C-7A14B72AB62C}" v="118" dt="2026-07-29T16:46:03.012"/>
    <p1510:client id="{DC8DF1CF-E1E1-75F5-6A1A-A52AC7946306}" v="5" dt="2026-07-29T17:23:27.572"/>
    <p1510:client id="{E7D5C1A2-6BA4-4C2D-8F30-0DAB71C8B878}" v="77" dt="2026-07-29T16:43:28.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Secure Electronic Voting Machine with Voter Authentication, Encrypted Vote Storage, and Tamper Detection</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52E3D-E3B8-42CB-8A5D-8D5BBFFB8088}"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CSE(CY)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709358-F93D-466C-8E53-DBF719385DA4}" type="slidenum">
              <a:rPr lang="en-IN" smtClean="0"/>
              <a:t>‹#›</a:t>
            </a:fld>
            <a:endParaRPr lang="en-IN"/>
          </a:p>
        </p:txBody>
      </p:sp>
    </p:spTree>
    <p:extLst>
      <p:ext uri="{BB962C8B-B14F-4D97-AF65-F5344CB8AC3E}">
        <p14:creationId xmlns:p14="http://schemas.microsoft.com/office/powerpoint/2010/main" val="2247593164"/>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4F33225-F311-4D70-B384-5E479145CE77}" type="datetime3">
              <a:rPr lang="en-US" smtClean="0"/>
              <a:t>29 July 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E21759D-D5DA-4C2A-AC30-DD00A7C1B7C1}" type="datetime3">
              <a:rPr lang="en-US" smtClean="0"/>
              <a:t>29 July 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5225D4-A5DC-4B01-9FD3-20B58CEC3643}" type="datetime3">
              <a:rPr lang="en-US" smtClean="0"/>
              <a:t>29 July 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7E02494-A1C8-462D-B2C8-25E5FE1D2C2C}" type="datetime3">
              <a:rPr lang="en-US" smtClean="0"/>
              <a:t>29 July 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295FD1F-DEEA-445E-A6AC-0306FCA3563F}" type="datetime3">
              <a:rPr lang="en-US" smtClean="0"/>
              <a:t>29 July 2026</a:t>
            </a:fld>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98588A8-BCF8-43EA-AE89-A13C8AA8BE62}" type="datetime3">
              <a:rPr lang="en-US" smtClean="0"/>
              <a:t>29 July 2026</a:t>
            </a:fld>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D91F19-4BAB-4C8F-9448-712DBA5F6CBE}" type="datetime3">
              <a:rPr lang="en-US" smtClean="0"/>
              <a:t>29 July 2026</a:t>
            </a:fld>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7CCC35-70EC-42AC-A9B3-DA946E4BDF46}" type="datetime3">
              <a:rPr lang="en-US" smtClean="0"/>
              <a:t>29 July 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88BBF-D4AE-4156-BD28-B99352A86116}" type="datetime3">
              <a:rPr lang="en-US" smtClean="0"/>
              <a:t>29 July 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194188-50F0-49EB-AFD9-013C804A38F3}" type="datetime3">
              <a:rPr lang="en-US" smtClean="0"/>
              <a:t>29 July 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8F5BEF1-2274-4509-84B5-6CA28664962A}" type="datetime3">
              <a:rPr lang="en-US" smtClean="0"/>
              <a:t>29 July 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F924B4-BD16-4FD3-AB48-D0E8B50A0F26}" type="datetime3">
              <a:rPr lang="en-US" smtClean="0"/>
              <a:t>29 July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arduino.cc/"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docs.arduino.cc/libraries/sd/" TargetMode="External"/><Relationship Id="rId5" Type="http://schemas.openxmlformats.org/officeDocument/2006/relationships/hyperlink" Target="https://docs.arduino.cc/learn/built-in-libraries/eeprom/" TargetMode="External"/><Relationship Id="rId4" Type="http://schemas.openxmlformats.org/officeDocument/2006/relationships/hyperlink" Target="https://github.com/miguelbalboa/rfi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885" y="243144"/>
            <a:ext cx="10579260" cy="1747701"/>
          </a:xfrm>
          <a:prstGeom prst="rect">
            <a:avLst/>
          </a:prstGeom>
        </p:spPr>
      </p:pic>
      <p:sp>
        <p:nvSpPr>
          <p:cNvPr id="7" name="Google Shape;185;p1"/>
          <p:cNvSpPr txBox="1">
            <a:spLocks/>
          </p:cNvSpPr>
          <p:nvPr/>
        </p:nvSpPr>
        <p:spPr bwMode="auto">
          <a:xfrm>
            <a:off x="1602293" y="1990845"/>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a:solidFill>
                <a:srgbClr val="C0504D"/>
              </a:solidFill>
              <a:latin typeface="Times New Roman"/>
              <a:ea typeface="Times New Roman"/>
              <a:cs typeface="Times New Roman"/>
            </a:endParaRPr>
          </a:p>
          <a:p>
            <a:pPr marL="0" indent="0" algn="l">
              <a:buNone/>
            </a:pPr>
            <a:r>
              <a:rPr lang="en-IN" sz="4000" b="1" i="0" u="none" strike="noStrike">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a:solidFill>
                <a:schemeClr val="accent2">
                  <a:lumMod val="75000"/>
                </a:schemeClr>
              </a:solidFill>
              <a:effectLst/>
              <a:latin typeface="Helvetica Neue"/>
            </a:endParaRPr>
          </a:p>
          <a:p>
            <a:pPr marL="0" indent="0" algn="ctr">
              <a:buNone/>
            </a:pPr>
            <a:r>
              <a:rPr lang="en-IN" sz="4000" b="1">
                <a:solidFill>
                  <a:schemeClr val="accent2">
                    <a:lumMod val="75000"/>
                  </a:schemeClr>
                </a:solidFill>
                <a:latin typeface="Helvetica Neue"/>
              </a:rPr>
              <a:t>MICRO PROJECT</a:t>
            </a:r>
            <a:endParaRPr lang="en-IN" sz="4000" b="1" i="0">
              <a:solidFill>
                <a:schemeClr val="accent2">
                  <a:lumMod val="75000"/>
                </a:schemeClr>
              </a:solidFill>
              <a:effectLst/>
              <a:latin typeface="Helvetica Neue"/>
            </a:endParaRPr>
          </a:p>
          <a:p>
            <a:pPr marL="114300" indent="0" algn="ctr">
              <a:buSzPts val="1800"/>
              <a:buNone/>
              <a:defRPr/>
            </a:pPr>
            <a:endParaRPr lang="en-US" sz="5400" b="1">
              <a:solidFill>
                <a:srgbClr val="C0504D"/>
              </a:solidFill>
              <a:latin typeface="Times New Roman"/>
              <a:cs typeface="Times New Roman"/>
            </a:endParaRPr>
          </a:p>
          <a:p>
            <a:pPr marL="114300" indent="0" algn="ctr">
              <a:buSzPts val="1800"/>
              <a:buNone/>
              <a:defRPr/>
            </a:pPr>
            <a:r>
              <a:rPr lang="en-US" sz="4800" b="1">
                <a:solidFill>
                  <a:srgbClr val="7030A0"/>
                </a:solidFill>
                <a:latin typeface="Times New Roman"/>
                <a:cs typeface="Times New Roman"/>
              </a:rPr>
              <a:t>Zeroth Review</a:t>
            </a:r>
            <a:endParaRPr lang="en-US" sz="4800" b="1">
              <a:solidFill>
                <a:srgbClr val="7030A0"/>
              </a:solidFill>
            </a:endParaRPr>
          </a:p>
        </p:txBody>
      </p:sp>
      <p:sp>
        <p:nvSpPr>
          <p:cNvPr id="2" name="Date Placeholder 1">
            <a:extLst>
              <a:ext uri="{FF2B5EF4-FFF2-40B4-BE49-F238E27FC236}">
                <a16:creationId xmlns:a16="http://schemas.microsoft.com/office/drawing/2014/main" id="{C53C02F7-16C0-4146-0586-F7528D4642EB}"/>
              </a:ext>
            </a:extLst>
          </p:cNvPr>
          <p:cNvSpPr>
            <a:spLocks noGrp="1"/>
          </p:cNvSpPr>
          <p:nvPr>
            <p:ph type="dt" sz="half" idx="10"/>
          </p:nvPr>
        </p:nvSpPr>
        <p:spPr/>
        <p:txBody>
          <a:bodyPr/>
          <a:lstStyle/>
          <a:p>
            <a:fld id="{7B8694C0-70BA-4FEF-A9DC-1BD7D33DC8B5}" type="datetime3">
              <a:rPr lang="en-US" smtClean="0"/>
              <a:t>29 July 2026</a:t>
            </a:fld>
            <a:endParaRPr lang="en-IN"/>
          </a:p>
        </p:txBody>
      </p:sp>
      <p:sp>
        <p:nvSpPr>
          <p:cNvPr id="3" name="Footer Placeholder 2">
            <a:extLst>
              <a:ext uri="{FF2B5EF4-FFF2-40B4-BE49-F238E27FC236}">
                <a16:creationId xmlns:a16="http://schemas.microsoft.com/office/drawing/2014/main" id="{FF222422-D76C-B498-E1B1-48F71B10D5F7}"/>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765240" y="1917174"/>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None/>
              <a:defRPr/>
            </a:pPr>
            <a:endParaRPr lang="en-US" b="1">
              <a:solidFill>
                <a:srgbClr val="0070C0"/>
              </a:solidFill>
              <a:latin typeface="Times New Roman"/>
              <a:ea typeface="Times New Roman"/>
              <a:cs typeface="Times New Roman"/>
            </a:endParaRPr>
          </a:p>
          <a:p>
            <a:pPr marL="114300" indent="0" algn="ctr">
              <a:buSzPts val="1800"/>
              <a:buNone/>
              <a:defRPr/>
            </a:pPr>
            <a:r>
              <a:rPr lang="en-US" b="1">
                <a:solidFill>
                  <a:srgbClr val="0070C0"/>
                </a:solidFill>
                <a:latin typeface="Times New Roman"/>
                <a:ea typeface="Times New Roman"/>
                <a:cs typeface="Times New Roman"/>
              </a:rPr>
              <a:t>Title:- </a:t>
            </a:r>
            <a:r>
              <a:rPr lang="en-IN">
                <a:solidFill>
                  <a:srgbClr val="0070C0"/>
                </a:solidFill>
                <a:latin typeface="Times New Roman" panose="02020603050405020304" pitchFamily="18" charset="0"/>
                <a:cs typeface="Times New Roman" panose="02020603050405020304" pitchFamily="18" charset="0"/>
              </a:rPr>
              <a:t>Secure Electronic Voting Machine with Voter Authentication, Encrypted Vote Storage, and Tamper Detection</a:t>
            </a:r>
            <a:endParaRPr lang="en-US">
              <a:solidFill>
                <a:srgbClr val="0070C0"/>
              </a:solidFill>
              <a:latin typeface="Times New Roman" panose="02020603050405020304" pitchFamily="18" charset="0"/>
              <a:cs typeface="Times New Roman" panose="02020603050405020304" pitchFamily="18" charset="0"/>
            </a:endParaRPr>
          </a:p>
        </p:txBody>
      </p:sp>
      <p:sp>
        <p:nvSpPr>
          <p:cNvPr id="8" name="Google Shape;187;p1"/>
          <p:cNvSpPr txBox="1">
            <a:spLocks/>
          </p:cNvSpPr>
          <p:nvPr/>
        </p:nvSpPr>
        <p:spPr bwMode="auto">
          <a:xfrm>
            <a:off x="423480" y="3661114"/>
            <a:ext cx="6530764" cy="2430084"/>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a:solidFill>
                  <a:srgbClr val="00B050"/>
                </a:solidFill>
                <a:latin typeface="Times New Roman" panose="02020603050405020304" pitchFamily="18" charset="0"/>
                <a:cs typeface="Times New Roman" panose="02020603050405020304" pitchFamily="18" charset="0"/>
              </a:rPr>
              <a:t>Group No: 1</a:t>
            </a:r>
          </a:p>
          <a:p>
            <a:pPr marL="114300" indent="0">
              <a:buSzPts val="1800"/>
              <a:buNone/>
              <a:defRPr/>
            </a:pPr>
            <a:r>
              <a:rPr lang="en-US">
                <a:solidFill>
                  <a:srgbClr val="C00000"/>
                </a:solidFill>
                <a:latin typeface="Times New Roman"/>
                <a:cs typeface="Times New Roman"/>
              </a:rPr>
              <a:t>Members: </a:t>
            </a:r>
            <a:r>
              <a:rPr lang="en-US" sz="2400">
                <a:solidFill>
                  <a:srgbClr val="C00000"/>
                </a:solidFill>
                <a:latin typeface="Times New Roman"/>
                <a:cs typeface="Times New Roman"/>
              </a:rPr>
              <a:t>Adithiyan K Kumar - JEC24CC006</a:t>
            </a:r>
          </a:p>
          <a:p>
            <a:pPr marL="114300" indent="0">
              <a:buSzPts val="1800"/>
              <a:buNone/>
              <a:defRPr/>
            </a:pPr>
            <a:r>
              <a:rPr lang="en-US" sz="2400">
                <a:solidFill>
                  <a:srgbClr val="C00000"/>
                </a:solidFill>
                <a:latin typeface="Times New Roman"/>
                <a:cs typeface="Times New Roman"/>
              </a:rPr>
              <a:t>                    Athul Krishna M B - JEC24CC025</a:t>
            </a:r>
          </a:p>
          <a:p>
            <a:pPr marL="114300" indent="0">
              <a:buSzPts val="1800"/>
              <a:buNone/>
              <a:defRPr/>
            </a:pPr>
            <a:r>
              <a:rPr lang="en-US" sz="2400" dirty="0">
                <a:solidFill>
                  <a:srgbClr val="C00000"/>
                </a:solidFill>
                <a:latin typeface="Times New Roman"/>
                <a:cs typeface="Times New Roman"/>
              </a:rPr>
              <a:t>                    Pooja </a:t>
            </a:r>
            <a:r>
              <a:rPr lang="en-US" sz="2400" dirty="0" err="1">
                <a:solidFill>
                  <a:srgbClr val="C00000"/>
                </a:solidFill>
                <a:latin typeface="Times New Roman"/>
                <a:cs typeface="Times New Roman"/>
              </a:rPr>
              <a:t>Muraleedharan</a:t>
            </a:r>
            <a:r>
              <a:rPr lang="en-US" sz="2400" dirty="0">
                <a:solidFill>
                  <a:srgbClr val="C00000"/>
                </a:solidFill>
                <a:latin typeface="Times New Roman"/>
                <a:cs typeface="Times New Roman"/>
              </a:rPr>
              <a:t>- JEC24CC049</a:t>
            </a:r>
          </a:p>
          <a:p>
            <a:pPr marL="114300" indent="0">
              <a:buSzPts val="1800"/>
              <a:buNone/>
              <a:defRPr/>
            </a:pPr>
            <a:r>
              <a:rPr lang="en-US" sz="2400">
                <a:solidFill>
                  <a:srgbClr val="C00000"/>
                </a:solidFill>
                <a:latin typeface="Times New Roman"/>
                <a:cs typeface="Times New Roman"/>
              </a:rPr>
              <a:t>                    Shriram S - JEC24CC054</a:t>
            </a:r>
          </a:p>
          <a:p>
            <a:pPr marL="114300" indent="0">
              <a:buSzPts val="1800"/>
              <a:buNone/>
              <a:defRPr/>
            </a:pPr>
            <a:r>
              <a:rPr lang="en-US" sz="2400">
                <a:solidFill>
                  <a:srgbClr val="C00000"/>
                </a:solidFill>
                <a:latin typeface="Times New Roman"/>
                <a:cs typeface="Times New Roman"/>
              </a:rPr>
              <a:t>                    Vrinda Pillai - JEC24CC063</a:t>
            </a:r>
          </a:p>
          <a:p>
            <a:pPr marL="114300" indent="0">
              <a:buSzPts val="1800"/>
              <a:buFont typeface="Arial" panose="020B0604020202020204" pitchFamily="34" charset="0"/>
              <a:buNone/>
              <a:defRPr/>
            </a:pPr>
            <a:r>
              <a:rPr lang="en-US" sz="2400" dirty="0">
                <a:solidFill>
                  <a:srgbClr val="C00000"/>
                </a:solidFill>
                <a:latin typeface="Times New Roman"/>
                <a:cs typeface="Times New Roman"/>
              </a:rPr>
              <a:t>                  </a:t>
            </a:r>
          </a:p>
        </p:txBody>
      </p:sp>
      <p:sp>
        <p:nvSpPr>
          <p:cNvPr id="9" name="Google Shape;186;p1"/>
          <p:cNvSpPr txBox="1">
            <a:spLocks/>
          </p:cNvSpPr>
          <p:nvPr/>
        </p:nvSpPr>
        <p:spPr bwMode="auto">
          <a:xfrm>
            <a:off x="8178838" y="4924484"/>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err="1">
                <a:solidFill>
                  <a:schemeClr val="bg2">
                    <a:lumMod val="10000"/>
                  </a:schemeClr>
                </a:solidFill>
                <a:latin typeface="Times New Roman" panose="02020603050405020304" pitchFamily="18" charset="0"/>
                <a:cs typeface="Times New Roman" panose="02020603050405020304" pitchFamily="18" charset="0"/>
              </a:rPr>
              <a:t>Ms.Sagna</a:t>
            </a:r>
            <a:r>
              <a:rPr lang="en-US">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a:solidFill>
                <a:schemeClr val="bg2">
                  <a:lumMod val="10000"/>
                </a:schemeClr>
              </a:solidFill>
            </a:endParaRPr>
          </a:p>
        </p:txBody>
      </p:sp>
      <p:sp>
        <p:nvSpPr>
          <p:cNvPr id="13" name="Date Placeholder 12">
            <a:extLst>
              <a:ext uri="{FF2B5EF4-FFF2-40B4-BE49-F238E27FC236}">
                <a16:creationId xmlns:a16="http://schemas.microsoft.com/office/drawing/2014/main" id="{9246F3DF-2F3F-10C4-2ED2-6860E01DA33A}"/>
              </a:ext>
            </a:extLst>
          </p:cNvPr>
          <p:cNvSpPr>
            <a:spLocks noGrp="1"/>
          </p:cNvSpPr>
          <p:nvPr>
            <p:ph type="dt" sz="half" idx="10"/>
          </p:nvPr>
        </p:nvSpPr>
        <p:spPr/>
        <p:txBody>
          <a:bodyPr/>
          <a:lstStyle/>
          <a:p>
            <a:fld id="{C5FE6BAB-CC9C-4E0F-B34A-A1C05200B7CA}" type="datetime3">
              <a:rPr lang="en-US" smtClean="0"/>
              <a:t>29 July 2026</a:t>
            </a:fld>
            <a:endParaRPr lang="en-IN"/>
          </a:p>
        </p:txBody>
      </p:sp>
      <p:sp>
        <p:nvSpPr>
          <p:cNvPr id="14" name="Footer Placeholder 13">
            <a:extLst>
              <a:ext uri="{FF2B5EF4-FFF2-40B4-BE49-F238E27FC236}">
                <a16:creationId xmlns:a16="http://schemas.microsoft.com/office/drawing/2014/main" id="{137155EB-367E-58F9-55DC-8AA8A1F2420D}"/>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a:latin typeface="Times New Roman"/>
                <a:ea typeface="Times New Roman"/>
                <a:cs typeface="Times New Roman"/>
              </a:rPr>
              <a:t>(Cyber Security)</a:t>
            </a:r>
          </a:p>
          <a:p>
            <a:pPr marL="0" indent="0" algn="ctr">
              <a:buFont typeface="Arial" panose="020B0604020202020204" pitchFamily="34" charset="0"/>
              <a:buNone/>
              <a:defRPr/>
            </a:pPr>
            <a:r>
              <a:rPr lang="en-US" b="1"/>
              <a:t> </a:t>
            </a:r>
            <a:r>
              <a:rPr lang="en-US" sz="2100" b="1">
                <a:latin typeface="Times New Roman"/>
                <a:ea typeface="Times New Roman"/>
                <a:cs typeface="Times New Roman"/>
              </a:rPr>
              <a:t>Vision of the Department</a:t>
            </a:r>
          </a:p>
          <a:p>
            <a:pPr marL="0" indent="0" algn="ctr">
              <a:lnSpc>
                <a:spcPct val="150000"/>
              </a:lnSpc>
              <a:buNone/>
              <a:defRPr/>
            </a:pPr>
            <a:r>
              <a:rPr lang="en-IN" sz="200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a:latin typeface="Times New Roman"/>
              <a:ea typeface="Times New Roman"/>
              <a:cs typeface="Times New Roman"/>
            </a:endParaRPr>
          </a:p>
          <a:p>
            <a:pPr marL="0" indent="0">
              <a:buClr>
                <a:schemeClr val="dk1"/>
              </a:buClr>
              <a:buSzPts val="1100"/>
              <a:buFont typeface="Arial"/>
              <a:buNone/>
              <a:defRPr/>
            </a:pPr>
            <a:endParaRPr lang="en-US" sz="2100">
              <a:latin typeface="Times New Roman"/>
              <a:ea typeface="Times New Roman"/>
              <a:cs typeface="Times New Roman"/>
            </a:endParaRPr>
          </a:p>
          <a:p>
            <a:pPr marL="0" indent="0">
              <a:buFont typeface="Arial" panose="020B0604020202020204" pitchFamily="34" charset="0"/>
              <a:buNone/>
              <a:defRPr/>
            </a:pPr>
            <a:endParaRPr lang="en-US" sz="1700">
              <a:latin typeface="Times New Roman"/>
              <a:ea typeface="Times New Roman"/>
              <a:cs typeface="Times New Roman"/>
            </a:endParaRPr>
          </a:p>
          <a:p>
            <a:pPr marL="0" indent="0">
              <a:buClr>
                <a:schemeClr val="dk1"/>
              </a:buClr>
              <a:buSzPts val="1100"/>
              <a:buFont typeface="Arial"/>
              <a:buNone/>
              <a:defRPr/>
            </a:pPr>
            <a:endParaRPr lang="en-US" sz="1300">
              <a:latin typeface="Times New Roman"/>
              <a:ea typeface="Times New Roman"/>
              <a:cs typeface="Times New Roman"/>
            </a:endParaRPr>
          </a:p>
          <a:p>
            <a:pPr marL="0" indent="0">
              <a:buFont typeface="Arial" panose="020B0604020202020204" pitchFamily="34" charset="0"/>
              <a:buNone/>
              <a:defRPr/>
            </a:pPr>
            <a:endParaRPr lang="en-US" sz="60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E342BCEB-4492-44B3-4DC5-5BF558BAD569}"/>
              </a:ext>
            </a:extLst>
          </p:cNvPr>
          <p:cNvSpPr>
            <a:spLocks noGrp="1"/>
          </p:cNvSpPr>
          <p:nvPr>
            <p:ph type="dt" sz="half" idx="10"/>
          </p:nvPr>
        </p:nvSpPr>
        <p:spPr/>
        <p:txBody>
          <a:bodyPr/>
          <a:lstStyle/>
          <a:p>
            <a:fld id="{0B977F4F-994E-4100-9D1C-3EA7ABA057AA}" type="datetime3">
              <a:rPr lang="en-US" smtClean="0"/>
              <a:t>29 July 2026</a:t>
            </a:fld>
            <a:endParaRPr lang="en-IN"/>
          </a:p>
        </p:txBody>
      </p:sp>
      <p:sp>
        <p:nvSpPr>
          <p:cNvPr id="3" name="Footer Placeholder 2">
            <a:extLst>
              <a:ext uri="{FF2B5EF4-FFF2-40B4-BE49-F238E27FC236}">
                <a16:creationId xmlns:a16="http://schemas.microsoft.com/office/drawing/2014/main" id="{A084E2D2-186D-8A8D-4818-46CD46A10998}"/>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a:latin typeface="Times New Roman"/>
                <a:ea typeface="Times New Roman"/>
                <a:cs typeface="Times New Roman"/>
              </a:rPr>
              <a:t>(Cyber Security)</a:t>
            </a:r>
          </a:p>
          <a:p>
            <a:pPr marL="0" indent="0" algn="ctr">
              <a:buNone/>
              <a:defRPr/>
            </a:pPr>
            <a:r>
              <a:rPr lang="en-US" b="1"/>
              <a:t> </a:t>
            </a:r>
            <a:r>
              <a:rPr lang="en-US" sz="2800" b="1">
                <a:latin typeface="Times New Roman"/>
                <a:ea typeface="Times New Roman"/>
                <a:cs typeface="Times New Roman"/>
              </a:rPr>
              <a:t>Mission of the Department</a:t>
            </a:r>
          </a:p>
          <a:p>
            <a:pPr algn="just">
              <a:spcBef>
                <a:spcPts val="1125"/>
              </a:spcBef>
              <a:spcAft>
                <a:spcPts val="1125"/>
              </a:spcAft>
            </a:pPr>
            <a:r>
              <a:rPr lang="en-IN" sz="1800" b="1">
                <a:effectLst/>
                <a:latin typeface="Times New Roman" panose="02020603050405020304" pitchFamily="18" charset="0"/>
                <a:ea typeface="Times New Roman" panose="02020603050405020304" pitchFamily="18" charset="0"/>
              </a:rPr>
              <a:t>M1: Excellence in Education</a:t>
            </a:r>
            <a:r>
              <a:rPr lang="en-IN" sz="1800" b="1">
                <a:latin typeface="Arial" panose="020B0604020202020204" pitchFamily="34" charset="0"/>
              </a:rPr>
              <a:t> : </a:t>
            </a:r>
            <a:r>
              <a:rPr lang="en-IN" sz="180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a:effectLst/>
                <a:latin typeface="Times New Roman" panose="02020603050405020304" pitchFamily="18" charset="0"/>
                <a:ea typeface="Times New Roman" panose="02020603050405020304" pitchFamily="18" charset="0"/>
              </a:rPr>
              <a:t>M2: Ethics and Professional Responsibility : </a:t>
            </a:r>
            <a:r>
              <a:rPr lang="en-IN" sz="180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a:effectLst/>
                <a:latin typeface="Times New Roman" panose="02020603050405020304" pitchFamily="18" charset="0"/>
                <a:ea typeface="Times New Roman" panose="02020603050405020304" pitchFamily="18" charset="0"/>
              </a:rPr>
              <a:t>M3: Research, Innovation, and Entrepreneurship : </a:t>
            </a:r>
            <a:r>
              <a:rPr lang="en-IN" sz="180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a:effectLst/>
                <a:latin typeface="Times New Roman" panose="02020603050405020304" pitchFamily="18" charset="0"/>
                <a:ea typeface="Times New Roman" panose="02020603050405020304" pitchFamily="18" charset="0"/>
              </a:rPr>
              <a:t>M4: Holistic and Global Development : </a:t>
            </a:r>
            <a:r>
              <a:rPr lang="en-IN" sz="180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a:latin typeface="Times New Roman"/>
              <a:ea typeface="Times New Roman"/>
              <a:cs typeface="Times New Roman"/>
            </a:endParaRPr>
          </a:p>
          <a:p>
            <a:pPr marL="0" indent="0" algn="ctr">
              <a:buFont typeface="Arial" panose="020B0604020202020204" pitchFamily="34" charset="0"/>
              <a:buNone/>
              <a:defRPr/>
            </a:pPr>
            <a:endParaRPr lang="en-US" b="1">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913" y="221087"/>
            <a:ext cx="10579260" cy="1747701"/>
          </a:xfrm>
          <a:prstGeom prst="rect">
            <a:avLst/>
          </a:prstGeom>
        </p:spPr>
      </p:pic>
      <p:sp>
        <p:nvSpPr>
          <p:cNvPr id="5" name="Date Placeholder 4">
            <a:extLst>
              <a:ext uri="{FF2B5EF4-FFF2-40B4-BE49-F238E27FC236}">
                <a16:creationId xmlns:a16="http://schemas.microsoft.com/office/drawing/2014/main" id="{A9655CDD-F8FF-0DBA-9A2A-CEC8EBEDD81D}"/>
              </a:ext>
            </a:extLst>
          </p:cNvPr>
          <p:cNvSpPr>
            <a:spLocks noGrp="1"/>
          </p:cNvSpPr>
          <p:nvPr>
            <p:ph type="dt" sz="half" idx="10"/>
          </p:nvPr>
        </p:nvSpPr>
        <p:spPr/>
        <p:txBody>
          <a:bodyPr/>
          <a:lstStyle/>
          <a:p>
            <a:fld id="{BA503EA5-1C62-45BB-9CB4-8FC7BA7FDB26}" type="datetime3">
              <a:rPr lang="en-US" smtClean="0"/>
              <a:t>29 July 2026</a:t>
            </a:fld>
            <a:endParaRPr lang="en-IN"/>
          </a:p>
        </p:txBody>
      </p:sp>
      <p:sp>
        <p:nvSpPr>
          <p:cNvPr id="6" name="Footer Placeholder 5">
            <a:extLst>
              <a:ext uri="{FF2B5EF4-FFF2-40B4-BE49-F238E27FC236}">
                <a16:creationId xmlns:a16="http://schemas.microsoft.com/office/drawing/2014/main" id="{2C637A86-633C-70C5-B977-E4E82BD7267F}"/>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err="1">
                <a:latin typeface="Times New Roman"/>
                <a:ea typeface="Times New Roman"/>
                <a:cs typeface="Times New Roman"/>
              </a:rPr>
              <a:t>Programme</a:t>
            </a:r>
            <a:r>
              <a:rPr lang="en-US" b="1" u="sng">
                <a:latin typeface="Times New Roman"/>
                <a:ea typeface="Times New Roman"/>
                <a:cs typeface="Times New Roman"/>
              </a:rPr>
              <a:t> Educational Objectives (PEOs)</a:t>
            </a:r>
          </a:p>
          <a:p>
            <a:pPr>
              <a:spcBef>
                <a:spcPts val="1200"/>
              </a:spcBef>
              <a:spcAft>
                <a:spcPts val="1200"/>
              </a:spcAft>
            </a:pPr>
            <a:r>
              <a:rPr lang="en-IN" sz="1800" b="1">
                <a:effectLst/>
                <a:latin typeface="Times New Roman" panose="02020603050405020304" pitchFamily="18" charset="0"/>
                <a:ea typeface="Times New Roman" panose="02020603050405020304" pitchFamily="18" charset="0"/>
              </a:rPr>
              <a:t>PEO 1:</a:t>
            </a:r>
            <a:r>
              <a:rPr lang="en-IN" sz="1800" b="1">
                <a:latin typeface="Arial" panose="020B0604020202020204" pitchFamily="34" charset="0"/>
              </a:rPr>
              <a:t> </a:t>
            </a:r>
            <a:r>
              <a:rPr lang="en-IN" sz="180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a:effectLst/>
              <a:latin typeface="Arial" panose="020B0604020202020204" pitchFamily="34" charset="0"/>
              <a:ea typeface="Arial" panose="020B0604020202020204" pitchFamily="34" charset="0"/>
            </a:endParaRPr>
          </a:p>
          <a:p>
            <a:pPr>
              <a:spcBef>
                <a:spcPts val="1200"/>
              </a:spcBef>
              <a:spcAft>
                <a:spcPts val="1200"/>
              </a:spcAft>
            </a:pPr>
            <a:r>
              <a:rPr lang="en-IN" sz="1800" b="1">
                <a:effectLst/>
                <a:latin typeface="Times New Roman" panose="02020603050405020304" pitchFamily="18" charset="0"/>
                <a:ea typeface="Times New Roman" panose="02020603050405020304" pitchFamily="18" charset="0"/>
              </a:rPr>
              <a:t>PEO 2:</a:t>
            </a:r>
            <a:r>
              <a:rPr lang="en-IN" sz="1800" b="1">
                <a:latin typeface="Arial" panose="020B0604020202020204" pitchFamily="34" charset="0"/>
              </a:rPr>
              <a:t> </a:t>
            </a:r>
            <a:r>
              <a:rPr lang="en-IN" sz="180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a:effectLst/>
              <a:latin typeface="Arial" panose="020B0604020202020204" pitchFamily="34" charset="0"/>
              <a:ea typeface="Arial" panose="020B0604020202020204" pitchFamily="34" charset="0"/>
            </a:endParaRPr>
          </a:p>
          <a:p>
            <a:pPr>
              <a:spcBef>
                <a:spcPts val="1200"/>
              </a:spcBef>
              <a:spcAft>
                <a:spcPts val="1200"/>
              </a:spcAft>
            </a:pPr>
            <a:r>
              <a:rPr lang="en-IN" sz="1800" b="1">
                <a:effectLst/>
                <a:latin typeface="Times New Roman" panose="02020603050405020304" pitchFamily="18" charset="0"/>
                <a:ea typeface="Times New Roman" panose="02020603050405020304" pitchFamily="18" charset="0"/>
              </a:rPr>
              <a:t>PEO 3:</a:t>
            </a:r>
            <a:r>
              <a:rPr lang="en-IN" sz="1800" b="1">
                <a:latin typeface="Arial" panose="020B0604020202020204" pitchFamily="34" charset="0"/>
              </a:rPr>
              <a:t> </a:t>
            </a:r>
            <a:r>
              <a:rPr lang="en-IN" sz="180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74C8B422-961E-D5DF-C9F1-E939B504CCC9}"/>
              </a:ext>
            </a:extLst>
          </p:cNvPr>
          <p:cNvSpPr>
            <a:spLocks noGrp="1"/>
          </p:cNvSpPr>
          <p:nvPr>
            <p:ph type="dt" sz="half" idx="10"/>
          </p:nvPr>
        </p:nvSpPr>
        <p:spPr/>
        <p:txBody>
          <a:bodyPr/>
          <a:lstStyle/>
          <a:p>
            <a:fld id="{3685D59A-A09F-4999-BE3E-488C92984E81}" type="datetime3">
              <a:rPr lang="en-US" smtClean="0"/>
              <a:t>29 July 2026</a:t>
            </a:fld>
            <a:endParaRPr lang="en-IN"/>
          </a:p>
        </p:txBody>
      </p:sp>
      <p:sp>
        <p:nvSpPr>
          <p:cNvPr id="3" name="Footer Placeholder 2">
            <a:extLst>
              <a:ext uri="{FF2B5EF4-FFF2-40B4-BE49-F238E27FC236}">
                <a16:creationId xmlns:a16="http://schemas.microsoft.com/office/drawing/2014/main" id="{1BB7BAB2-D484-3872-1A48-686B7EEE6899}"/>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err="1">
                <a:latin typeface="Times New Roman"/>
                <a:ea typeface="Times New Roman"/>
                <a:cs typeface="Times New Roman"/>
              </a:rPr>
              <a:t>Programme</a:t>
            </a:r>
            <a:r>
              <a:rPr lang="en-US" b="1" u="sng">
                <a:latin typeface="Times New Roman"/>
                <a:ea typeface="Times New Roman"/>
                <a:cs typeface="Times New Roman"/>
              </a:rPr>
              <a:t> Outcomes</a:t>
            </a:r>
            <a:endParaRPr lang="en-US" u="sng">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a:latin typeface="Times New Roman"/>
                <a:ea typeface="Times New Roman"/>
                <a:cs typeface="Times New Roman"/>
              </a:rPr>
              <a:t>1. </a:t>
            </a:r>
            <a:r>
              <a:rPr lang="en-US" sz="1500" b="1">
                <a:latin typeface="Times New Roman"/>
                <a:ea typeface="Times New Roman"/>
                <a:cs typeface="Times New Roman"/>
              </a:rPr>
              <a:t>Engineering knowledge:</a:t>
            </a:r>
            <a:r>
              <a:rPr lang="en-US" sz="150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a:latin typeface="Times New Roman"/>
                <a:ea typeface="Times New Roman"/>
                <a:cs typeface="Times New Roman"/>
              </a:rPr>
            </a:br>
            <a:r>
              <a:rPr lang="en-US" sz="1500">
                <a:latin typeface="Times New Roman"/>
                <a:ea typeface="Times New Roman"/>
                <a:cs typeface="Times New Roman"/>
              </a:rPr>
              <a:t>2. </a:t>
            </a:r>
            <a:r>
              <a:rPr lang="en-US" sz="1500" b="1">
                <a:latin typeface="Times New Roman"/>
                <a:ea typeface="Times New Roman"/>
                <a:cs typeface="Times New Roman"/>
              </a:rPr>
              <a:t>Problem analysis:</a:t>
            </a:r>
            <a:r>
              <a:rPr lang="en-US" sz="150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a:latin typeface="Times New Roman"/>
                <a:ea typeface="Times New Roman"/>
                <a:cs typeface="Times New Roman"/>
              </a:rPr>
            </a:br>
            <a:r>
              <a:rPr lang="en-US" sz="1500">
                <a:latin typeface="Times New Roman"/>
                <a:ea typeface="Times New Roman"/>
                <a:cs typeface="Times New Roman"/>
              </a:rPr>
              <a:t>3. </a:t>
            </a:r>
            <a:r>
              <a:rPr lang="en-US" sz="1500" b="1">
                <a:latin typeface="Times New Roman"/>
                <a:ea typeface="Times New Roman"/>
                <a:cs typeface="Times New Roman"/>
              </a:rPr>
              <a:t>Design/development of solutions:</a:t>
            </a:r>
            <a:r>
              <a:rPr lang="en-US" sz="150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a:latin typeface="Times New Roman"/>
                <a:ea typeface="Times New Roman"/>
                <a:cs typeface="Times New Roman"/>
              </a:rPr>
            </a:br>
            <a:r>
              <a:rPr lang="en-US" sz="1500">
                <a:latin typeface="Times New Roman"/>
                <a:ea typeface="Times New Roman"/>
                <a:cs typeface="Times New Roman"/>
              </a:rPr>
              <a:t>4. </a:t>
            </a:r>
            <a:r>
              <a:rPr lang="en-US" sz="1500" b="1">
                <a:latin typeface="Times New Roman"/>
                <a:ea typeface="Times New Roman"/>
                <a:cs typeface="Times New Roman"/>
              </a:rPr>
              <a:t>Conduct investigations of complex problems:</a:t>
            </a:r>
            <a:r>
              <a:rPr lang="en-US" sz="150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a:latin typeface="Times New Roman"/>
                <a:ea typeface="Times New Roman"/>
                <a:cs typeface="Times New Roman"/>
              </a:rPr>
              <a:t>5. </a:t>
            </a:r>
            <a:r>
              <a:rPr lang="en-US" sz="1500" b="1">
                <a:latin typeface="Times New Roman"/>
                <a:ea typeface="Times New Roman"/>
                <a:cs typeface="Times New Roman"/>
              </a:rPr>
              <a:t>Modern tool usage:</a:t>
            </a:r>
            <a:r>
              <a:rPr lang="en-US" sz="150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a:p>
        </p:txBody>
      </p:sp>
      <p:sp>
        <p:nvSpPr>
          <p:cNvPr id="2" name="Date Placeholder 1">
            <a:extLst>
              <a:ext uri="{FF2B5EF4-FFF2-40B4-BE49-F238E27FC236}">
                <a16:creationId xmlns:a16="http://schemas.microsoft.com/office/drawing/2014/main" id="{B21463B8-23EF-2647-8440-422965760B06}"/>
              </a:ext>
            </a:extLst>
          </p:cNvPr>
          <p:cNvSpPr>
            <a:spLocks noGrp="1"/>
          </p:cNvSpPr>
          <p:nvPr>
            <p:ph type="dt" sz="half" idx="10"/>
          </p:nvPr>
        </p:nvSpPr>
        <p:spPr/>
        <p:txBody>
          <a:bodyPr/>
          <a:lstStyle/>
          <a:p>
            <a:fld id="{47FA5610-376E-40DD-A484-5676021C9948}" type="datetime3">
              <a:rPr lang="en-US" smtClean="0"/>
              <a:t>29 July 2026</a:t>
            </a:fld>
            <a:endParaRPr lang="en-IN"/>
          </a:p>
        </p:txBody>
      </p:sp>
      <p:sp>
        <p:nvSpPr>
          <p:cNvPr id="3" name="Footer Placeholder 2">
            <a:extLst>
              <a:ext uri="{FF2B5EF4-FFF2-40B4-BE49-F238E27FC236}">
                <a16:creationId xmlns:a16="http://schemas.microsoft.com/office/drawing/2014/main" id="{AEEDD6AE-B5CA-0519-7DA6-E6578F3FC5E1}"/>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a:latin typeface="Times New Roman"/>
                <a:ea typeface="Times New Roman"/>
                <a:cs typeface="Times New Roman"/>
              </a:rPr>
            </a:br>
            <a:r>
              <a:rPr lang="en-US" sz="1400">
                <a:latin typeface="Times New Roman"/>
                <a:ea typeface="Times New Roman"/>
                <a:cs typeface="Times New Roman"/>
              </a:rPr>
              <a:t>6. </a:t>
            </a:r>
            <a:r>
              <a:rPr lang="en-US" sz="1400" b="1">
                <a:latin typeface="Times New Roman"/>
                <a:ea typeface="Times New Roman"/>
                <a:cs typeface="Times New Roman"/>
              </a:rPr>
              <a:t>The engineer and society:</a:t>
            </a:r>
            <a:r>
              <a:rPr lang="en-US" sz="140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a:latin typeface="Times New Roman"/>
                <a:ea typeface="Times New Roman"/>
                <a:cs typeface="Times New Roman"/>
              </a:rPr>
            </a:br>
            <a:r>
              <a:rPr lang="en-US" sz="1400">
                <a:latin typeface="Times New Roman"/>
                <a:ea typeface="Times New Roman"/>
                <a:cs typeface="Times New Roman"/>
              </a:rPr>
              <a:t>7. </a:t>
            </a:r>
            <a:r>
              <a:rPr lang="en-US" sz="1400" b="1">
                <a:latin typeface="Times New Roman"/>
                <a:ea typeface="Times New Roman"/>
                <a:cs typeface="Times New Roman"/>
              </a:rPr>
              <a:t>Environment and sustainability:</a:t>
            </a:r>
            <a:r>
              <a:rPr lang="en-US" sz="140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a:latin typeface="Times New Roman"/>
                <a:ea typeface="Times New Roman"/>
                <a:cs typeface="Times New Roman"/>
              </a:rPr>
            </a:br>
            <a:r>
              <a:rPr lang="en-US" sz="1400">
                <a:latin typeface="Times New Roman"/>
                <a:ea typeface="Times New Roman"/>
                <a:cs typeface="Times New Roman"/>
              </a:rPr>
              <a:t>8. </a:t>
            </a:r>
            <a:r>
              <a:rPr lang="en-US" sz="1400" b="1">
                <a:latin typeface="Times New Roman"/>
                <a:ea typeface="Times New Roman"/>
                <a:cs typeface="Times New Roman"/>
              </a:rPr>
              <a:t>Ethics:</a:t>
            </a:r>
            <a:r>
              <a:rPr lang="en-US" sz="140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a:latin typeface="Times New Roman"/>
                <a:ea typeface="Times New Roman"/>
                <a:cs typeface="Times New Roman"/>
              </a:rPr>
            </a:br>
            <a:r>
              <a:rPr lang="en-US" sz="1400">
                <a:latin typeface="Times New Roman"/>
                <a:ea typeface="Times New Roman"/>
                <a:cs typeface="Times New Roman"/>
              </a:rPr>
              <a:t>9. </a:t>
            </a:r>
            <a:r>
              <a:rPr lang="en-US" sz="1400" b="1">
                <a:latin typeface="Times New Roman"/>
                <a:ea typeface="Times New Roman"/>
                <a:cs typeface="Times New Roman"/>
              </a:rPr>
              <a:t>Individual and team work:</a:t>
            </a:r>
            <a:r>
              <a:rPr lang="en-US" sz="140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a:latin typeface="Times New Roman"/>
                <a:ea typeface="Times New Roman"/>
                <a:cs typeface="Times New Roman"/>
              </a:rPr>
            </a:br>
            <a:r>
              <a:rPr lang="en-US" sz="1400">
                <a:latin typeface="Times New Roman"/>
                <a:ea typeface="Times New Roman"/>
                <a:cs typeface="Times New Roman"/>
              </a:rPr>
              <a:t>10. </a:t>
            </a:r>
            <a:r>
              <a:rPr lang="en-US" sz="1400" b="1">
                <a:latin typeface="Times New Roman"/>
                <a:ea typeface="Times New Roman"/>
                <a:cs typeface="Times New Roman"/>
              </a:rPr>
              <a:t>Communication:</a:t>
            </a:r>
            <a:r>
              <a:rPr lang="en-US" sz="140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a:latin typeface="Times New Roman"/>
                <a:ea typeface="Times New Roman"/>
                <a:cs typeface="Times New Roman"/>
              </a:rPr>
            </a:br>
            <a:r>
              <a:rPr lang="en-US" sz="1400">
                <a:latin typeface="Times New Roman"/>
                <a:ea typeface="Times New Roman"/>
                <a:cs typeface="Times New Roman"/>
              </a:rPr>
              <a:t>11. </a:t>
            </a:r>
            <a:r>
              <a:rPr lang="en-US" sz="1400" b="1">
                <a:latin typeface="Times New Roman"/>
                <a:ea typeface="Times New Roman"/>
                <a:cs typeface="Times New Roman"/>
              </a:rPr>
              <a:t>Project management and finance:</a:t>
            </a:r>
            <a:r>
              <a:rPr lang="en-US" sz="140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a:latin typeface="Times New Roman"/>
                <a:ea typeface="Times New Roman"/>
                <a:cs typeface="Times New Roman"/>
              </a:rPr>
            </a:br>
            <a:r>
              <a:rPr lang="en-US" sz="1400">
                <a:latin typeface="Times New Roman"/>
                <a:ea typeface="Times New Roman"/>
                <a:cs typeface="Times New Roman"/>
              </a:rPr>
              <a:t>12. </a:t>
            </a:r>
            <a:r>
              <a:rPr lang="en-US" sz="1400" b="1">
                <a:latin typeface="Times New Roman"/>
                <a:ea typeface="Times New Roman"/>
                <a:cs typeface="Times New Roman"/>
              </a:rPr>
              <a:t>Life-long learning:</a:t>
            </a:r>
            <a:r>
              <a:rPr lang="en-US" sz="140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a:latin typeface="Times New Roman"/>
              <a:ea typeface="Times New Roman"/>
              <a:cs typeface="Times New Roman"/>
            </a:endParaRPr>
          </a:p>
          <a:p>
            <a:pPr marL="274320" marR="274320" indent="0">
              <a:buFont typeface="Arial" panose="020B0604020202020204" pitchFamily="34" charset="0"/>
              <a:buNone/>
              <a:defRPr/>
            </a:pPr>
            <a:endParaRPr lang="en-US"/>
          </a:p>
        </p:txBody>
      </p:sp>
      <p:sp>
        <p:nvSpPr>
          <p:cNvPr id="2" name="Date Placeholder 1">
            <a:extLst>
              <a:ext uri="{FF2B5EF4-FFF2-40B4-BE49-F238E27FC236}">
                <a16:creationId xmlns:a16="http://schemas.microsoft.com/office/drawing/2014/main" id="{A6D2EE72-8CD3-A739-394B-46512F4EC462}"/>
              </a:ext>
            </a:extLst>
          </p:cNvPr>
          <p:cNvSpPr>
            <a:spLocks noGrp="1"/>
          </p:cNvSpPr>
          <p:nvPr>
            <p:ph type="dt" sz="half" idx="10"/>
          </p:nvPr>
        </p:nvSpPr>
        <p:spPr/>
        <p:txBody>
          <a:bodyPr/>
          <a:lstStyle/>
          <a:p>
            <a:fld id="{6AA037DF-C2EA-4B63-B0F2-B49EE1D67DEC}" type="datetime3">
              <a:rPr lang="en-US" smtClean="0"/>
              <a:t>29 July 2026</a:t>
            </a:fld>
            <a:endParaRPr lang="en-IN"/>
          </a:p>
        </p:txBody>
      </p:sp>
      <p:sp>
        <p:nvSpPr>
          <p:cNvPr id="3" name="Footer Placeholder 2">
            <a:extLst>
              <a:ext uri="{FF2B5EF4-FFF2-40B4-BE49-F238E27FC236}">
                <a16:creationId xmlns:a16="http://schemas.microsoft.com/office/drawing/2014/main" id="{166042AA-4B77-9FEE-1AB9-4FCD39165598}"/>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err="1">
                <a:latin typeface="Times New Roman"/>
                <a:ea typeface="Times New Roman"/>
                <a:cs typeface="Times New Roman"/>
              </a:rPr>
              <a:t>Programme</a:t>
            </a:r>
            <a:r>
              <a:rPr lang="en-US" b="1" u="sng">
                <a:latin typeface="Times New Roman"/>
                <a:ea typeface="Times New Roman"/>
                <a:cs typeface="Times New Roman"/>
              </a:rPr>
              <a:t> Specific Outcomes (PSOs)</a:t>
            </a:r>
            <a:endParaRPr lang="en-US" u="sng">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a:effectLst/>
                <a:latin typeface="Times New Roman" panose="02020603050405020304" pitchFamily="18" charset="0"/>
                <a:ea typeface="Times New Roman" panose="02020603050405020304" pitchFamily="18" charset="0"/>
              </a:rPr>
              <a:t> </a:t>
            </a:r>
            <a:r>
              <a:rPr lang="en-IN" sz="1800" b="1">
                <a:effectLst/>
                <a:latin typeface="Times New Roman" panose="02020603050405020304" pitchFamily="18" charset="0"/>
                <a:ea typeface="Times New Roman" panose="02020603050405020304" pitchFamily="18" charset="0"/>
              </a:rPr>
              <a:t>PSO 1</a:t>
            </a:r>
            <a:r>
              <a:rPr lang="en-IN" sz="1800" b="0">
                <a:effectLst/>
                <a:latin typeface="Times New Roman" panose="02020603050405020304" pitchFamily="18" charset="0"/>
                <a:ea typeface="Times New Roman" panose="02020603050405020304" pitchFamily="18" charset="0"/>
              </a:rPr>
              <a:t>: Apply cyber security principles to mitigate cyber risk and </a:t>
            </a:r>
            <a:r>
              <a:rPr lang="en-IN" sz="1800" b="0" err="1">
                <a:effectLst/>
                <a:latin typeface="Times New Roman" panose="02020603050405020304" pitchFamily="18" charset="0"/>
                <a:ea typeface="Times New Roman" panose="02020603050405020304" pitchFamily="18" charset="0"/>
              </a:rPr>
              <a:t>analyze</a:t>
            </a:r>
            <a:r>
              <a:rPr lang="en-IN" sz="1800" b="0">
                <a:effectLst/>
                <a:latin typeface="Times New Roman" panose="02020603050405020304" pitchFamily="18" charset="0"/>
                <a:ea typeface="Times New Roman" panose="02020603050405020304" pitchFamily="18" charset="0"/>
              </a:rPr>
              <a:t> security requirements of an organization.</a:t>
            </a:r>
            <a:endParaRPr lang="en-IN" sz="1800" b="1">
              <a:effectLst/>
              <a:latin typeface="Arial" panose="020B0604020202020204" pitchFamily="34" charset="0"/>
            </a:endParaRPr>
          </a:p>
          <a:p>
            <a:pPr algn="just">
              <a:lnSpc>
                <a:spcPct val="150000"/>
              </a:lnSpc>
              <a:spcBef>
                <a:spcPts val="1200"/>
              </a:spcBef>
              <a:spcAft>
                <a:spcPts val="1200"/>
              </a:spcAft>
            </a:pPr>
            <a:r>
              <a:rPr lang="en-IN" sz="1800" b="1">
                <a:effectLst/>
                <a:latin typeface="Times New Roman" panose="02020603050405020304" pitchFamily="18" charset="0"/>
                <a:ea typeface="Times New Roman" panose="02020603050405020304" pitchFamily="18" charset="0"/>
              </a:rPr>
              <a:t>PSO 2</a:t>
            </a:r>
            <a:r>
              <a:rPr lang="en-IN" sz="1800" b="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a:effectLst/>
              <a:latin typeface="Arial" panose="020B0604020202020204" pitchFamily="34" charset="0"/>
            </a:endParaRPr>
          </a:p>
          <a:p>
            <a:pPr algn="just">
              <a:lnSpc>
                <a:spcPct val="150000"/>
              </a:lnSpc>
              <a:spcBef>
                <a:spcPts val="1200"/>
              </a:spcBef>
              <a:spcAft>
                <a:spcPts val="1200"/>
              </a:spcAft>
            </a:pPr>
            <a:r>
              <a:rPr lang="en-IN" sz="1800" b="1">
                <a:effectLst/>
                <a:latin typeface="Times New Roman" panose="02020603050405020304" pitchFamily="18" charset="0"/>
                <a:ea typeface="Times New Roman" panose="02020603050405020304" pitchFamily="18" charset="0"/>
              </a:rPr>
              <a:t>PSO 3</a:t>
            </a:r>
            <a:r>
              <a:rPr lang="en-IN" sz="1800" b="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a:latin typeface="Times New Roman"/>
              <a:ea typeface="Times New Roman"/>
              <a:cs typeface="Times New Roman"/>
            </a:endParaRPr>
          </a:p>
          <a:p>
            <a:pPr marL="0" indent="0">
              <a:buFont typeface="Arial" panose="020B0604020202020204" pitchFamily="34" charset="0"/>
              <a:buNone/>
              <a:defRPr/>
            </a:pPr>
            <a:endParaRPr lang="en-US" sz="3200"/>
          </a:p>
        </p:txBody>
      </p:sp>
      <p:sp>
        <p:nvSpPr>
          <p:cNvPr id="2" name="Date Placeholder 1">
            <a:extLst>
              <a:ext uri="{FF2B5EF4-FFF2-40B4-BE49-F238E27FC236}">
                <a16:creationId xmlns:a16="http://schemas.microsoft.com/office/drawing/2014/main" id="{700BC3FE-7ED3-299B-6847-53A153A76E86}"/>
              </a:ext>
            </a:extLst>
          </p:cNvPr>
          <p:cNvSpPr>
            <a:spLocks noGrp="1"/>
          </p:cNvSpPr>
          <p:nvPr>
            <p:ph type="dt" sz="half" idx="10"/>
          </p:nvPr>
        </p:nvSpPr>
        <p:spPr/>
        <p:txBody>
          <a:bodyPr/>
          <a:lstStyle/>
          <a:p>
            <a:fld id="{107A73D0-6AA1-4489-AA81-2C0418A54B2F}" type="datetime3">
              <a:rPr lang="en-US" smtClean="0"/>
              <a:t>29 July 2026</a:t>
            </a:fld>
            <a:endParaRPr lang="en-IN"/>
          </a:p>
        </p:txBody>
      </p:sp>
      <p:sp>
        <p:nvSpPr>
          <p:cNvPr id="3" name="Footer Placeholder 2">
            <a:extLst>
              <a:ext uri="{FF2B5EF4-FFF2-40B4-BE49-F238E27FC236}">
                <a16:creationId xmlns:a16="http://schemas.microsoft.com/office/drawing/2014/main" id="{9F311F92-10C5-3D48-FB95-BCD456E8F47C}"/>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a:latin typeface="Times New Roman"/>
                <a:cs typeface="Times New Roman"/>
              </a:rPr>
              <a:t>CONTENTS</a:t>
            </a:r>
            <a:endParaRPr lang="en-US" sz="2000" b="1">
              <a:solidFill>
                <a:srgbClr val="002060"/>
              </a:solidFill>
              <a:latin typeface="Times New Roman"/>
              <a:cs typeface="Times New Roman"/>
            </a:endParaRPr>
          </a:p>
          <a:p>
            <a:pPr>
              <a:lnSpc>
                <a:spcPct val="100000"/>
              </a:lnSpc>
              <a:spcBef>
                <a:spcPts val="0"/>
              </a:spcBef>
              <a:defRPr/>
            </a:pPr>
            <a:endParaRPr lang="en-US" sz="2000" b="1">
              <a:solidFill>
                <a:srgbClr val="002060"/>
              </a:solidFill>
              <a:latin typeface="Times New Roman"/>
              <a:cs typeface="Times New Roman"/>
            </a:endParaRPr>
          </a:p>
          <a:p>
            <a:pPr>
              <a:lnSpc>
                <a:spcPct val="100000"/>
              </a:lnSpc>
              <a:spcBef>
                <a:spcPts val="0"/>
              </a:spcBef>
              <a:defRPr/>
            </a:pPr>
            <a:r>
              <a:rPr lang="en-US" sz="2400" b="1">
                <a:solidFill>
                  <a:srgbClr val="002060"/>
                </a:solidFill>
                <a:latin typeface="Times New Roman"/>
                <a:cs typeface="Times New Roman"/>
              </a:rPr>
              <a:t>Motivation</a:t>
            </a:r>
          </a:p>
          <a:p>
            <a:pPr>
              <a:lnSpc>
                <a:spcPct val="100000"/>
              </a:lnSpc>
              <a:spcBef>
                <a:spcPts val="0"/>
              </a:spcBef>
              <a:defRPr/>
            </a:pPr>
            <a:r>
              <a:rPr lang="en-US" sz="2400" b="1">
                <a:solidFill>
                  <a:srgbClr val="002060"/>
                </a:solidFill>
                <a:latin typeface="Times New Roman"/>
                <a:cs typeface="Times New Roman"/>
              </a:rPr>
              <a:t>Introduction</a:t>
            </a:r>
          </a:p>
          <a:p>
            <a:pPr>
              <a:lnSpc>
                <a:spcPct val="100000"/>
              </a:lnSpc>
              <a:spcBef>
                <a:spcPts val="0"/>
              </a:spcBef>
              <a:defRPr/>
            </a:pPr>
            <a:r>
              <a:rPr lang="en-US" sz="2400" b="1">
                <a:solidFill>
                  <a:srgbClr val="002060"/>
                </a:solidFill>
                <a:latin typeface="Times New Roman"/>
                <a:cs typeface="Times New Roman"/>
              </a:rPr>
              <a:t>Problem Statement</a:t>
            </a:r>
          </a:p>
          <a:p>
            <a:pPr>
              <a:lnSpc>
                <a:spcPct val="100000"/>
              </a:lnSpc>
              <a:spcBef>
                <a:spcPts val="0"/>
              </a:spcBef>
              <a:defRPr/>
            </a:pPr>
            <a:r>
              <a:rPr lang="en-US" sz="2400" b="1">
                <a:solidFill>
                  <a:srgbClr val="002060"/>
                </a:solidFill>
                <a:latin typeface="Times New Roman"/>
                <a:cs typeface="Times New Roman"/>
              </a:rPr>
              <a:t>Proposed Method </a:t>
            </a:r>
          </a:p>
          <a:p>
            <a:pPr>
              <a:lnSpc>
                <a:spcPct val="100000"/>
              </a:lnSpc>
              <a:spcBef>
                <a:spcPts val="0"/>
              </a:spcBef>
              <a:defRPr/>
            </a:pPr>
            <a:r>
              <a:rPr lang="en-US" sz="2400" b="1">
                <a:solidFill>
                  <a:srgbClr val="002060"/>
                </a:solidFill>
                <a:latin typeface="Times New Roman"/>
                <a:cs typeface="Times New Roman"/>
              </a:rPr>
              <a:t>Basic Block Diagram</a:t>
            </a:r>
          </a:p>
          <a:p>
            <a:pPr>
              <a:lnSpc>
                <a:spcPct val="100000"/>
              </a:lnSpc>
              <a:spcBef>
                <a:spcPts val="0"/>
              </a:spcBef>
              <a:defRPr/>
            </a:pPr>
            <a:r>
              <a:rPr lang="en-US" sz="2400" b="1">
                <a:solidFill>
                  <a:srgbClr val="002060"/>
                </a:solidFill>
                <a:latin typeface="Times New Roman"/>
                <a:cs typeface="Times New Roman"/>
              </a:rPr>
              <a:t>Conclusion </a:t>
            </a:r>
          </a:p>
          <a:p>
            <a:pPr>
              <a:lnSpc>
                <a:spcPct val="100000"/>
              </a:lnSpc>
              <a:spcBef>
                <a:spcPts val="0"/>
              </a:spcBef>
              <a:defRPr/>
            </a:pPr>
            <a:r>
              <a:rPr lang="en-US" sz="2400" b="1">
                <a:solidFill>
                  <a:srgbClr val="002060"/>
                </a:solidFill>
                <a:latin typeface="Times New Roman"/>
                <a:cs typeface="Times New Roman"/>
              </a:rPr>
              <a:t>References</a:t>
            </a:r>
            <a:endParaRPr lang="en-US" sz="2400">
              <a:latin typeface="Times New Roman"/>
              <a:cs typeface="Times New Roman"/>
            </a:endParaRPr>
          </a:p>
        </p:txBody>
      </p:sp>
      <p:sp>
        <p:nvSpPr>
          <p:cNvPr id="2" name="Date Placeholder 1">
            <a:extLst>
              <a:ext uri="{FF2B5EF4-FFF2-40B4-BE49-F238E27FC236}">
                <a16:creationId xmlns:a16="http://schemas.microsoft.com/office/drawing/2014/main" id="{2B01FB22-375F-5AD3-D5A0-13252A77F379}"/>
              </a:ext>
            </a:extLst>
          </p:cNvPr>
          <p:cNvSpPr>
            <a:spLocks noGrp="1"/>
          </p:cNvSpPr>
          <p:nvPr>
            <p:ph type="dt" sz="half" idx="10"/>
          </p:nvPr>
        </p:nvSpPr>
        <p:spPr/>
        <p:txBody>
          <a:bodyPr/>
          <a:lstStyle/>
          <a:p>
            <a:fld id="{24ED6559-3F8B-4B83-B2D0-90AFD73FD62B}" type="datetime3">
              <a:rPr lang="en-US" smtClean="0"/>
              <a:t>29 July 2026</a:t>
            </a:fld>
            <a:endParaRPr lang="en-IN"/>
          </a:p>
        </p:txBody>
      </p:sp>
      <p:sp>
        <p:nvSpPr>
          <p:cNvPr id="3" name="Footer Placeholder 2">
            <a:extLst>
              <a:ext uri="{FF2B5EF4-FFF2-40B4-BE49-F238E27FC236}">
                <a16:creationId xmlns:a16="http://schemas.microsoft.com/office/drawing/2014/main" id="{2AF093CF-7FB9-9912-5428-BAFF15750894}"/>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a:latin typeface="Times New Roman"/>
                <a:ea typeface="Times New Roman"/>
                <a:cs typeface="Times New Roman"/>
              </a:rPr>
              <a:t>Motivation</a:t>
            </a:r>
            <a:endParaRPr sz="6000" b="1"/>
          </a:p>
        </p:txBody>
      </p:sp>
      <p:sp>
        <p:nvSpPr>
          <p:cNvPr id="2" name="TextBox 1">
            <a:extLst>
              <a:ext uri="{FF2B5EF4-FFF2-40B4-BE49-F238E27FC236}">
                <a16:creationId xmlns:a16="http://schemas.microsoft.com/office/drawing/2014/main" id="{B062BF29-C6AD-2D49-AF4D-A40E2D483F6C}"/>
              </a:ext>
            </a:extLst>
          </p:cNvPr>
          <p:cNvSpPr txBox="1"/>
          <p:nvPr/>
        </p:nvSpPr>
        <p:spPr>
          <a:xfrm>
            <a:off x="451054" y="2967335"/>
            <a:ext cx="11177313" cy="3477875"/>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IN" sz="2200" b="1">
                <a:latin typeface="Times New Roman"/>
                <a:cs typeface="Times New Roman"/>
              </a:rPr>
              <a:t>Ensure Secure Elections:</a:t>
            </a:r>
            <a:r>
              <a:rPr lang="en-IN" sz="2200">
                <a:latin typeface="Times New Roman"/>
                <a:cs typeface="Times New Roman"/>
              </a:rPr>
              <a:t> Develop a voting system that protects against unauthorized access                                              and fraudulent voting.</a:t>
            </a:r>
            <a:endParaRPr lang="en-US"/>
          </a:p>
          <a:p>
            <a:pPr marL="285750" indent="-285750" algn="just">
              <a:buFont typeface="Arial" panose="020B0604020202020204" pitchFamily="34" charset="0"/>
              <a:buChar char="•"/>
            </a:pPr>
            <a:r>
              <a:rPr lang="en-IN" sz="2200" b="1">
                <a:latin typeface="Times New Roman"/>
                <a:cs typeface="Times New Roman"/>
              </a:rPr>
              <a:t>Prevent Duplicate Voting:</a:t>
            </a:r>
            <a:r>
              <a:rPr lang="en-IN" sz="2200">
                <a:latin typeface="Times New Roman"/>
                <a:cs typeface="Times New Roman"/>
              </a:rPr>
              <a:t> Ensure that each registered voter can cast only one vote using RFID authentication.</a:t>
            </a:r>
          </a:p>
          <a:p>
            <a:pPr marL="285750" indent="-285750" algn="just">
              <a:buFont typeface="Arial" panose="020B0604020202020204" pitchFamily="34" charset="0"/>
              <a:buChar char="•"/>
            </a:pPr>
            <a:r>
              <a:rPr lang="en-IN" sz="2200" b="1">
                <a:latin typeface="Times New Roman"/>
                <a:cs typeface="Times New Roman"/>
              </a:rPr>
              <a:t>Protect Vote Confidentiality:</a:t>
            </a:r>
            <a:r>
              <a:rPr lang="en-IN" sz="2200">
                <a:latin typeface="Times New Roman"/>
                <a:cs typeface="Times New Roman"/>
              </a:rPr>
              <a:t> Encrypt votes before storing them so that they cannot be real or modified by unauthorized users.</a:t>
            </a:r>
          </a:p>
          <a:p>
            <a:pPr marL="285750" indent="-285750" algn="just">
              <a:buFont typeface="Arial" panose="020B0604020202020204" pitchFamily="34" charset="0"/>
              <a:buChar char="•"/>
            </a:pPr>
            <a:r>
              <a:rPr lang="en-IN" sz="2200" b="1">
                <a:latin typeface="Times New Roman"/>
                <a:cs typeface="Times New Roman"/>
              </a:rPr>
              <a:t>Detect Physical Tampering:</a:t>
            </a:r>
            <a:r>
              <a:rPr lang="en-IN" sz="2200">
                <a:latin typeface="Times New Roman"/>
                <a:cs typeface="Times New Roman"/>
              </a:rPr>
              <a:t> Identify any attempt to open or manipulate the voting machine                                                  and immediately trigger an alert.</a:t>
            </a:r>
          </a:p>
          <a:p>
            <a:pPr marL="285750" indent="-285750" algn="just">
              <a:buFont typeface="Arial" panose="020B0604020202020204" pitchFamily="34" charset="0"/>
              <a:buChar char="•"/>
            </a:pPr>
            <a:r>
              <a:rPr lang="en-IN" sz="2200" b="1">
                <a:latin typeface="Times New Roman"/>
                <a:cs typeface="Times New Roman"/>
              </a:rPr>
              <a:t>Apply Cybersecurity in Embedded Systems:</a:t>
            </a:r>
            <a:r>
              <a:rPr lang="en-IN" sz="2200">
                <a:latin typeface="Times New Roman"/>
                <a:cs typeface="Times New Roman"/>
              </a:rPr>
              <a:t> Demonstrate practical implementation of                         authentication, encryption, access control, and audit logging using Arduino.</a:t>
            </a:r>
          </a:p>
        </p:txBody>
      </p:sp>
      <p:sp>
        <p:nvSpPr>
          <p:cNvPr id="4" name="Date Placeholder 3">
            <a:extLst>
              <a:ext uri="{FF2B5EF4-FFF2-40B4-BE49-F238E27FC236}">
                <a16:creationId xmlns:a16="http://schemas.microsoft.com/office/drawing/2014/main" id="{F265A934-DF24-346D-4958-5FD505D4B06D}"/>
              </a:ext>
            </a:extLst>
          </p:cNvPr>
          <p:cNvSpPr>
            <a:spLocks noGrp="1"/>
          </p:cNvSpPr>
          <p:nvPr>
            <p:ph type="dt" sz="half" idx="10"/>
          </p:nvPr>
        </p:nvSpPr>
        <p:spPr/>
        <p:txBody>
          <a:bodyPr/>
          <a:lstStyle/>
          <a:p>
            <a:fld id="{323C928A-A3A8-4113-930A-3D2438F2083F}" type="datetime3">
              <a:rPr lang="en-US" smtClean="0"/>
              <a:t>29 July 2026</a:t>
            </a:fld>
            <a:endParaRPr lang="en-IN"/>
          </a:p>
        </p:txBody>
      </p:sp>
      <p:sp>
        <p:nvSpPr>
          <p:cNvPr id="5" name="Footer Placeholder 4">
            <a:extLst>
              <a:ext uri="{FF2B5EF4-FFF2-40B4-BE49-F238E27FC236}">
                <a16:creationId xmlns:a16="http://schemas.microsoft.com/office/drawing/2014/main" id="{DEC5D07F-5750-423C-C8C7-EA614B57DD36}"/>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190352" y="2108679"/>
            <a:ext cx="9956439" cy="671677"/>
          </a:xfrm>
        </p:spPr>
        <p:txBody>
          <a:bodyPr>
            <a:noAutofit/>
          </a:bodyPr>
          <a:lstStyle/>
          <a:p>
            <a:pPr algn="ctr">
              <a:defRPr/>
            </a:pPr>
            <a:br>
              <a:rPr lang="en-US" sz="4000" b="1" u="sng">
                <a:latin typeface="Times New Roman"/>
                <a:ea typeface="Times New Roman"/>
                <a:cs typeface="Times New Roman"/>
              </a:rPr>
            </a:br>
            <a:br>
              <a:rPr lang="en-US" sz="4000" b="1" u="sng">
                <a:latin typeface="Times New Roman"/>
                <a:ea typeface="Times New Roman"/>
                <a:cs typeface="Times New Roman"/>
              </a:rPr>
            </a:br>
            <a:endParaRPr lang="en-US" sz="2000"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F2CCF24-47FF-5D79-F2AA-C8153F365C3E}"/>
              </a:ext>
            </a:extLst>
          </p:cNvPr>
          <p:cNvSpPr txBox="1"/>
          <p:nvPr/>
        </p:nvSpPr>
        <p:spPr>
          <a:xfrm>
            <a:off x="219917" y="2933699"/>
            <a:ext cx="11509446" cy="3816429"/>
          </a:xfrm>
          <a:prstGeom prst="rect">
            <a:avLst/>
          </a:prstGeom>
          <a:noFill/>
        </p:spPr>
        <p:txBody>
          <a:bodyPr wrap="square" lIns="91440" tIns="45720" rIns="91440" bIns="45720" rtlCol="0" anchor="t">
            <a:spAutoFit/>
          </a:bodyPr>
          <a:lstStyle/>
          <a:p>
            <a:pPr marL="285750" indent="-285750" algn="just">
              <a:buFont typeface="Arial,Sans-Serif"/>
              <a:buChar char="•"/>
            </a:pPr>
            <a:r>
              <a:rPr lang="en-IN" sz="2200">
                <a:latin typeface="Times New Roman"/>
                <a:ea typeface="Calibri" panose="020F0502020204030204"/>
                <a:cs typeface="Times New Roman"/>
              </a:rPr>
              <a:t>Electronic Voting Machines (EVMs) provide faster and more accurate election processes compared to traditional paper ballots. </a:t>
            </a:r>
            <a:endParaRPr lang="en-US" sz="2200">
              <a:latin typeface="Times New Roman"/>
              <a:ea typeface="Calibri" panose="020F0502020204030204"/>
              <a:cs typeface="Times New Roman"/>
            </a:endParaRPr>
          </a:p>
          <a:p>
            <a:pPr marL="285750" indent="-285750" algn="just">
              <a:buFont typeface="Arial,Sans-Serif"/>
              <a:buChar char="•"/>
            </a:pPr>
            <a:r>
              <a:rPr lang="en-IN" sz="2200">
                <a:latin typeface="Times New Roman"/>
                <a:ea typeface="Calibri" panose="020F0502020204030204"/>
                <a:cs typeface="Times New Roman"/>
              </a:rPr>
              <a:t>Basic EVMs lack sufficient security features, making them vulnerable to unauthorized access and vote  manipulation. </a:t>
            </a:r>
          </a:p>
          <a:p>
            <a:pPr marL="285750" indent="-285750" algn="just">
              <a:buFont typeface="Arial,Sans-Serif"/>
              <a:buChar char="•"/>
            </a:pPr>
            <a:r>
              <a:rPr lang="en-IN" sz="2200">
                <a:latin typeface="Times New Roman"/>
                <a:ea typeface="Calibri" panose="020F0502020204030204"/>
                <a:cs typeface="Times New Roman"/>
              </a:rPr>
              <a:t>This project enhances a conventional Arduino-based voting machine by integrating cyber security mechanisms. </a:t>
            </a:r>
          </a:p>
          <a:p>
            <a:pPr marL="285750" indent="-285750" algn="just">
              <a:buFont typeface="Arial,Sans-Serif"/>
              <a:buChar char="•"/>
            </a:pPr>
            <a:r>
              <a:rPr lang="en-IN" sz="2200">
                <a:latin typeface="Times New Roman"/>
                <a:ea typeface="Calibri" panose="020F0502020204030204"/>
                <a:cs typeface="Times New Roman"/>
              </a:rPr>
              <a:t>RFID technology is used to authenticate voters, while encrypted storage protects vote confidentiality. </a:t>
            </a:r>
          </a:p>
          <a:p>
            <a:pPr marL="285750" indent="-285750" algn="just">
              <a:buFont typeface="Arial,Sans-Serif"/>
              <a:buChar char="•"/>
            </a:pPr>
            <a:r>
              <a:rPr lang="en-IN" sz="2200">
                <a:latin typeface="Times New Roman"/>
                <a:ea typeface="Calibri" panose="020F0502020204030204"/>
                <a:cs typeface="Times New Roman"/>
              </a:rPr>
              <a:t>The system also includes tamper detection, admin authentication, and secure vote storage, making it a reliable educational model of a secure voting system.</a:t>
            </a:r>
          </a:p>
          <a:p>
            <a:pPr marL="342900" indent="-342900" algn="just">
              <a:buFont typeface="Arial"/>
              <a:buChar char="•"/>
            </a:pPr>
            <a:endParaRPr lang="en-IN" sz="2200">
              <a:latin typeface="Times New Roman"/>
              <a:ea typeface="Calibri" panose="020F0502020204030204"/>
              <a:cs typeface="Times New Roman"/>
            </a:endParaRPr>
          </a:p>
        </p:txBody>
      </p:sp>
      <p:sp>
        <p:nvSpPr>
          <p:cNvPr id="4" name="TextBox 3">
            <a:extLst>
              <a:ext uri="{FF2B5EF4-FFF2-40B4-BE49-F238E27FC236}">
                <a16:creationId xmlns:a16="http://schemas.microsoft.com/office/drawing/2014/main" id="{205B73A2-1B0D-B87D-6132-3B6AB0FCEC0D}"/>
              </a:ext>
            </a:extLst>
          </p:cNvPr>
          <p:cNvSpPr txBox="1"/>
          <p:nvPr/>
        </p:nvSpPr>
        <p:spPr>
          <a:xfrm>
            <a:off x="3048000" y="1788885"/>
            <a:ext cx="6096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a:cs typeface="Calibri"/>
            </a:endParaRPr>
          </a:p>
          <a:p>
            <a:pPr algn="ctr"/>
            <a:r>
              <a:rPr lang="en-US" sz="4000" b="1" u="sng">
                <a:latin typeface="Times New Roman"/>
                <a:ea typeface="Calibri"/>
                <a:cs typeface="Times New Roman"/>
              </a:rPr>
              <a:t>Introduction</a:t>
            </a:r>
          </a:p>
        </p:txBody>
      </p:sp>
      <p:sp>
        <p:nvSpPr>
          <p:cNvPr id="5" name="Date Placeholder 4">
            <a:extLst>
              <a:ext uri="{FF2B5EF4-FFF2-40B4-BE49-F238E27FC236}">
                <a16:creationId xmlns:a16="http://schemas.microsoft.com/office/drawing/2014/main" id="{EAD44A74-6F61-9C8E-D28E-94CD6B9E6932}"/>
              </a:ext>
            </a:extLst>
          </p:cNvPr>
          <p:cNvSpPr>
            <a:spLocks noGrp="1"/>
          </p:cNvSpPr>
          <p:nvPr>
            <p:ph type="dt" sz="half" idx="10"/>
          </p:nvPr>
        </p:nvSpPr>
        <p:spPr/>
        <p:txBody>
          <a:bodyPr/>
          <a:lstStyle/>
          <a:p>
            <a:fld id="{C491D346-5979-4E30-B960-E6412EEA0828}" type="datetime3">
              <a:rPr lang="en-US" smtClean="0"/>
              <a:t>29 July 2026</a:t>
            </a:fld>
            <a:endParaRPr lang="en-IN"/>
          </a:p>
        </p:txBody>
      </p:sp>
      <p:sp>
        <p:nvSpPr>
          <p:cNvPr id="7" name="Footer Placeholder 6">
            <a:extLst>
              <a:ext uri="{FF2B5EF4-FFF2-40B4-BE49-F238E27FC236}">
                <a16:creationId xmlns:a16="http://schemas.microsoft.com/office/drawing/2014/main" id="{18550519-8D72-F630-91E8-6DE07BD33F53}"/>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a:solidFill>
                  <a:srgbClr val="002060"/>
                </a:solidFill>
                <a:latin typeface="Times New Roman"/>
                <a:cs typeface="Times New Roman"/>
              </a:rPr>
              <a:t>Problem Statement</a:t>
            </a:r>
            <a:endParaRPr lang="en-US" sz="4000" b="1" u="sng">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64BE9AFF-6BE5-A61F-89C8-2DBDF29A1024}"/>
              </a:ext>
            </a:extLst>
          </p:cNvPr>
          <p:cNvSpPr txBox="1"/>
          <p:nvPr/>
        </p:nvSpPr>
        <p:spPr>
          <a:xfrm>
            <a:off x="653213" y="3105603"/>
            <a:ext cx="10727201" cy="3477875"/>
          </a:xfrm>
          <a:prstGeom prst="rect">
            <a:avLst/>
          </a:prstGeom>
          <a:noFill/>
        </p:spPr>
        <p:txBody>
          <a:bodyPr wrap="square" lIns="91440" tIns="45720" rIns="91440" bIns="45720" rtlCol="0" anchor="t">
            <a:spAutoFit/>
          </a:bodyPr>
          <a:lstStyle/>
          <a:p>
            <a:pPr marL="285750" indent="-285750" algn="just">
              <a:buFont typeface="Arial,Sans-Serif"/>
              <a:buChar char="•"/>
            </a:pPr>
            <a:r>
              <a:rPr lang="en-IN" sz="2200">
                <a:latin typeface="Times New Roman"/>
                <a:cs typeface="Times New Roman"/>
              </a:rPr>
              <a:t>Traditional Arduino-based voting systems do not verify voter identity, allowing unauthorized voting.</a:t>
            </a:r>
            <a:endParaRPr lang="en-US" sz="2200">
              <a:latin typeface="Times New Roman"/>
              <a:cs typeface="Times New Roman"/>
            </a:endParaRPr>
          </a:p>
          <a:p>
            <a:pPr marL="342900" indent="-342900" algn="just">
              <a:buFont typeface="Arial,Sans-Serif"/>
              <a:buChar char="•"/>
            </a:pPr>
            <a:r>
              <a:rPr lang="en-IN" sz="2200">
                <a:latin typeface="Times New Roman" panose="02020603050405020304" pitchFamily="18" charset="0"/>
                <a:cs typeface="Times New Roman" panose="02020603050405020304" pitchFamily="18" charset="0"/>
              </a:rPr>
              <a:t>There is no mechanism to prevent a person from voting multiple times.</a:t>
            </a:r>
          </a:p>
          <a:p>
            <a:pPr marL="342900" indent="-342900" algn="just">
              <a:buFont typeface="Arial,Sans-Serif"/>
              <a:buChar char="•"/>
            </a:pPr>
            <a:r>
              <a:rPr lang="en-IN" sz="2200">
                <a:latin typeface="Times New Roman"/>
                <a:cs typeface="Times New Roman"/>
              </a:rPr>
              <a:t>Votes stored in plain text can be easily accessed or modified if the storage device is compromised.</a:t>
            </a:r>
            <a:endParaRPr lang="en-US" sz="2200">
              <a:latin typeface="Times New Roman"/>
              <a:cs typeface="Times New Roman"/>
            </a:endParaRPr>
          </a:p>
          <a:p>
            <a:pPr marL="342900" indent="-342900" algn="just">
              <a:buFont typeface="Arial,Sans-Serif"/>
              <a:buChar char="•"/>
            </a:pPr>
            <a:r>
              <a:rPr lang="en-IN" sz="2200">
                <a:latin typeface="Times New Roman"/>
                <a:cs typeface="Times New Roman"/>
              </a:rPr>
              <a:t>Most basic voting systems cannot detect physical tampering or unauthorized access to the hardware.</a:t>
            </a:r>
          </a:p>
          <a:p>
            <a:pPr marL="342900" indent="-342900" algn="just">
              <a:buFont typeface="Arial,Sans-Serif"/>
              <a:buChar char="•"/>
            </a:pPr>
            <a:r>
              <a:rPr lang="en-IN" sz="2200">
                <a:latin typeface="Times New Roman"/>
                <a:cs typeface="Times New Roman"/>
              </a:rPr>
              <a:t>Election results are often accessible without proper authorization, compromising election integrity and confidentiality.</a:t>
            </a:r>
          </a:p>
          <a:p>
            <a:pPr marL="342900" indent="-342900" algn="just">
              <a:buFont typeface="Arial"/>
              <a:buChar char="•"/>
            </a:pPr>
            <a:endParaRPr lang="en-IN" sz="220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8285D3CE-28A2-7300-932D-89547A4BCE1E}"/>
              </a:ext>
            </a:extLst>
          </p:cNvPr>
          <p:cNvSpPr>
            <a:spLocks noGrp="1"/>
          </p:cNvSpPr>
          <p:nvPr>
            <p:ph type="dt" sz="half" idx="10"/>
          </p:nvPr>
        </p:nvSpPr>
        <p:spPr/>
        <p:txBody>
          <a:bodyPr/>
          <a:lstStyle/>
          <a:p>
            <a:fld id="{6CF92858-A60E-46B1-B26C-3FB41D4A0FCA}" type="datetime3">
              <a:rPr lang="en-US" smtClean="0"/>
              <a:t>29 July 2026</a:t>
            </a:fld>
            <a:endParaRPr lang="en-IN"/>
          </a:p>
        </p:txBody>
      </p:sp>
      <p:sp>
        <p:nvSpPr>
          <p:cNvPr id="4" name="Footer Placeholder 3">
            <a:extLst>
              <a:ext uri="{FF2B5EF4-FFF2-40B4-BE49-F238E27FC236}">
                <a16:creationId xmlns:a16="http://schemas.microsoft.com/office/drawing/2014/main" id="{048E060C-4918-EA1F-3296-424A32BF3113}"/>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a:solidFill>
                  <a:srgbClr val="002060"/>
                </a:solidFill>
                <a:latin typeface="Times New Roman"/>
                <a:cs typeface="Times New Roman"/>
              </a:rPr>
              <a:t>Proposed Method</a:t>
            </a:r>
            <a:endParaRPr lang="en-US" sz="4000" b="1" u="sng">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F2AD82A2-200C-7941-DB84-8790FB026345}"/>
              </a:ext>
            </a:extLst>
          </p:cNvPr>
          <p:cNvSpPr txBox="1"/>
          <p:nvPr/>
        </p:nvSpPr>
        <p:spPr>
          <a:xfrm>
            <a:off x="347204" y="2943552"/>
            <a:ext cx="11377069" cy="3847207"/>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IN" sz="2200" b="1">
                <a:latin typeface="Times New Roman"/>
                <a:cs typeface="Times New Roman"/>
              </a:rPr>
              <a:t>RFID-Based Authentication:</a:t>
            </a:r>
            <a:r>
              <a:rPr lang="en-IN" sz="2200">
                <a:latin typeface="Times New Roman"/>
                <a:cs typeface="Times New Roman"/>
              </a:rPr>
              <a:t> Each voter is assigned a unique RFID card, and only registered    cards are allowed to vote.</a:t>
            </a:r>
            <a:endParaRPr lang="en-US">
              <a:latin typeface="Times New Roman"/>
              <a:ea typeface="Calibri" panose="020F0502020204030204"/>
              <a:cs typeface="Times New Roman"/>
            </a:endParaRPr>
          </a:p>
          <a:p>
            <a:pPr marL="342900" indent="-342900" algn="just">
              <a:buFont typeface="Arial"/>
              <a:buChar char="•"/>
            </a:pPr>
            <a:r>
              <a:rPr lang="en-IN" sz="2200" b="1">
                <a:latin typeface="Times New Roman"/>
                <a:cs typeface="Times New Roman"/>
              </a:rPr>
              <a:t>Duplicate Vote Prevention:</a:t>
            </a:r>
            <a:r>
              <a:rPr lang="en-IN" sz="2200">
                <a:latin typeface="Times New Roman"/>
                <a:cs typeface="Times New Roman"/>
              </a:rPr>
              <a:t> After voting, the RFID card status is updated to prevent the same voter from voting again.</a:t>
            </a:r>
          </a:p>
          <a:p>
            <a:pPr marL="342900" indent="-342900" algn="just">
              <a:buFont typeface="Arial" panose="020B0604020202020204" pitchFamily="34" charset="0"/>
              <a:buChar char="•"/>
            </a:pPr>
            <a:r>
              <a:rPr lang="en-IN" sz="2200" b="1">
                <a:latin typeface="Times New Roman"/>
                <a:cs typeface="Times New Roman"/>
              </a:rPr>
              <a:t>Encrypted Vote Storage:</a:t>
            </a:r>
            <a:r>
              <a:rPr lang="en-IN" sz="2200">
                <a:latin typeface="Times New Roman"/>
                <a:cs typeface="Times New Roman"/>
              </a:rPr>
              <a:t> Every vote is encrypted before being stored in EEPROM or an     SD card to protect confidentiality</a:t>
            </a:r>
            <a:r>
              <a:rPr lang="en-IN" sz="2400"/>
              <a:t>.</a:t>
            </a:r>
            <a:endParaRPr lang="en-IN" sz="2400">
              <a:ea typeface="Calibri" panose="020F0502020204030204"/>
              <a:cs typeface="Calibri" panose="020F0502020204030204"/>
            </a:endParaRPr>
          </a:p>
          <a:p>
            <a:pPr marL="342900" indent="-342900" algn="just">
              <a:buFont typeface="Arial" panose="020B0604020202020204" pitchFamily="34" charset="0"/>
              <a:buChar char="•"/>
            </a:pPr>
            <a:r>
              <a:rPr lang="en-IN" sz="2200" b="1">
                <a:latin typeface="Times New Roman"/>
                <a:cs typeface="Times New Roman"/>
              </a:rPr>
              <a:t>Tamper Detection Mechanism:</a:t>
            </a:r>
            <a:r>
              <a:rPr lang="en-IN" sz="2200">
                <a:latin typeface="Times New Roman"/>
                <a:cs typeface="Times New Roman"/>
              </a:rPr>
              <a:t> A limit switch detects unauthorized opening of the machine, triggers or an alarm, and locks the system.</a:t>
            </a:r>
          </a:p>
          <a:p>
            <a:pPr marL="342900" indent="-342900" algn="just">
              <a:buFont typeface="Arial" panose="020B0604020202020204" pitchFamily="34" charset="0"/>
              <a:buChar char="•"/>
            </a:pPr>
            <a:r>
              <a:rPr lang="en-IN" sz="2200" b="1">
                <a:latin typeface="Times New Roman"/>
                <a:cs typeface="Times New Roman"/>
              </a:rPr>
              <a:t>Admin Authentication:</a:t>
            </a:r>
            <a:r>
              <a:rPr lang="en-IN" sz="2200">
                <a:latin typeface="Times New Roman"/>
                <a:cs typeface="Times New Roman"/>
              </a:rPr>
              <a:t> A master RFID card provides secure access to election results and     system management functions.</a:t>
            </a:r>
          </a:p>
          <a:p>
            <a:pPr algn="just"/>
            <a:endParaRPr lang="en-IN" sz="22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F2EA177-D918-2F4D-D20F-1C074212FFC0}"/>
              </a:ext>
            </a:extLst>
          </p:cNvPr>
          <p:cNvSpPr>
            <a:spLocks noGrp="1"/>
          </p:cNvSpPr>
          <p:nvPr>
            <p:ph type="dt" sz="half" idx="10"/>
          </p:nvPr>
        </p:nvSpPr>
        <p:spPr/>
        <p:txBody>
          <a:bodyPr/>
          <a:lstStyle/>
          <a:p>
            <a:fld id="{4ACED6B9-F9ED-4972-A8FB-FCDA506B6A74}" type="datetime3">
              <a:rPr lang="en-US" smtClean="0"/>
              <a:t>29 July 2026</a:t>
            </a:fld>
            <a:endParaRPr lang="en-IN"/>
          </a:p>
        </p:txBody>
      </p:sp>
      <p:sp>
        <p:nvSpPr>
          <p:cNvPr id="5" name="Footer Placeholder 4">
            <a:extLst>
              <a:ext uri="{FF2B5EF4-FFF2-40B4-BE49-F238E27FC236}">
                <a16:creationId xmlns:a16="http://schemas.microsoft.com/office/drawing/2014/main" id="{A4010330-6F31-EDB0-A4C2-E83792AC25BD}"/>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a:solidFill>
                  <a:srgbClr val="002060"/>
                </a:solidFill>
                <a:latin typeface="Times New Roman"/>
                <a:cs typeface="Times New Roman"/>
              </a:rPr>
              <a:t>Basic Block Diagram</a:t>
            </a:r>
          </a:p>
        </p:txBody>
      </p:sp>
      <p:sp>
        <p:nvSpPr>
          <p:cNvPr id="2" name="Date Placeholder 1">
            <a:extLst>
              <a:ext uri="{FF2B5EF4-FFF2-40B4-BE49-F238E27FC236}">
                <a16:creationId xmlns:a16="http://schemas.microsoft.com/office/drawing/2014/main" id="{30D1BC52-8DF6-EB14-ADF0-06AC1739AF17}"/>
              </a:ext>
            </a:extLst>
          </p:cNvPr>
          <p:cNvSpPr>
            <a:spLocks noGrp="1"/>
          </p:cNvSpPr>
          <p:nvPr>
            <p:ph type="dt" sz="half" idx="10"/>
          </p:nvPr>
        </p:nvSpPr>
        <p:spPr/>
        <p:txBody>
          <a:bodyPr/>
          <a:lstStyle/>
          <a:p>
            <a:fld id="{9A862BC4-6846-4479-81BA-917347BF238D}" type="datetime3">
              <a:rPr lang="en-US" smtClean="0"/>
              <a:t>29 July 2026</a:t>
            </a:fld>
            <a:endParaRPr lang="en-IN"/>
          </a:p>
        </p:txBody>
      </p:sp>
      <p:sp>
        <p:nvSpPr>
          <p:cNvPr id="4" name="Footer Placeholder 3">
            <a:extLst>
              <a:ext uri="{FF2B5EF4-FFF2-40B4-BE49-F238E27FC236}">
                <a16:creationId xmlns:a16="http://schemas.microsoft.com/office/drawing/2014/main" id="{A8275C9E-BCF1-BC81-4F77-A0556B00CBE2}"/>
              </a:ext>
            </a:extLst>
          </p:cNvPr>
          <p:cNvSpPr>
            <a:spLocks noGrp="1"/>
          </p:cNvSpPr>
          <p:nvPr>
            <p:ph type="ftr" sz="quarter" idx="11"/>
          </p:nvPr>
        </p:nvSpPr>
        <p:spPr/>
        <p:txBody>
          <a:bodyPr/>
          <a:lstStyle/>
          <a:p>
            <a:r>
              <a:rPr lang="en-IN"/>
              <a:t>Dept of CSE(CY)</a:t>
            </a:r>
          </a:p>
        </p:txBody>
      </p:sp>
      <p:pic>
        <p:nvPicPr>
          <p:cNvPr id="5" name="Picture 4">
            <a:extLst>
              <a:ext uri="{FF2B5EF4-FFF2-40B4-BE49-F238E27FC236}">
                <a16:creationId xmlns:a16="http://schemas.microsoft.com/office/drawing/2014/main" id="{67090FFA-93DF-34ED-4F88-3DFB8489EF98}"/>
              </a:ext>
            </a:extLst>
          </p:cNvPr>
          <p:cNvPicPr>
            <a:picLocks noChangeAspect="1"/>
          </p:cNvPicPr>
          <p:nvPr/>
        </p:nvPicPr>
        <p:blipFill>
          <a:blip r:embed="rId3"/>
          <a:srcRect l="4986" t="-656" r="9117" b="3330"/>
          <a:stretch>
            <a:fillRect/>
          </a:stretch>
        </p:blipFill>
        <p:spPr>
          <a:xfrm>
            <a:off x="1727200" y="2404109"/>
            <a:ext cx="8810460" cy="3952830"/>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sp>
        <p:nvSpPr>
          <p:cNvPr id="3" name="Title 1"/>
          <p:cNvSpPr>
            <a:spLocks noGrp="1"/>
          </p:cNvSpPr>
          <p:nvPr>
            <p:ph type="title"/>
          </p:nvPr>
        </p:nvSpPr>
        <p:spPr bwMode="auto">
          <a:xfrm>
            <a:off x="1794348" y="1983845"/>
            <a:ext cx="8229240" cy="628135"/>
          </a:xfrm>
        </p:spPr>
        <p:txBody>
          <a:bodyPr>
            <a:noAutofit/>
          </a:bodyPr>
          <a:lstStyle/>
          <a:p>
            <a:pPr algn="ctr">
              <a:lnSpc>
                <a:spcPct val="100000"/>
              </a:lnSpc>
              <a:spcBef>
                <a:spcPts val="0"/>
              </a:spcBef>
              <a:defRPr/>
            </a:pPr>
            <a:r>
              <a:rPr lang="en-IN" sz="4000" b="1" u="sng">
                <a:solidFill>
                  <a:srgbClr val="002060"/>
                </a:solidFill>
                <a:latin typeface="Times New Roman"/>
                <a:cs typeface="Times New Roman"/>
              </a:rPr>
              <a:t>Conclusion </a:t>
            </a:r>
            <a:endParaRPr lang="en-US" sz="4000" b="1" u="sng">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917F4AE5-0AC6-01AB-BC7E-8078B3424EC5}"/>
              </a:ext>
            </a:extLst>
          </p:cNvPr>
          <p:cNvSpPr txBox="1"/>
          <p:nvPr/>
        </p:nvSpPr>
        <p:spPr>
          <a:xfrm>
            <a:off x="690624" y="2808515"/>
            <a:ext cx="10810751" cy="3477875"/>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IN" sz="2200">
                <a:latin typeface="Times New Roman"/>
                <a:cs typeface="Times New Roman"/>
              </a:rPr>
              <a:t>The proposed system enhances a traditional Arduino voting machine by integrating essential cybersecurity features.</a:t>
            </a:r>
            <a:endParaRPr lang="en-IN">
              <a:latin typeface="Times New Roman"/>
              <a:cs typeface="Times New Roman"/>
            </a:endParaRPr>
          </a:p>
          <a:p>
            <a:pPr marL="285750" indent="-285750" algn="just">
              <a:buFont typeface="Arial" panose="020B0604020202020204" pitchFamily="34" charset="0"/>
              <a:buChar char="•"/>
            </a:pPr>
            <a:r>
              <a:rPr lang="en-IN" sz="2200">
                <a:latin typeface="Times New Roman"/>
                <a:cs typeface="Times New Roman"/>
              </a:rPr>
              <a:t>RFID authentication and duplicate vote detection ensure that only authorized voters can cast a single vote.</a:t>
            </a:r>
          </a:p>
          <a:p>
            <a:pPr marL="342900" indent="-342900" algn="just">
              <a:buFont typeface="Arial" panose="020B0604020202020204" pitchFamily="34" charset="0"/>
              <a:buChar char="•"/>
            </a:pPr>
            <a:r>
              <a:rPr lang="en-IN" sz="2200">
                <a:latin typeface="Times New Roman"/>
                <a:cs typeface="Times New Roman"/>
              </a:rPr>
              <a:t>Encrypted vote storage protects the confidentiality and integrity of election data.</a:t>
            </a:r>
          </a:p>
          <a:p>
            <a:pPr marL="342900" indent="-342900" algn="just">
              <a:buFont typeface="Arial" panose="020B0604020202020204" pitchFamily="34" charset="0"/>
              <a:buChar char="•"/>
            </a:pPr>
            <a:r>
              <a:rPr lang="en-IN" sz="2200">
                <a:latin typeface="Times New Roman"/>
                <a:cs typeface="Times New Roman"/>
              </a:rPr>
              <a:t>Tamper detection and audit logging improve the physical security and accountability     of the voting system.</a:t>
            </a:r>
          </a:p>
          <a:p>
            <a:pPr marL="342900" indent="-342900" algn="just">
              <a:buFont typeface="Arial" panose="020B0604020202020204" pitchFamily="34" charset="0"/>
              <a:buChar char="•"/>
            </a:pPr>
            <a:r>
              <a:rPr lang="en-IN" sz="2200">
                <a:latin typeface="Times New Roman"/>
                <a:cs typeface="Times New Roman"/>
              </a:rPr>
              <a:t>The project serves as an effective educational model demonstrating how embedded systems     and cybersecurity principles can be combined to build secure electronic applications.</a:t>
            </a:r>
          </a:p>
          <a:p>
            <a:pPr marL="342900" indent="-342900">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07BD952-80CB-C6BB-8AF3-6E2A32AC8184}"/>
              </a:ext>
            </a:extLst>
          </p:cNvPr>
          <p:cNvSpPr>
            <a:spLocks noGrp="1"/>
          </p:cNvSpPr>
          <p:nvPr>
            <p:ph type="dt" sz="half" idx="10"/>
          </p:nvPr>
        </p:nvSpPr>
        <p:spPr/>
        <p:txBody>
          <a:bodyPr/>
          <a:lstStyle/>
          <a:p>
            <a:fld id="{B0EB283B-B4E0-4344-8DF8-C452DC83D484}" type="datetime3">
              <a:rPr lang="en-US" smtClean="0"/>
              <a:t>29 July 2026</a:t>
            </a:fld>
            <a:endParaRPr lang="en-IN"/>
          </a:p>
        </p:txBody>
      </p:sp>
      <p:sp>
        <p:nvSpPr>
          <p:cNvPr id="6" name="Footer Placeholder 5">
            <a:extLst>
              <a:ext uri="{FF2B5EF4-FFF2-40B4-BE49-F238E27FC236}">
                <a16:creationId xmlns:a16="http://schemas.microsoft.com/office/drawing/2014/main" id="{FFA07218-C688-05C8-110C-27E7EA312224}"/>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roject Title Header"/>
          <p:cNvSpPr txBox="1"/>
          <p:nvPr/>
        </p:nvSpPr>
        <p:spPr>
          <a:xfrm>
            <a:off x="228600" y="0"/>
            <a:ext cx="11734800" cy="219075"/>
          </a:xfrm>
          <a:prstGeom prst="rect">
            <a:avLst/>
          </a:prstGeom>
          <a:noFill/>
        </p:spPr>
        <p:txBody>
          <a:bodyPr wrap="square" lIns="0" tIns="0" rIns="0" bIns="0" anchor="ctr">
            <a:noAutofit/>
          </a:bodyPr>
          <a:lstStyle/>
          <a:p>
            <a:pPr algn="ctr"/>
            <a:r>
              <a:rPr lang="en-US" sz="900" b="1">
                <a:solidFill>
                  <a:srgbClr val="1F3864"/>
                </a:solidFill>
              </a:rPr>
              <a:t>Secure Electronic Voting Machine with Voter Authentication, Encrypted Vote Storage, and Tamper Detection</a:t>
            </a:r>
          </a:p>
        </p:txBody>
      </p:sp>
      <p:sp>
        <p:nvSpPr>
          <p:cNvPr id="3" name="Title 1"/>
          <p:cNvSpPr>
            <a:spLocks noGrp="1"/>
          </p:cNvSpPr>
          <p:nvPr>
            <p:ph type="title"/>
          </p:nvPr>
        </p:nvSpPr>
        <p:spPr bwMode="auto">
          <a:xfrm>
            <a:off x="1816119" y="1983845"/>
            <a:ext cx="8229240" cy="628135"/>
          </a:xfrm>
        </p:spPr>
        <p:txBody>
          <a:bodyPr>
            <a:noAutofit/>
          </a:bodyPr>
          <a:lstStyle/>
          <a:p>
            <a:pPr algn="ctr">
              <a:lnSpc>
                <a:spcPct val="100000"/>
              </a:lnSpc>
              <a:spcBef>
                <a:spcPts val="0"/>
              </a:spcBef>
              <a:defRPr/>
            </a:pPr>
            <a:r>
              <a:rPr lang="en-IN" sz="4000" b="1" u="sng">
                <a:solidFill>
                  <a:srgbClr val="002060"/>
                </a:solidFill>
                <a:latin typeface="Times New Roman"/>
                <a:cs typeface="Times New Roman"/>
              </a:rPr>
              <a:t>References</a:t>
            </a:r>
            <a:endParaRPr lang="en-US" sz="4000" b="1" u="sng">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BE7D39C6-E2B5-A654-0B88-7FD360BD413B}"/>
              </a:ext>
            </a:extLst>
          </p:cNvPr>
          <p:cNvSpPr txBox="1"/>
          <p:nvPr/>
        </p:nvSpPr>
        <p:spPr>
          <a:xfrm>
            <a:off x="994229" y="2739572"/>
            <a:ext cx="9869714" cy="39241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buFont typeface=""/>
              <a:buChar char="•"/>
            </a:pPr>
            <a:r>
              <a:rPr lang="en-US" sz="2200">
                <a:latin typeface="Times New Roman"/>
                <a:cs typeface="Times New Roman"/>
              </a:rPr>
              <a:t> Arduino Documentation – </a:t>
            </a:r>
            <a:r>
              <a:rPr lang="en-US" sz="2200" b="1">
                <a:latin typeface="Times New Roman"/>
                <a:cs typeface="Times New Roman"/>
                <a:hlinkClick r:id="rId3"/>
              </a:rPr>
              <a:t>https://docs.arduino.cc/</a:t>
            </a:r>
            <a:r>
              <a:rPr lang="en-US" sz="2200">
                <a:latin typeface="Times New Roman"/>
                <a:cs typeface="Times New Roman"/>
              </a:rPr>
              <a:t> </a:t>
            </a:r>
            <a:endParaRPr lang="en-US">
              <a:ea typeface="Calibri" panose="020F0502020204030204"/>
              <a:cs typeface="Calibri" panose="020F0502020204030204"/>
            </a:endParaRPr>
          </a:p>
          <a:p>
            <a:pPr algn="just">
              <a:lnSpc>
                <a:spcPct val="150000"/>
              </a:lnSpc>
              <a:buFont typeface=""/>
              <a:buChar char="•"/>
            </a:pPr>
            <a:r>
              <a:rPr lang="en-US" sz="2200">
                <a:latin typeface="Times New Roman"/>
                <a:cs typeface="Times New Roman"/>
              </a:rPr>
              <a:t> MFRC522 RFID Library Documentation – </a:t>
            </a:r>
            <a:r>
              <a:rPr lang="en-US" sz="2200" b="1">
                <a:latin typeface="Times New Roman"/>
                <a:cs typeface="Times New Roman"/>
                <a:hlinkClick r:id="rId4"/>
              </a:rPr>
              <a:t>https://github.com/miguelbalboa/rfid</a:t>
            </a:r>
            <a:r>
              <a:rPr lang="en-US" sz="2200">
                <a:latin typeface="Times New Roman"/>
                <a:cs typeface="Times New Roman"/>
              </a:rPr>
              <a:t> </a:t>
            </a:r>
          </a:p>
          <a:p>
            <a:pPr algn="just">
              <a:lnSpc>
                <a:spcPct val="150000"/>
              </a:lnSpc>
              <a:buFont typeface=""/>
              <a:buChar char="•"/>
            </a:pPr>
            <a:r>
              <a:rPr lang="en-US" sz="2200">
                <a:latin typeface="Times New Roman"/>
                <a:cs typeface="Times New Roman"/>
              </a:rPr>
              <a:t> Arduino EEPROM Library Documentation – </a:t>
            </a:r>
            <a:r>
              <a:rPr lang="en-US" sz="2200" b="1">
                <a:latin typeface="Times New Roman"/>
                <a:cs typeface="Times New Roman"/>
                <a:hlinkClick r:id="rId5"/>
              </a:rPr>
              <a:t>https://docs.arduino.cc/learn/built-in-libraries/eeprom/</a:t>
            </a:r>
            <a:r>
              <a:rPr lang="en-US" sz="2200">
                <a:latin typeface="Times New Roman"/>
                <a:cs typeface="Times New Roman"/>
              </a:rPr>
              <a:t> </a:t>
            </a:r>
          </a:p>
          <a:p>
            <a:pPr algn="just">
              <a:lnSpc>
                <a:spcPct val="150000"/>
              </a:lnSpc>
              <a:buFont typeface=""/>
              <a:buChar char="•"/>
            </a:pPr>
            <a:r>
              <a:rPr lang="en-US" sz="2200">
                <a:latin typeface="Times New Roman"/>
                <a:cs typeface="Times New Roman"/>
              </a:rPr>
              <a:t> Arduino SD Card Library Documentation – </a:t>
            </a:r>
            <a:r>
              <a:rPr lang="en-US" sz="2200" b="1">
                <a:latin typeface="Times New Roman"/>
                <a:cs typeface="Times New Roman"/>
                <a:hlinkClick r:id="rId6"/>
              </a:rPr>
              <a:t>https://docs.arduino.cc/libraries/sd/</a:t>
            </a:r>
            <a:r>
              <a:rPr lang="en-US" sz="2200">
                <a:latin typeface="Times New Roman"/>
                <a:cs typeface="Times New Roman"/>
              </a:rPr>
              <a:t> </a:t>
            </a:r>
          </a:p>
          <a:p>
            <a:pPr algn="just">
              <a:lnSpc>
                <a:spcPct val="150000"/>
              </a:lnSpc>
              <a:buFont typeface=""/>
              <a:buChar char="•"/>
            </a:pPr>
            <a:r>
              <a:rPr lang="en-US" sz="2200">
                <a:latin typeface="Times New Roman"/>
                <a:cs typeface="Times New Roman"/>
              </a:rPr>
              <a:t> William Stallings, </a:t>
            </a:r>
            <a:r>
              <a:rPr lang="en-US" sz="2200" i="1">
                <a:latin typeface="Times New Roman"/>
                <a:cs typeface="Times New Roman"/>
              </a:rPr>
              <a:t>Cryptography and Network Security: Principles and Practice</a:t>
            </a:r>
            <a:r>
              <a:rPr lang="en-US" sz="2200">
                <a:latin typeface="Times New Roman"/>
                <a:cs typeface="Times New Roman"/>
              </a:rPr>
              <a:t>, Pearson Education, 8th Edition.</a:t>
            </a:r>
          </a:p>
          <a:p>
            <a:pPr algn="ctr"/>
            <a:endParaRPr lang="en-US"/>
          </a:p>
        </p:txBody>
      </p:sp>
      <p:sp>
        <p:nvSpPr>
          <p:cNvPr id="5" name="Date Placeholder 4">
            <a:extLst>
              <a:ext uri="{FF2B5EF4-FFF2-40B4-BE49-F238E27FC236}">
                <a16:creationId xmlns:a16="http://schemas.microsoft.com/office/drawing/2014/main" id="{0BA38286-A5E9-D583-4DB7-42ECCF211E3E}"/>
              </a:ext>
            </a:extLst>
          </p:cNvPr>
          <p:cNvSpPr>
            <a:spLocks noGrp="1"/>
          </p:cNvSpPr>
          <p:nvPr>
            <p:ph type="dt" sz="half" idx="10"/>
          </p:nvPr>
        </p:nvSpPr>
        <p:spPr/>
        <p:txBody>
          <a:bodyPr/>
          <a:lstStyle/>
          <a:p>
            <a:fld id="{3BF6F0FB-B11A-4EE9-91A8-B669475BB2AF}" type="datetime3">
              <a:rPr lang="en-US" smtClean="0"/>
              <a:t>29 July 2026</a:t>
            </a:fld>
            <a:endParaRPr lang="en-IN"/>
          </a:p>
        </p:txBody>
      </p:sp>
      <p:sp>
        <p:nvSpPr>
          <p:cNvPr id="6" name="Footer Placeholder 5">
            <a:extLst>
              <a:ext uri="{FF2B5EF4-FFF2-40B4-BE49-F238E27FC236}">
                <a16:creationId xmlns:a16="http://schemas.microsoft.com/office/drawing/2014/main" id="{39A1FE3D-93B5-F225-5762-3893662F3CAB}"/>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1788</Words>
  <Application>Microsoft Office PowerPoint</Application>
  <PresentationFormat>Widescreen</PresentationFormat>
  <Paragraphs>150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Arial,Sans-Serif</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  </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Adithiyan Kunju</cp:lastModifiedBy>
  <cp:revision>67</cp:revision>
  <dcterms:modified xsi:type="dcterms:W3CDTF">2026-07-29T17:33:13Z</dcterms:modified>
</cp:coreProperties>
</file>