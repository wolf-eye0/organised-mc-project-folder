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Helvetica Neu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XbnAvLYycAiWONL1QckWGREIE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1"/>
                </a:solidFill>
                <a:latin typeface="Calibri"/>
                <a:ea typeface="Calibri"/>
                <a:cs typeface="Calibri"/>
                <a:sym typeface="Calibri"/>
              </a:defRPr>
            </a:lvl1pPr>
            <a:lvl2pPr indent="0" lvl="1" marL="0" marR="0" rtl="0" algn="r">
              <a:spcBef>
                <a:spcPts val="0"/>
              </a:spcBef>
              <a:buNone/>
              <a:defRPr b="0" i="0" sz="1200" u="none" cap="none" strike="noStrike">
                <a:solidFill>
                  <a:schemeClr val="dk1"/>
                </a:solidFill>
                <a:latin typeface="Calibri"/>
                <a:ea typeface="Calibri"/>
                <a:cs typeface="Calibri"/>
                <a:sym typeface="Calibri"/>
              </a:defRPr>
            </a:lvl2pPr>
            <a:lvl3pPr indent="0" lvl="2" marL="0" marR="0" rtl="0" algn="r">
              <a:spcBef>
                <a:spcPts val="0"/>
              </a:spcBef>
              <a:buNone/>
              <a:defRPr b="0" i="0" sz="1200" u="none" cap="none" strike="noStrike">
                <a:solidFill>
                  <a:schemeClr val="dk1"/>
                </a:solidFill>
                <a:latin typeface="Calibri"/>
                <a:ea typeface="Calibri"/>
                <a:cs typeface="Calibri"/>
                <a:sym typeface="Calibri"/>
              </a:defRPr>
            </a:lvl3pPr>
            <a:lvl4pPr indent="0" lvl="3" marL="0" marR="0" rtl="0" algn="r">
              <a:spcBef>
                <a:spcPts val="0"/>
              </a:spcBef>
              <a:buNone/>
              <a:defRPr b="0" i="0" sz="1200" u="none" cap="none" strike="noStrike">
                <a:solidFill>
                  <a:schemeClr val="dk1"/>
                </a:solidFill>
                <a:latin typeface="Calibri"/>
                <a:ea typeface="Calibri"/>
                <a:cs typeface="Calibri"/>
                <a:sym typeface="Calibri"/>
              </a:defRPr>
            </a:lvl4pPr>
            <a:lvl5pPr indent="0" lvl="4" marL="0" marR="0" rtl="0" algn="r">
              <a:spcBef>
                <a:spcPts val="0"/>
              </a:spcBef>
              <a:buNone/>
              <a:defRPr b="0" i="0" sz="1200" u="none" cap="none" strike="noStrike">
                <a:solidFill>
                  <a:schemeClr val="dk1"/>
                </a:solidFill>
                <a:latin typeface="Calibri"/>
                <a:ea typeface="Calibri"/>
                <a:cs typeface="Calibri"/>
                <a:sym typeface="Calibri"/>
              </a:defRPr>
            </a:lvl5pPr>
            <a:lvl6pPr indent="0" lvl="5" marL="0" marR="0" rtl="0" algn="r">
              <a:spcBef>
                <a:spcPts val="0"/>
              </a:spcBef>
              <a:buNone/>
              <a:defRPr b="0" i="0" sz="1200" u="none" cap="none" strike="noStrike">
                <a:solidFill>
                  <a:schemeClr val="dk1"/>
                </a:solidFill>
                <a:latin typeface="Calibri"/>
                <a:ea typeface="Calibri"/>
                <a:cs typeface="Calibri"/>
                <a:sym typeface="Calibri"/>
              </a:defRPr>
            </a:lvl6pPr>
            <a:lvl7pPr indent="0" lvl="6" marL="0" marR="0" rtl="0" algn="r">
              <a:spcBef>
                <a:spcPts val="0"/>
              </a:spcBef>
              <a:buNone/>
              <a:defRPr b="0" i="0" sz="1200" u="none" cap="none" strike="noStrike">
                <a:solidFill>
                  <a:schemeClr val="dk1"/>
                </a:solidFill>
                <a:latin typeface="Calibri"/>
                <a:ea typeface="Calibri"/>
                <a:cs typeface="Calibri"/>
                <a:sym typeface="Calibri"/>
              </a:defRPr>
            </a:lvl7pPr>
            <a:lvl8pPr indent="0" lvl="7" marL="0" marR="0" rtl="0" algn="r">
              <a:spcBef>
                <a:spcPts val="0"/>
              </a:spcBef>
              <a:buNone/>
              <a:defRPr b="0" i="0" sz="1200" u="none" cap="none" strike="noStrike">
                <a:solidFill>
                  <a:schemeClr val="dk1"/>
                </a:solidFill>
                <a:latin typeface="Calibri"/>
                <a:ea typeface="Calibri"/>
                <a:cs typeface="Calibri"/>
                <a:sym typeface="Calibri"/>
              </a:defRPr>
            </a:lvl8pPr>
            <a:lvl9pPr indent="0" lvl="8" marL="0" marR="0" rt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jecc.etlab.in/teacher/viewsubject/93460551045?sub_id=1916076829214&amp;sem_id=11622556066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648655" y="136525"/>
            <a:ext cx="10579260" cy="1747701"/>
          </a:xfrm>
          <a:prstGeom prst="rect">
            <a:avLst/>
          </a:prstGeom>
          <a:noFill/>
          <a:ln>
            <a:noFill/>
          </a:ln>
        </p:spPr>
      </p:pic>
      <p:sp>
        <p:nvSpPr>
          <p:cNvPr id="89" name="Google Shape;89;p1"/>
          <p:cNvSpPr txBox="1"/>
          <p:nvPr/>
        </p:nvSpPr>
        <p:spPr>
          <a:xfrm>
            <a:off x="803988" y="1500234"/>
            <a:ext cx="9722822" cy="4618940"/>
          </a:xfrm>
          <a:prstGeom prst="rect">
            <a:avLst/>
          </a:prstGeom>
          <a:noFill/>
          <a:ln>
            <a:noFill/>
          </a:ln>
        </p:spPr>
        <p:txBody>
          <a:bodyPr anchorCtr="0" anchor="t" bIns="0" lIns="0" spcFirstLastPara="1" rIns="0" wrap="square" tIns="0">
            <a:noAutofit/>
          </a:bodyPr>
          <a:lstStyle/>
          <a:p>
            <a:pPr indent="0" lvl="0" marL="114300" marR="0" rtl="0" algn="ctr">
              <a:lnSpc>
                <a:spcPct val="90000"/>
              </a:lnSpc>
              <a:spcBef>
                <a:spcPts val="1000"/>
              </a:spcBef>
              <a:spcAft>
                <a:spcPts val="0"/>
              </a:spcAft>
              <a:buClr>
                <a:schemeClr val="dk1"/>
              </a:buClr>
              <a:buSzPts val="1800"/>
              <a:buFont typeface="Arial"/>
              <a:buNone/>
            </a:pPr>
            <a:r>
              <a:t/>
            </a:r>
            <a:endParaRPr b="1" i="0" sz="5400" u="none" cap="none" strike="noStrike">
              <a:solidFill>
                <a:srgbClr val="C0504D"/>
              </a:solidFill>
              <a:latin typeface="Times New Roman"/>
              <a:ea typeface="Times New Roman"/>
              <a:cs typeface="Times New Roman"/>
              <a:sym typeface="Times New Roman"/>
            </a:endParaRPr>
          </a:p>
          <a:p>
            <a:pPr indent="0" lvl="0" marL="0" marR="0" rtl="0" algn="ctr">
              <a:lnSpc>
                <a:spcPct val="90000"/>
              </a:lnSpc>
              <a:spcBef>
                <a:spcPts val="1000"/>
              </a:spcBef>
              <a:spcAft>
                <a:spcPts val="0"/>
              </a:spcAft>
              <a:buClr>
                <a:srgbClr val="C55A11"/>
              </a:buClr>
              <a:buSzPts val="4000"/>
              <a:buFont typeface="Arial"/>
              <a:buNone/>
            </a:pPr>
            <a:r>
              <a:rPr b="1" i="0" lang="en-IN" sz="4000" u="sng" cap="none" strike="noStrike">
                <a:solidFill>
                  <a:srgbClr val="C55A11"/>
                </a:solidFill>
                <a:latin typeface="Helvetica Neue"/>
                <a:ea typeface="Helvetica Neue"/>
                <a:cs typeface="Helvetica Neue"/>
                <a:sym typeface="Helvetica Neue"/>
                <a:hlinkClick r:id="rId4">
                  <a:extLst>
                    <a:ext uri="{A12FA001-AC4F-418D-AE19-62706E023703}">
                      <ahyp:hlinkClr val="tx"/>
                    </a:ext>
                  </a:extLst>
                </a:hlinkClick>
              </a:rPr>
              <a:t>PBCST504 – MICROCONTROLLERS</a:t>
            </a:r>
            <a:endParaRPr b="1" i="0" sz="4000" u="none" cap="none" strike="noStrike">
              <a:solidFill>
                <a:srgbClr val="C55A11"/>
              </a:solidFill>
              <a:latin typeface="Helvetica Neue"/>
              <a:ea typeface="Helvetica Neue"/>
              <a:cs typeface="Helvetica Neue"/>
              <a:sym typeface="Helvetica Neue"/>
            </a:endParaRPr>
          </a:p>
          <a:p>
            <a:pPr indent="0" lvl="0" marL="0" marR="0" rtl="0" algn="ctr">
              <a:lnSpc>
                <a:spcPct val="90000"/>
              </a:lnSpc>
              <a:spcBef>
                <a:spcPts val="1000"/>
              </a:spcBef>
              <a:spcAft>
                <a:spcPts val="0"/>
              </a:spcAft>
              <a:buClr>
                <a:srgbClr val="C55A11"/>
              </a:buClr>
              <a:buSzPts val="4000"/>
              <a:buFont typeface="Arial"/>
              <a:buNone/>
            </a:pPr>
            <a:r>
              <a:rPr b="1" i="0" lang="en-IN" sz="4000" u="none" cap="none" strike="noStrike">
                <a:solidFill>
                  <a:srgbClr val="C55A11"/>
                </a:solidFill>
                <a:latin typeface="Helvetica Neue"/>
                <a:ea typeface="Helvetica Neue"/>
                <a:cs typeface="Helvetica Neue"/>
                <a:sym typeface="Helvetica Neue"/>
              </a:rPr>
              <a:t>MICRO PROJECT</a:t>
            </a:r>
            <a:endParaRPr b="1" i="0" sz="4000" u="none" cap="none" strike="noStrike">
              <a:solidFill>
                <a:srgbClr val="C55A11"/>
              </a:solidFill>
              <a:latin typeface="Helvetica Neue"/>
              <a:ea typeface="Helvetica Neue"/>
              <a:cs typeface="Helvetica Neue"/>
              <a:sym typeface="Helvetica Neue"/>
            </a:endParaRPr>
          </a:p>
          <a:p>
            <a:pPr indent="0" lvl="0" marL="114300" marR="0" rtl="0" algn="ctr">
              <a:lnSpc>
                <a:spcPct val="90000"/>
              </a:lnSpc>
              <a:spcBef>
                <a:spcPts val="1000"/>
              </a:spcBef>
              <a:spcAft>
                <a:spcPts val="0"/>
              </a:spcAft>
              <a:buClr>
                <a:schemeClr val="dk1"/>
              </a:buClr>
              <a:buSzPts val="1800"/>
              <a:buFont typeface="Arial"/>
              <a:buNone/>
            </a:pPr>
            <a:r>
              <a:t/>
            </a:r>
            <a:endParaRPr b="1" i="0" sz="5400" u="none" cap="none" strike="noStrike">
              <a:solidFill>
                <a:srgbClr val="C0504D"/>
              </a:solidFill>
              <a:latin typeface="Times New Roman"/>
              <a:ea typeface="Times New Roman"/>
              <a:cs typeface="Times New Roman"/>
              <a:sym typeface="Times New Roman"/>
            </a:endParaRPr>
          </a:p>
          <a:p>
            <a:pPr indent="0" lvl="0" marL="114300" marR="0" rtl="0" algn="ctr">
              <a:lnSpc>
                <a:spcPct val="90000"/>
              </a:lnSpc>
              <a:spcBef>
                <a:spcPts val="1000"/>
              </a:spcBef>
              <a:spcAft>
                <a:spcPts val="0"/>
              </a:spcAft>
              <a:buClr>
                <a:srgbClr val="7030A0"/>
              </a:buClr>
              <a:buSzPts val="1800"/>
              <a:buFont typeface="Arial"/>
              <a:buNone/>
            </a:pPr>
            <a:r>
              <a:rPr b="1" i="0" lang="en-IN" sz="4800" u="none" cap="none" strike="noStrike">
                <a:solidFill>
                  <a:srgbClr val="7030A0"/>
                </a:solidFill>
                <a:latin typeface="Times New Roman"/>
                <a:ea typeface="Times New Roman"/>
                <a:cs typeface="Times New Roman"/>
                <a:sym typeface="Times New Roman"/>
              </a:rPr>
              <a:t>Zeroth Review</a:t>
            </a:r>
            <a:endParaRPr b="1" i="0" sz="4800" u="none" cap="none" strike="noStrike">
              <a:solidFill>
                <a:srgbClr val="7030A0"/>
              </a:solidFill>
              <a:latin typeface="Calibri"/>
              <a:ea typeface="Calibri"/>
              <a:cs typeface="Calibri"/>
              <a:sym typeface="Calibri"/>
            </a:endParaRPr>
          </a:p>
        </p:txBody>
      </p:sp>
      <p:sp>
        <p:nvSpPr>
          <p:cNvPr id="90" name="Google Shape;90;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91" name="Google Shape;9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2" name="Google Shape;92;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98" name="Google Shape;98;p2"/>
          <p:cNvSpPr txBox="1"/>
          <p:nvPr/>
        </p:nvSpPr>
        <p:spPr>
          <a:xfrm>
            <a:off x="1761431" y="1737410"/>
            <a:ext cx="8838900" cy="4618940"/>
          </a:xfrm>
          <a:prstGeom prst="rect">
            <a:avLst/>
          </a:prstGeom>
          <a:noFill/>
          <a:ln>
            <a:noFill/>
          </a:ln>
        </p:spPr>
        <p:txBody>
          <a:bodyPr anchorCtr="0" anchor="t" bIns="0" lIns="0" spcFirstLastPara="1" rIns="0" wrap="square" tIns="0">
            <a:noAutofit/>
          </a:bodyPr>
          <a:lstStyle/>
          <a:p>
            <a:pPr indent="0" lvl="0" marL="114300" marR="0" rtl="0" algn="just">
              <a:lnSpc>
                <a:spcPct val="90000"/>
              </a:lnSpc>
              <a:spcBef>
                <a:spcPts val="1000"/>
              </a:spcBef>
              <a:spcAft>
                <a:spcPts val="0"/>
              </a:spcAft>
              <a:buClr>
                <a:schemeClr val="dk1"/>
              </a:buClr>
              <a:buSzPts val="1800"/>
              <a:buFont typeface="Arial"/>
              <a:buNone/>
            </a:pPr>
            <a:r>
              <a:t/>
            </a:r>
            <a:endParaRPr b="1" i="0" sz="2800" u="none" cap="none" strike="noStrike">
              <a:solidFill>
                <a:srgbClr val="C0504D"/>
              </a:solidFill>
              <a:latin typeface="Times New Roman"/>
              <a:ea typeface="Times New Roman"/>
              <a:cs typeface="Times New Roman"/>
              <a:sym typeface="Times New Roman"/>
            </a:endParaRPr>
          </a:p>
          <a:p>
            <a:pPr indent="0" lvl="0" marL="114300" marR="0" rtl="0" algn="ctr">
              <a:lnSpc>
                <a:spcPct val="90000"/>
              </a:lnSpc>
              <a:spcBef>
                <a:spcPts val="1000"/>
              </a:spcBef>
              <a:spcAft>
                <a:spcPts val="0"/>
              </a:spcAft>
              <a:buClr>
                <a:srgbClr val="0070C0"/>
              </a:buClr>
              <a:buSzPts val="1800"/>
              <a:buFont typeface="Arial"/>
              <a:buNone/>
            </a:pPr>
            <a:r>
              <a:rPr b="1" i="0" lang="en-IN" sz="3200" u="none" cap="none" strike="noStrike">
                <a:solidFill>
                  <a:srgbClr val="0070C0"/>
                </a:solidFill>
                <a:latin typeface="Times New Roman"/>
                <a:ea typeface="Times New Roman"/>
                <a:cs typeface="Times New Roman"/>
                <a:sym typeface="Times New Roman"/>
              </a:rPr>
              <a:t>Title:- </a:t>
            </a:r>
            <a:r>
              <a:rPr b="0" i="0" lang="en-IN" sz="3200" u="none" cap="none" strike="noStrike">
                <a:solidFill>
                  <a:schemeClr val="dk1"/>
                </a:solidFill>
                <a:latin typeface="Calibri"/>
                <a:ea typeface="Calibri"/>
                <a:cs typeface="Calibri"/>
                <a:sym typeface="Calibri"/>
              </a:rPr>
              <a:t>Distributed IoT Security System for Covert Tracker Detection</a:t>
            </a:r>
            <a:r>
              <a:rPr b="1" i="0" lang="en-IN" sz="3200" u="none" cap="none" strike="noStrike">
                <a:solidFill>
                  <a:srgbClr val="0070C0"/>
                </a:solidFill>
                <a:latin typeface="Times New Roman"/>
                <a:ea typeface="Times New Roman"/>
                <a:cs typeface="Times New Roman"/>
                <a:sym typeface="Times New Roman"/>
              </a:rPr>
              <a:t> </a:t>
            </a:r>
            <a:endParaRPr b="0" i="0" sz="3200" u="none" cap="none" strike="noStrike">
              <a:solidFill>
                <a:srgbClr val="0070C0"/>
              </a:solidFill>
              <a:latin typeface="Calibri"/>
              <a:ea typeface="Calibri"/>
              <a:cs typeface="Calibri"/>
              <a:sym typeface="Calibri"/>
            </a:endParaRPr>
          </a:p>
        </p:txBody>
      </p:sp>
      <p:sp>
        <p:nvSpPr>
          <p:cNvPr id="99" name="Google Shape;99;p2"/>
          <p:cNvSpPr txBox="1"/>
          <p:nvPr/>
        </p:nvSpPr>
        <p:spPr>
          <a:xfrm>
            <a:off x="555831" y="3770449"/>
            <a:ext cx="4948707" cy="3763536"/>
          </a:xfrm>
          <a:prstGeom prst="rect">
            <a:avLst/>
          </a:prstGeom>
          <a:noFill/>
          <a:ln>
            <a:noFill/>
          </a:ln>
        </p:spPr>
        <p:txBody>
          <a:bodyPr anchorCtr="0" anchor="t" bIns="0" lIns="0" spcFirstLastPara="1" rIns="0" wrap="square" tIns="0">
            <a:noAutofit/>
          </a:bodyPr>
          <a:lstStyle/>
          <a:p>
            <a:pPr indent="0" lvl="0" marL="114300" marR="0" rtl="0" algn="l">
              <a:lnSpc>
                <a:spcPct val="90000"/>
              </a:lnSpc>
              <a:spcBef>
                <a:spcPts val="1000"/>
              </a:spcBef>
              <a:spcAft>
                <a:spcPts val="0"/>
              </a:spcAft>
              <a:buClr>
                <a:srgbClr val="00B050"/>
              </a:buClr>
              <a:buSzPts val="1800"/>
              <a:buFont typeface="Arial"/>
              <a:buNone/>
            </a:pPr>
            <a:r>
              <a:rPr b="0" i="0" lang="en-IN" sz="2400" u="none" cap="none" strike="noStrike">
                <a:solidFill>
                  <a:srgbClr val="00B050"/>
                </a:solidFill>
                <a:latin typeface="Times New Roman"/>
                <a:ea typeface="Times New Roman"/>
                <a:cs typeface="Times New Roman"/>
                <a:sym typeface="Times New Roman"/>
              </a:rPr>
              <a:t>Group No: 3</a:t>
            </a:r>
            <a:endParaRPr/>
          </a:p>
          <a:p>
            <a:pPr indent="0" lvl="0" marL="114300" marR="0" rtl="0" algn="l">
              <a:lnSpc>
                <a:spcPct val="90000"/>
              </a:lnSpc>
              <a:spcBef>
                <a:spcPts val="1000"/>
              </a:spcBef>
              <a:spcAft>
                <a:spcPts val="0"/>
              </a:spcAft>
              <a:buClr>
                <a:srgbClr val="C00000"/>
              </a:buClr>
              <a:buSzPts val="1800"/>
              <a:buFont typeface="Arial"/>
              <a:buNone/>
            </a:pPr>
            <a:r>
              <a:rPr b="0" i="0" lang="en-IN" sz="2000" u="none" cap="none" strike="noStrike">
                <a:solidFill>
                  <a:srgbClr val="C00000"/>
                </a:solidFill>
                <a:latin typeface="Times New Roman"/>
                <a:ea typeface="Times New Roman"/>
                <a:cs typeface="Times New Roman"/>
                <a:sym typeface="Times New Roman"/>
              </a:rPr>
              <a:t>Members:   Hrisheekesh P M</a:t>
            </a:r>
            <a:endParaRPr/>
          </a:p>
          <a:p>
            <a:pPr indent="0" lvl="0" marL="114300" marR="0" rtl="0" algn="l">
              <a:lnSpc>
                <a:spcPct val="90000"/>
              </a:lnSpc>
              <a:spcBef>
                <a:spcPts val="1000"/>
              </a:spcBef>
              <a:spcAft>
                <a:spcPts val="0"/>
              </a:spcAft>
              <a:buClr>
                <a:srgbClr val="C00000"/>
              </a:buClr>
              <a:buSzPts val="1800"/>
              <a:buFont typeface="Arial"/>
              <a:buNone/>
            </a:pPr>
            <a:r>
              <a:rPr b="0" i="0" lang="en-IN" sz="2000" u="none" cap="none" strike="noStrike">
                <a:solidFill>
                  <a:srgbClr val="C00000"/>
                </a:solidFill>
                <a:latin typeface="Times New Roman"/>
                <a:ea typeface="Times New Roman"/>
                <a:cs typeface="Times New Roman"/>
                <a:sym typeface="Times New Roman"/>
              </a:rPr>
              <a:t>                   Hareesh P Das </a:t>
            </a:r>
            <a:br>
              <a:rPr b="0" i="0" lang="en-IN" sz="2000" u="none" cap="none" strike="noStrike">
                <a:solidFill>
                  <a:srgbClr val="C00000"/>
                </a:solidFill>
                <a:latin typeface="Times New Roman"/>
                <a:ea typeface="Times New Roman"/>
                <a:cs typeface="Times New Roman"/>
                <a:sym typeface="Times New Roman"/>
              </a:rPr>
            </a:br>
            <a:r>
              <a:rPr b="0" i="0" lang="en-IN" sz="2000" u="none" cap="none" strike="noStrike">
                <a:solidFill>
                  <a:srgbClr val="C00000"/>
                </a:solidFill>
                <a:latin typeface="Times New Roman"/>
                <a:ea typeface="Times New Roman"/>
                <a:cs typeface="Times New Roman"/>
                <a:sym typeface="Times New Roman"/>
              </a:rPr>
              <a:t>                   Ebin Baby</a:t>
            </a:r>
            <a:endParaRPr/>
          </a:p>
          <a:p>
            <a:pPr indent="0" lvl="0" marL="114300" marR="0" rtl="0" algn="l">
              <a:lnSpc>
                <a:spcPct val="90000"/>
              </a:lnSpc>
              <a:spcBef>
                <a:spcPts val="1000"/>
              </a:spcBef>
              <a:spcAft>
                <a:spcPts val="0"/>
              </a:spcAft>
              <a:buClr>
                <a:srgbClr val="C00000"/>
              </a:buClr>
              <a:buSzPts val="1800"/>
              <a:buFont typeface="Arial"/>
              <a:buNone/>
            </a:pPr>
            <a:r>
              <a:rPr b="0" i="0" lang="en-IN" sz="2000" u="none" cap="none" strike="noStrike">
                <a:solidFill>
                  <a:srgbClr val="C00000"/>
                </a:solidFill>
                <a:latin typeface="Times New Roman"/>
                <a:ea typeface="Times New Roman"/>
                <a:cs typeface="Times New Roman"/>
                <a:sym typeface="Times New Roman"/>
              </a:rPr>
              <a:t>                   Addison Biju </a:t>
            </a:r>
            <a:endParaRPr/>
          </a:p>
          <a:p>
            <a:pPr indent="0" lvl="0" marL="114300" marR="0" rtl="0" algn="l">
              <a:lnSpc>
                <a:spcPct val="90000"/>
              </a:lnSpc>
              <a:spcBef>
                <a:spcPts val="1000"/>
              </a:spcBef>
              <a:spcAft>
                <a:spcPts val="0"/>
              </a:spcAft>
              <a:buClr>
                <a:srgbClr val="C00000"/>
              </a:buClr>
              <a:buSzPts val="1800"/>
              <a:buFont typeface="Arial"/>
              <a:buNone/>
            </a:pPr>
            <a:r>
              <a:rPr b="0" i="0" lang="en-IN" sz="2000" u="none" cap="none" strike="noStrike">
                <a:solidFill>
                  <a:srgbClr val="C00000"/>
                </a:solidFill>
                <a:latin typeface="Times New Roman"/>
                <a:ea typeface="Times New Roman"/>
                <a:cs typeface="Times New Roman"/>
                <a:sym typeface="Times New Roman"/>
              </a:rPr>
              <a:t>                   Alan C O</a:t>
            </a:r>
            <a:endParaRPr/>
          </a:p>
          <a:p>
            <a:pPr indent="0" lvl="0" marL="114300" marR="0" rtl="0" algn="l">
              <a:lnSpc>
                <a:spcPct val="90000"/>
              </a:lnSpc>
              <a:spcBef>
                <a:spcPts val="1000"/>
              </a:spcBef>
              <a:spcAft>
                <a:spcPts val="0"/>
              </a:spcAft>
              <a:buClr>
                <a:schemeClr val="dk1"/>
              </a:buClr>
              <a:buSzPts val="1800"/>
              <a:buFont typeface="Arial"/>
              <a:buNone/>
            </a:pPr>
            <a:r>
              <a:t/>
            </a:r>
            <a:endParaRPr b="0" i="0" sz="2800" u="none" cap="none" strike="noStrike">
              <a:solidFill>
                <a:srgbClr val="C00000"/>
              </a:solidFill>
              <a:latin typeface="Times New Roman"/>
              <a:ea typeface="Times New Roman"/>
              <a:cs typeface="Times New Roman"/>
              <a:sym typeface="Times New Roman"/>
            </a:endParaRPr>
          </a:p>
        </p:txBody>
      </p:sp>
      <p:sp>
        <p:nvSpPr>
          <p:cNvPr id="100" name="Google Shape;100;p2"/>
          <p:cNvSpPr txBox="1"/>
          <p:nvPr/>
        </p:nvSpPr>
        <p:spPr>
          <a:xfrm>
            <a:off x="8305573" y="4328617"/>
            <a:ext cx="4015500" cy="1323600"/>
          </a:xfrm>
          <a:prstGeom prst="rect">
            <a:avLst/>
          </a:prstGeom>
          <a:noFill/>
          <a:ln>
            <a:noFill/>
          </a:ln>
        </p:spPr>
        <p:txBody>
          <a:bodyPr anchorCtr="0" anchor="t" bIns="0" lIns="0" spcFirstLastPara="1" rIns="0" wrap="square" tIns="0">
            <a:noAutofit/>
          </a:bodyPr>
          <a:lstStyle/>
          <a:p>
            <a:pPr indent="0" lvl="0" marL="114300" marR="0" rtl="0" algn="l">
              <a:lnSpc>
                <a:spcPct val="90000"/>
              </a:lnSpc>
              <a:spcBef>
                <a:spcPts val="1000"/>
              </a:spcBef>
              <a:spcAft>
                <a:spcPts val="0"/>
              </a:spcAft>
              <a:buClr>
                <a:srgbClr val="171616"/>
              </a:buClr>
              <a:buSzPts val="1800"/>
              <a:buFont typeface="Arial"/>
              <a:buNone/>
            </a:pPr>
            <a:r>
              <a:rPr b="1" i="0" lang="en-IN" sz="2800" u="none" cap="none" strike="noStrike">
                <a:solidFill>
                  <a:srgbClr val="171616"/>
                </a:solidFill>
                <a:latin typeface="Times New Roman"/>
                <a:ea typeface="Times New Roman"/>
                <a:cs typeface="Times New Roman"/>
                <a:sym typeface="Times New Roman"/>
              </a:rPr>
              <a:t>Project Coordinator:</a:t>
            </a:r>
            <a:endParaRPr/>
          </a:p>
          <a:p>
            <a:pPr indent="0" lvl="0" marL="114300" marR="0" rtl="0" algn="l">
              <a:lnSpc>
                <a:spcPct val="90000"/>
              </a:lnSpc>
              <a:spcBef>
                <a:spcPts val="1000"/>
              </a:spcBef>
              <a:spcAft>
                <a:spcPts val="0"/>
              </a:spcAft>
              <a:buClr>
                <a:srgbClr val="171616"/>
              </a:buClr>
              <a:buSzPts val="1800"/>
              <a:buFont typeface="Arial"/>
              <a:buNone/>
            </a:pPr>
            <a:r>
              <a:rPr b="0" i="0" lang="en-IN" sz="2800" u="none" cap="none" strike="noStrike">
                <a:solidFill>
                  <a:srgbClr val="171616"/>
                </a:solidFill>
                <a:latin typeface="Times New Roman"/>
                <a:ea typeface="Times New Roman"/>
                <a:cs typeface="Times New Roman"/>
                <a:sym typeface="Times New Roman"/>
              </a:rPr>
              <a:t>Ms.Sagna L T</a:t>
            </a:r>
            <a:endParaRPr/>
          </a:p>
          <a:p>
            <a:pPr indent="0" lvl="0" marL="114300" marR="0" rtl="0" algn="l">
              <a:lnSpc>
                <a:spcPct val="90000"/>
              </a:lnSpc>
              <a:spcBef>
                <a:spcPts val="1000"/>
              </a:spcBef>
              <a:spcAft>
                <a:spcPts val="0"/>
              </a:spcAft>
              <a:buClr>
                <a:srgbClr val="171616"/>
              </a:buClr>
              <a:buSzPts val="1800"/>
              <a:buFont typeface="Arial"/>
              <a:buNone/>
            </a:pPr>
            <a:r>
              <a:rPr b="0" i="0" lang="en-IN" sz="2800" u="none" cap="none" strike="noStrike">
                <a:solidFill>
                  <a:srgbClr val="171616"/>
                </a:solidFill>
                <a:latin typeface="Times New Roman"/>
                <a:ea typeface="Times New Roman"/>
                <a:cs typeface="Times New Roman"/>
                <a:sym typeface="Times New Roman"/>
              </a:rPr>
              <a:t>Asst. Prof. CSE(CY)</a:t>
            </a:r>
            <a:endParaRPr/>
          </a:p>
          <a:p>
            <a:pPr indent="0" lvl="0" marL="114300" marR="0" rtl="0" algn="l">
              <a:lnSpc>
                <a:spcPct val="90000"/>
              </a:lnSpc>
              <a:spcBef>
                <a:spcPts val="1000"/>
              </a:spcBef>
              <a:spcAft>
                <a:spcPts val="0"/>
              </a:spcAft>
              <a:buClr>
                <a:schemeClr val="dk1"/>
              </a:buClr>
              <a:buSzPts val="1800"/>
              <a:buFont typeface="Arial"/>
              <a:buNone/>
            </a:pPr>
            <a:r>
              <a:t/>
            </a:r>
            <a:endParaRPr b="0" i="0" sz="2800" u="none" cap="none" strike="noStrike">
              <a:solidFill>
                <a:srgbClr val="171616"/>
              </a:solidFill>
              <a:latin typeface="Calibri"/>
              <a:ea typeface="Calibri"/>
              <a:cs typeface="Calibri"/>
              <a:sym typeface="Calibri"/>
            </a:endParaRPr>
          </a:p>
        </p:txBody>
      </p:sp>
      <p:sp>
        <p:nvSpPr>
          <p:cNvPr id="101" name="Google Shape;101;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3" name="Google Shape;10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3"/>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09" name="Google Shape;109;p3"/>
          <p:cNvSpPr txBox="1"/>
          <p:nvPr/>
        </p:nvSpPr>
        <p:spPr>
          <a:xfrm>
            <a:off x="785806" y="1990845"/>
            <a:ext cx="11033220" cy="4693534"/>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1000"/>
              </a:spcBef>
              <a:spcAft>
                <a:spcPts val="0"/>
              </a:spcAft>
              <a:buClr>
                <a:schemeClr val="dk1"/>
              </a:buClr>
              <a:buSzPts val="2800"/>
              <a:buFont typeface="Arial"/>
              <a:buNone/>
            </a:pPr>
            <a:r>
              <a:rPr b="1" i="0" lang="en-IN" sz="2800" u="none" cap="none" strike="noStrike">
                <a:solidFill>
                  <a:schemeClr val="dk1"/>
                </a:solidFill>
                <a:latin typeface="Times New Roman"/>
                <a:ea typeface="Times New Roman"/>
                <a:cs typeface="Times New Roman"/>
                <a:sym typeface="Times New Roman"/>
              </a:rPr>
              <a:t>DEPARTMENT OF COMPUTER SCIENCE &amp; ENGINEERING </a:t>
            </a:r>
            <a:endParaRPr/>
          </a:p>
          <a:p>
            <a:pPr indent="0" lvl="0" marL="0" marR="0" rtl="0" algn="ctr">
              <a:lnSpc>
                <a:spcPct val="90000"/>
              </a:lnSpc>
              <a:spcBef>
                <a:spcPts val="1000"/>
              </a:spcBef>
              <a:spcAft>
                <a:spcPts val="0"/>
              </a:spcAft>
              <a:buClr>
                <a:schemeClr val="dk1"/>
              </a:buClr>
              <a:buSzPts val="2800"/>
              <a:buFont typeface="Arial"/>
              <a:buNone/>
            </a:pPr>
            <a:r>
              <a:rPr b="1" i="0" lang="en-IN" sz="2800" u="none" cap="none" strike="noStrike">
                <a:solidFill>
                  <a:schemeClr val="dk1"/>
                </a:solidFill>
                <a:latin typeface="Times New Roman"/>
                <a:ea typeface="Times New Roman"/>
                <a:cs typeface="Times New Roman"/>
                <a:sym typeface="Times New Roman"/>
              </a:rPr>
              <a:t>(Cyber Security)</a:t>
            </a:r>
            <a:endParaRPr/>
          </a:p>
          <a:p>
            <a:pPr indent="0" lvl="0" marL="0" marR="0" rtl="0" algn="ctr">
              <a:lnSpc>
                <a:spcPct val="90000"/>
              </a:lnSpc>
              <a:spcBef>
                <a:spcPts val="1000"/>
              </a:spcBef>
              <a:spcAft>
                <a:spcPts val="0"/>
              </a:spcAft>
              <a:buClr>
                <a:schemeClr val="dk1"/>
              </a:buClr>
              <a:buSzPts val="2800"/>
              <a:buFont typeface="Arial"/>
              <a:buNone/>
            </a:pPr>
            <a:r>
              <a:rPr b="1" i="0" lang="en-IN" sz="2800" u="none" cap="none" strike="noStrike">
                <a:solidFill>
                  <a:schemeClr val="dk1"/>
                </a:solidFill>
                <a:latin typeface="Calibri"/>
                <a:ea typeface="Calibri"/>
                <a:cs typeface="Calibri"/>
                <a:sym typeface="Calibri"/>
              </a:rPr>
              <a:t> </a:t>
            </a:r>
            <a:r>
              <a:rPr b="1" i="0" lang="en-IN" sz="2100" u="none" cap="none" strike="noStrike">
                <a:solidFill>
                  <a:schemeClr val="dk1"/>
                </a:solidFill>
                <a:latin typeface="Times New Roman"/>
                <a:ea typeface="Times New Roman"/>
                <a:cs typeface="Times New Roman"/>
                <a:sym typeface="Times New Roman"/>
              </a:rPr>
              <a:t>Vision of the Department</a:t>
            </a:r>
            <a:endParaRPr/>
          </a:p>
          <a:p>
            <a:pPr indent="0" lvl="0" marL="0" marR="0" rtl="0" algn="ctr">
              <a:lnSpc>
                <a:spcPct val="150000"/>
              </a:lnSpc>
              <a:spcBef>
                <a:spcPts val="1000"/>
              </a:spcBef>
              <a:spcAft>
                <a:spcPts val="0"/>
              </a:spcAft>
              <a:buClr>
                <a:srgbClr val="000000"/>
              </a:buClr>
              <a:buSzPts val="2000"/>
              <a:buFont typeface="Arial"/>
              <a:buNone/>
            </a:pPr>
            <a:r>
              <a:rPr b="0" i="0" lang="en-IN" sz="2000" u="none" cap="none" strike="noStrike">
                <a:solidFill>
                  <a:srgbClr val="000000"/>
                </a:solidFill>
                <a:latin typeface="Times New Roman"/>
                <a:ea typeface="Times New Roman"/>
                <a:cs typeface="Times New Roman"/>
                <a:sym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b="0" i="0" sz="2000" u="none" cap="none" strike="noStrike">
              <a:solidFill>
                <a:schemeClr val="dk1"/>
              </a:solidFill>
              <a:latin typeface="Arial"/>
              <a:ea typeface="Arial"/>
              <a:cs typeface="Arial"/>
              <a:sym typeface="Arial"/>
            </a:endParaRPr>
          </a:p>
          <a:p>
            <a:pPr indent="0" lvl="0" marL="0" marR="0" rtl="0" algn="ctr">
              <a:lnSpc>
                <a:spcPct val="90000"/>
              </a:lnSpc>
              <a:spcBef>
                <a:spcPts val="1000"/>
              </a:spcBef>
              <a:spcAft>
                <a:spcPts val="0"/>
              </a:spcAft>
              <a:buClr>
                <a:schemeClr val="dk1"/>
              </a:buClr>
              <a:buSzPts val="2100"/>
              <a:buFont typeface="Arial"/>
              <a:buNone/>
            </a:pPr>
            <a:r>
              <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1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1700"/>
              <a:buFont typeface="Arial"/>
              <a:buNone/>
            </a:pPr>
            <a:r>
              <a:t/>
            </a:r>
            <a:endParaRPr b="0" i="0" sz="17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1100"/>
              <a:buFont typeface="Arial"/>
              <a:buNone/>
            </a:pPr>
            <a:r>
              <a:t/>
            </a:r>
            <a:endParaRPr b="0" i="0" sz="13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600"/>
              <a:buFont typeface="Arial"/>
              <a:buNone/>
            </a:pPr>
            <a:r>
              <a:t/>
            </a:r>
            <a:endParaRPr b="0" i="0" sz="600" u="none" cap="none" strike="noStrike">
              <a:solidFill>
                <a:schemeClr val="dk1"/>
              </a:solidFill>
              <a:latin typeface="Times New Roman"/>
              <a:ea typeface="Times New Roman"/>
              <a:cs typeface="Times New Roman"/>
              <a:sym typeface="Times New Roman"/>
            </a:endParaRPr>
          </a:p>
        </p:txBody>
      </p:sp>
      <p:sp>
        <p:nvSpPr>
          <p:cNvPr id="110" name="Google Shape;11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11" name="Google Shape;11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2" name="Google Shape;11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b="1"/>
          </a:p>
        </p:txBody>
      </p:sp>
      <p:sp>
        <p:nvSpPr>
          <p:cNvPr id="118" name="Google Shape;118;p4"/>
          <p:cNvSpPr txBox="1"/>
          <p:nvPr>
            <p:ph idx="1" type="body"/>
          </p:nvPr>
        </p:nvSpPr>
        <p:spPr>
          <a:xfrm>
            <a:off x="838200" y="2220261"/>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dk1"/>
              </a:buClr>
              <a:buSzPct val="100000"/>
              <a:buFont typeface="Arial"/>
              <a:buNone/>
            </a:pPr>
            <a:r>
              <a:rPr b="1" lang="en-IN">
                <a:latin typeface="Times New Roman"/>
                <a:ea typeface="Times New Roman"/>
                <a:cs typeface="Times New Roman"/>
                <a:sym typeface="Times New Roman"/>
              </a:rPr>
              <a:t>DEPARTMENT OF COMPUTER SCIENCE &amp; ENGINEERING </a:t>
            </a:r>
            <a:endParaRPr/>
          </a:p>
          <a:p>
            <a:pPr indent="0" lvl="0" marL="0" rtl="0" algn="ctr">
              <a:lnSpc>
                <a:spcPct val="90000"/>
              </a:lnSpc>
              <a:spcBef>
                <a:spcPts val="1000"/>
              </a:spcBef>
              <a:spcAft>
                <a:spcPts val="0"/>
              </a:spcAft>
              <a:buClr>
                <a:schemeClr val="dk1"/>
              </a:buClr>
              <a:buSzPct val="100000"/>
              <a:buFont typeface="Arial"/>
              <a:buNone/>
            </a:pPr>
            <a:r>
              <a:rPr b="1" lang="en-IN">
                <a:latin typeface="Times New Roman"/>
                <a:ea typeface="Times New Roman"/>
                <a:cs typeface="Times New Roman"/>
                <a:sym typeface="Times New Roman"/>
              </a:rPr>
              <a:t>(Cyber Security)</a:t>
            </a:r>
            <a:endParaRPr/>
          </a:p>
          <a:p>
            <a:pPr indent="0" lvl="0" marL="0" rtl="0" algn="ctr">
              <a:lnSpc>
                <a:spcPct val="90000"/>
              </a:lnSpc>
              <a:spcBef>
                <a:spcPts val="1000"/>
              </a:spcBef>
              <a:spcAft>
                <a:spcPts val="0"/>
              </a:spcAft>
              <a:buClr>
                <a:schemeClr val="dk1"/>
              </a:buClr>
              <a:buSzPct val="100000"/>
              <a:buNone/>
            </a:pPr>
            <a:r>
              <a:rPr b="1" lang="en-IN"/>
              <a:t> </a:t>
            </a:r>
            <a:r>
              <a:rPr b="1" lang="en-IN" sz="2800">
                <a:latin typeface="Times New Roman"/>
                <a:ea typeface="Times New Roman"/>
                <a:cs typeface="Times New Roman"/>
                <a:sym typeface="Times New Roman"/>
              </a:rPr>
              <a:t>Mission of the Department</a:t>
            </a:r>
            <a:endParaRPr/>
          </a:p>
          <a:p>
            <a:pPr indent="-228600" lvl="0" marL="228600" rtl="0" algn="just">
              <a:lnSpc>
                <a:spcPct val="90000"/>
              </a:lnSpc>
              <a:spcBef>
                <a:spcPts val="1125"/>
              </a:spcBef>
              <a:spcAft>
                <a:spcPts val="0"/>
              </a:spcAft>
              <a:buClr>
                <a:schemeClr val="dk1"/>
              </a:buClr>
              <a:buSzPct val="100000"/>
              <a:buChar char="•"/>
            </a:pPr>
            <a:r>
              <a:rPr b="1" lang="en-IN" sz="1800">
                <a:latin typeface="Times New Roman"/>
                <a:ea typeface="Times New Roman"/>
                <a:cs typeface="Times New Roman"/>
                <a:sym typeface="Times New Roman"/>
              </a:rPr>
              <a:t>M1: Excellence in Education</a:t>
            </a:r>
            <a:r>
              <a:rPr b="1" lang="en-IN" sz="1800">
                <a:latin typeface="Arial"/>
                <a:ea typeface="Arial"/>
                <a:cs typeface="Arial"/>
                <a:sym typeface="Arial"/>
              </a:rPr>
              <a:t> : </a:t>
            </a:r>
            <a:r>
              <a:rPr lang="en-IN" sz="1800">
                <a:solidFill>
                  <a:srgbClr val="000000"/>
                </a:solidFill>
                <a:latin typeface="Times New Roman"/>
                <a:ea typeface="Times New Roman"/>
                <a:cs typeface="Times New Roman"/>
                <a:sym typeface="Times New Roman"/>
              </a:rPr>
              <a:t>To provide outcome-based and industry-oriented education by integrating core computer science principles with advanced cybersecurity technologies and practices.</a:t>
            </a:r>
            <a:endParaRPr sz="1800">
              <a:latin typeface="Arial"/>
              <a:ea typeface="Arial"/>
              <a:cs typeface="Arial"/>
              <a:sym typeface="Arial"/>
            </a:endParaRPr>
          </a:p>
          <a:p>
            <a:pPr indent="-228600" lvl="0" marL="228600" rtl="0" algn="just">
              <a:lnSpc>
                <a:spcPct val="90000"/>
              </a:lnSpc>
              <a:spcBef>
                <a:spcPts val="2250"/>
              </a:spcBef>
              <a:spcAft>
                <a:spcPts val="0"/>
              </a:spcAft>
              <a:buClr>
                <a:schemeClr val="dk1"/>
              </a:buClr>
              <a:buSzPct val="100000"/>
              <a:buChar char="•"/>
            </a:pPr>
            <a:r>
              <a:rPr b="1" lang="en-IN" sz="1800">
                <a:latin typeface="Times New Roman"/>
                <a:ea typeface="Times New Roman"/>
                <a:cs typeface="Times New Roman"/>
                <a:sym typeface="Times New Roman"/>
              </a:rPr>
              <a:t>M2: Ethics and Professional Responsibility : </a:t>
            </a:r>
            <a:r>
              <a:rPr lang="en-IN" sz="1800">
                <a:solidFill>
                  <a:srgbClr val="000000"/>
                </a:solidFill>
                <a:latin typeface="Times New Roman"/>
                <a:ea typeface="Times New Roman"/>
                <a:cs typeface="Times New Roman"/>
                <a:sym typeface="Times New Roman"/>
              </a:rPr>
              <a:t>To cultivate ethical values, integrity, social responsibility, and secure computing practices for protecting digital assets and strengthening cyber trust.</a:t>
            </a:r>
            <a:endParaRPr sz="1800">
              <a:latin typeface="Arial"/>
              <a:ea typeface="Arial"/>
              <a:cs typeface="Arial"/>
              <a:sym typeface="Arial"/>
            </a:endParaRPr>
          </a:p>
          <a:p>
            <a:pPr indent="-228600" lvl="0" marL="228600" rtl="0" algn="just">
              <a:lnSpc>
                <a:spcPct val="90000"/>
              </a:lnSpc>
              <a:spcBef>
                <a:spcPts val="2250"/>
              </a:spcBef>
              <a:spcAft>
                <a:spcPts val="0"/>
              </a:spcAft>
              <a:buClr>
                <a:schemeClr val="dk1"/>
              </a:buClr>
              <a:buSzPct val="100000"/>
              <a:buChar char="•"/>
            </a:pPr>
            <a:r>
              <a:rPr b="1" lang="en-IN" sz="1800">
                <a:latin typeface="Times New Roman"/>
                <a:ea typeface="Times New Roman"/>
                <a:cs typeface="Times New Roman"/>
                <a:sym typeface="Times New Roman"/>
              </a:rPr>
              <a:t>M3: Research, Innovation, and Entrepreneurship : </a:t>
            </a:r>
            <a:r>
              <a:rPr lang="en-IN" sz="1800">
                <a:solidFill>
                  <a:srgbClr val="000000"/>
                </a:solidFill>
                <a:latin typeface="Times New Roman"/>
                <a:ea typeface="Times New Roman"/>
                <a:cs typeface="Times New Roman"/>
                <a:sym typeface="Times New Roman"/>
              </a:rPr>
              <a:t>To promote research, innovation, and entrepreneurial thinking for developing sustainable solutions to emerging cybersecurity challenges.</a:t>
            </a:r>
            <a:endParaRPr sz="1800">
              <a:latin typeface="Arial"/>
              <a:ea typeface="Arial"/>
              <a:cs typeface="Arial"/>
              <a:sym typeface="Arial"/>
            </a:endParaRPr>
          </a:p>
          <a:p>
            <a:pPr indent="-228600" lvl="0" marL="228600" rtl="0" algn="just">
              <a:lnSpc>
                <a:spcPct val="90000"/>
              </a:lnSpc>
              <a:spcBef>
                <a:spcPts val="2325"/>
              </a:spcBef>
              <a:spcAft>
                <a:spcPts val="0"/>
              </a:spcAft>
              <a:buClr>
                <a:schemeClr val="dk1"/>
              </a:buClr>
              <a:buSzPct val="100000"/>
              <a:buChar char="•"/>
            </a:pPr>
            <a:r>
              <a:rPr b="1" lang="en-IN" sz="1800">
                <a:latin typeface="Times New Roman"/>
                <a:ea typeface="Times New Roman"/>
                <a:cs typeface="Times New Roman"/>
                <a:sym typeface="Times New Roman"/>
              </a:rPr>
              <a:t>M4: Holistic and Global Development : </a:t>
            </a:r>
            <a:r>
              <a:rPr lang="en-IN" sz="1800">
                <a:solidFill>
                  <a:srgbClr val="000000"/>
                </a:solidFill>
                <a:latin typeface="Times New Roman"/>
                <a:ea typeface="Times New Roman"/>
                <a:cs typeface="Times New Roman"/>
                <a:sym typeface="Times New Roman"/>
              </a:rPr>
              <a:t>To enhance leadership, teamwork, lifelong learning, and global competence through industry collaboration, interdisciplinary activities, and community engagement.</a:t>
            </a:r>
            <a:endParaRPr b="1">
              <a:latin typeface="Times New Roman"/>
              <a:ea typeface="Times New Roman"/>
              <a:cs typeface="Times New Roman"/>
              <a:sym typeface="Times New Roman"/>
            </a:endParaRPr>
          </a:p>
          <a:p>
            <a:pPr indent="0" lvl="0" marL="0" rtl="0" algn="ctr">
              <a:lnSpc>
                <a:spcPct val="90000"/>
              </a:lnSpc>
              <a:spcBef>
                <a:spcPts val="2200"/>
              </a:spcBef>
              <a:spcAft>
                <a:spcPts val="0"/>
              </a:spcAft>
              <a:buClr>
                <a:schemeClr val="dk1"/>
              </a:buClr>
              <a:buSzPct val="100000"/>
              <a:buFont typeface="Arial"/>
              <a:buNone/>
            </a:pPr>
            <a:r>
              <a:t/>
            </a:r>
            <a:endParaRPr b="1">
              <a:latin typeface="Times New Roman"/>
              <a:ea typeface="Times New Roman"/>
              <a:cs typeface="Times New Roman"/>
              <a:sym typeface="Times New Roman"/>
            </a:endParaRPr>
          </a:p>
        </p:txBody>
      </p:sp>
      <p:pic>
        <p:nvPicPr>
          <p:cNvPr id="119" name="Google Shape;119;p4"/>
          <p:cNvPicPr preferRelativeResize="0"/>
          <p:nvPr/>
        </p:nvPicPr>
        <p:blipFill rotWithShape="1">
          <a:blip r:embed="rId3">
            <a:alphaModFix/>
          </a:blip>
          <a:srcRect b="0" l="0" r="0" t="0"/>
          <a:stretch/>
        </p:blipFill>
        <p:spPr>
          <a:xfrm>
            <a:off x="1045487" y="365125"/>
            <a:ext cx="10579260" cy="1747701"/>
          </a:xfrm>
          <a:prstGeom prst="rect">
            <a:avLst/>
          </a:prstGeom>
          <a:noFill/>
          <a:ln>
            <a:noFill/>
          </a:ln>
        </p:spPr>
      </p:pic>
      <p:sp>
        <p:nvSpPr>
          <p:cNvPr id="120" name="Google Shape;12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21" name="Google Shape;12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2" name="Google Shape;12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5"/>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28" name="Google Shape;128;p5"/>
          <p:cNvSpPr txBox="1"/>
          <p:nvPr/>
        </p:nvSpPr>
        <p:spPr>
          <a:xfrm>
            <a:off x="575840" y="2268638"/>
            <a:ext cx="11210081" cy="4010699"/>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1000"/>
              </a:spcBef>
              <a:spcAft>
                <a:spcPts val="0"/>
              </a:spcAft>
              <a:buClr>
                <a:schemeClr val="dk1"/>
              </a:buClr>
              <a:buSzPts val="1100"/>
              <a:buFont typeface="Arial"/>
              <a:buNone/>
            </a:pPr>
            <a:r>
              <a:rPr b="1" i="0" lang="en-IN" sz="2800" u="sng" cap="none" strike="noStrike">
                <a:solidFill>
                  <a:schemeClr val="dk1"/>
                </a:solidFill>
                <a:latin typeface="Times New Roman"/>
                <a:ea typeface="Times New Roman"/>
                <a:cs typeface="Times New Roman"/>
                <a:sym typeface="Times New Roman"/>
              </a:rPr>
              <a:t>Programme Educational Objectives (PEOs)</a:t>
            </a:r>
            <a:endParaRPr/>
          </a:p>
          <a:p>
            <a:pPr indent="-228600" lvl="0" marL="228600" marR="0" rtl="0" algn="l">
              <a:lnSpc>
                <a:spcPct val="90000"/>
              </a:lnSpc>
              <a:spcBef>
                <a:spcPts val="1200"/>
              </a:spcBef>
              <a:spcAft>
                <a:spcPts val="0"/>
              </a:spcAft>
              <a:buClr>
                <a:schemeClr val="dk1"/>
              </a:buClr>
              <a:buSzPts val="1800"/>
              <a:buFont typeface="Arial"/>
              <a:buChar char="•"/>
            </a:pPr>
            <a:r>
              <a:rPr b="1" i="0" lang="en-IN" sz="1800" u="none" cap="none" strike="noStrike">
                <a:solidFill>
                  <a:schemeClr val="dk1"/>
                </a:solidFill>
                <a:latin typeface="Times New Roman"/>
                <a:ea typeface="Times New Roman"/>
                <a:cs typeface="Times New Roman"/>
                <a:sym typeface="Times New Roman"/>
              </a:rPr>
              <a:t>PEO 1:</a:t>
            </a:r>
            <a:r>
              <a:rPr b="1" i="0" lang="en-IN" sz="1800" u="none" cap="none" strike="noStrike">
                <a:solidFill>
                  <a:schemeClr val="dk1"/>
                </a:solidFill>
                <a:latin typeface="Arial"/>
                <a:ea typeface="Arial"/>
                <a:cs typeface="Arial"/>
                <a:sym typeface="Arial"/>
              </a:rPr>
              <a:t> </a:t>
            </a:r>
            <a:r>
              <a:rPr b="0" i="0" lang="en-IN" sz="1800" u="none" cap="none" strike="noStrike">
                <a:solidFill>
                  <a:srgbClr val="000000"/>
                </a:solidFill>
                <a:latin typeface="Times New Roman"/>
                <a:ea typeface="Times New Roman"/>
                <a:cs typeface="Times New Roman"/>
                <a:sym typeface="Times New Roman"/>
              </a:rPr>
              <a:t>Graduates will apply strong foundations in computer science and cybersecurity to design, develop, and manage secure and reliable computing systems for industry and society.</a:t>
            </a:r>
            <a:endParaRPr b="0" i="0" sz="1800" u="none" cap="none" strike="noStrike">
              <a:solidFill>
                <a:schemeClr val="dk1"/>
              </a:solidFill>
              <a:latin typeface="Arial"/>
              <a:ea typeface="Arial"/>
              <a:cs typeface="Arial"/>
              <a:sym typeface="Arial"/>
            </a:endParaRPr>
          </a:p>
          <a:p>
            <a:pPr indent="-228600" lvl="0" marL="228600" marR="0" rtl="0" algn="l">
              <a:lnSpc>
                <a:spcPct val="90000"/>
              </a:lnSpc>
              <a:spcBef>
                <a:spcPts val="2400"/>
              </a:spcBef>
              <a:spcAft>
                <a:spcPts val="0"/>
              </a:spcAft>
              <a:buClr>
                <a:schemeClr val="dk1"/>
              </a:buClr>
              <a:buSzPts val="1800"/>
              <a:buFont typeface="Arial"/>
              <a:buChar char="•"/>
            </a:pPr>
            <a:r>
              <a:rPr b="1" i="0" lang="en-IN" sz="1800" u="none" cap="none" strike="noStrike">
                <a:solidFill>
                  <a:schemeClr val="dk1"/>
                </a:solidFill>
                <a:latin typeface="Times New Roman"/>
                <a:ea typeface="Times New Roman"/>
                <a:cs typeface="Times New Roman"/>
                <a:sym typeface="Times New Roman"/>
              </a:rPr>
              <a:t>PEO 2:</a:t>
            </a:r>
            <a:r>
              <a:rPr b="1" i="0" lang="en-IN" sz="1800" u="none" cap="none" strike="noStrike">
                <a:solidFill>
                  <a:schemeClr val="dk1"/>
                </a:solidFill>
                <a:latin typeface="Arial"/>
                <a:ea typeface="Arial"/>
                <a:cs typeface="Arial"/>
                <a:sym typeface="Arial"/>
              </a:rPr>
              <a:t> </a:t>
            </a:r>
            <a:r>
              <a:rPr b="0" i="0" lang="en-IN" sz="1800" u="none" cap="none" strike="noStrike">
                <a:solidFill>
                  <a:schemeClr val="dk1"/>
                </a:solidFill>
                <a:latin typeface="Times New Roman"/>
                <a:ea typeface="Times New Roman"/>
                <a:cs typeface="Times New Roman"/>
                <a:sym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b="0" i="0" sz="1800" u="none" cap="none" strike="noStrike">
              <a:solidFill>
                <a:schemeClr val="dk1"/>
              </a:solidFill>
              <a:latin typeface="Arial"/>
              <a:ea typeface="Arial"/>
              <a:cs typeface="Arial"/>
              <a:sym typeface="Arial"/>
            </a:endParaRPr>
          </a:p>
          <a:p>
            <a:pPr indent="-228600" lvl="0" marL="228600" marR="0" rtl="0" algn="l">
              <a:lnSpc>
                <a:spcPct val="90000"/>
              </a:lnSpc>
              <a:spcBef>
                <a:spcPts val="2400"/>
              </a:spcBef>
              <a:spcAft>
                <a:spcPts val="0"/>
              </a:spcAft>
              <a:buClr>
                <a:schemeClr val="dk1"/>
              </a:buClr>
              <a:buSzPts val="1800"/>
              <a:buFont typeface="Arial"/>
              <a:buChar char="•"/>
            </a:pPr>
            <a:r>
              <a:rPr b="1" i="0" lang="en-IN" sz="1800" u="none" cap="none" strike="noStrike">
                <a:solidFill>
                  <a:schemeClr val="dk1"/>
                </a:solidFill>
                <a:latin typeface="Times New Roman"/>
                <a:ea typeface="Times New Roman"/>
                <a:cs typeface="Times New Roman"/>
                <a:sym typeface="Times New Roman"/>
              </a:rPr>
              <a:t>PEO 3:</a:t>
            </a:r>
            <a:r>
              <a:rPr b="1" i="0" lang="en-IN" sz="1800" u="none" cap="none" strike="noStrike">
                <a:solidFill>
                  <a:schemeClr val="dk1"/>
                </a:solidFill>
                <a:latin typeface="Arial"/>
                <a:ea typeface="Arial"/>
                <a:cs typeface="Arial"/>
                <a:sym typeface="Arial"/>
              </a:rPr>
              <a:t> </a:t>
            </a:r>
            <a:r>
              <a:rPr b="0" i="0" lang="en-IN" sz="1800" u="none" cap="none" strike="noStrike">
                <a:solidFill>
                  <a:srgbClr val="000000"/>
                </a:solidFill>
                <a:latin typeface="Times New Roman"/>
                <a:ea typeface="Times New Roman"/>
                <a:cs typeface="Times New Roman"/>
                <a:sym typeface="Times New Roman"/>
              </a:rPr>
              <a:t>Graduates will demonstrate ethical responsibility, leadership, teamwork, and effective communication while adapting to evolving global technological environments through lifelong learning.</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22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29" name="Google Shape;1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30" name="Google Shape;13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1" name="Google Shape;1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6"/>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37" name="Google Shape;137;p6"/>
          <p:cNvSpPr txBox="1"/>
          <p:nvPr/>
        </p:nvSpPr>
        <p:spPr>
          <a:xfrm>
            <a:off x="393538" y="1990844"/>
            <a:ext cx="11250593" cy="4641449"/>
          </a:xfrm>
          <a:prstGeom prst="rect">
            <a:avLst/>
          </a:prstGeom>
          <a:noFill/>
          <a:ln>
            <a:noFill/>
          </a:ln>
        </p:spPr>
        <p:txBody>
          <a:bodyPr anchorCtr="0" anchor="t" bIns="0" lIns="0" spcFirstLastPara="1" rIns="0" wrap="square" tIns="0">
            <a:noAutofit/>
          </a:bodyPr>
          <a:lstStyle/>
          <a:p>
            <a:pPr indent="0" lvl="0" marL="0" marR="0" rtl="0" algn="ctr">
              <a:lnSpc>
                <a:spcPct val="114999"/>
              </a:lnSpc>
              <a:spcBef>
                <a:spcPts val="0"/>
              </a:spcBef>
              <a:spcAft>
                <a:spcPts val="0"/>
              </a:spcAft>
              <a:buClr>
                <a:schemeClr val="dk1"/>
              </a:buClr>
              <a:buSzPts val="1100"/>
              <a:buFont typeface="Arial"/>
              <a:buNone/>
            </a:pPr>
            <a:r>
              <a:rPr b="1" i="0" lang="en-IN" sz="2800" u="sng" cap="none" strike="noStrike">
                <a:solidFill>
                  <a:schemeClr val="dk1"/>
                </a:solidFill>
                <a:latin typeface="Times New Roman"/>
                <a:ea typeface="Times New Roman"/>
                <a:cs typeface="Times New Roman"/>
                <a:sym typeface="Times New Roman"/>
              </a:rPr>
              <a:t>Programme Outcomes</a:t>
            </a:r>
            <a:endParaRPr b="0" i="0" sz="2800" u="sng" cap="none" strike="noStrike">
              <a:solidFill>
                <a:schemeClr val="dk1"/>
              </a:solidFill>
              <a:latin typeface="Times New Roman"/>
              <a:ea typeface="Times New Roman"/>
              <a:cs typeface="Times New Roman"/>
              <a:sym typeface="Times New Roman"/>
            </a:endParaRPr>
          </a:p>
          <a:p>
            <a:pPr indent="0" lvl="0" marL="0" marR="0" rtl="0" algn="l">
              <a:lnSpc>
                <a:spcPct val="114999"/>
              </a:lnSpc>
              <a:spcBef>
                <a:spcPts val="0"/>
              </a:spcBef>
              <a:spcAft>
                <a:spcPts val="0"/>
              </a:spcAft>
              <a:buClr>
                <a:schemeClr val="dk1"/>
              </a:buClr>
              <a:buSzPts val="1400"/>
              <a:buFont typeface="Arial"/>
              <a:buNone/>
            </a:pPr>
            <a:r>
              <a:rPr b="0" i="0" lang="en-IN" sz="1400" u="none" cap="none" strike="noStrike">
                <a:solidFill>
                  <a:schemeClr val="dk1"/>
                </a:solidFill>
                <a:latin typeface="Times New Roman"/>
                <a:ea typeface="Times New Roman"/>
                <a:cs typeface="Times New Roman"/>
                <a:sym typeface="Times New Roman"/>
              </a:rPr>
              <a:t>    Engineering Graduates will be able to:</a:t>
            </a:r>
            <a:endParaRPr/>
          </a:p>
          <a:p>
            <a:pPr indent="0" lvl="0" marL="457200" marR="274320" rtl="0" algn="just">
              <a:lnSpc>
                <a:spcPct val="114999"/>
              </a:lnSpc>
              <a:spcBef>
                <a:spcPts val="0"/>
              </a:spcBef>
              <a:spcAft>
                <a:spcPts val="0"/>
              </a:spcAft>
              <a:buClr>
                <a:schemeClr val="dk1"/>
              </a:buClr>
              <a:buSzPts val="1100"/>
              <a:buFont typeface="Arial"/>
              <a:buNone/>
            </a:pPr>
            <a:r>
              <a:rPr b="0" i="0" lang="en-IN" sz="1500" u="none" cap="none" strike="noStrike">
                <a:solidFill>
                  <a:schemeClr val="dk1"/>
                </a:solidFill>
                <a:latin typeface="Times New Roman"/>
                <a:ea typeface="Times New Roman"/>
                <a:cs typeface="Times New Roman"/>
                <a:sym typeface="Times New Roman"/>
              </a:rPr>
              <a:t>1. </a:t>
            </a:r>
            <a:r>
              <a:rPr b="1" i="0" lang="en-IN" sz="1500" u="none" cap="none" strike="noStrike">
                <a:solidFill>
                  <a:schemeClr val="dk1"/>
                </a:solidFill>
                <a:latin typeface="Times New Roman"/>
                <a:ea typeface="Times New Roman"/>
                <a:cs typeface="Times New Roman"/>
                <a:sym typeface="Times New Roman"/>
              </a:rPr>
              <a:t>Engineering knowledge:</a:t>
            </a:r>
            <a:r>
              <a:rPr b="0" i="0" lang="en-IN" sz="1500" u="none" cap="none" strike="noStrike">
                <a:solidFill>
                  <a:schemeClr val="dk1"/>
                </a:solidFill>
                <a:latin typeface="Times New Roman"/>
                <a:ea typeface="Times New Roman"/>
                <a:cs typeface="Times New Roman"/>
                <a:sym typeface="Times New Roman"/>
              </a:rPr>
              <a:t> Apply the knowledge of mathematics, science, engineering fundamentals, and an engineering specialization to the solution of complex engineering problems.</a:t>
            </a:r>
            <a:endParaRPr/>
          </a:p>
          <a:p>
            <a:pPr indent="0" lvl="0" marL="457200" marR="274320" rtl="0" algn="just">
              <a:lnSpc>
                <a:spcPct val="114999"/>
              </a:lnSpc>
              <a:spcBef>
                <a:spcPts val="0"/>
              </a:spcBef>
              <a:spcAft>
                <a:spcPts val="0"/>
              </a:spcAft>
              <a:buClr>
                <a:schemeClr val="dk1"/>
              </a:buClr>
              <a:buSzPts val="1100"/>
              <a:buFont typeface="Arial"/>
              <a:buNone/>
            </a:pPr>
            <a:br>
              <a:rPr b="0" i="0" lang="en-IN" sz="1500" u="none" cap="none" strike="noStrike">
                <a:solidFill>
                  <a:schemeClr val="dk1"/>
                </a:solidFill>
                <a:latin typeface="Times New Roman"/>
                <a:ea typeface="Times New Roman"/>
                <a:cs typeface="Times New Roman"/>
                <a:sym typeface="Times New Roman"/>
              </a:rPr>
            </a:br>
            <a:r>
              <a:rPr b="0" i="0" lang="en-IN" sz="1500" u="none" cap="none" strike="noStrike">
                <a:solidFill>
                  <a:schemeClr val="dk1"/>
                </a:solidFill>
                <a:latin typeface="Times New Roman"/>
                <a:ea typeface="Times New Roman"/>
                <a:cs typeface="Times New Roman"/>
                <a:sym typeface="Times New Roman"/>
              </a:rPr>
              <a:t>2. </a:t>
            </a:r>
            <a:r>
              <a:rPr b="1" i="0" lang="en-IN" sz="1500" u="none" cap="none" strike="noStrike">
                <a:solidFill>
                  <a:schemeClr val="dk1"/>
                </a:solidFill>
                <a:latin typeface="Times New Roman"/>
                <a:ea typeface="Times New Roman"/>
                <a:cs typeface="Times New Roman"/>
                <a:sym typeface="Times New Roman"/>
              </a:rPr>
              <a:t>Problem analysis:</a:t>
            </a:r>
            <a:r>
              <a:rPr b="0" i="0" lang="en-IN" sz="1500" u="none" cap="none" strike="noStrike">
                <a:solidFill>
                  <a:schemeClr val="dk1"/>
                </a:solidFill>
                <a:latin typeface="Times New Roman"/>
                <a:ea typeface="Times New Roman"/>
                <a:cs typeface="Times New Roman"/>
                <a:sym typeface="Times New Roman"/>
              </a:rPr>
              <a:t> Identify, formulate, review research literature, and analyze complex engineering problems reaching substantiated conclusions using first principles of mathematics, natural sciences, and engineering sciences.</a:t>
            </a:r>
            <a:endParaRPr/>
          </a:p>
          <a:p>
            <a:pPr indent="0" lvl="0" marL="457200" marR="274320" rtl="0" algn="just">
              <a:lnSpc>
                <a:spcPct val="114999"/>
              </a:lnSpc>
              <a:spcBef>
                <a:spcPts val="0"/>
              </a:spcBef>
              <a:spcAft>
                <a:spcPts val="0"/>
              </a:spcAft>
              <a:buClr>
                <a:schemeClr val="dk1"/>
              </a:buClr>
              <a:buSzPts val="1100"/>
              <a:buFont typeface="Arial"/>
              <a:buNone/>
            </a:pPr>
            <a:br>
              <a:rPr b="0" i="0" lang="en-IN" sz="1500" u="none" cap="none" strike="noStrike">
                <a:solidFill>
                  <a:schemeClr val="dk1"/>
                </a:solidFill>
                <a:latin typeface="Times New Roman"/>
                <a:ea typeface="Times New Roman"/>
                <a:cs typeface="Times New Roman"/>
                <a:sym typeface="Times New Roman"/>
              </a:rPr>
            </a:br>
            <a:r>
              <a:rPr b="0" i="0" lang="en-IN" sz="1500" u="none" cap="none" strike="noStrike">
                <a:solidFill>
                  <a:schemeClr val="dk1"/>
                </a:solidFill>
                <a:latin typeface="Times New Roman"/>
                <a:ea typeface="Times New Roman"/>
                <a:cs typeface="Times New Roman"/>
                <a:sym typeface="Times New Roman"/>
              </a:rPr>
              <a:t>3. </a:t>
            </a:r>
            <a:r>
              <a:rPr b="1" i="0" lang="en-IN" sz="1500" u="none" cap="none" strike="noStrike">
                <a:solidFill>
                  <a:schemeClr val="dk1"/>
                </a:solidFill>
                <a:latin typeface="Times New Roman"/>
                <a:ea typeface="Times New Roman"/>
                <a:cs typeface="Times New Roman"/>
                <a:sym typeface="Times New Roman"/>
              </a:rPr>
              <a:t>Design/development of solutions:</a:t>
            </a:r>
            <a:r>
              <a:rPr b="0" i="0" lang="en-IN" sz="1500" u="none" cap="none" strike="noStrike">
                <a:solidFill>
                  <a:schemeClr val="dk1"/>
                </a:solidFill>
                <a:latin typeface="Times New Roman"/>
                <a:ea typeface="Times New Roman"/>
                <a:cs typeface="Times New Roman"/>
                <a:sym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a:p>
          <a:p>
            <a:pPr indent="0" lvl="0" marL="457200" marR="274320" rtl="0" algn="just">
              <a:lnSpc>
                <a:spcPct val="114999"/>
              </a:lnSpc>
              <a:spcBef>
                <a:spcPts val="0"/>
              </a:spcBef>
              <a:spcAft>
                <a:spcPts val="0"/>
              </a:spcAft>
              <a:buClr>
                <a:schemeClr val="dk1"/>
              </a:buClr>
              <a:buSzPts val="1100"/>
              <a:buFont typeface="Arial"/>
              <a:buNone/>
            </a:pPr>
            <a:br>
              <a:rPr b="0" i="0" lang="en-IN" sz="1500" u="none" cap="none" strike="noStrike">
                <a:solidFill>
                  <a:schemeClr val="dk1"/>
                </a:solidFill>
                <a:latin typeface="Times New Roman"/>
                <a:ea typeface="Times New Roman"/>
                <a:cs typeface="Times New Roman"/>
                <a:sym typeface="Times New Roman"/>
              </a:rPr>
            </a:br>
            <a:r>
              <a:rPr b="0" i="0" lang="en-IN" sz="1500" u="none" cap="none" strike="noStrike">
                <a:solidFill>
                  <a:schemeClr val="dk1"/>
                </a:solidFill>
                <a:latin typeface="Times New Roman"/>
                <a:ea typeface="Times New Roman"/>
                <a:cs typeface="Times New Roman"/>
                <a:sym typeface="Times New Roman"/>
              </a:rPr>
              <a:t>4. </a:t>
            </a:r>
            <a:r>
              <a:rPr b="1" i="0" lang="en-IN" sz="1500" u="none" cap="none" strike="noStrike">
                <a:solidFill>
                  <a:schemeClr val="dk1"/>
                </a:solidFill>
                <a:latin typeface="Times New Roman"/>
                <a:ea typeface="Times New Roman"/>
                <a:cs typeface="Times New Roman"/>
                <a:sym typeface="Times New Roman"/>
              </a:rPr>
              <a:t>Conduct investigations of complex problems:</a:t>
            </a:r>
            <a:r>
              <a:rPr b="0" i="0" lang="en-IN" sz="1500" u="none" cap="none" strike="noStrike">
                <a:solidFill>
                  <a:schemeClr val="dk1"/>
                </a:solidFill>
                <a:latin typeface="Times New Roman"/>
                <a:ea typeface="Times New Roman"/>
                <a:cs typeface="Times New Roman"/>
                <a:sym typeface="Times New Roman"/>
              </a:rPr>
              <a:t> Use research-based knowledge and research methods including design of experiments, analysis and interpretation of data, and synthesis of the information to provide valid conclusions.</a:t>
            </a:r>
            <a:endParaRPr/>
          </a:p>
          <a:p>
            <a:pPr indent="0" lvl="0" marL="457200" marR="274320" rtl="0" algn="just">
              <a:lnSpc>
                <a:spcPct val="114999"/>
              </a:lnSpc>
              <a:spcBef>
                <a:spcPts val="0"/>
              </a:spcBef>
              <a:spcAft>
                <a:spcPts val="0"/>
              </a:spcAft>
              <a:buClr>
                <a:schemeClr val="dk1"/>
              </a:buClr>
              <a:buSzPts val="1100"/>
              <a:buFont typeface="Arial"/>
              <a:buNone/>
            </a:pPr>
            <a:r>
              <a:rPr b="0" i="0" lang="en-IN" sz="1500" u="none" cap="none" strike="noStrike">
                <a:solidFill>
                  <a:schemeClr val="dk1"/>
                </a:solidFill>
                <a:latin typeface="Times New Roman"/>
                <a:ea typeface="Times New Roman"/>
                <a:cs typeface="Times New Roman"/>
                <a:sym typeface="Times New Roman"/>
              </a:rPr>
              <a:t>5. </a:t>
            </a:r>
            <a:r>
              <a:rPr b="1" i="0" lang="en-IN" sz="1500" u="none" cap="none" strike="noStrike">
                <a:solidFill>
                  <a:schemeClr val="dk1"/>
                </a:solidFill>
                <a:latin typeface="Times New Roman"/>
                <a:ea typeface="Times New Roman"/>
                <a:cs typeface="Times New Roman"/>
                <a:sym typeface="Times New Roman"/>
              </a:rPr>
              <a:t>Modern tool usage:</a:t>
            </a:r>
            <a:r>
              <a:rPr b="0" i="0" lang="en-IN" sz="1500" u="none" cap="none" strike="noStrike">
                <a:solidFill>
                  <a:schemeClr val="dk1"/>
                </a:solidFill>
                <a:latin typeface="Times New Roman"/>
                <a:ea typeface="Times New Roman"/>
                <a:cs typeface="Times New Roman"/>
                <a:sym typeface="Times New Roman"/>
              </a:rPr>
              <a:t> Create, select, and apply appropriate techniques, resources, and modern engineering and IT tools including prediction and modeling to complex engineering activities with an understanding of the limitations.</a:t>
            </a:r>
            <a:endParaRPr/>
          </a:p>
          <a:p>
            <a:pPr indent="0" lvl="0" marL="0" marR="0" rtl="0" algn="l">
              <a:lnSpc>
                <a:spcPct val="90000"/>
              </a:lnSpc>
              <a:spcBef>
                <a:spcPts val="1000"/>
              </a:spcBef>
              <a:spcAft>
                <a:spcPts val="0"/>
              </a:spcAft>
              <a:buClr>
                <a:schemeClr val="dk1"/>
              </a:buClr>
              <a:buSzPts val="3100"/>
              <a:buFont typeface="Arial"/>
              <a:buNone/>
            </a:pPr>
            <a:r>
              <a:t/>
            </a:r>
            <a:endParaRPr b="0" i="0" sz="3100" u="none" cap="none" strike="noStrike">
              <a:solidFill>
                <a:schemeClr val="dk1"/>
              </a:solidFill>
              <a:latin typeface="Calibri"/>
              <a:ea typeface="Calibri"/>
              <a:cs typeface="Calibri"/>
              <a:sym typeface="Calibri"/>
            </a:endParaRPr>
          </a:p>
        </p:txBody>
      </p:sp>
      <p:sp>
        <p:nvSpPr>
          <p:cNvPr id="138" name="Google Shape;1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39" name="Google Shape;1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0" name="Google Shape;14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7"/>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46" name="Google Shape;146;p7"/>
          <p:cNvSpPr txBox="1"/>
          <p:nvPr/>
        </p:nvSpPr>
        <p:spPr>
          <a:xfrm>
            <a:off x="92596" y="2268638"/>
            <a:ext cx="11910349" cy="4589362"/>
          </a:xfrm>
          <a:prstGeom prst="rect">
            <a:avLst/>
          </a:prstGeom>
          <a:noFill/>
          <a:ln>
            <a:noFill/>
          </a:ln>
        </p:spPr>
        <p:txBody>
          <a:bodyPr anchorCtr="0" anchor="t" bIns="0" lIns="0" spcFirstLastPara="1" rIns="0" wrap="square" tIns="0">
            <a:noAutofit/>
          </a:bodyPr>
          <a:lstStyle/>
          <a:p>
            <a:pPr indent="0" lvl="0" marL="274320" marR="274320" rtl="0" algn="just">
              <a:lnSpc>
                <a:spcPct val="114999"/>
              </a:lnSpc>
              <a:spcBef>
                <a:spcPts val="0"/>
              </a:spcBef>
              <a:spcAft>
                <a:spcPts val="0"/>
              </a:spcAft>
              <a:buClr>
                <a:schemeClr val="dk1"/>
              </a:buClr>
              <a:buSzPts val="1100"/>
              <a:buFont typeface="Arial"/>
              <a:buNone/>
            </a:pPr>
            <a:br>
              <a:rPr b="0" i="0" lang="en-IN" sz="12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6. </a:t>
            </a:r>
            <a:r>
              <a:rPr b="1" i="0" lang="en-IN" sz="1400" u="none" cap="none" strike="noStrike">
                <a:solidFill>
                  <a:schemeClr val="dk1"/>
                </a:solidFill>
                <a:latin typeface="Times New Roman"/>
                <a:ea typeface="Times New Roman"/>
                <a:cs typeface="Times New Roman"/>
                <a:sym typeface="Times New Roman"/>
              </a:rPr>
              <a:t>The engineer and society:</a:t>
            </a:r>
            <a:r>
              <a:rPr b="0" i="0" lang="en-IN" sz="1400" u="none" cap="none" strike="noStrike">
                <a:solidFill>
                  <a:schemeClr val="dk1"/>
                </a:solidFill>
                <a:latin typeface="Times New Roman"/>
                <a:ea typeface="Times New Roman"/>
                <a:cs typeface="Times New Roman"/>
                <a:sym typeface="Times New Roman"/>
              </a:rPr>
              <a:t> Apply reasoning informed by the contextual knowledge to assess societal, health, safety, legal and cultural issues and the consequent responsibilities relevant to the professional engineering practice.</a:t>
            </a:r>
            <a:endParaRPr/>
          </a:p>
          <a:p>
            <a:pPr indent="0" lvl="0" marL="274320" marR="274320" rtl="0" algn="just">
              <a:lnSpc>
                <a:spcPct val="114999"/>
              </a:lnSpc>
              <a:spcBef>
                <a:spcPts val="0"/>
              </a:spcBef>
              <a:spcAft>
                <a:spcPts val="0"/>
              </a:spcAft>
              <a:buClr>
                <a:schemeClr val="dk1"/>
              </a:buClr>
              <a:buSzPts val="1100"/>
              <a:buFont typeface="Arial"/>
              <a:buNone/>
            </a:pP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7. </a:t>
            </a:r>
            <a:r>
              <a:rPr b="1" i="0" lang="en-IN" sz="1400" u="none" cap="none" strike="noStrike">
                <a:solidFill>
                  <a:schemeClr val="dk1"/>
                </a:solidFill>
                <a:latin typeface="Times New Roman"/>
                <a:ea typeface="Times New Roman"/>
                <a:cs typeface="Times New Roman"/>
                <a:sym typeface="Times New Roman"/>
              </a:rPr>
              <a:t>Environment and sustainability:</a:t>
            </a:r>
            <a:r>
              <a:rPr b="0" i="0" lang="en-IN" sz="1400" u="none" cap="none" strike="noStrike">
                <a:solidFill>
                  <a:schemeClr val="dk1"/>
                </a:solidFill>
                <a:latin typeface="Times New Roman"/>
                <a:ea typeface="Times New Roman"/>
                <a:cs typeface="Times New Roman"/>
                <a:sym typeface="Times New Roman"/>
              </a:rPr>
              <a:t> Understand the impact of the professional engineering solutions in societal and environmental contexts, and demonstrate the knowledge of, and need for sustainable development.</a:t>
            </a:r>
            <a:endParaRPr/>
          </a:p>
          <a:p>
            <a:pPr indent="0" lvl="0" marL="274320" marR="274320" rtl="0" algn="just">
              <a:lnSpc>
                <a:spcPct val="114999"/>
              </a:lnSpc>
              <a:spcBef>
                <a:spcPts val="0"/>
              </a:spcBef>
              <a:spcAft>
                <a:spcPts val="0"/>
              </a:spcAft>
              <a:buClr>
                <a:schemeClr val="dk1"/>
              </a:buClr>
              <a:buSzPts val="1100"/>
              <a:buFont typeface="Arial"/>
              <a:buNone/>
            </a:pP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8. </a:t>
            </a:r>
            <a:r>
              <a:rPr b="1" i="0" lang="en-IN" sz="1400" u="none" cap="none" strike="noStrike">
                <a:solidFill>
                  <a:schemeClr val="dk1"/>
                </a:solidFill>
                <a:latin typeface="Times New Roman"/>
                <a:ea typeface="Times New Roman"/>
                <a:cs typeface="Times New Roman"/>
                <a:sym typeface="Times New Roman"/>
              </a:rPr>
              <a:t>Ethics:</a:t>
            </a:r>
            <a:r>
              <a:rPr b="0" i="0" lang="en-IN" sz="1400" u="none" cap="none" strike="noStrike">
                <a:solidFill>
                  <a:schemeClr val="dk1"/>
                </a:solidFill>
                <a:latin typeface="Times New Roman"/>
                <a:ea typeface="Times New Roman"/>
                <a:cs typeface="Times New Roman"/>
                <a:sym typeface="Times New Roman"/>
              </a:rPr>
              <a:t> Apply ethical principles and commit to professional ethics and responsibilities and norms of the engineering practice.</a:t>
            </a:r>
            <a:endParaRPr/>
          </a:p>
          <a:p>
            <a:pPr indent="0" lvl="0" marL="274320" marR="274320" rtl="0" algn="just">
              <a:lnSpc>
                <a:spcPct val="114999"/>
              </a:lnSpc>
              <a:spcBef>
                <a:spcPts val="0"/>
              </a:spcBef>
              <a:spcAft>
                <a:spcPts val="0"/>
              </a:spcAft>
              <a:buClr>
                <a:schemeClr val="dk1"/>
              </a:buClr>
              <a:buSzPts val="1100"/>
              <a:buFont typeface="Arial"/>
              <a:buNone/>
            </a:pP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9. </a:t>
            </a:r>
            <a:r>
              <a:rPr b="1" i="0" lang="en-IN" sz="1400" u="none" cap="none" strike="noStrike">
                <a:solidFill>
                  <a:schemeClr val="dk1"/>
                </a:solidFill>
                <a:latin typeface="Times New Roman"/>
                <a:ea typeface="Times New Roman"/>
                <a:cs typeface="Times New Roman"/>
                <a:sym typeface="Times New Roman"/>
              </a:rPr>
              <a:t>Individual and team work:</a:t>
            </a:r>
            <a:r>
              <a:rPr b="0" i="0" lang="en-IN" sz="1400" u="none" cap="none" strike="noStrike">
                <a:solidFill>
                  <a:schemeClr val="dk1"/>
                </a:solidFill>
                <a:latin typeface="Times New Roman"/>
                <a:ea typeface="Times New Roman"/>
                <a:cs typeface="Times New Roman"/>
                <a:sym typeface="Times New Roman"/>
              </a:rPr>
              <a:t> Function effectively as an individual, and as a member or leader in diverse teams, and in multidisciplinary settings.</a:t>
            </a:r>
            <a:endParaRPr/>
          </a:p>
          <a:p>
            <a:pPr indent="0" lvl="0" marL="274320" marR="274320" rtl="0" algn="just">
              <a:lnSpc>
                <a:spcPct val="114999"/>
              </a:lnSpc>
              <a:spcBef>
                <a:spcPts val="0"/>
              </a:spcBef>
              <a:spcAft>
                <a:spcPts val="0"/>
              </a:spcAft>
              <a:buClr>
                <a:schemeClr val="dk1"/>
              </a:buClr>
              <a:buSzPts val="1100"/>
              <a:buFont typeface="Arial"/>
              <a:buNone/>
            </a:pP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10. </a:t>
            </a:r>
            <a:r>
              <a:rPr b="1" i="0" lang="en-IN" sz="1400" u="none" cap="none" strike="noStrike">
                <a:solidFill>
                  <a:schemeClr val="dk1"/>
                </a:solidFill>
                <a:latin typeface="Times New Roman"/>
                <a:ea typeface="Times New Roman"/>
                <a:cs typeface="Times New Roman"/>
                <a:sym typeface="Times New Roman"/>
              </a:rPr>
              <a:t>Communication:</a:t>
            </a:r>
            <a:r>
              <a:rPr b="0" i="0" lang="en-IN" sz="1400" u="none" cap="none" strike="noStrike">
                <a:solidFill>
                  <a:schemeClr val="dk1"/>
                </a:solidFill>
                <a:latin typeface="Times New Roman"/>
                <a:ea typeface="Times New Roman"/>
                <a:cs typeface="Times New Roman"/>
                <a:sym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a:p>
          <a:p>
            <a:pPr indent="0" lvl="0" marL="274320" marR="274320" rtl="0" algn="just">
              <a:lnSpc>
                <a:spcPct val="114999"/>
              </a:lnSpc>
              <a:spcBef>
                <a:spcPts val="0"/>
              </a:spcBef>
              <a:spcAft>
                <a:spcPts val="0"/>
              </a:spcAft>
              <a:buClr>
                <a:schemeClr val="dk1"/>
              </a:buClr>
              <a:buSzPts val="1100"/>
              <a:buFont typeface="Arial"/>
              <a:buNone/>
            </a:pP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11. </a:t>
            </a:r>
            <a:r>
              <a:rPr b="1" i="0" lang="en-IN" sz="1400" u="none" cap="none" strike="noStrike">
                <a:solidFill>
                  <a:schemeClr val="dk1"/>
                </a:solidFill>
                <a:latin typeface="Times New Roman"/>
                <a:ea typeface="Times New Roman"/>
                <a:cs typeface="Times New Roman"/>
                <a:sym typeface="Times New Roman"/>
              </a:rPr>
              <a:t>Project management and finance:</a:t>
            </a:r>
            <a:r>
              <a:rPr b="0" i="0" lang="en-IN" sz="1400" u="none" cap="none" strike="noStrike">
                <a:solidFill>
                  <a:schemeClr val="dk1"/>
                </a:solidFill>
                <a:latin typeface="Times New Roman"/>
                <a:ea typeface="Times New Roman"/>
                <a:cs typeface="Times New Roman"/>
                <a:sym typeface="Times New Roman"/>
              </a:rPr>
              <a:t> Demonstrate knowledge and understanding of the engineering and management principles and apply these to one’s own work, as a member and leader in a team, to manage projects and in multidisciplinary environments.</a:t>
            </a:r>
            <a:br>
              <a:rPr b="0" i="0" lang="en-IN" sz="1400" u="none" cap="none" strike="noStrike">
                <a:solidFill>
                  <a:schemeClr val="dk1"/>
                </a:solidFill>
                <a:latin typeface="Times New Roman"/>
                <a:ea typeface="Times New Roman"/>
                <a:cs typeface="Times New Roman"/>
                <a:sym typeface="Times New Roman"/>
              </a:rPr>
            </a:br>
            <a:r>
              <a:rPr b="0" i="0" lang="en-IN" sz="1400" u="none" cap="none" strike="noStrike">
                <a:solidFill>
                  <a:schemeClr val="dk1"/>
                </a:solidFill>
                <a:latin typeface="Times New Roman"/>
                <a:ea typeface="Times New Roman"/>
                <a:cs typeface="Times New Roman"/>
                <a:sym typeface="Times New Roman"/>
              </a:rPr>
              <a:t>12. </a:t>
            </a:r>
            <a:r>
              <a:rPr b="1" i="0" lang="en-IN" sz="1400" u="none" cap="none" strike="noStrike">
                <a:solidFill>
                  <a:schemeClr val="dk1"/>
                </a:solidFill>
                <a:latin typeface="Times New Roman"/>
                <a:ea typeface="Times New Roman"/>
                <a:cs typeface="Times New Roman"/>
                <a:sym typeface="Times New Roman"/>
              </a:rPr>
              <a:t>Life-long learning:</a:t>
            </a:r>
            <a:r>
              <a:rPr b="0" i="0" lang="en-IN" sz="1400" u="none" cap="none" strike="noStrike">
                <a:solidFill>
                  <a:schemeClr val="dk1"/>
                </a:solidFill>
                <a:latin typeface="Times New Roman"/>
                <a:ea typeface="Times New Roman"/>
                <a:cs typeface="Times New Roman"/>
                <a:sym typeface="Times New Roman"/>
              </a:rPr>
              <a:t> Recognize the need for, and have the preparation and ability to engage in independent and life-long learning in the broadest context of technological change</a:t>
            </a:r>
            <a:r>
              <a:rPr b="0" i="0" lang="en-IN" sz="1300" u="none" cap="none" strike="noStrike">
                <a:solidFill>
                  <a:schemeClr val="dk1"/>
                </a:solidFill>
                <a:latin typeface="Times New Roman"/>
                <a:ea typeface="Times New Roman"/>
                <a:cs typeface="Times New Roman"/>
                <a:sym typeface="Times New Roman"/>
              </a:rPr>
              <a:t>.</a:t>
            </a:r>
            <a:endParaRPr/>
          </a:p>
          <a:p>
            <a:pPr indent="0" lvl="0" marL="274320" marR="274320" rtl="0" algn="just">
              <a:lnSpc>
                <a:spcPct val="114999"/>
              </a:lnSpc>
              <a:spcBef>
                <a:spcPts val="0"/>
              </a:spcBef>
              <a:spcAft>
                <a:spcPts val="0"/>
              </a:spcAft>
              <a:buClr>
                <a:schemeClr val="dk1"/>
              </a:buClr>
              <a:buSzPts val="1100"/>
              <a:buFont typeface="Arial"/>
              <a:buNone/>
            </a:pPr>
            <a:r>
              <a:t/>
            </a:r>
            <a:endParaRPr b="0" i="0" sz="1300" u="none" cap="none" strike="noStrike">
              <a:solidFill>
                <a:schemeClr val="dk1"/>
              </a:solidFill>
              <a:latin typeface="Times New Roman"/>
              <a:ea typeface="Times New Roman"/>
              <a:cs typeface="Times New Roman"/>
              <a:sym typeface="Times New Roman"/>
            </a:endParaRPr>
          </a:p>
          <a:p>
            <a:pPr indent="0" lvl="0" marL="274320" marR="27432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47" name="Google Shape;1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48" name="Google Shape;1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9" name="Google Shape;1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8"/>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55" name="Google Shape;155;p8"/>
          <p:cNvSpPr txBox="1"/>
          <p:nvPr/>
        </p:nvSpPr>
        <p:spPr>
          <a:xfrm>
            <a:off x="603261" y="2291786"/>
            <a:ext cx="11156618" cy="4048113"/>
          </a:xfrm>
          <a:prstGeom prst="rect">
            <a:avLst/>
          </a:prstGeom>
          <a:noFill/>
          <a:ln>
            <a:noFill/>
          </a:ln>
        </p:spPr>
        <p:txBody>
          <a:bodyPr anchorCtr="0" anchor="t" bIns="0" lIns="0" spcFirstLastPara="1" rIns="0" wrap="square" tIns="0">
            <a:noAutofit/>
          </a:bodyPr>
          <a:lstStyle/>
          <a:p>
            <a:pPr indent="0" lvl="0" marL="0" marR="0" rtl="0" algn="ctr">
              <a:lnSpc>
                <a:spcPct val="114999"/>
              </a:lnSpc>
              <a:spcBef>
                <a:spcPts val="0"/>
              </a:spcBef>
              <a:spcAft>
                <a:spcPts val="0"/>
              </a:spcAft>
              <a:buClr>
                <a:schemeClr val="dk1"/>
              </a:buClr>
              <a:buSzPts val="1100"/>
              <a:buFont typeface="Arial"/>
              <a:buNone/>
            </a:pPr>
            <a:r>
              <a:rPr b="1" i="0" lang="en-IN" sz="2800" u="sng" cap="none" strike="noStrike">
                <a:solidFill>
                  <a:schemeClr val="dk1"/>
                </a:solidFill>
                <a:latin typeface="Times New Roman"/>
                <a:ea typeface="Times New Roman"/>
                <a:cs typeface="Times New Roman"/>
                <a:sym typeface="Times New Roman"/>
              </a:rPr>
              <a:t>Programme Specific Outcomes (PSOs)</a:t>
            </a:r>
            <a:endParaRPr b="0" i="0" sz="2800" u="sng" cap="none" strike="noStrike">
              <a:solidFill>
                <a:schemeClr val="dk1"/>
              </a:solidFill>
              <a:latin typeface="Times New Roman"/>
              <a:ea typeface="Times New Roman"/>
              <a:cs typeface="Times New Roman"/>
              <a:sym typeface="Times New Roman"/>
            </a:endParaRPr>
          </a:p>
          <a:p>
            <a:pPr indent="0" lvl="0" marL="0" marR="0" rtl="0" algn="ctr">
              <a:lnSpc>
                <a:spcPct val="114999"/>
              </a:lnSpc>
              <a:spcBef>
                <a:spcPts val="0"/>
              </a:spcBef>
              <a:spcAft>
                <a:spcPts val="0"/>
              </a:spcAft>
              <a:buClr>
                <a:schemeClr val="dk1"/>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14999"/>
              </a:lnSpc>
              <a:spcBef>
                <a:spcPts val="0"/>
              </a:spcBef>
              <a:spcAft>
                <a:spcPts val="0"/>
              </a:spcAft>
              <a:buClr>
                <a:schemeClr val="dk1"/>
              </a:buClr>
              <a:buSzPts val="1100"/>
              <a:buFont typeface="Arial"/>
              <a:buNone/>
            </a:pPr>
            <a:r>
              <a:rPr b="0" i="0" lang="en-IN" sz="1800" u="none" cap="none" strike="noStrike">
                <a:solidFill>
                  <a:schemeClr val="dk1"/>
                </a:solidFill>
                <a:latin typeface="Times New Roman"/>
                <a:ea typeface="Times New Roman"/>
                <a:cs typeface="Times New Roman"/>
                <a:sym typeface="Times New Roman"/>
              </a:rPr>
              <a:t> On the completion of Computer Science &amp; Engineering program, the students will possess:</a:t>
            </a:r>
            <a:endParaRPr/>
          </a:p>
          <a:p>
            <a:pPr indent="-228600" lvl="0" marL="228600" marR="0" rtl="0" algn="just">
              <a:lnSpc>
                <a:spcPct val="150000"/>
              </a:lnSpc>
              <a:spcBef>
                <a:spcPts val="1200"/>
              </a:spcBef>
              <a:spcAft>
                <a:spcPts val="0"/>
              </a:spcAft>
              <a:buClr>
                <a:schemeClr val="dk1"/>
              </a:buClr>
              <a:buSzPts val="1800"/>
              <a:buFont typeface="Arial"/>
              <a:buChar char="•"/>
            </a:pPr>
            <a:r>
              <a:rPr b="0" i="0" lang="en-IN" sz="1800" u="none" cap="none" strike="noStrike">
                <a:solidFill>
                  <a:schemeClr val="dk1"/>
                </a:solidFill>
                <a:latin typeface="Times New Roman"/>
                <a:ea typeface="Times New Roman"/>
                <a:cs typeface="Times New Roman"/>
                <a:sym typeface="Times New Roman"/>
              </a:rPr>
              <a:t> </a:t>
            </a:r>
            <a:r>
              <a:rPr b="1" i="0" lang="en-IN" sz="1800" u="none" cap="none" strike="noStrike">
                <a:solidFill>
                  <a:schemeClr val="dk1"/>
                </a:solidFill>
                <a:latin typeface="Times New Roman"/>
                <a:ea typeface="Times New Roman"/>
                <a:cs typeface="Times New Roman"/>
                <a:sym typeface="Times New Roman"/>
              </a:rPr>
              <a:t>PSO 1</a:t>
            </a:r>
            <a:r>
              <a:rPr b="0" i="0" lang="en-IN" sz="1800" u="none" cap="none" strike="noStrike">
                <a:solidFill>
                  <a:schemeClr val="dk1"/>
                </a:solidFill>
                <a:latin typeface="Times New Roman"/>
                <a:ea typeface="Times New Roman"/>
                <a:cs typeface="Times New Roman"/>
                <a:sym typeface="Times New Roman"/>
              </a:rPr>
              <a:t>: Apply cyber security principles to mitigate cyber risk and analyze security requirements of an organization.</a:t>
            </a:r>
            <a:endParaRPr b="1" i="0" sz="1800" u="none" cap="none" strike="noStrike">
              <a:solidFill>
                <a:schemeClr val="dk1"/>
              </a:solidFill>
              <a:latin typeface="Arial"/>
              <a:ea typeface="Arial"/>
              <a:cs typeface="Arial"/>
              <a:sym typeface="Arial"/>
            </a:endParaRPr>
          </a:p>
          <a:p>
            <a:pPr indent="-228600" lvl="0" marL="228600" marR="0" rtl="0" algn="just">
              <a:lnSpc>
                <a:spcPct val="150000"/>
              </a:lnSpc>
              <a:spcBef>
                <a:spcPts val="2400"/>
              </a:spcBef>
              <a:spcAft>
                <a:spcPts val="0"/>
              </a:spcAft>
              <a:buClr>
                <a:schemeClr val="dk1"/>
              </a:buClr>
              <a:buSzPts val="1800"/>
              <a:buFont typeface="Arial"/>
              <a:buChar char="•"/>
            </a:pPr>
            <a:r>
              <a:rPr b="1" i="0" lang="en-IN" sz="1800" u="none" cap="none" strike="noStrike">
                <a:solidFill>
                  <a:schemeClr val="dk1"/>
                </a:solidFill>
                <a:latin typeface="Times New Roman"/>
                <a:ea typeface="Times New Roman"/>
                <a:cs typeface="Times New Roman"/>
                <a:sym typeface="Times New Roman"/>
              </a:rPr>
              <a:t>PSO 2</a:t>
            </a:r>
            <a:r>
              <a:rPr b="0" i="0" lang="en-IN" sz="1800" u="none" cap="none" strike="noStrike">
                <a:solidFill>
                  <a:schemeClr val="dk1"/>
                </a:solidFill>
                <a:latin typeface="Times New Roman"/>
                <a:ea typeface="Times New Roman"/>
                <a:cs typeface="Times New Roman"/>
                <a:sym typeface="Times New Roman"/>
              </a:rPr>
              <a:t>: Develop and deploy secure software and infrastructure using modern tools and industry standards. </a:t>
            </a:r>
            <a:endParaRPr b="1" i="0" sz="1800" u="none" cap="none" strike="noStrike">
              <a:solidFill>
                <a:schemeClr val="dk1"/>
              </a:solidFill>
              <a:latin typeface="Arial"/>
              <a:ea typeface="Arial"/>
              <a:cs typeface="Arial"/>
              <a:sym typeface="Arial"/>
            </a:endParaRPr>
          </a:p>
          <a:p>
            <a:pPr indent="-228600" lvl="0" marL="228600" marR="0" rtl="0" algn="just">
              <a:lnSpc>
                <a:spcPct val="150000"/>
              </a:lnSpc>
              <a:spcBef>
                <a:spcPts val="2400"/>
              </a:spcBef>
              <a:spcAft>
                <a:spcPts val="0"/>
              </a:spcAft>
              <a:buClr>
                <a:schemeClr val="dk1"/>
              </a:buClr>
              <a:buSzPts val="1800"/>
              <a:buFont typeface="Arial"/>
              <a:buChar char="•"/>
            </a:pPr>
            <a:r>
              <a:rPr b="1" i="0" lang="en-IN" sz="1800" u="none" cap="none" strike="noStrike">
                <a:solidFill>
                  <a:schemeClr val="dk1"/>
                </a:solidFill>
                <a:latin typeface="Times New Roman"/>
                <a:ea typeface="Times New Roman"/>
                <a:cs typeface="Times New Roman"/>
                <a:sym typeface="Times New Roman"/>
              </a:rPr>
              <a:t>PSO 3</a:t>
            </a:r>
            <a:r>
              <a:rPr b="0" i="0" lang="en-IN" sz="1800" u="none" cap="none" strike="noStrike">
                <a:solidFill>
                  <a:schemeClr val="dk1"/>
                </a:solidFill>
                <a:latin typeface="Times New Roman"/>
                <a:ea typeface="Times New Roman"/>
                <a:cs typeface="Times New Roman"/>
                <a:sym typeface="Times New Roman"/>
              </a:rPr>
              <a:t>: Uphold ethical, legal, and societal responsibilities while protecting privacy, data, and digital assets.</a:t>
            </a:r>
            <a:endParaRPr b="1" i="0" sz="1800" u="none" cap="none" strike="noStrike">
              <a:solidFill>
                <a:schemeClr val="dk1"/>
              </a:solidFill>
              <a:latin typeface="Arial"/>
              <a:ea typeface="Arial"/>
              <a:cs typeface="Arial"/>
              <a:sym typeface="Arial"/>
            </a:endParaRPr>
          </a:p>
          <a:p>
            <a:pPr indent="0" lvl="0" marL="0" marR="0" rtl="0" algn="just">
              <a:lnSpc>
                <a:spcPct val="114999"/>
              </a:lnSpc>
              <a:spcBef>
                <a:spcPts val="1200"/>
              </a:spcBef>
              <a:spcAft>
                <a:spcPts val="0"/>
              </a:spcAft>
              <a:buClr>
                <a:schemeClr val="dk1"/>
              </a:buClr>
              <a:buSzPts val="11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6" name="Google Shape;15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57" name="Google Shape;1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8" name="Google Shape;1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9"/>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64" name="Google Shape;164;p9"/>
          <p:cNvSpPr txBox="1"/>
          <p:nvPr/>
        </p:nvSpPr>
        <p:spPr>
          <a:xfrm>
            <a:off x="1319513" y="1990845"/>
            <a:ext cx="9560689" cy="476877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000"/>
              <a:buFont typeface="Arial"/>
              <a:buNone/>
            </a:pPr>
            <a:r>
              <a:rPr b="1" i="0" lang="en-IN" sz="4000" u="sng" cap="none" strike="noStrike">
                <a:solidFill>
                  <a:schemeClr val="dk1"/>
                </a:solidFill>
                <a:latin typeface="Times New Roman"/>
                <a:ea typeface="Times New Roman"/>
                <a:cs typeface="Times New Roman"/>
                <a:sym typeface="Times New Roman"/>
              </a:rPr>
              <a:t>CONTENTS</a:t>
            </a:r>
            <a:endParaRPr b="1" i="0" sz="2000" u="none" cap="none" strike="noStrike">
              <a:solidFill>
                <a:srgbClr val="002060"/>
              </a:solidFill>
              <a:latin typeface="Times New Roman"/>
              <a:ea typeface="Times New Roman"/>
              <a:cs typeface="Times New Roman"/>
              <a:sym typeface="Times New Roman"/>
            </a:endParaRPr>
          </a:p>
          <a:p>
            <a:pPr indent="-101600" lvl="0" marL="228600" marR="0" rtl="0" algn="l">
              <a:lnSpc>
                <a:spcPct val="100000"/>
              </a:lnSpc>
              <a:spcBef>
                <a:spcPts val="0"/>
              </a:spcBef>
              <a:spcAft>
                <a:spcPts val="0"/>
              </a:spcAft>
              <a:buClr>
                <a:schemeClr val="dk1"/>
              </a:buClr>
              <a:buSzPts val="2000"/>
              <a:buFont typeface="Arial"/>
              <a:buNone/>
            </a:pPr>
            <a:r>
              <a:t/>
            </a:r>
            <a:endParaRPr b="1" i="0" sz="2000" u="none" cap="none" strike="noStrike">
              <a:solidFill>
                <a:srgbClr val="002060"/>
              </a:solidFill>
              <a:latin typeface="Times New Roman"/>
              <a:ea typeface="Times New Roman"/>
              <a:cs typeface="Times New Roman"/>
              <a:sym typeface="Times New Roman"/>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Motivation</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Introduction</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Problem Statement</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Proposed Method </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Basic Block Diagram</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Conclusion </a:t>
            </a:r>
            <a:endParaRPr/>
          </a:p>
          <a:p>
            <a:pPr indent="-228600" lvl="0" marL="228600" marR="0" rtl="0" algn="l">
              <a:lnSpc>
                <a:spcPct val="100000"/>
              </a:lnSpc>
              <a:spcBef>
                <a:spcPts val="0"/>
              </a:spcBef>
              <a:spcAft>
                <a:spcPts val="0"/>
              </a:spcAft>
              <a:buClr>
                <a:srgbClr val="002060"/>
              </a:buClr>
              <a:buSzPts val="2400"/>
              <a:buFont typeface="Arial"/>
              <a:buChar char="•"/>
            </a:pPr>
            <a:r>
              <a:rPr b="1" i="0" lang="en-IN" sz="2400" u="none" cap="none" strike="noStrike">
                <a:solidFill>
                  <a:srgbClr val="002060"/>
                </a:solidFill>
                <a:latin typeface="Times New Roman"/>
                <a:ea typeface="Times New Roman"/>
                <a:cs typeface="Times New Roman"/>
                <a:sym typeface="Times New Roman"/>
              </a:rPr>
              <a:t>References</a:t>
            </a:r>
            <a:endParaRPr b="0" i="0" sz="2400" u="none" cap="none" strike="noStrike">
              <a:solidFill>
                <a:schemeClr val="dk1"/>
              </a:solidFill>
              <a:latin typeface="Times New Roman"/>
              <a:ea typeface="Times New Roman"/>
              <a:cs typeface="Times New Roman"/>
              <a:sym typeface="Times New Roman"/>
            </a:endParaRPr>
          </a:p>
        </p:txBody>
      </p:sp>
      <p:sp>
        <p:nvSpPr>
          <p:cNvPr id="165" name="Google Shape;16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66" name="Google Shape;16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67" name="Google Shape;16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0"/>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73" name="Google Shape;173;p10"/>
          <p:cNvSpPr txBox="1"/>
          <p:nvPr>
            <p:ph type="title"/>
          </p:nvPr>
        </p:nvSpPr>
        <p:spPr>
          <a:xfrm>
            <a:off x="1765319" y="1990845"/>
            <a:ext cx="8229240" cy="81915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b="1" lang="en-IN" sz="4000" u="sng">
                <a:latin typeface="Times New Roman"/>
                <a:ea typeface="Times New Roman"/>
                <a:cs typeface="Times New Roman"/>
                <a:sym typeface="Times New Roman"/>
              </a:rPr>
              <a:t>Motivation</a:t>
            </a:r>
            <a:endParaRPr b="1" sz="6000"/>
          </a:p>
        </p:txBody>
      </p:sp>
      <p:sp>
        <p:nvSpPr>
          <p:cNvPr id="174" name="Google Shape;174;p10"/>
          <p:cNvSpPr txBox="1"/>
          <p:nvPr/>
        </p:nvSpPr>
        <p:spPr>
          <a:xfrm>
            <a:off x="1240971"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Growing use of Bluetooth-enabled devices has increased privacy and security risks.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Hidden BLE trackers can be misused for unauthorized tracking and surveillance.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Existing detection solutions are often expensive or limited to specific platforms.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Users need a portable, affordable, and real-time tracker detection system.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BLE Guard provides continuous monitoring and instant threat identification.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project promotes personal safety by helping users detect suspicious BLE devices.</a:t>
            </a:r>
            <a:endParaRPr/>
          </a:p>
        </p:txBody>
      </p:sp>
      <p:sp>
        <p:nvSpPr>
          <p:cNvPr id="175" name="Google Shape;17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76" name="Google Shape;17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77" name="Google Shape;17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1"/>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83" name="Google Shape;183;p11"/>
          <p:cNvSpPr txBox="1"/>
          <p:nvPr>
            <p:ph type="title"/>
          </p:nvPr>
        </p:nvSpPr>
        <p:spPr>
          <a:xfrm>
            <a:off x="1732268" y="2070319"/>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Times New Roman"/>
              <a:buNone/>
            </a:pPr>
            <a:r>
              <a:rPr b="1" lang="en-IN" sz="4000" u="sng">
                <a:latin typeface="Times New Roman"/>
                <a:ea typeface="Times New Roman"/>
                <a:cs typeface="Times New Roman"/>
                <a:sym typeface="Times New Roman"/>
              </a:rPr>
              <a:t>Introduction</a:t>
            </a:r>
            <a:endParaRPr b="1" sz="4800"/>
          </a:p>
        </p:txBody>
      </p:sp>
      <p:sp>
        <p:nvSpPr>
          <p:cNvPr id="184" name="Google Shape;184;p11"/>
          <p:cNvSpPr txBox="1"/>
          <p:nvPr/>
        </p:nvSpPr>
        <p:spPr>
          <a:xfrm>
            <a:off x="1240971"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BLE Guard is an ESP32-based Bluetooth Low Energy (BLE) tracking detector.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It scans nearby BLE devices and identifies potential tracking threats.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system detects Apple Find My devices and other BLE trackers.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It estimates device location using GPS and Wi-Fi information.</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Detected data is uploaded securely to a web dashboard for monitoring.</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solution combines hardware, firmware, and a secure web application.</a:t>
            </a:r>
            <a:endParaRPr/>
          </a:p>
        </p:txBody>
      </p:sp>
      <p:sp>
        <p:nvSpPr>
          <p:cNvPr id="185" name="Google Shape;18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86" name="Google Shape;18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87" name="Google Shape;18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2"/>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193" name="Google Shape;193;p12"/>
          <p:cNvSpPr txBox="1"/>
          <p:nvPr>
            <p:ph type="title"/>
          </p:nvPr>
        </p:nvSpPr>
        <p:spPr>
          <a:xfrm>
            <a:off x="2066261" y="1990845"/>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4000"/>
              <a:buFont typeface="Times New Roman"/>
              <a:buNone/>
            </a:pPr>
            <a:r>
              <a:rPr b="1" lang="en-IN" sz="4000" u="sng">
                <a:solidFill>
                  <a:srgbClr val="002060"/>
                </a:solidFill>
                <a:latin typeface="Times New Roman"/>
                <a:ea typeface="Times New Roman"/>
                <a:cs typeface="Times New Roman"/>
                <a:sym typeface="Times New Roman"/>
              </a:rPr>
              <a:t>Problem Statement</a:t>
            </a:r>
            <a:endParaRPr b="1" sz="4000" u="sng">
              <a:solidFill>
                <a:srgbClr val="002060"/>
              </a:solidFill>
              <a:latin typeface="Times New Roman"/>
              <a:ea typeface="Times New Roman"/>
              <a:cs typeface="Times New Roman"/>
              <a:sym typeface="Times New Roman"/>
            </a:endParaRPr>
          </a:p>
        </p:txBody>
      </p:sp>
      <p:sp>
        <p:nvSpPr>
          <p:cNvPr id="194" name="Google Shape;194;p12"/>
          <p:cNvSpPr txBox="1"/>
          <p:nvPr/>
        </p:nvSpPr>
        <p:spPr>
          <a:xfrm>
            <a:off x="1240971"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Bluetooth trackers can be used without the owner's knowledge.</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Existing detection methods are limited to certain mobile operating systems.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Many users are unaware of nearby tracking devices.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Commercial solutions are often expensive and lack centralized monitoring.</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Detecting persistent tracking behavior is difficult using conventional methods.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A low-cost, cross-platform detection system is required.</a:t>
            </a:r>
            <a:endParaRPr/>
          </a:p>
        </p:txBody>
      </p:sp>
      <p:sp>
        <p:nvSpPr>
          <p:cNvPr id="195" name="Google Shape;19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196" name="Google Shape;19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97" name="Google Shape;19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13"/>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203" name="Google Shape;203;p13"/>
          <p:cNvSpPr txBox="1"/>
          <p:nvPr>
            <p:ph type="title"/>
          </p:nvPr>
        </p:nvSpPr>
        <p:spPr>
          <a:xfrm>
            <a:off x="2066261" y="1990845"/>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4000"/>
              <a:buFont typeface="Times New Roman"/>
              <a:buNone/>
            </a:pPr>
            <a:r>
              <a:rPr b="1" lang="en-IN" sz="4000" u="sng">
                <a:solidFill>
                  <a:srgbClr val="002060"/>
                </a:solidFill>
                <a:latin typeface="Times New Roman"/>
                <a:ea typeface="Times New Roman"/>
                <a:cs typeface="Times New Roman"/>
                <a:sym typeface="Times New Roman"/>
              </a:rPr>
              <a:t>Proposed Method</a:t>
            </a:r>
            <a:endParaRPr b="1" sz="4000" u="sng">
              <a:solidFill>
                <a:srgbClr val="002060"/>
              </a:solidFill>
              <a:latin typeface="Times New Roman"/>
              <a:ea typeface="Times New Roman"/>
              <a:cs typeface="Times New Roman"/>
              <a:sym typeface="Times New Roman"/>
            </a:endParaRPr>
          </a:p>
        </p:txBody>
      </p:sp>
      <p:sp>
        <p:nvSpPr>
          <p:cNvPr id="204" name="Google Shape;204;p13"/>
          <p:cNvSpPr txBox="1"/>
          <p:nvPr/>
        </p:nvSpPr>
        <p:spPr>
          <a:xfrm>
            <a:off x="1240971"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ESP32 continuously scans for nearby BLE advertisements.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Devices are identified based on MAC address, vendor, and device type.</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Behavioural analysis calculates a threat score (0–100) for each device.</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GPS and Wi-Fi provide approximate location information.</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Detection data is securely transmitted to a PHP-MySQL web server.</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dashboard displays live alerts, history, whitelist management, and reports.</a:t>
            </a:r>
            <a:endParaRPr/>
          </a:p>
        </p:txBody>
      </p:sp>
      <p:sp>
        <p:nvSpPr>
          <p:cNvPr id="205" name="Google Shape;20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206" name="Google Shape;20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07" name="Google Shape;20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4"/>
          <p:cNvPicPr preferRelativeResize="0"/>
          <p:nvPr/>
        </p:nvPicPr>
        <p:blipFill rotWithShape="1">
          <a:blip r:embed="rId3">
            <a:alphaModFix/>
          </a:blip>
          <a:srcRect b="0" l="0" r="0" t="0"/>
          <a:stretch/>
        </p:blipFill>
        <p:spPr>
          <a:xfrm>
            <a:off x="1307939" y="162121"/>
            <a:ext cx="9745883" cy="1610027"/>
          </a:xfrm>
          <a:prstGeom prst="rect">
            <a:avLst/>
          </a:prstGeom>
          <a:noFill/>
          <a:ln>
            <a:noFill/>
          </a:ln>
        </p:spPr>
      </p:pic>
      <p:sp>
        <p:nvSpPr>
          <p:cNvPr id="213" name="Google Shape;213;p14"/>
          <p:cNvSpPr txBox="1"/>
          <p:nvPr>
            <p:ph type="title"/>
          </p:nvPr>
        </p:nvSpPr>
        <p:spPr>
          <a:xfrm>
            <a:off x="2066260" y="1772148"/>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3600"/>
              <a:buFont typeface="Times New Roman"/>
              <a:buNone/>
            </a:pPr>
            <a:r>
              <a:rPr b="1" lang="en-IN" sz="3600" u="sng">
                <a:solidFill>
                  <a:srgbClr val="002060"/>
                </a:solidFill>
                <a:latin typeface="Times New Roman"/>
                <a:ea typeface="Times New Roman"/>
                <a:cs typeface="Times New Roman"/>
                <a:sym typeface="Times New Roman"/>
              </a:rPr>
              <a:t>Basic Block Diagram</a:t>
            </a:r>
            <a:endParaRPr/>
          </a:p>
        </p:txBody>
      </p:sp>
      <p:sp>
        <p:nvSpPr>
          <p:cNvPr id="214" name="Google Shape;2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215" name="Google Shape;21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16" name="Google Shape;21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pic>
        <p:nvPicPr>
          <p:cNvPr id="217" name="Google Shape;217;p14"/>
          <p:cNvPicPr preferRelativeResize="0"/>
          <p:nvPr/>
        </p:nvPicPr>
        <p:blipFill rotWithShape="1">
          <a:blip r:embed="rId4">
            <a:alphaModFix/>
          </a:blip>
          <a:srcRect b="0" l="0" r="0" t="0"/>
          <a:stretch/>
        </p:blipFill>
        <p:spPr>
          <a:xfrm>
            <a:off x="3214007" y="2456987"/>
            <a:ext cx="5763986" cy="38426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txBox="1"/>
          <p:nvPr>
            <p:ph type="title"/>
          </p:nvPr>
        </p:nvSpPr>
        <p:spPr>
          <a:xfrm>
            <a:off x="1765319" y="1816931"/>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4000"/>
              <a:buFont typeface="Times New Roman"/>
              <a:buNone/>
            </a:pPr>
            <a:r>
              <a:rPr b="1" lang="en-IN" sz="4000" u="sng">
                <a:solidFill>
                  <a:srgbClr val="002060"/>
                </a:solidFill>
                <a:latin typeface="Times New Roman"/>
                <a:ea typeface="Times New Roman"/>
                <a:cs typeface="Times New Roman"/>
                <a:sym typeface="Times New Roman"/>
              </a:rPr>
              <a:t>Conclusion </a:t>
            </a:r>
            <a:endParaRPr b="1" sz="4000" u="sng">
              <a:solidFill>
                <a:srgbClr val="002060"/>
              </a:solidFill>
              <a:latin typeface="Times New Roman"/>
              <a:ea typeface="Times New Roman"/>
              <a:cs typeface="Times New Roman"/>
              <a:sym typeface="Times New Roman"/>
            </a:endParaRPr>
          </a:p>
        </p:txBody>
      </p:sp>
      <p:pic>
        <p:nvPicPr>
          <p:cNvPr id="223" name="Google Shape;223;p15"/>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224" name="Google Shape;224;p15"/>
          <p:cNvSpPr txBox="1"/>
          <p:nvPr/>
        </p:nvSpPr>
        <p:spPr>
          <a:xfrm>
            <a:off x="1240971"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BLE Guard provides an affordable solution for detecting BLE tracking devices.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system combines real-time scanning with intelligent threat analysis.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Secure cloud synchronization enables remote monitoring and data storage.</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web dashboard simplifies visualization and management of detected devices.</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The modular design allows future enhancements and feature expansion.</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BLE Guard improves user awareness and strengthens personal privacy.</a:t>
            </a:r>
            <a:endParaRPr/>
          </a:p>
        </p:txBody>
      </p:sp>
      <p:sp>
        <p:nvSpPr>
          <p:cNvPr id="225" name="Google Shape;22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226" name="Google Shape;22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27" name="Google Shape;22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6"/>
          <p:cNvSpPr txBox="1"/>
          <p:nvPr>
            <p:ph type="title"/>
          </p:nvPr>
        </p:nvSpPr>
        <p:spPr>
          <a:xfrm>
            <a:off x="1765319" y="1816931"/>
            <a:ext cx="8229240" cy="62813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4000"/>
              <a:buFont typeface="Times New Roman"/>
              <a:buNone/>
            </a:pPr>
            <a:r>
              <a:rPr b="1" lang="en-IN" sz="4000" u="sng">
                <a:solidFill>
                  <a:srgbClr val="002060"/>
                </a:solidFill>
                <a:latin typeface="Times New Roman"/>
                <a:ea typeface="Times New Roman"/>
                <a:cs typeface="Times New Roman"/>
                <a:sym typeface="Times New Roman"/>
              </a:rPr>
              <a:t>References</a:t>
            </a:r>
            <a:endParaRPr b="1" sz="4000" u="sng">
              <a:solidFill>
                <a:srgbClr val="002060"/>
              </a:solidFill>
              <a:latin typeface="Times New Roman"/>
              <a:ea typeface="Times New Roman"/>
              <a:cs typeface="Times New Roman"/>
              <a:sym typeface="Times New Roman"/>
            </a:endParaRPr>
          </a:p>
        </p:txBody>
      </p:sp>
      <p:pic>
        <p:nvPicPr>
          <p:cNvPr id="233" name="Google Shape;233;p16"/>
          <p:cNvPicPr preferRelativeResize="0"/>
          <p:nvPr/>
        </p:nvPicPr>
        <p:blipFill rotWithShape="1">
          <a:blip r:embed="rId3">
            <a:alphaModFix/>
          </a:blip>
          <a:srcRect b="0" l="0" r="0" t="0"/>
          <a:stretch/>
        </p:blipFill>
        <p:spPr>
          <a:xfrm>
            <a:off x="891251" y="243144"/>
            <a:ext cx="10579260" cy="1747701"/>
          </a:xfrm>
          <a:prstGeom prst="rect">
            <a:avLst/>
          </a:prstGeom>
          <a:noFill/>
          <a:ln>
            <a:noFill/>
          </a:ln>
        </p:spPr>
      </p:pic>
      <p:sp>
        <p:nvSpPr>
          <p:cNvPr id="234" name="Google Shape;234;p16"/>
          <p:cNvSpPr txBox="1"/>
          <p:nvPr/>
        </p:nvSpPr>
        <p:spPr>
          <a:xfrm>
            <a:off x="1233474" y="2892490"/>
            <a:ext cx="10229540" cy="347787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ESP32 Technical Reference Manual – Espressif Systems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Bluetooth Core Specification v5.x – Bluetooth SIG</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ESP-IDF Documentation – Espressif Systems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NEO-6M GPS Module Datasheet – u-blox</a:t>
            </a:r>
            <a:endParaRPr b="0" i="0" sz="2000" u="none" cap="none" strike="noStrike">
              <a:solidFill>
                <a:schemeClr val="dk1"/>
              </a:solidFill>
              <a:latin typeface="Times New Roman"/>
              <a:ea typeface="Times New Roman"/>
              <a:cs typeface="Times New Roman"/>
              <a:sym typeface="Times New Roman"/>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SSD1306 OLED Display Documentation </a:t>
            </a:r>
            <a:endParaRPr/>
          </a:p>
          <a:p>
            <a:pPr indent="-158750" lvl="0" marL="285750" marR="0" rtl="0" algn="l">
              <a:spcBef>
                <a:spcPts val="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Times New Roman"/>
                <a:ea typeface="Times New Roman"/>
                <a:cs typeface="Times New Roman"/>
                <a:sym typeface="Times New Roman"/>
              </a:rPr>
              <a:t>PHP Official Documentation and MySQL Documentation</a:t>
            </a:r>
            <a:endParaRPr/>
          </a:p>
        </p:txBody>
      </p:sp>
      <p:sp>
        <p:nvSpPr>
          <p:cNvPr id="235" name="Google Shape;23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29-07-2026</a:t>
            </a:r>
            <a:endParaRPr/>
          </a:p>
        </p:txBody>
      </p:sp>
      <p:sp>
        <p:nvSpPr>
          <p:cNvPr id="236" name="Google Shape;23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37" name="Google Shape;23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Dept of CSE(CY)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2025-10-04T04:58:01Z</dcterms:created>
  <dc:creator>Microsoft account</dc:creator>
</cp:coreProperties>
</file>