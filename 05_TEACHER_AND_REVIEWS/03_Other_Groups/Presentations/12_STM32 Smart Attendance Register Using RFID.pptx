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304" r:id="rId3"/>
    <p:sldId id="282" r:id="rId4"/>
    <p:sldId id="305" r:id="rId5"/>
    <p:sldId id="283" r:id="rId6"/>
    <p:sldId id="284" r:id="rId7"/>
    <p:sldId id="285" r:id="rId8"/>
    <p:sldId id="286" r:id="rId9"/>
    <p:sldId id="287" r:id="rId10"/>
    <p:sldId id="288" r:id="rId11"/>
    <p:sldId id="289" r:id="rId12"/>
    <p:sldId id="295" r:id="rId13"/>
    <p:sldId id="296" r:id="rId14"/>
    <p:sldId id="303" r:id="rId15"/>
    <p:sldId id="279" r:id="rId16"/>
    <p:sldId id="28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651" autoAdjust="0"/>
    <p:restoredTop sz="94660"/>
  </p:normalViewPr>
  <p:slideViewPr>
    <p:cSldViewPr snapToGrid="0">
      <p:cViewPr>
        <p:scale>
          <a:sx n="75" d="100"/>
          <a:sy n="75" d="100"/>
        </p:scale>
        <p:origin x="1128" y="3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notesMaster" Target="notesMasters/notesMaster1.xml" /><Relationship Id="rId3" Type="http://schemas.openxmlformats.org/officeDocument/2006/relationships/slide" Target="slides/slide2.xml" /><Relationship Id="rId21" Type="http://schemas.openxmlformats.org/officeDocument/2006/relationships/theme" Target="theme/theme1.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viewProps" Target="viewProp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slide" Target="slides/slide14.xml" /><Relationship Id="rId10" Type="http://schemas.openxmlformats.org/officeDocument/2006/relationships/slide" Target="slides/slide9.xml" /><Relationship Id="rId19" Type="http://schemas.openxmlformats.org/officeDocument/2006/relationships/presProps" Target="presProps.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tableStyles" Target="tableStyle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3F9247-06F9-48B1-A5CF-43C4B7E6D4BA}" type="datetimeFigureOut">
              <a:rPr lang="en-IN" smtClean="0"/>
              <a:t>29-07-2026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D8055D-2D7A-459F-A39A-84E139854731}" type="slidenum">
              <a:rPr lang="en-IN" smtClean="0"/>
              <a:t>‹#›</a:t>
            </a:fld>
            <a:endParaRPr lang="en-IN"/>
          </a:p>
        </p:txBody>
      </p:sp>
    </p:spTree>
    <p:extLst>
      <p:ext uri="{BB962C8B-B14F-4D97-AF65-F5344CB8AC3E}">
        <p14:creationId xmlns:p14="http://schemas.microsoft.com/office/powerpoint/2010/main" val="35421811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6F8567BF-04D6-4722-9A10-E32D41C4FBF8}" type="datetime1">
              <a:rPr lang="en-IN" smtClean="0"/>
              <a:t>29-07-2026</a:t>
            </a:fld>
            <a:endParaRPr lang="en-IN"/>
          </a:p>
        </p:txBody>
      </p:sp>
      <p:sp>
        <p:nvSpPr>
          <p:cNvPr id="5" name="Footer Placeholder 4"/>
          <p:cNvSpPr>
            <a:spLocks noGrp="1"/>
          </p:cNvSpPr>
          <p:nvPr>
            <p:ph type="ftr" sz="quarter" idx="11"/>
          </p:nvPr>
        </p:nvSpPr>
        <p:spPr/>
        <p:txBody>
          <a:bodyPr/>
          <a:lstStyle/>
          <a:p>
            <a:r>
              <a:rPr lang="en-IN"/>
              <a:t>Dept Of CSE(CY)</a:t>
            </a:r>
          </a:p>
        </p:txBody>
      </p:sp>
      <p:sp>
        <p:nvSpPr>
          <p:cNvPr id="6" name="Slide Number Placeholder 5"/>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32265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81A265D-0A9A-40CE-99F2-62B87190CFFF}" type="datetime1">
              <a:rPr lang="en-IN" smtClean="0"/>
              <a:t>29-07-2026</a:t>
            </a:fld>
            <a:endParaRPr lang="en-IN"/>
          </a:p>
        </p:txBody>
      </p:sp>
      <p:sp>
        <p:nvSpPr>
          <p:cNvPr id="5" name="Footer Placeholder 4"/>
          <p:cNvSpPr>
            <a:spLocks noGrp="1"/>
          </p:cNvSpPr>
          <p:nvPr>
            <p:ph type="ftr" sz="quarter" idx="11"/>
          </p:nvPr>
        </p:nvSpPr>
        <p:spPr/>
        <p:txBody>
          <a:bodyPr/>
          <a:lstStyle/>
          <a:p>
            <a:r>
              <a:rPr lang="en-IN"/>
              <a:t>Dept Of CSE(CY)</a:t>
            </a:r>
          </a:p>
        </p:txBody>
      </p:sp>
      <p:sp>
        <p:nvSpPr>
          <p:cNvPr id="6" name="Slide Number Placeholder 5"/>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26674592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FC9FBDA-25E6-45F2-9C57-09159030488D}" type="datetime1">
              <a:rPr lang="en-IN" smtClean="0"/>
              <a:t>29-07-2026</a:t>
            </a:fld>
            <a:endParaRPr lang="en-IN"/>
          </a:p>
        </p:txBody>
      </p:sp>
      <p:sp>
        <p:nvSpPr>
          <p:cNvPr id="5" name="Footer Placeholder 4"/>
          <p:cNvSpPr>
            <a:spLocks noGrp="1"/>
          </p:cNvSpPr>
          <p:nvPr>
            <p:ph type="ftr" sz="quarter" idx="11"/>
          </p:nvPr>
        </p:nvSpPr>
        <p:spPr/>
        <p:txBody>
          <a:bodyPr/>
          <a:lstStyle/>
          <a:p>
            <a:r>
              <a:rPr lang="en-IN"/>
              <a:t>Dept Of CSE(CY)</a:t>
            </a:r>
          </a:p>
        </p:txBody>
      </p:sp>
      <p:sp>
        <p:nvSpPr>
          <p:cNvPr id="6" name="Slide Number Placeholder 5"/>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3071517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B0C69663-1484-48C3-81AF-D26D88820940}" type="datetime1">
              <a:rPr lang="en-IN" smtClean="0"/>
              <a:t>29-07-2026</a:t>
            </a:fld>
            <a:endParaRPr lang="en-IN"/>
          </a:p>
        </p:txBody>
      </p:sp>
      <p:sp>
        <p:nvSpPr>
          <p:cNvPr id="6" name="Footer Placeholder 5"/>
          <p:cNvSpPr>
            <a:spLocks noGrp="1"/>
          </p:cNvSpPr>
          <p:nvPr>
            <p:ph type="ftr" sz="quarter" idx="11"/>
          </p:nvPr>
        </p:nvSpPr>
        <p:spPr/>
        <p:txBody>
          <a:bodyPr/>
          <a:lstStyle/>
          <a:p>
            <a:r>
              <a:rPr lang="en-IN"/>
              <a:t>Dept Of CSE(CY)</a:t>
            </a:r>
          </a:p>
        </p:txBody>
      </p:sp>
      <p:sp>
        <p:nvSpPr>
          <p:cNvPr id="7" name="Slide Number Placeholder 6"/>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7459437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C55F8B80-6B02-4224-B427-7EC2D74DCA33}" type="datetime1">
              <a:rPr lang="en-IN" smtClean="0"/>
              <a:t>29-07-2026</a:t>
            </a:fld>
            <a:endParaRPr lang="en-IN"/>
          </a:p>
        </p:txBody>
      </p:sp>
      <p:sp>
        <p:nvSpPr>
          <p:cNvPr id="8" name="Footer Placeholder 7"/>
          <p:cNvSpPr>
            <a:spLocks noGrp="1"/>
          </p:cNvSpPr>
          <p:nvPr>
            <p:ph type="ftr" sz="quarter" idx="11"/>
          </p:nvPr>
        </p:nvSpPr>
        <p:spPr/>
        <p:txBody>
          <a:bodyPr/>
          <a:lstStyle/>
          <a:p>
            <a:r>
              <a:rPr lang="en-IN"/>
              <a:t>Dept Of CSE(CY)</a:t>
            </a:r>
          </a:p>
        </p:txBody>
      </p:sp>
      <p:sp>
        <p:nvSpPr>
          <p:cNvPr id="9" name="Slide Number Placeholder 8"/>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2197043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48B2D86F-7CA0-460E-A6C4-E5BC475D2C5B}" type="datetime1">
              <a:rPr lang="en-IN" smtClean="0"/>
              <a:t>29-07-2026</a:t>
            </a:fld>
            <a:endParaRPr lang="en-IN"/>
          </a:p>
        </p:txBody>
      </p:sp>
      <p:sp>
        <p:nvSpPr>
          <p:cNvPr id="4" name="Footer Placeholder 3"/>
          <p:cNvSpPr>
            <a:spLocks noGrp="1"/>
          </p:cNvSpPr>
          <p:nvPr>
            <p:ph type="ftr" sz="quarter" idx="11"/>
          </p:nvPr>
        </p:nvSpPr>
        <p:spPr/>
        <p:txBody>
          <a:bodyPr/>
          <a:lstStyle/>
          <a:p>
            <a:r>
              <a:rPr lang="en-IN"/>
              <a:t>Dept Of CSE(CY)</a:t>
            </a:r>
          </a:p>
        </p:txBody>
      </p:sp>
      <p:sp>
        <p:nvSpPr>
          <p:cNvPr id="5" name="Slide Number Placeholder 4"/>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30548704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279E67E-59DF-41C6-AF4E-8CCF5A0B9D19}" type="datetime1">
              <a:rPr lang="en-IN" smtClean="0"/>
              <a:t>29-07-2026</a:t>
            </a:fld>
            <a:endParaRPr lang="en-IN"/>
          </a:p>
        </p:txBody>
      </p:sp>
      <p:sp>
        <p:nvSpPr>
          <p:cNvPr id="3" name="Footer Placeholder 2"/>
          <p:cNvSpPr>
            <a:spLocks noGrp="1"/>
          </p:cNvSpPr>
          <p:nvPr>
            <p:ph type="ftr" sz="quarter" idx="11"/>
          </p:nvPr>
        </p:nvSpPr>
        <p:spPr/>
        <p:txBody>
          <a:bodyPr/>
          <a:lstStyle/>
          <a:p>
            <a:r>
              <a:rPr lang="en-IN"/>
              <a:t>Dept Of CSE(CY)</a:t>
            </a:r>
          </a:p>
        </p:txBody>
      </p:sp>
      <p:sp>
        <p:nvSpPr>
          <p:cNvPr id="4" name="Slide Number Placeholder 3"/>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8880308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99F67AC-6CD0-4DC6-ACC1-5BC4849F4A9E}" type="datetime1">
              <a:rPr lang="en-IN" smtClean="0"/>
              <a:t>29-07-2026</a:t>
            </a:fld>
            <a:endParaRPr lang="en-IN"/>
          </a:p>
        </p:txBody>
      </p:sp>
      <p:sp>
        <p:nvSpPr>
          <p:cNvPr id="6" name="Footer Placeholder 5"/>
          <p:cNvSpPr>
            <a:spLocks noGrp="1"/>
          </p:cNvSpPr>
          <p:nvPr>
            <p:ph type="ftr" sz="quarter" idx="11"/>
          </p:nvPr>
        </p:nvSpPr>
        <p:spPr/>
        <p:txBody>
          <a:bodyPr/>
          <a:lstStyle/>
          <a:p>
            <a:r>
              <a:rPr lang="en-IN"/>
              <a:t>Dept Of CSE(CY)</a:t>
            </a:r>
          </a:p>
        </p:txBody>
      </p:sp>
      <p:sp>
        <p:nvSpPr>
          <p:cNvPr id="7" name="Slide Number Placeholder 6"/>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16928572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A1FF891-01F7-4F95-A904-4BA0CC6B3D5B}" type="datetime1">
              <a:rPr lang="en-IN" smtClean="0"/>
              <a:t>29-07-2026</a:t>
            </a:fld>
            <a:endParaRPr lang="en-IN"/>
          </a:p>
        </p:txBody>
      </p:sp>
      <p:sp>
        <p:nvSpPr>
          <p:cNvPr id="6" name="Footer Placeholder 5"/>
          <p:cNvSpPr>
            <a:spLocks noGrp="1"/>
          </p:cNvSpPr>
          <p:nvPr>
            <p:ph type="ftr" sz="quarter" idx="11"/>
          </p:nvPr>
        </p:nvSpPr>
        <p:spPr/>
        <p:txBody>
          <a:bodyPr/>
          <a:lstStyle/>
          <a:p>
            <a:r>
              <a:rPr lang="en-IN"/>
              <a:t>Dept Of CSE(CY)</a:t>
            </a:r>
          </a:p>
        </p:txBody>
      </p:sp>
      <p:sp>
        <p:nvSpPr>
          <p:cNvPr id="7" name="Slide Number Placeholder 6"/>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10764349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E294FB86-B8D6-464B-BE83-503A2B2E4D1A}" type="datetime1">
              <a:rPr lang="en-IN" smtClean="0"/>
              <a:t>29-07-2026</a:t>
            </a:fld>
            <a:endParaRPr lang="en-IN"/>
          </a:p>
        </p:txBody>
      </p:sp>
      <p:sp>
        <p:nvSpPr>
          <p:cNvPr id="5" name="Footer Placeholder 4"/>
          <p:cNvSpPr>
            <a:spLocks noGrp="1"/>
          </p:cNvSpPr>
          <p:nvPr>
            <p:ph type="ftr" sz="quarter" idx="11"/>
          </p:nvPr>
        </p:nvSpPr>
        <p:spPr/>
        <p:txBody>
          <a:bodyPr/>
          <a:lstStyle/>
          <a:p>
            <a:r>
              <a:rPr lang="en-IN"/>
              <a:t>Dept Of CSE(CY)</a:t>
            </a:r>
          </a:p>
        </p:txBody>
      </p:sp>
      <p:sp>
        <p:nvSpPr>
          <p:cNvPr id="6" name="Slide Number Placeholder 5"/>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9867943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DEADB445-6C26-4215-ADE0-69BC0DF004C4}" type="datetime1">
              <a:rPr lang="en-IN" smtClean="0"/>
              <a:t>29-07-2026</a:t>
            </a:fld>
            <a:endParaRPr lang="en-IN"/>
          </a:p>
        </p:txBody>
      </p:sp>
      <p:sp>
        <p:nvSpPr>
          <p:cNvPr id="5" name="Footer Placeholder 4"/>
          <p:cNvSpPr>
            <a:spLocks noGrp="1"/>
          </p:cNvSpPr>
          <p:nvPr>
            <p:ph type="ftr" sz="quarter" idx="11"/>
          </p:nvPr>
        </p:nvSpPr>
        <p:spPr/>
        <p:txBody>
          <a:bodyPr/>
          <a:lstStyle/>
          <a:p>
            <a:r>
              <a:rPr lang="en-IN"/>
              <a:t>Dept Of CSE(CY)</a:t>
            </a:r>
          </a:p>
        </p:txBody>
      </p:sp>
      <p:sp>
        <p:nvSpPr>
          <p:cNvPr id="6" name="Slide Number Placeholder 5"/>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21127615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2ED7676-86FB-4E22-823F-063ACE01E500}" type="datetime1">
              <a:rPr lang="en-IN" smtClean="0"/>
              <a:t>29-07-2026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Dept Of CSE(CY)</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C33CCD4-7228-4506-A3A6-5A9074B2CE31}" type="slidenum">
              <a:rPr lang="en-IN" smtClean="0"/>
              <a:t>‹#›</a:t>
            </a:fld>
            <a:endParaRPr lang="en-IN"/>
          </a:p>
        </p:txBody>
      </p:sp>
    </p:spTree>
    <p:extLst>
      <p:ext uri="{BB962C8B-B14F-4D97-AF65-F5344CB8AC3E}">
        <p14:creationId xmlns:p14="http://schemas.microsoft.com/office/powerpoint/2010/main" val="33352989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jecc.etlab.in/teacher/viewsubject/93460551045?sub_id=1916076829214&amp;sem_id=116225560662" TargetMode="External" /><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2.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3" Type="http://schemas.openxmlformats.org/officeDocument/2006/relationships/image" Target="../media/image2.jpeg" /><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7" name="Google Shape;185;p1"/>
          <p:cNvSpPr txBox="1">
            <a:spLocks/>
          </p:cNvSpPr>
          <p:nvPr/>
        </p:nvSpPr>
        <p:spPr bwMode="auto">
          <a:xfrm>
            <a:off x="1844889" y="2239060"/>
            <a:ext cx="9722822" cy="4618940"/>
          </a:xfrm>
          <a:prstGeom prst="rect">
            <a:avLst/>
          </a:prstGeom>
          <a:noFill/>
          <a:ln>
            <a:noFill/>
          </a:ln>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4300" indent="0" algn="ctr">
              <a:buSzPts val="1800"/>
              <a:buFont typeface="Arial" panose="020B0604020202020204" pitchFamily="34" charset="0"/>
              <a:buNone/>
              <a:defRPr/>
            </a:pPr>
            <a:endParaRPr lang="en-US" sz="5400" b="1" dirty="0">
              <a:solidFill>
                <a:srgbClr val="C0504D"/>
              </a:solidFill>
              <a:latin typeface="Times New Roman"/>
              <a:ea typeface="Times New Roman"/>
              <a:cs typeface="Times New Roman"/>
            </a:endParaRPr>
          </a:p>
          <a:p>
            <a:pPr marL="0" indent="0" algn="l">
              <a:buNone/>
            </a:pPr>
            <a:r>
              <a:rPr lang="en-IN" sz="4000" b="1" i="0" u="none" strike="noStrike" dirty="0">
                <a:solidFill>
                  <a:schemeClr val="accent2">
                    <a:lumMod val="75000"/>
                  </a:schemeClr>
                </a:solidFill>
                <a:effectLst/>
                <a:latin typeface="Helvetica Neue"/>
                <a:hlinkClick r:id="rId3">
                  <a:extLst>
                    <a:ext uri="{A12FA001-AC4F-418D-AE19-62706E023703}">
                      <ahyp:hlinkClr xmlns:ahyp="http://schemas.microsoft.com/office/drawing/2018/hyperlinkcolor" val="tx"/>
                    </a:ext>
                  </a:extLst>
                </a:hlinkClick>
              </a:rPr>
              <a:t>PBCST504 – MICROCONTROLLERS</a:t>
            </a:r>
            <a:endParaRPr lang="en-IN" sz="4000" b="1" i="0" u="none" strike="noStrike" dirty="0">
              <a:solidFill>
                <a:schemeClr val="accent2">
                  <a:lumMod val="75000"/>
                </a:schemeClr>
              </a:solidFill>
              <a:effectLst/>
              <a:latin typeface="Helvetica Neue"/>
            </a:endParaRPr>
          </a:p>
          <a:p>
            <a:pPr marL="0" indent="0" algn="ctr">
              <a:buNone/>
            </a:pPr>
            <a:r>
              <a:rPr lang="en-IN" sz="4000" b="1" dirty="0">
                <a:solidFill>
                  <a:schemeClr val="accent2">
                    <a:lumMod val="75000"/>
                  </a:schemeClr>
                </a:solidFill>
                <a:latin typeface="Helvetica Neue"/>
              </a:rPr>
              <a:t>MICRO PROJECT</a:t>
            </a:r>
            <a:endParaRPr lang="en-IN" sz="4000" b="1" i="0" dirty="0">
              <a:solidFill>
                <a:schemeClr val="accent2">
                  <a:lumMod val="75000"/>
                </a:schemeClr>
              </a:solidFill>
              <a:effectLst/>
              <a:latin typeface="Helvetica Neue"/>
            </a:endParaRPr>
          </a:p>
          <a:p>
            <a:pPr marL="114300" indent="0" algn="ctr">
              <a:buSzPts val="1800"/>
              <a:buNone/>
              <a:defRPr/>
            </a:pPr>
            <a:endParaRPr lang="en-US" sz="5400" b="1" dirty="0">
              <a:solidFill>
                <a:srgbClr val="C0504D"/>
              </a:solidFill>
              <a:latin typeface="Times New Roman"/>
              <a:cs typeface="Times New Roman"/>
            </a:endParaRPr>
          </a:p>
          <a:p>
            <a:pPr marL="114300" indent="0" algn="ctr">
              <a:buSzPts val="1800"/>
              <a:buNone/>
              <a:defRPr/>
            </a:pPr>
            <a:r>
              <a:rPr lang="en-US" sz="4800" b="1" dirty="0">
                <a:solidFill>
                  <a:srgbClr val="7030A0"/>
                </a:solidFill>
                <a:latin typeface="Times New Roman"/>
                <a:cs typeface="Times New Roman"/>
              </a:rPr>
              <a:t>Zeroth Review</a:t>
            </a:r>
            <a:endParaRPr lang="en-US" sz="4800" b="1" dirty="0">
              <a:solidFill>
                <a:srgbClr val="7030A0"/>
              </a:solidFill>
            </a:endParaRPr>
          </a:p>
        </p:txBody>
      </p:sp>
      <p:sp>
        <p:nvSpPr>
          <p:cNvPr id="3" name="TextBox 2">
            <a:extLst>
              <a:ext uri="{FF2B5EF4-FFF2-40B4-BE49-F238E27FC236}">
                <a16:creationId xmlns:a16="http://schemas.microsoft.com/office/drawing/2014/main" id="{50EFCA9B-7154-8DB5-CF04-66C0D91FC9BF}"/>
              </a:ext>
            </a:extLst>
          </p:cNvPr>
          <p:cNvSpPr txBox="1"/>
          <p:nvPr/>
        </p:nvSpPr>
        <p:spPr>
          <a:xfrm>
            <a:off x="4338320" y="-26620"/>
            <a:ext cx="184731" cy="276999"/>
          </a:xfrm>
          <a:prstGeom prst="rect">
            <a:avLst/>
          </a:prstGeom>
          <a:noFill/>
        </p:spPr>
        <p:txBody>
          <a:bodyPr wrap="none" rtlCol="0">
            <a:spAutoFit/>
          </a:bodyPr>
          <a:lstStyle/>
          <a:p>
            <a:endParaRPr lang="en-IN" sz="1200" dirty="0">
              <a:solidFill>
                <a:schemeClr val="bg1">
                  <a:lumMod val="65000"/>
                </a:schemeClr>
              </a:solidFill>
            </a:endParaRPr>
          </a:p>
        </p:txBody>
      </p:sp>
      <p:sp>
        <p:nvSpPr>
          <p:cNvPr id="4" name="Footer Placeholder 3">
            <a:extLst>
              <a:ext uri="{FF2B5EF4-FFF2-40B4-BE49-F238E27FC236}">
                <a16:creationId xmlns:a16="http://schemas.microsoft.com/office/drawing/2014/main" id="{9677F871-3FF3-6C84-5E77-37C9A4091070}"/>
              </a:ext>
            </a:extLst>
          </p:cNvPr>
          <p:cNvSpPr>
            <a:spLocks noGrp="1"/>
          </p:cNvSpPr>
          <p:nvPr>
            <p:ph type="ftr" sz="quarter" idx="11"/>
          </p:nvPr>
        </p:nvSpPr>
        <p:spPr/>
        <p:txBody>
          <a:bodyPr/>
          <a:lstStyle/>
          <a:p>
            <a:r>
              <a:rPr lang="en-IN"/>
              <a:t>Dept Of CSE(CY)</a:t>
            </a:r>
          </a:p>
        </p:txBody>
      </p:sp>
    </p:spTree>
    <p:extLst>
      <p:ext uri="{BB962C8B-B14F-4D97-AF65-F5344CB8AC3E}">
        <p14:creationId xmlns:p14="http://schemas.microsoft.com/office/powerpoint/2010/main" val="12410100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7" name="Google Shape;185;p1"/>
          <p:cNvSpPr txBox="1">
            <a:spLocks/>
          </p:cNvSpPr>
          <p:nvPr/>
        </p:nvSpPr>
        <p:spPr bwMode="auto">
          <a:xfrm>
            <a:off x="891251" y="2525696"/>
            <a:ext cx="9995917" cy="4228131"/>
          </a:xfrm>
          <a:prstGeom prst="rect">
            <a:avLst/>
          </a:prstGeom>
          <a:noFill/>
          <a:ln>
            <a:noFill/>
          </a:ln>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4300" indent="0" algn="just">
              <a:buSzPts val="1800"/>
              <a:buFont typeface="Arial" panose="020B0604020202020204" pitchFamily="34" charset="0"/>
              <a:buNone/>
              <a:defRPr/>
            </a:pPr>
            <a:r>
              <a:rPr lang="en-US" b="1" dirty="0">
                <a:solidFill>
                  <a:srgbClr val="C0504D"/>
                </a:solidFill>
                <a:latin typeface="Times New Roman"/>
                <a:ea typeface="Times New Roman"/>
                <a:cs typeface="Times New Roman"/>
              </a:rPr>
              <a:t> </a:t>
            </a:r>
            <a:r>
              <a:rPr lang="en-US" b="1" dirty="0">
                <a:solidFill>
                  <a:srgbClr val="0070C0"/>
                </a:solidFill>
                <a:latin typeface="Times New Roman"/>
                <a:ea typeface="Times New Roman"/>
                <a:cs typeface="Times New Roman"/>
              </a:rPr>
              <a:t>Title:- STM32 Smart Attendance Register Using RFID</a:t>
            </a:r>
            <a:endParaRPr lang="en-US" dirty="0">
              <a:solidFill>
                <a:srgbClr val="0070C0"/>
              </a:solidFill>
            </a:endParaRPr>
          </a:p>
        </p:txBody>
      </p:sp>
      <p:sp>
        <p:nvSpPr>
          <p:cNvPr id="8" name="Google Shape;187;p1"/>
          <p:cNvSpPr txBox="1">
            <a:spLocks/>
          </p:cNvSpPr>
          <p:nvPr/>
        </p:nvSpPr>
        <p:spPr bwMode="auto">
          <a:xfrm>
            <a:off x="588698" y="3032091"/>
            <a:ext cx="8283681" cy="2126868"/>
          </a:xfrm>
          <a:prstGeom prst="rect">
            <a:avLst/>
          </a:prstGeom>
          <a:noFill/>
          <a:ln>
            <a:noFill/>
          </a:ln>
        </p:spPr>
        <p:txBody>
          <a:bodyPr spcFirstLastPara="1" wrap="square" lIns="0" tIns="0" rIns="0" bIns="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4300" indent="0">
              <a:buSzPts val="1800"/>
              <a:buFont typeface="Arial" panose="020B0604020202020204" pitchFamily="34" charset="0"/>
              <a:buNone/>
              <a:defRPr/>
            </a:pPr>
            <a:r>
              <a:rPr lang="en-US" dirty="0">
                <a:solidFill>
                  <a:srgbClr val="00B050"/>
                </a:solidFill>
                <a:latin typeface="Times New Roman" panose="02020603050405020304" pitchFamily="18" charset="0"/>
                <a:cs typeface="Times New Roman" panose="02020603050405020304" pitchFamily="18" charset="0"/>
              </a:rPr>
              <a:t>     Group No:12</a:t>
            </a:r>
          </a:p>
          <a:p>
            <a:pPr marL="571500" lvl="1" indent="0">
              <a:buSzPts val="1800"/>
              <a:buNone/>
              <a:defRPr/>
            </a:pPr>
            <a:r>
              <a:rPr lang="en-US" dirty="0">
                <a:solidFill>
                  <a:srgbClr val="C00000"/>
                </a:solidFill>
                <a:latin typeface="Times New Roman" panose="02020603050405020304" pitchFamily="18" charset="0"/>
                <a:cs typeface="Times New Roman" panose="02020603050405020304" pitchFamily="18" charset="0"/>
              </a:rPr>
              <a:t>Members:JEC24CC014  ALBIN REJI </a:t>
            </a:r>
          </a:p>
          <a:p>
            <a:pPr marL="571500" lvl="1" indent="0">
              <a:buSzPts val="1800"/>
              <a:buNone/>
              <a:defRPr/>
            </a:pPr>
            <a:r>
              <a:rPr lang="en-US" dirty="0">
                <a:solidFill>
                  <a:srgbClr val="C00000"/>
                </a:solidFill>
                <a:latin typeface="Times New Roman" panose="02020603050405020304" pitchFamily="18" charset="0"/>
                <a:cs typeface="Times New Roman" panose="02020603050405020304" pitchFamily="18" charset="0"/>
              </a:rPr>
              <a:t>                JEC24CC019 ANGEL ZENNA K WILSON </a:t>
            </a:r>
          </a:p>
          <a:p>
            <a:pPr marL="571500" lvl="1" indent="0">
              <a:buSzPts val="1800"/>
              <a:buNone/>
              <a:defRPr/>
            </a:pPr>
            <a:r>
              <a:rPr lang="en-US" dirty="0">
                <a:solidFill>
                  <a:srgbClr val="C00000"/>
                </a:solidFill>
                <a:latin typeface="Times New Roman" panose="02020603050405020304" pitchFamily="18" charset="0"/>
                <a:cs typeface="Times New Roman" panose="02020603050405020304" pitchFamily="18" charset="0"/>
              </a:rPr>
              <a:t>                JEC24CC030 DEVAKKRISHNA K B</a:t>
            </a:r>
          </a:p>
          <a:p>
            <a:pPr marL="571500" lvl="1" indent="0">
              <a:buSzPts val="1800"/>
              <a:buNone/>
              <a:defRPr/>
            </a:pPr>
            <a:r>
              <a:rPr lang="en-US" dirty="0">
                <a:solidFill>
                  <a:srgbClr val="C00000"/>
                </a:solidFill>
                <a:latin typeface="Times New Roman" panose="02020603050405020304" pitchFamily="18" charset="0"/>
                <a:cs typeface="Times New Roman" panose="02020603050405020304" pitchFamily="18" charset="0"/>
              </a:rPr>
              <a:t>                JEC24CC059 V GANESH KUMAR </a:t>
            </a:r>
          </a:p>
          <a:p>
            <a:pPr marL="571500" lvl="1" indent="0">
              <a:buSzPts val="1800"/>
              <a:buNone/>
              <a:defRPr/>
            </a:pPr>
            <a:r>
              <a:rPr lang="en-US" dirty="0">
                <a:solidFill>
                  <a:srgbClr val="C00000"/>
                </a:solidFill>
                <a:latin typeface="Times New Roman" panose="02020603050405020304" pitchFamily="18" charset="0"/>
                <a:cs typeface="Times New Roman" panose="02020603050405020304" pitchFamily="18" charset="0"/>
              </a:rPr>
              <a:t>                JEC24CC061 VIJAY KRISHNA A S</a:t>
            </a:r>
          </a:p>
          <a:p>
            <a:pPr marL="571500" lvl="1" indent="0">
              <a:buSzPts val="1800"/>
              <a:buNone/>
              <a:defRPr/>
            </a:pPr>
            <a:r>
              <a:rPr lang="en-US" dirty="0">
                <a:solidFill>
                  <a:srgbClr val="C00000"/>
                </a:solidFill>
                <a:latin typeface="Times New Roman" panose="02020603050405020304" pitchFamily="18" charset="0"/>
                <a:cs typeface="Times New Roman" panose="02020603050405020304" pitchFamily="18" charset="0"/>
              </a:rPr>
              <a:t>        </a:t>
            </a:r>
          </a:p>
        </p:txBody>
      </p:sp>
      <p:sp>
        <p:nvSpPr>
          <p:cNvPr id="9" name="Google Shape;186;p1"/>
          <p:cNvSpPr txBox="1">
            <a:spLocks/>
          </p:cNvSpPr>
          <p:nvPr/>
        </p:nvSpPr>
        <p:spPr bwMode="auto">
          <a:xfrm>
            <a:off x="8331238" y="5134941"/>
            <a:ext cx="4015500" cy="1323600"/>
          </a:xfrm>
          <a:prstGeom prst="rect">
            <a:avLst/>
          </a:prstGeom>
          <a:noFill/>
          <a:ln>
            <a:noFill/>
          </a:ln>
        </p:spPr>
        <p:txBody>
          <a:bodyPr spcFirstLastPara="1" wrap="square" lIns="0" tIns="0" rIns="0" bIns="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4300" indent="0">
              <a:buSzPts val="1800"/>
              <a:buFont typeface="Arial" panose="020B0604020202020204" pitchFamily="34" charset="0"/>
              <a:buNone/>
              <a:defRPr/>
            </a:pPr>
            <a:r>
              <a:rPr lang="en-US" b="1" dirty="0">
                <a:solidFill>
                  <a:schemeClr val="bg2">
                    <a:lumMod val="10000"/>
                  </a:schemeClr>
                </a:solidFill>
                <a:latin typeface="Times New Roman" panose="02020603050405020304" pitchFamily="18" charset="0"/>
                <a:cs typeface="Times New Roman" panose="02020603050405020304" pitchFamily="18" charset="0"/>
              </a:rPr>
              <a:t>Project Coordinator:</a:t>
            </a:r>
          </a:p>
          <a:p>
            <a:pPr marL="114300" indent="0">
              <a:buSzPts val="1800"/>
              <a:buFont typeface="Arial" panose="020B0604020202020204" pitchFamily="34" charset="0"/>
              <a:buNone/>
              <a:defRPr/>
            </a:pPr>
            <a:r>
              <a:rPr lang="en-US" dirty="0" err="1">
                <a:solidFill>
                  <a:schemeClr val="bg2">
                    <a:lumMod val="10000"/>
                  </a:schemeClr>
                </a:solidFill>
                <a:latin typeface="Times New Roman" panose="02020603050405020304" pitchFamily="18" charset="0"/>
                <a:cs typeface="Times New Roman" panose="02020603050405020304" pitchFamily="18" charset="0"/>
              </a:rPr>
              <a:t>Ms.Sagna</a:t>
            </a:r>
            <a:r>
              <a:rPr lang="en-US" dirty="0">
                <a:solidFill>
                  <a:schemeClr val="bg2">
                    <a:lumMod val="10000"/>
                  </a:schemeClr>
                </a:solidFill>
                <a:latin typeface="Times New Roman" panose="02020603050405020304" pitchFamily="18" charset="0"/>
                <a:cs typeface="Times New Roman" panose="02020603050405020304" pitchFamily="18" charset="0"/>
              </a:rPr>
              <a:t> L T</a:t>
            </a:r>
          </a:p>
          <a:p>
            <a:pPr marL="114300" indent="0">
              <a:buSzPts val="1800"/>
              <a:buFont typeface="Arial" panose="020B0604020202020204" pitchFamily="34" charset="0"/>
              <a:buNone/>
              <a:defRPr/>
            </a:pPr>
            <a:r>
              <a:rPr lang="en-US" dirty="0">
                <a:solidFill>
                  <a:schemeClr val="bg2">
                    <a:lumMod val="10000"/>
                  </a:schemeClr>
                </a:solidFill>
                <a:latin typeface="Times New Roman" panose="02020603050405020304" pitchFamily="18" charset="0"/>
                <a:cs typeface="Times New Roman" panose="02020603050405020304" pitchFamily="18" charset="0"/>
              </a:rPr>
              <a:t>Asst. Prof. CSE(CY)</a:t>
            </a:r>
          </a:p>
          <a:p>
            <a:pPr marL="114300" indent="0">
              <a:buSzPts val="1800"/>
              <a:buFont typeface="Arial" panose="020B0604020202020204" pitchFamily="34" charset="0"/>
              <a:buNone/>
              <a:defRPr/>
            </a:pPr>
            <a:endParaRPr lang="en-US" dirty="0">
              <a:solidFill>
                <a:schemeClr val="bg2">
                  <a:lumMod val="10000"/>
                </a:schemeClr>
              </a:solidFill>
            </a:endParaRPr>
          </a:p>
        </p:txBody>
      </p:sp>
      <p:sp>
        <p:nvSpPr>
          <p:cNvPr id="2" name="TextBox 1">
            <a:extLst>
              <a:ext uri="{FF2B5EF4-FFF2-40B4-BE49-F238E27FC236}">
                <a16:creationId xmlns:a16="http://schemas.microsoft.com/office/drawing/2014/main" id="{7A41FD8F-8BEA-175C-57E7-B547F5E9A211}"/>
              </a:ext>
            </a:extLst>
          </p:cNvPr>
          <p:cNvSpPr txBox="1"/>
          <p:nvPr/>
        </p:nvSpPr>
        <p:spPr>
          <a:xfrm>
            <a:off x="5262978" y="2525697"/>
            <a:ext cx="1828800" cy="1828800"/>
          </a:xfrm>
          <a:prstGeom prst="rect">
            <a:avLst/>
          </a:prstGeom>
          <a:noFill/>
        </p:spPr>
        <p:txBody>
          <a:bodyPr wrap="square" rtlCol="0">
            <a:spAutoFit/>
          </a:bodyPr>
          <a:lstStyle/>
          <a:p>
            <a:pPr algn="l"/>
            <a:endParaRPr lang="en-US" dirty="0"/>
          </a:p>
        </p:txBody>
      </p:sp>
      <p:sp>
        <p:nvSpPr>
          <p:cNvPr id="3" name="Footer Placeholder 2">
            <a:extLst>
              <a:ext uri="{FF2B5EF4-FFF2-40B4-BE49-F238E27FC236}">
                <a16:creationId xmlns:a16="http://schemas.microsoft.com/office/drawing/2014/main" id="{97E27DA3-71D1-6A0A-0232-B0F01C2B5B8E}"/>
              </a:ext>
            </a:extLst>
          </p:cNvPr>
          <p:cNvSpPr>
            <a:spLocks noGrp="1"/>
          </p:cNvSpPr>
          <p:nvPr>
            <p:ph type="ftr" sz="quarter" idx="11"/>
          </p:nvPr>
        </p:nvSpPr>
        <p:spPr/>
        <p:txBody>
          <a:bodyPr/>
          <a:lstStyle/>
          <a:p>
            <a:r>
              <a:rPr lang="en-IN"/>
              <a:t>Dept Of CSE(CY)</a:t>
            </a:r>
          </a:p>
        </p:txBody>
      </p:sp>
      <p:sp>
        <p:nvSpPr>
          <p:cNvPr id="5" name="TextBox 4">
            <a:extLst>
              <a:ext uri="{FF2B5EF4-FFF2-40B4-BE49-F238E27FC236}">
                <a16:creationId xmlns:a16="http://schemas.microsoft.com/office/drawing/2014/main" id="{4255B9B8-1117-F97E-B1E0-86239655F023}"/>
              </a:ext>
            </a:extLst>
          </p:cNvPr>
          <p:cNvSpPr txBox="1"/>
          <p:nvPr/>
        </p:nvSpPr>
        <p:spPr>
          <a:xfrm>
            <a:off x="4521200" y="-50800"/>
            <a:ext cx="2791149" cy="538609"/>
          </a:xfrm>
          <a:prstGeom prst="rect">
            <a:avLst/>
          </a:prstGeom>
          <a:noFill/>
        </p:spPr>
        <p:txBody>
          <a:bodyPr wrap="none" rtlCol="0">
            <a:spAutoFit/>
          </a:bodyPr>
          <a:lstStyle/>
          <a:p>
            <a:r>
              <a:rPr lang="en-IN" sz="1100" dirty="0">
                <a:solidFill>
                  <a:schemeClr val="bg1">
                    <a:lumMod val="65000"/>
                  </a:schemeClr>
                </a:solidFill>
              </a:rPr>
              <a:t>STM32 Smart Attendance Register Using RFID</a:t>
            </a:r>
          </a:p>
          <a:p>
            <a:endParaRPr lang="en-IN" dirty="0"/>
          </a:p>
        </p:txBody>
      </p:sp>
    </p:spTree>
    <p:extLst>
      <p:ext uri="{BB962C8B-B14F-4D97-AF65-F5344CB8AC3E}">
        <p14:creationId xmlns:p14="http://schemas.microsoft.com/office/powerpoint/2010/main" val="9989084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10" name="Google Shape;154;p28"/>
          <p:cNvSpPr txBox="1">
            <a:spLocks/>
          </p:cNvSpPr>
          <p:nvPr/>
        </p:nvSpPr>
        <p:spPr bwMode="auto">
          <a:xfrm>
            <a:off x="785806" y="1990845"/>
            <a:ext cx="11033220" cy="4693534"/>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defRPr/>
            </a:pPr>
            <a:r>
              <a:rPr lang="en-US" b="1" dirty="0">
                <a:latin typeface="Times New Roman"/>
                <a:ea typeface="Times New Roman"/>
                <a:cs typeface="Times New Roman"/>
              </a:rPr>
              <a:t>DEPARTMENT OF COMPUTER SCIENCE &amp; ENGINEERING </a:t>
            </a:r>
          </a:p>
          <a:p>
            <a:pPr marL="0" indent="0" algn="ctr">
              <a:buFont typeface="Arial" panose="020B0604020202020204" pitchFamily="34" charset="0"/>
              <a:buNone/>
              <a:defRPr/>
            </a:pPr>
            <a:r>
              <a:rPr lang="en-US" b="1" dirty="0">
                <a:latin typeface="Times New Roman"/>
                <a:ea typeface="Times New Roman"/>
                <a:cs typeface="Times New Roman"/>
              </a:rPr>
              <a:t>(Cyber Security)</a:t>
            </a:r>
          </a:p>
          <a:p>
            <a:pPr marL="0" indent="0" algn="ctr">
              <a:buFont typeface="Arial" panose="020B0604020202020204" pitchFamily="34" charset="0"/>
              <a:buNone/>
              <a:defRPr/>
            </a:pPr>
            <a:r>
              <a:rPr lang="en-US" b="1" dirty="0"/>
              <a:t> </a:t>
            </a:r>
            <a:r>
              <a:rPr lang="en-US" sz="2100" b="1" dirty="0">
                <a:latin typeface="Times New Roman"/>
                <a:ea typeface="Times New Roman"/>
                <a:cs typeface="Times New Roman"/>
              </a:rPr>
              <a:t>Vision of the Department</a:t>
            </a:r>
          </a:p>
          <a:p>
            <a:pPr marL="0" indent="0" algn="ctr">
              <a:lnSpc>
                <a:spcPct val="150000"/>
              </a:lnSpc>
              <a:buNone/>
              <a:defRPr/>
            </a:pPr>
            <a:r>
              <a:rPr lang="en-IN" sz="2000" dirty="0">
                <a:solidFill>
                  <a:srgbClr val="000000"/>
                </a:solidFill>
                <a:effectLst/>
                <a:latin typeface="Times New Roman" panose="02020603050405020304" pitchFamily="18" charset="0"/>
                <a:ea typeface="Times New Roman" panose="02020603050405020304" pitchFamily="18" charset="0"/>
              </a:rPr>
              <a:t>To be a globally recognized centre of excellence in Cyber Security education, research and innovation by nurturing ethical professionals , fostering technological advancement through responsible practice and contributing to a secure and sustainable digital society.</a:t>
            </a:r>
            <a:endParaRPr lang="en-IN" sz="2000" dirty="0">
              <a:effectLst/>
              <a:latin typeface="Arial" panose="020B0604020202020204" pitchFamily="34" charset="0"/>
              <a:ea typeface="Arial" panose="020B0604020202020204" pitchFamily="34" charset="0"/>
            </a:endParaRPr>
          </a:p>
          <a:p>
            <a:pPr marL="0" indent="0" algn="ctr">
              <a:buFont typeface="Arial" panose="020B0604020202020204" pitchFamily="34" charset="0"/>
              <a:buNone/>
              <a:defRPr/>
            </a:pPr>
            <a:endParaRPr lang="en-US" sz="2100" b="1" dirty="0">
              <a:latin typeface="Times New Roman"/>
              <a:ea typeface="Times New Roman"/>
              <a:cs typeface="Times New Roman"/>
            </a:endParaRPr>
          </a:p>
          <a:p>
            <a:pPr marL="0" indent="0">
              <a:buClr>
                <a:schemeClr val="dk1"/>
              </a:buClr>
              <a:buSzPts val="1100"/>
              <a:buFont typeface="Arial"/>
              <a:buNone/>
              <a:defRPr/>
            </a:pPr>
            <a:endParaRPr lang="en-US" sz="2100" dirty="0">
              <a:latin typeface="Times New Roman"/>
              <a:ea typeface="Times New Roman"/>
              <a:cs typeface="Times New Roman"/>
            </a:endParaRPr>
          </a:p>
          <a:p>
            <a:pPr marL="0" indent="0">
              <a:buFont typeface="Arial" panose="020B0604020202020204" pitchFamily="34" charset="0"/>
              <a:buNone/>
              <a:defRPr/>
            </a:pPr>
            <a:endParaRPr lang="en-US" sz="1700" dirty="0">
              <a:latin typeface="Times New Roman"/>
              <a:ea typeface="Times New Roman"/>
              <a:cs typeface="Times New Roman"/>
            </a:endParaRPr>
          </a:p>
          <a:p>
            <a:pPr marL="0" indent="0">
              <a:buClr>
                <a:schemeClr val="dk1"/>
              </a:buClr>
              <a:buSzPts val="1100"/>
              <a:buFont typeface="Arial"/>
              <a:buNone/>
              <a:defRPr/>
            </a:pPr>
            <a:endParaRPr lang="en-US" sz="1300" dirty="0">
              <a:latin typeface="Times New Roman"/>
              <a:ea typeface="Times New Roman"/>
              <a:cs typeface="Times New Roman"/>
            </a:endParaRPr>
          </a:p>
          <a:p>
            <a:pPr marL="0" indent="0">
              <a:buFont typeface="Arial" panose="020B0604020202020204" pitchFamily="34" charset="0"/>
              <a:buNone/>
              <a:defRPr/>
            </a:pPr>
            <a:endParaRPr lang="en-US" sz="600" dirty="0">
              <a:latin typeface="Times New Roman"/>
              <a:ea typeface="Times New Roman"/>
              <a:cs typeface="Times New Roman"/>
            </a:endParaRPr>
          </a:p>
        </p:txBody>
      </p:sp>
      <p:sp>
        <p:nvSpPr>
          <p:cNvPr id="2" name="Footer Placeholder 1">
            <a:extLst>
              <a:ext uri="{FF2B5EF4-FFF2-40B4-BE49-F238E27FC236}">
                <a16:creationId xmlns:a16="http://schemas.microsoft.com/office/drawing/2014/main" id="{E1551186-601D-E079-0F22-0FB3C356C738}"/>
              </a:ext>
            </a:extLst>
          </p:cNvPr>
          <p:cNvSpPr>
            <a:spLocks noGrp="1"/>
          </p:cNvSpPr>
          <p:nvPr>
            <p:ph type="ftr" sz="quarter" idx="11"/>
          </p:nvPr>
        </p:nvSpPr>
        <p:spPr/>
        <p:txBody>
          <a:bodyPr/>
          <a:lstStyle/>
          <a:p>
            <a:r>
              <a:rPr lang="en-IN"/>
              <a:t>Dept Of CSE(CY)</a:t>
            </a:r>
          </a:p>
        </p:txBody>
      </p:sp>
      <p:sp>
        <p:nvSpPr>
          <p:cNvPr id="3" name="TextBox 2">
            <a:extLst>
              <a:ext uri="{FF2B5EF4-FFF2-40B4-BE49-F238E27FC236}">
                <a16:creationId xmlns:a16="http://schemas.microsoft.com/office/drawing/2014/main" id="{616EC8C1-59A1-86A3-F550-727803AA5E1D}"/>
              </a:ext>
            </a:extLst>
          </p:cNvPr>
          <p:cNvSpPr txBox="1"/>
          <p:nvPr/>
        </p:nvSpPr>
        <p:spPr>
          <a:xfrm>
            <a:off x="4653280" y="-20320"/>
            <a:ext cx="3023135" cy="553998"/>
          </a:xfrm>
          <a:prstGeom prst="rect">
            <a:avLst/>
          </a:prstGeom>
          <a:noFill/>
        </p:spPr>
        <p:txBody>
          <a:bodyPr wrap="none" rtlCol="0">
            <a:spAutoFit/>
          </a:bodyPr>
          <a:lstStyle/>
          <a:p>
            <a:r>
              <a:rPr lang="en-IN" sz="1200" dirty="0">
                <a:solidFill>
                  <a:schemeClr val="bg1">
                    <a:lumMod val="65000"/>
                  </a:schemeClr>
                </a:solidFill>
              </a:rPr>
              <a:t>STM32 Smart Attendance Register Using RFID</a:t>
            </a:r>
          </a:p>
          <a:p>
            <a:endParaRPr lang="en-IN" dirty="0"/>
          </a:p>
        </p:txBody>
      </p:sp>
    </p:spTree>
    <p:extLst>
      <p:ext uri="{BB962C8B-B14F-4D97-AF65-F5344CB8AC3E}">
        <p14:creationId xmlns:p14="http://schemas.microsoft.com/office/powerpoint/2010/main" val="605122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5869F6-06A2-2C9C-FE5E-4FD031430E3D}"/>
              </a:ext>
            </a:extLst>
          </p:cNvPr>
          <p:cNvSpPr>
            <a:spLocks noGrp="1"/>
          </p:cNvSpPr>
          <p:nvPr>
            <p:ph type="title"/>
          </p:nvPr>
        </p:nvSpPr>
        <p:spPr/>
        <p:txBody>
          <a:bodyPr/>
          <a:lstStyle/>
          <a:p>
            <a:endParaRPr lang="en-IN" b="1" dirty="0"/>
          </a:p>
        </p:txBody>
      </p:sp>
      <p:sp>
        <p:nvSpPr>
          <p:cNvPr id="3" name="Content Placeholder 2">
            <a:extLst>
              <a:ext uri="{FF2B5EF4-FFF2-40B4-BE49-F238E27FC236}">
                <a16:creationId xmlns:a16="http://schemas.microsoft.com/office/drawing/2014/main" id="{1BCCBBEA-1434-6DE1-CA55-FFE665791840}"/>
              </a:ext>
            </a:extLst>
          </p:cNvPr>
          <p:cNvSpPr>
            <a:spLocks noGrp="1"/>
          </p:cNvSpPr>
          <p:nvPr>
            <p:ph idx="1"/>
          </p:nvPr>
        </p:nvSpPr>
        <p:spPr>
          <a:xfrm>
            <a:off x="838200" y="2220261"/>
            <a:ext cx="10515600" cy="4351338"/>
          </a:xfrm>
        </p:spPr>
        <p:txBody>
          <a:bodyPr>
            <a:normAutofit fontScale="92500" lnSpcReduction="10000"/>
          </a:bodyPr>
          <a:lstStyle/>
          <a:p>
            <a:pPr marL="0" indent="0" algn="ctr">
              <a:buFont typeface="Arial" panose="020B0604020202020204" pitchFamily="34" charset="0"/>
              <a:buNone/>
              <a:defRPr/>
            </a:pPr>
            <a:r>
              <a:rPr lang="en-US" b="1" dirty="0">
                <a:latin typeface="Times New Roman"/>
                <a:ea typeface="Times New Roman"/>
                <a:cs typeface="Times New Roman"/>
              </a:rPr>
              <a:t>DEPARTMENT OF COMPUTER SCIENCE &amp; ENGINEERING </a:t>
            </a:r>
          </a:p>
          <a:p>
            <a:pPr marL="0" indent="0" algn="ctr">
              <a:buFont typeface="Arial" panose="020B0604020202020204" pitchFamily="34" charset="0"/>
              <a:buNone/>
              <a:defRPr/>
            </a:pPr>
            <a:r>
              <a:rPr lang="en-US" b="1" dirty="0">
                <a:latin typeface="Times New Roman"/>
                <a:ea typeface="Times New Roman"/>
                <a:cs typeface="Times New Roman"/>
              </a:rPr>
              <a:t>(Cyber Security)</a:t>
            </a:r>
          </a:p>
          <a:p>
            <a:pPr marL="0" indent="0" algn="ctr">
              <a:buNone/>
              <a:defRPr/>
            </a:pPr>
            <a:r>
              <a:rPr lang="en-US" b="1" dirty="0"/>
              <a:t> </a:t>
            </a:r>
            <a:r>
              <a:rPr lang="en-US" sz="2800" b="1" dirty="0">
                <a:latin typeface="Times New Roman"/>
                <a:ea typeface="Times New Roman"/>
                <a:cs typeface="Times New Roman"/>
              </a:rPr>
              <a:t>Mission of the Department</a:t>
            </a:r>
          </a:p>
          <a:p>
            <a:pPr algn="just">
              <a:spcBef>
                <a:spcPts val="1125"/>
              </a:spcBef>
              <a:spcAft>
                <a:spcPts val="1125"/>
              </a:spcAft>
            </a:pPr>
            <a:r>
              <a:rPr lang="en-IN" sz="1800" b="1" dirty="0">
                <a:effectLst/>
                <a:latin typeface="Times New Roman" panose="02020603050405020304" pitchFamily="18" charset="0"/>
                <a:ea typeface="Times New Roman" panose="02020603050405020304" pitchFamily="18" charset="0"/>
              </a:rPr>
              <a:t>M1: Excellence in Education</a:t>
            </a:r>
            <a:r>
              <a:rPr lang="en-IN" sz="1800" b="1" dirty="0">
                <a:latin typeface="Arial" panose="020B0604020202020204" pitchFamily="34" charset="0"/>
              </a:rPr>
              <a:t> : </a:t>
            </a:r>
            <a:r>
              <a:rPr lang="en-IN" sz="1800" dirty="0">
                <a:solidFill>
                  <a:srgbClr val="000000"/>
                </a:solidFill>
                <a:effectLst/>
                <a:latin typeface="Times New Roman" panose="02020603050405020304" pitchFamily="18" charset="0"/>
                <a:ea typeface="Times New Roman" panose="02020603050405020304" pitchFamily="18" charset="0"/>
              </a:rPr>
              <a:t>To provide outcome-based and industry-oriented education by integrating core computer science principles with advanced cybersecurity technologies and practices.</a:t>
            </a:r>
            <a:endParaRPr lang="en-IN" sz="1800" dirty="0">
              <a:effectLst/>
              <a:latin typeface="Arial" panose="020B0604020202020204" pitchFamily="34" charset="0"/>
              <a:ea typeface="Arial" panose="020B0604020202020204" pitchFamily="34" charset="0"/>
            </a:endParaRPr>
          </a:p>
          <a:p>
            <a:pPr algn="just">
              <a:spcBef>
                <a:spcPts val="1125"/>
              </a:spcBef>
              <a:spcAft>
                <a:spcPts val="1125"/>
              </a:spcAft>
            </a:pPr>
            <a:r>
              <a:rPr lang="en-IN" sz="1800" b="1" dirty="0">
                <a:effectLst/>
                <a:latin typeface="Times New Roman" panose="02020603050405020304" pitchFamily="18" charset="0"/>
                <a:ea typeface="Times New Roman" panose="02020603050405020304" pitchFamily="18" charset="0"/>
              </a:rPr>
              <a:t>M2: Ethics and Professional Responsibility : </a:t>
            </a:r>
            <a:r>
              <a:rPr lang="en-IN" sz="1800" dirty="0">
                <a:solidFill>
                  <a:srgbClr val="000000"/>
                </a:solidFill>
                <a:effectLst/>
                <a:latin typeface="Times New Roman" panose="02020603050405020304" pitchFamily="18" charset="0"/>
                <a:ea typeface="Times New Roman" panose="02020603050405020304" pitchFamily="18" charset="0"/>
              </a:rPr>
              <a:t>To cultivate ethical values, integrity, social responsibility, and secure computing practices for protecting digital assets and strengthening cyber trust.</a:t>
            </a:r>
            <a:endParaRPr lang="en-IN" sz="1800" dirty="0">
              <a:effectLst/>
              <a:latin typeface="Arial" panose="020B0604020202020204" pitchFamily="34" charset="0"/>
              <a:ea typeface="Arial" panose="020B0604020202020204" pitchFamily="34" charset="0"/>
            </a:endParaRPr>
          </a:p>
          <a:p>
            <a:pPr algn="just">
              <a:spcBef>
                <a:spcPts val="1125"/>
              </a:spcBef>
              <a:spcAft>
                <a:spcPts val="1125"/>
              </a:spcAft>
            </a:pPr>
            <a:r>
              <a:rPr lang="en-IN" sz="1800" b="1" dirty="0">
                <a:effectLst/>
                <a:latin typeface="Times New Roman" panose="02020603050405020304" pitchFamily="18" charset="0"/>
                <a:ea typeface="Times New Roman" panose="02020603050405020304" pitchFamily="18" charset="0"/>
              </a:rPr>
              <a:t>M3: Research, Innovation, and Entrepreneurship : </a:t>
            </a:r>
            <a:r>
              <a:rPr lang="en-IN" sz="1800" dirty="0">
                <a:solidFill>
                  <a:srgbClr val="000000"/>
                </a:solidFill>
                <a:effectLst/>
                <a:latin typeface="Times New Roman" panose="02020603050405020304" pitchFamily="18" charset="0"/>
                <a:ea typeface="Times New Roman" panose="02020603050405020304" pitchFamily="18" charset="0"/>
              </a:rPr>
              <a:t>To promote research, innovation, and entrepreneurial thinking for developing sustainable solutions to emerging cybersecurity challenges.</a:t>
            </a:r>
            <a:endParaRPr lang="en-IN" sz="1800" dirty="0">
              <a:effectLst/>
              <a:latin typeface="Arial" panose="020B0604020202020204" pitchFamily="34" charset="0"/>
              <a:ea typeface="Arial" panose="020B0604020202020204" pitchFamily="34" charset="0"/>
            </a:endParaRPr>
          </a:p>
          <a:p>
            <a:pPr algn="just">
              <a:spcBef>
                <a:spcPts val="1200"/>
              </a:spcBef>
              <a:spcAft>
                <a:spcPts val="1200"/>
              </a:spcAft>
            </a:pPr>
            <a:r>
              <a:rPr lang="en-IN" sz="1800" b="1" dirty="0">
                <a:effectLst/>
                <a:latin typeface="Times New Roman" panose="02020603050405020304" pitchFamily="18" charset="0"/>
                <a:ea typeface="Times New Roman" panose="02020603050405020304" pitchFamily="18" charset="0"/>
              </a:rPr>
              <a:t>M4: Holistic and Global Development : </a:t>
            </a:r>
            <a:r>
              <a:rPr lang="en-IN" sz="1800" dirty="0">
                <a:solidFill>
                  <a:srgbClr val="000000"/>
                </a:solidFill>
                <a:effectLst/>
                <a:latin typeface="Times New Roman" panose="02020603050405020304" pitchFamily="18" charset="0"/>
                <a:ea typeface="Times New Roman" panose="02020603050405020304" pitchFamily="18" charset="0"/>
              </a:rPr>
              <a:t>To enhance leadership, teamwork, lifelong learning, and global competence through industry collaboration, interdisciplinary activities, and community engagement.</a:t>
            </a:r>
            <a:endParaRPr lang="en-US" b="1" dirty="0">
              <a:latin typeface="Times New Roman"/>
              <a:ea typeface="Times New Roman"/>
              <a:cs typeface="Times New Roman"/>
            </a:endParaRPr>
          </a:p>
          <a:p>
            <a:pPr marL="0" indent="0" algn="ctr">
              <a:buFont typeface="Arial" panose="020B0604020202020204" pitchFamily="34" charset="0"/>
              <a:buNone/>
              <a:defRPr/>
            </a:pPr>
            <a:endParaRPr lang="en-US" b="1" dirty="0">
              <a:latin typeface="Times New Roman"/>
              <a:ea typeface="Times New Roman"/>
              <a:cs typeface="Times New Roman"/>
            </a:endParaRPr>
          </a:p>
        </p:txBody>
      </p:sp>
      <p:pic>
        <p:nvPicPr>
          <p:cNvPr id="4" name="Picture 3">
            <a:extLst>
              <a:ext uri="{FF2B5EF4-FFF2-40B4-BE49-F238E27FC236}">
                <a16:creationId xmlns:a16="http://schemas.microsoft.com/office/drawing/2014/main" id="{828CC5CA-38F7-B56F-B512-4FD8B75F85C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5487" y="365125"/>
            <a:ext cx="10579260" cy="1747701"/>
          </a:xfrm>
          <a:prstGeom prst="rect">
            <a:avLst/>
          </a:prstGeom>
        </p:spPr>
      </p:pic>
      <p:sp>
        <p:nvSpPr>
          <p:cNvPr id="5" name="Footer Placeholder 4">
            <a:extLst>
              <a:ext uri="{FF2B5EF4-FFF2-40B4-BE49-F238E27FC236}">
                <a16:creationId xmlns:a16="http://schemas.microsoft.com/office/drawing/2014/main" id="{9788BA75-6E16-FE33-DF87-E70B6049FBC8}"/>
              </a:ext>
            </a:extLst>
          </p:cNvPr>
          <p:cNvSpPr>
            <a:spLocks noGrp="1"/>
          </p:cNvSpPr>
          <p:nvPr>
            <p:ph type="ftr" sz="quarter" idx="11"/>
          </p:nvPr>
        </p:nvSpPr>
        <p:spPr/>
        <p:txBody>
          <a:bodyPr/>
          <a:lstStyle/>
          <a:p>
            <a:r>
              <a:rPr lang="en-IN"/>
              <a:t>Dept Of CSE(CY)</a:t>
            </a:r>
          </a:p>
        </p:txBody>
      </p:sp>
      <p:sp>
        <p:nvSpPr>
          <p:cNvPr id="6" name="TextBox 5">
            <a:extLst>
              <a:ext uri="{FF2B5EF4-FFF2-40B4-BE49-F238E27FC236}">
                <a16:creationId xmlns:a16="http://schemas.microsoft.com/office/drawing/2014/main" id="{AAF2CF8A-34A8-0CC1-9295-F2642853A77B}"/>
              </a:ext>
            </a:extLst>
          </p:cNvPr>
          <p:cNvSpPr txBox="1"/>
          <p:nvPr/>
        </p:nvSpPr>
        <p:spPr>
          <a:xfrm>
            <a:off x="4734560" y="-91440"/>
            <a:ext cx="3023135" cy="276999"/>
          </a:xfrm>
          <a:prstGeom prst="rect">
            <a:avLst/>
          </a:prstGeom>
          <a:noFill/>
        </p:spPr>
        <p:txBody>
          <a:bodyPr wrap="none" rtlCol="0">
            <a:spAutoFit/>
          </a:bodyPr>
          <a:lstStyle/>
          <a:p>
            <a:r>
              <a:rPr lang="en-IN" sz="1200" dirty="0">
                <a:solidFill>
                  <a:schemeClr val="bg1">
                    <a:lumMod val="65000"/>
                  </a:schemeClr>
                </a:solidFill>
              </a:rPr>
              <a:t>STM32 Smart Attendance Register Using RFID</a:t>
            </a:r>
          </a:p>
        </p:txBody>
      </p:sp>
    </p:spTree>
    <p:extLst>
      <p:ext uri="{BB962C8B-B14F-4D97-AF65-F5344CB8AC3E}">
        <p14:creationId xmlns:p14="http://schemas.microsoft.com/office/powerpoint/2010/main" val="28365535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4" name="Google Shape;159;p29"/>
          <p:cNvSpPr txBox="1">
            <a:spLocks/>
          </p:cNvSpPr>
          <p:nvPr/>
        </p:nvSpPr>
        <p:spPr bwMode="auto">
          <a:xfrm>
            <a:off x="575840" y="2268638"/>
            <a:ext cx="11210081" cy="4010699"/>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Clr>
                <a:schemeClr val="dk1"/>
              </a:buClr>
              <a:buSzPts val="1100"/>
              <a:buFont typeface="Arial"/>
              <a:buNone/>
              <a:defRPr/>
            </a:pPr>
            <a:r>
              <a:rPr lang="en-US" b="1" u="sng" dirty="0" err="1">
                <a:latin typeface="Times New Roman"/>
                <a:ea typeface="Times New Roman"/>
                <a:cs typeface="Times New Roman"/>
              </a:rPr>
              <a:t>Programme</a:t>
            </a:r>
            <a:r>
              <a:rPr lang="en-US" b="1" u="sng" dirty="0">
                <a:latin typeface="Times New Roman"/>
                <a:ea typeface="Times New Roman"/>
                <a:cs typeface="Times New Roman"/>
              </a:rPr>
              <a:t> Educational Objectives (PEOs)</a:t>
            </a:r>
          </a:p>
          <a:p>
            <a:pPr>
              <a:spcBef>
                <a:spcPts val="1200"/>
              </a:spcBef>
              <a:spcAft>
                <a:spcPts val="1200"/>
              </a:spcAft>
            </a:pPr>
            <a:r>
              <a:rPr lang="en-IN" sz="1800" b="1" dirty="0">
                <a:effectLst/>
                <a:latin typeface="Times New Roman" panose="02020603050405020304" pitchFamily="18" charset="0"/>
                <a:ea typeface="Times New Roman" panose="02020603050405020304" pitchFamily="18" charset="0"/>
              </a:rPr>
              <a:t>PEO 1:</a:t>
            </a:r>
            <a:r>
              <a:rPr lang="en-IN" sz="1800" b="1" dirty="0">
                <a:latin typeface="Arial" panose="020B0604020202020204" pitchFamily="34" charset="0"/>
              </a:rPr>
              <a:t> </a:t>
            </a:r>
            <a:r>
              <a:rPr lang="en-IN" sz="1800" dirty="0">
                <a:solidFill>
                  <a:srgbClr val="000000"/>
                </a:solidFill>
                <a:effectLst/>
                <a:latin typeface="Times New Roman" panose="02020603050405020304" pitchFamily="18" charset="0"/>
                <a:ea typeface="Times New Roman" panose="02020603050405020304" pitchFamily="18" charset="0"/>
              </a:rPr>
              <a:t>Graduates will apply strong foundations in computer science and cybersecurity to design, develop, and manage secure and reliable computing systems for industry and society.</a:t>
            </a:r>
            <a:endParaRPr lang="en-IN" sz="1800" dirty="0">
              <a:effectLst/>
              <a:latin typeface="Arial" panose="020B0604020202020204" pitchFamily="34" charset="0"/>
              <a:ea typeface="Arial" panose="020B0604020202020204" pitchFamily="34" charset="0"/>
            </a:endParaRPr>
          </a:p>
          <a:p>
            <a:pPr>
              <a:spcBef>
                <a:spcPts val="1200"/>
              </a:spcBef>
              <a:spcAft>
                <a:spcPts val="1200"/>
              </a:spcAft>
            </a:pPr>
            <a:r>
              <a:rPr lang="en-IN" sz="1800" b="1" dirty="0">
                <a:effectLst/>
                <a:latin typeface="Times New Roman" panose="02020603050405020304" pitchFamily="18" charset="0"/>
                <a:ea typeface="Times New Roman" panose="02020603050405020304" pitchFamily="18" charset="0"/>
              </a:rPr>
              <a:t>PEO 2:</a:t>
            </a:r>
            <a:r>
              <a:rPr lang="en-IN" sz="1800" b="1" dirty="0">
                <a:latin typeface="Arial" panose="020B0604020202020204" pitchFamily="34" charset="0"/>
              </a:rPr>
              <a:t> </a:t>
            </a:r>
            <a:r>
              <a:rPr lang="en-IN" sz="1800" dirty="0">
                <a:effectLst/>
                <a:latin typeface="Times New Roman" panose="02020603050405020304" pitchFamily="18" charset="0"/>
                <a:ea typeface="Times New Roman" panose="02020603050405020304" pitchFamily="18" charset="0"/>
              </a:rPr>
              <a:t>Graduates will pursue successful careers as professionals, innovators or entrepreneurs engaged in technology development, deployment or engineering system implementation in industry and society and contribute to the economic growth of the country. </a:t>
            </a:r>
            <a:endParaRPr lang="en-IN" sz="1800" dirty="0">
              <a:effectLst/>
              <a:latin typeface="Arial" panose="020B0604020202020204" pitchFamily="34" charset="0"/>
              <a:ea typeface="Arial" panose="020B0604020202020204" pitchFamily="34" charset="0"/>
            </a:endParaRPr>
          </a:p>
          <a:p>
            <a:pPr>
              <a:spcBef>
                <a:spcPts val="1200"/>
              </a:spcBef>
              <a:spcAft>
                <a:spcPts val="1200"/>
              </a:spcAft>
            </a:pPr>
            <a:r>
              <a:rPr lang="en-IN" sz="1800" b="1" dirty="0">
                <a:effectLst/>
                <a:latin typeface="Times New Roman" panose="02020603050405020304" pitchFamily="18" charset="0"/>
                <a:ea typeface="Times New Roman" panose="02020603050405020304" pitchFamily="18" charset="0"/>
              </a:rPr>
              <a:t>PEO 3:</a:t>
            </a:r>
            <a:r>
              <a:rPr lang="en-IN" sz="1800" b="1" dirty="0">
                <a:latin typeface="Arial" panose="020B0604020202020204" pitchFamily="34" charset="0"/>
              </a:rPr>
              <a:t> </a:t>
            </a:r>
            <a:r>
              <a:rPr lang="en-IN" sz="1800" dirty="0">
                <a:solidFill>
                  <a:srgbClr val="000000"/>
                </a:solidFill>
                <a:effectLst/>
                <a:latin typeface="Times New Roman" panose="02020603050405020304" pitchFamily="18" charset="0"/>
                <a:ea typeface="Times New Roman" panose="02020603050405020304" pitchFamily="18" charset="0"/>
              </a:rPr>
              <a:t>Graduates will demonstrate ethical responsibility, leadership, teamwork, and effective communication while adapting to evolving global technological environments through lifelong learning.</a:t>
            </a:r>
            <a:endParaRPr lang="en-IN" sz="1800" dirty="0">
              <a:effectLst/>
              <a:latin typeface="Arial" panose="020B0604020202020204" pitchFamily="34" charset="0"/>
              <a:ea typeface="Arial" panose="020B0604020202020204" pitchFamily="34" charset="0"/>
            </a:endParaRPr>
          </a:p>
          <a:p>
            <a:pPr marL="0" indent="0">
              <a:buFont typeface="Arial" panose="020B0604020202020204" pitchFamily="34" charset="0"/>
              <a:buNone/>
              <a:defRPr/>
            </a:pPr>
            <a:endParaRPr lang="en-US" sz="1800" dirty="0">
              <a:latin typeface="Times New Roman"/>
              <a:ea typeface="Times New Roman"/>
              <a:cs typeface="Times New Roman"/>
            </a:endParaRPr>
          </a:p>
        </p:txBody>
      </p:sp>
      <p:sp>
        <p:nvSpPr>
          <p:cNvPr id="2" name="Footer Placeholder 1">
            <a:extLst>
              <a:ext uri="{FF2B5EF4-FFF2-40B4-BE49-F238E27FC236}">
                <a16:creationId xmlns:a16="http://schemas.microsoft.com/office/drawing/2014/main" id="{E219CA6D-53BD-CC25-40A7-F6BAE0DD7A13}"/>
              </a:ext>
            </a:extLst>
          </p:cNvPr>
          <p:cNvSpPr>
            <a:spLocks noGrp="1"/>
          </p:cNvSpPr>
          <p:nvPr>
            <p:ph type="ftr" sz="quarter" idx="11"/>
          </p:nvPr>
        </p:nvSpPr>
        <p:spPr/>
        <p:txBody>
          <a:bodyPr/>
          <a:lstStyle/>
          <a:p>
            <a:r>
              <a:rPr lang="en-IN"/>
              <a:t>Dept Of CSE(CY)</a:t>
            </a:r>
          </a:p>
        </p:txBody>
      </p:sp>
      <p:sp>
        <p:nvSpPr>
          <p:cNvPr id="3" name="TextBox 2">
            <a:extLst>
              <a:ext uri="{FF2B5EF4-FFF2-40B4-BE49-F238E27FC236}">
                <a16:creationId xmlns:a16="http://schemas.microsoft.com/office/drawing/2014/main" id="{195E6DE0-2525-F62F-1F6C-492D58D2DE59}"/>
              </a:ext>
            </a:extLst>
          </p:cNvPr>
          <p:cNvSpPr txBox="1"/>
          <p:nvPr/>
        </p:nvSpPr>
        <p:spPr>
          <a:xfrm>
            <a:off x="4541520" y="-81280"/>
            <a:ext cx="3023135" cy="553998"/>
          </a:xfrm>
          <a:prstGeom prst="rect">
            <a:avLst/>
          </a:prstGeom>
          <a:noFill/>
        </p:spPr>
        <p:txBody>
          <a:bodyPr wrap="none" rtlCol="0">
            <a:spAutoFit/>
          </a:bodyPr>
          <a:lstStyle/>
          <a:p>
            <a:r>
              <a:rPr lang="en-IN" sz="1200" dirty="0">
                <a:solidFill>
                  <a:schemeClr val="bg1">
                    <a:lumMod val="65000"/>
                  </a:schemeClr>
                </a:solidFill>
              </a:rPr>
              <a:t>STM32 Smart Attendance Register Using RFID</a:t>
            </a:r>
          </a:p>
          <a:p>
            <a:endParaRPr lang="en-IN" dirty="0"/>
          </a:p>
        </p:txBody>
      </p:sp>
    </p:spTree>
    <p:extLst>
      <p:ext uri="{BB962C8B-B14F-4D97-AF65-F5344CB8AC3E}">
        <p14:creationId xmlns:p14="http://schemas.microsoft.com/office/powerpoint/2010/main" val="26026299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5" name="Google Shape;164;p30"/>
          <p:cNvSpPr txBox="1">
            <a:spLocks/>
          </p:cNvSpPr>
          <p:nvPr/>
        </p:nvSpPr>
        <p:spPr bwMode="auto">
          <a:xfrm>
            <a:off x="393538" y="1990844"/>
            <a:ext cx="11250593" cy="4641449"/>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14999"/>
              </a:lnSpc>
              <a:spcBef>
                <a:spcPts val="0"/>
              </a:spcBef>
              <a:buClr>
                <a:schemeClr val="dk1"/>
              </a:buClr>
              <a:buSzPts val="1100"/>
              <a:buFont typeface="Arial"/>
              <a:buNone/>
              <a:defRPr/>
            </a:pPr>
            <a:r>
              <a:rPr lang="en-US" b="1" u="sng" dirty="0" err="1">
                <a:latin typeface="Times New Roman"/>
                <a:ea typeface="Times New Roman"/>
                <a:cs typeface="Times New Roman"/>
              </a:rPr>
              <a:t>Programme</a:t>
            </a:r>
            <a:r>
              <a:rPr lang="en-US" b="1" u="sng" dirty="0">
                <a:latin typeface="Times New Roman"/>
                <a:ea typeface="Times New Roman"/>
                <a:cs typeface="Times New Roman"/>
              </a:rPr>
              <a:t> Outcomes</a:t>
            </a:r>
            <a:endParaRPr lang="en-US" u="sng" dirty="0">
              <a:latin typeface="Times New Roman"/>
              <a:ea typeface="Times New Roman"/>
              <a:cs typeface="Times New Roman"/>
            </a:endParaRPr>
          </a:p>
          <a:p>
            <a:pPr marL="0" indent="0">
              <a:lnSpc>
                <a:spcPct val="114999"/>
              </a:lnSpc>
              <a:spcBef>
                <a:spcPts val="0"/>
              </a:spcBef>
              <a:buFont typeface="Arial" panose="020B0604020202020204" pitchFamily="34" charset="0"/>
              <a:buNone/>
              <a:defRPr/>
            </a:pPr>
            <a:r>
              <a:rPr lang="en-US" sz="1400" dirty="0">
                <a:latin typeface="Times New Roman"/>
                <a:ea typeface="Times New Roman"/>
                <a:cs typeface="Times New Roman"/>
              </a:rPr>
              <a:t>    Engineering Graduates will be able to:</a:t>
            </a:r>
          </a:p>
          <a:p>
            <a:pPr marL="457200" marR="274320" indent="0" algn="just">
              <a:lnSpc>
                <a:spcPct val="114999"/>
              </a:lnSpc>
              <a:spcBef>
                <a:spcPts val="0"/>
              </a:spcBef>
              <a:buClr>
                <a:schemeClr val="dk1"/>
              </a:buClr>
              <a:buSzPts val="1100"/>
              <a:buFont typeface="Arial"/>
              <a:buNone/>
              <a:defRPr/>
            </a:pPr>
            <a:r>
              <a:rPr lang="en-US" sz="1500" dirty="0">
                <a:latin typeface="Times New Roman"/>
                <a:ea typeface="Times New Roman"/>
                <a:cs typeface="Times New Roman"/>
              </a:rPr>
              <a:t>1. </a:t>
            </a:r>
            <a:r>
              <a:rPr lang="en-US" sz="1500" b="1" dirty="0">
                <a:latin typeface="Times New Roman"/>
                <a:ea typeface="Times New Roman"/>
                <a:cs typeface="Times New Roman"/>
              </a:rPr>
              <a:t>Engineering knowledge:</a:t>
            </a:r>
            <a:r>
              <a:rPr lang="en-US" sz="1500" dirty="0">
                <a:latin typeface="Times New Roman"/>
                <a:ea typeface="Times New Roman"/>
                <a:cs typeface="Times New Roman"/>
              </a:rPr>
              <a:t> Apply the knowledge of mathematics, science, engineering fundamentals, and an engineering specialization to the solution of complex engineering problems.</a:t>
            </a:r>
          </a:p>
          <a:p>
            <a:pPr marL="457200" marR="274320" indent="0" algn="just">
              <a:lnSpc>
                <a:spcPct val="114999"/>
              </a:lnSpc>
              <a:spcBef>
                <a:spcPts val="0"/>
              </a:spcBef>
              <a:buClr>
                <a:schemeClr val="dk1"/>
              </a:buClr>
              <a:buSzPts val="1100"/>
              <a:buFont typeface="Arial"/>
              <a:buNone/>
              <a:defRPr/>
            </a:pPr>
            <a:br>
              <a:rPr lang="en-US" sz="1500" dirty="0">
                <a:latin typeface="Times New Roman"/>
                <a:ea typeface="Times New Roman"/>
                <a:cs typeface="Times New Roman"/>
              </a:rPr>
            </a:br>
            <a:r>
              <a:rPr lang="en-US" sz="1500" dirty="0">
                <a:latin typeface="Times New Roman"/>
                <a:ea typeface="Times New Roman"/>
                <a:cs typeface="Times New Roman"/>
              </a:rPr>
              <a:t>2. </a:t>
            </a:r>
            <a:r>
              <a:rPr lang="en-US" sz="1500" b="1" dirty="0">
                <a:latin typeface="Times New Roman"/>
                <a:ea typeface="Times New Roman"/>
                <a:cs typeface="Times New Roman"/>
              </a:rPr>
              <a:t>Problem analysis:</a:t>
            </a:r>
            <a:r>
              <a:rPr lang="en-US" sz="1500" dirty="0">
                <a:latin typeface="Times New Roman"/>
                <a:ea typeface="Times New Roman"/>
                <a:cs typeface="Times New Roman"/>
              </a:rPr>
              <a:t> Identify, formulate, review research literature, and analyze complex engineering problems reaching substantiated conclusions using first principles of mathematics, natural sciences, and engineering sciences.</a:t>
            </a:r>
          </a:p>
          <a:p>
            <a:pPr marL="457200" marR="274320" indent="0" algn="just">
              <a:lnSpc>
                <a:spcPct val="114999"/>
              </a:lnSpc>
              <a:spcBef>
                <a:spcPts val="0"/>
              </a:spcBef>
              <a:buClr>
                <a:schemeClr val="dk1"/>
              </a:buClr>
              <a:buSzPts val="1100"/>
              <a:buFont typeface="Arial"/>
              <a:buNone/>
              <a:defRPr/>
            </a:pPr>
            <a:br>
              <a:rPr lang="en-US" sz="1500" dirty="0">
                <a:latin typeface="Times New Roman"/>
                <a:ea typeface="Times New Roman"/>
                <a:cs typeface="Times New Roman"/>
              </a:rPr>
            </a:br>
            <a:r>
              <a:rPr lang="en-US" sz="1500" dirty="0">
                <a:latin typeface="Times New Roman"/>
                <a:ea typeface="Times New Roman"/>
                <a:cs typeface="Times New Roman"/>
              </a:rPr>
              <a:t>3. </a:t>
            </a:r>
            <a:r>
              <a:rPr lang="en-US" sz="1500" b="1" dirty="0">
                <a:latin typeface="Times New Roman"/>
                <a:ea typeface="Times New Roman"/>
                <a:cs typeface="Times New Roman"/>
              </a:rPr>
              <a:t>Design/development of solutions:</a:t>
            </a:r>
            <a:r>
              <a:rPr lang="en-US" sz="1500" dirty="0">
                <a:latin typeface="Times New Roman"/>
                <a:ea typeface="Times New Roman"/>
                <a:cs typeface="Times New Roman"/>
              </a:rPr>
              <a:t> Design solutions for complex engineering problems and design system components or processes that meet the specified needs with appropriate consideration for the public health and safety, and the cultural, societal, and environmental considerations.</a:t>
            </a:r>
          </a:p>
          <a:p>
            <a:pPr marL="457200" marR="274320" indent="0" algn="just">
              <a:lnSpc>
                <a:spcPct val="114999"/>
              </a:lnSpc>
              <a:spcBef>
                <a:spcPts val="0"/>
              </a:spcBef>
              <a:buClr>
                <a:schemeClr val="dk1"/>
              </a:buClr>
              <a:buSzPts val="1100"/>
              <a:buFont typeface="Arial"/>
              <a:buNone/>
              <a:defRPr/>
            </a:pPr>
            <a:br>
              <a:rPr lang="en-US" sz="1500" dirty="0">
                <a:latin typeface="Times New Roman"/>
                <a:ea typeface="Times New Roman"/>
                <a:cs typeface="Times New Roman"/>
              </a:rPr>
            </a:br>
            <a:r>
              <a:rPr lang="en-US" sz="1500" dirty="0">
                <a:latin typeface="Times New Roman"/>
                <a:ea typeface="Times New Roman"/>
                <a:cs typeface="Times New Roman"/>
              </a:rPr>
              <a:t>4. </a:t>
            </a:r>
            <a:r>
              <a:rPr lang="en-US" sz="1500" b="1" dirty="0">
                <a:latin typeface="Times New Roman"/>
                <a:ea typeface="Times New Roman"/>
                <a:cs typeface="Times New Roman"/>
              </a:rPr>
              <a:t>Conduct investigations of complex problems:</a:t>
            </a:r>
            <a:r>
              <a:rPr lang="en-US" sz="1500" dirty="0">
                <a:latin typeface="Times New Roman"/>
                <a:ea typeface="Times New Roman"/>
                <a:cs typeface="Times New Roman"/>
              </a:rPr>
              <a:t> Use research-based knowledge and research methods including design of experiments, analysis and interpretation of data, and synthesis of the information to provide valid conclusions.</a:t>
            </a:r>
          </a:p>
          <a:p>
            <a:pPr marL="457200" marR="274320" indent="0" algn="just">
              <a:lnSpc>
                <a:spcPct val="114999"/>
              </a:lnSpc>
              <a:spcBef>
                <a:spcPts val="0"/>
              </a:spcBef>
              <a:buClr>
                <a:schemeClr val="dk1"/>
              </a:buClr>
              <a:buSzPts val="1100"/>
              <a:buFont typeface="Arial"/>
              <a:buNone/>
              <a:defRPr/>
            </a:pPr>
            <a:r>
              <a:rPr lang="en-US" sz="1500" dirty="0">
                <a:latin typeface="Times New Roman"/>
                <a:ea typeface="Times New Roman"/>
                <a:cs typeface="Times New Roman"/>
              </a:rPr>
              <a:t>5. </a:t>
            </a:r>
            <a:r>
              <a:rPr lang="en-US" sz="1500" b="1" dirty="0">
                <a:latin typeface="Times New Roman"/>
                <a:ea typeface="Times New Roman"/>
                <a:cs typeface="Times New Roman"/>
              </a:rPr>
              <a:t>Modern tool usage:</a:t>
            </a:r>
            <a:r>
              <a:rPr lang="en-US" sz="1500" dirty="0">
                <a:latin typeface="Times New Roman"/>
                <a:ea typeface="Times New Roman"/>
                <a:cs typeface="Times New Roman"/>
              </a:rPr>
              <a:t> Create, select, and apply appropriate techniques, resources, and modern engineering and IT tools including prediction and modeling to complex engineering activities with an understanding of the limitations.</a:t>
            </a:r>
          </a:p>
          <a:p>
            <a:pPr marL="0" indent="0">
              <a:buFont typeface="Arial" panose="020B0604020202020204" pitchFamily="34" charset="0"/>
              <a:buNone/>
              <a:defRPr/>
            </a:pPr>
            <a:endParaRPr lang="en-US" sz="3100" dirty="0"/>
          </a:p>
        </p:txBody>
      </p:sp>
      <p:sp>
        <p:nvSpPr>
          <p:cNvPr id="2" name="Footer Placeholder 1">
            <a:extLst>
              <a:ext uri="{FF2B5EF4-FFF2-40B4-BE49-F238E27FC236}">
                <a16:creationId xmlns:a16="http://schemas.microsoft.com/office/drawing/2014/main" id="{4BDBCBB7-25EE-C744-330F-41C4059C8387}"/>
              </a:ext>
            </a:extLst>
          </p:cNvPr>
          <p:cNvSpPr>
            <a:spLocks noGrp="1"/>
          </p:cNvSpPr>
          <p:nvPr>
            <p:ph type="ftr" sz="quarter" idx="11"/>
          </p:nvPr>
        </p:nvSpPr>
        <p:spPr/>
        <p:txBody>
          <a:bodyPr/>
          <a:lstStyle/>
          <a:p>
            <a:r>
              <a:rPr lang="en-IN"/>
              <a:t>Dept Of CSE(CY)</a:t>
            </a:r>
          </a:p>
        </p:txBody>
      </p:sp>
      <p:sp>
        <p:nvSpPr>
          <p:cNvPr id="3" name="TextBox 2">
            <a:extLst>
              <a:ext uri="{FF2B5EF4-FFF2-40B4-BE49-F238E27FC236}">
                <a16:creationId xmlns:a16="http://schemas.microsoft.com/office/drawing/2014/main" id="{7E1F5B81-8B26-2789-FE82-446709E62EBE}"/>
              </a:ext>
            </a:extLst>
          </p:cNvPr>
          <p:cNvSpPr txBox="1"/>
          <p:nvPr/>
        </p:nvSpPr>
        <p:spPr>
          <a:xfrm>
            <a:off x="4500880" y="-60960"/>
            <a:ext cx="3023135" cy="553998"/>
          </a:xfrm>
          <a:prstGeom prst="rect">
            <a:avLst/>
          </a:prstGeom>
          <a:noFill/>
        </p:spPr>
        <p:txBody>
          <a:bodyPr wrap="none" rtlCol="0">
            <a:spAutoFit/>
          </a:bodyPr>
          <a:lstStyle/>
          <a:p>
            <a:r>
              <a:rPr lang="en-IN" sz="1200" dirty="0">
                <a:solidFill>
                  <a:schemeClr val="bg1">
                    <a:lumMod val="65000"/>
                  </a:schemeClr>
                </a:solidFill>
              </a:rPr>
              <a:t>STM32 Smart Attendance Register Using RFID</a:t>
            </a:r>
          </a:p>
          <a:p>
            <a:endParaRPr lang="en-IN" dirty="0"/>
          </a:p>
        </p:txBody>
      </p:sp>
    </p:spTree>
    <p:extLst>
      <p:ext uri="{BB962C8B-B14F-4D97-AF65-F5344CB8AC3E}">
        <p14:creationId xmlns:p14="http://schemas.microsoft.com/office/powerpoint/2010/main" val="37359244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4" name="Google Shape;169;p31"/>
          <p:cNvSpPr txBox="1">
            <a:spLocks/>
          </p:cNvSpPr>
          <p:nvPr/>
        </p:nvSpPr>
        <p:spPr bwMode="auto">
          <a:xfrm>
            <a:off x="92596" y="2268638"/>
            <a:ext cx="11910349" cy="4589362"/>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74320" marR="274320" indent="0" algn="just">
              <a:lnSpc>
                <a:spcPct val="114999"/>
              </a:lnSpc>
              <a:spcBef>
                <a:spcPts val="0"/>
              </a:spcBef>
              <a:buClr>
                <a:schemeClr val="dk1"/>
              </a:buClr>
              <a:buSzPts val="1100"/>
              <a:buFont typeface="Arial"/>
              <a:buNone/>
              <a:defRPr/>
            </a:pPr>
            <a:br>
              <a:rPr lang="en-US" sz="1200" dirty="0">
                <a:latin typeface="Times New Roman"/>
                <a:ea typeface="Times New Roman"/>
                <a:cs typeface="Times New Roman"/>
              </a:rPr>
            </a:br>
            <a:r>
              <a:rPr lang="en-US" sz="1400" dirty="0">
                <a:latin typeface="Times New Roman"/>
                <a:ea typeface="Times New Roman"/>
                <a:cs typeface="Times New Roman"/>
              </a:rPr>
              <a:t>6. </a:t>
            </a:r>
            <a:r>
              <a:rPr lang="en-US" sz="1400" b="1" dirty="0">
                <a:latin typeface="Times New Roman"/>
                <a:ea typeface="Times New Roman"/>
                <a:cs typeface="Times New Roman"/>
              </a:rPr>
              <a:t>The engineer and society:</a:t>
            </a:r>
            <a:r>
              <a:rPr lang="en-US" sz="1400" dirty="0">
                <a:latin typeface="Times New Roman"/>
                <a:ea typeface="Times New Roman"/>
                <a:cs typeface="Times New Roman"/>
              </a:rPr>
              <a:t> Apply reasoning informed by the contextual knowledge to assess societal, health, safety, legal and cultural issues and the consequent responsibilities relevant to the professional engineering practice.</a:t>
            </a:r>
          </a:p>
          <a:p>
            <a:pPr marL="274320" marR="274320" indent="0" algn="just">
              <a:lnSpc>
                <a:spcPct val="114999"/>
              </a:lnSpc>
              <a:spcBef>
                <a:spcPts val="0"/>
              </a:spcBef>
              <a:buClr>
                <a:schemeClr val="dk1"/>
              </a:buClr>
              <a:buSzPts val="1100"/>
              <a:buFont typeface="Arial"/>
              <a:buNone/>
              <a:defRPr/>
            </a:pPr>
            <a:br>
              <a:rPr lang="en-US" sz="1400" dirty="0">
                <a:latin typeface="Times New Roman"/>
                <a:ea typeface="Times New Roman"/>
                <a:cs typeface="Times New Roman"/>
              </a:rPr>
            </a:br>
            <a:r>
              <a:rPr lang="en-US" sz="1400" dirty="0">
                <a:latin typeface="Times New Roman"/>
                <a:ea typeface="Times New Roman"/>
                <a:cs typeface="Times New Roman"/>
              </a:rPr>
              <a:t>7. </a:t>
            </a:r>
            <a:r>
              <a:rPr lang="en-US" sz="1400" b="1" dirty="0">
                <a:latin typeface="Times New Roman"/>
                <a:ea typeface="Times New Roman"/>
                <a:cs typeface="Times New Roman"/>
              </a:rPr>
              <a:t>Environment and sustainability:</a:t>
            </a:r>
            <a:r>
              <a:rPr lang="en-US" sz="1400" dirty="0">
                <a:latin typeface="Times New Roman"/>
                <a:ea typeface="Times New Roman"/>
                <a:cs typeface="Times New Roman"/>
              </a:rPr>
              <a:t> Understand the impact of the professional engineering solutions in societal and environmental contexts, and demonstrate the knowledge of, and need for sustainable development.</a:t>
            </a:r>
          </a:p>
          <a:p>
            <a:pPr marL="274320" marR="274320" indent="0" algn="just">
              <a:lnSpc>
                <a:spcPct val="114999"/>
              </a:lnSpc>
              <a:spcBef>
                <a:spcPts val="0"/>
              </a:spcBef>
              <a:buClr>
                <a:schemeClr val="dk1"/>
              </a:buClr>
              <a:buSzPts val="1100"/>
              <a:buFont typeface="Arial"/>
              <a:buNone/>
              <a:defRPr/>
            </a:pPr>
            <a:br>
              <a:rPr lang="en-US" sz="1400" dirty="0">
                <a:latin typeface="Times New Roman"/>
                <a:ea typeface="Times New Roman"/>
                <a:cs typeface="Times New Roman"/>
              </a:rPr>
            </a:br>
            <a:r>
              <a:rPr lang="en-US" sz="1400" dirty="0">
                <a:latin typeface="Times New Roman"/>
                <a:ea typeface="Times New Roman"/>
                <a:cs typeface="Times New Roman"/>
              </a:rPr>
              <a:t>8. </a:t>
            </a:r>
            <a:r>
              <a:rPr lang="en-US" sz="1400" b="1" dirty="0">
                <a:latin typeface="Times New Roman"/>
                <a:ea typeface="Times New Roman"/>
                <a:cs typeface="Times New Roman"/>
              </a:rPr>
              <a:t>Ethics:</a:t>
            </a:r>
            <a:r>
              <a:rPr lang="en-US" sz="1400" dirty="0">
                <a:latin typeface="Times New Roman"/>
                <a:ea typeface="Times New Roman"/>
                <a:cs typeface="Times New Roman"/>
              </a:rPr>
              <a:t> Apply ethical principles and commit to professional ethics and responsibilities and norms of the engineering practice.</a:t>
            </a:r>
          </a:p>
          <a:p>
            <a:pPr marL="274320" marR="274320" indent="0" algn="just">
              <a:lnSpc>
                <a:spcPct val="114999"/>
              </a:lnSpc>
              <a:spcBef>
                <a:spcPts val="0"/>
              </a:spcBef>
              <a:buClr>
                <a:schemeClr val="dk1"/>
              </a:buClr>
              <a:buSzPts val="1100"/>
              <a:buFont typeface="Arial"/>
              <a:buNone/>
              <a:defRPr/>
            </a:pPr>
            <a:br>
              <a:rPr lang="en-US" sz="1400" dirty="0">
                <a:latin typeface="Times New Roman"/>
                <a:ea typeface="Times New Roman"/>
                <a:cs typeface="Times New Roman"/>
              </a:rPr>
            </a:br>
            <a:r>
              <a:rPr lang="en-US" sz="1400" dirty="0">
                <a:latin typeface="Times New Roman"/>
                <a:ea typeface="Times New Roman"/>
                <a:cs typeface="Times New Roman"/>
              </a:rPr>
              <a:t>9. </a:t>
            </a:r>
            <a:r>
              <a:rPr lang="en-US" sz="1400" b="1" dirty="0">
                <a:latin typeface="Times New Roman"/>
                <a:ea typeface="Times New Roman"/>
                <a:cs typeface="Times New Roman"/>
              </a:rPr>
              <a:t>Individual and team work:</a:t>
            </a:r>
            <a:r>
              <a:rPr lang="en-US" sz="1400" dirty="0">
                <a:latin typeface="Times New Roman"/>
                <a:ea typeface="Times New Roman"/>
                <a:cs typeface="Times New Roman"/>
              </a:rPr>
              <a:t> Function effectively as an individual, and as a member or leader in diverse teams, and in multidisciplinary settings.</a:t>
            </a:r>
          </a:p>
          <a:p>
            <a:pPr marL="274320" marR="274320" indent="0" algn="just">
              <a:lnSpc>
                <a:spcPct val="114999"/>
              </a:lnSpc>
              <a:spcBef>
                <a:spcPts val="0"/>
              </a:spcBef>
              <a:buClr>
                <a:schemeClr val="dk1"/>
              </a:buClr>
              <a:buSzPts val="1100"/>
              <a:buFont typeface="Arial"/>
              <a:buNone/>
              <a:defRPr/>
            </a:pPr>
            <a:br>
              <a:rPr lang="en-US" sz="1400" dirty="0">
                <a:latin typeface="Times New Roman"/>
                <a:ea typeface="Times New Roman"/>
                <a:cs typeface="Times New Roman"/>
              </a:rPr>
            </a:br>
            <a:r>
              <a:rPr lang="en-US" sz="1400" dirty="0">
                <a:latin typeface="Times New Roman"/>
                <a:ea typeface="Times New Roman"/>
                <a:cs typeface="Times New Roman"/>
              </a:rPr>
              <a:t>10. </a:t>
            </a:r>
            <a:r>
              <a:rPr lang="en-US" sz="1400" b="1" dirty="0">
                <a:latin typeface="Times New Roman"/>
                <a:ea typeface="Times New Roman"/>
                <a:cs typeface="Times New Roman"/>
              </a:rPr>
              <a:t>Communication:</a:t>
            </a:r>
            <a:r>
              <a:rPr lang="en-US" sz="1400" dirty="0">
                <a:latin typeface="Times New Roman"/>
                <a:ea typeface="Times New Roman"/>
                <a:cs typeface="Times New Roman"/>
              </a:rPr>
              <a:t> Communicate effectively on complex engineering activities with the engineering community and with society at large, such as, being able to comprehend and write effective reports and design documentation, make effective presentations, and give and receive clear instructions.</a:t>
            </a:r>
          </a:p>
          <a:p>
            <a:pPr marL="274320" marR="274320" indent="0" algn="just">
              <a:lnSpc>
                <a:spcPct val="114999"/>
              </a:lnSpc>
              <a:spcBef>
                <a:spcPts val="0"/>
              </a:spcBef>
              <a:buClr>
                <a:schemeClr val="dk1"/>
              </a:buClr>
              <a:buSzPts val="1100"/>
              <a:buFont typeface="Arial"/>
              <a:buNone/>
              <a:defRPr/>
            </a:pPr>
            <a:br>
              <a:rPr lang="en-US" sz="1400" dirty="0">
                <a:latin typeface="Times New Roman"/>
                <a:ea typeface="Times New Roman"/>
                <a:cs typeface="Times New Roman"/>
              </a:rPr>
            </a:br>
            <a:r>
              <a:rPr lang="en-US" sz="1400" dirty="0">
                <a:latin typeface="Times New Roman"/>
                <a:ea typeface="Times New Roman"/>
                <a:cs typeface="Times New Roman"/>
              </a:rPr>
              <a:t>11. </a:t>
            </a:r>
            <a:r>
              <a:rPr lang="en-US" sz="1400" b="1" dirty="0">
                <a:latin typeface="Times New Roman"/>
                <a:ea typeface="Times New Roman"/>
                <a:cs typeface="Times New Roman"/>
              </a:rPr>
              <a:t>Project management and finance:</a:t>
            </a:r>
            <a:r>
              <a:rPr lang="en-US" sz="1400" dirty="0">
                <a:latin typeface="Times New Roman"/>
                <a:ea typeface="Times New Roman"/>
                <a:cs typeface="Times New Roman"/>
              </a:rPr>
              <a:t> Demonstrate knowledge and understanding of the engineering and management principles and apply these to one’s own work, as a member and leader in a team, to manage projects and in multidisciplinary environments.</a:t>
            </a:r>
            <a:br>
              <a:rPr lang="en-US" sz="1400" dirty="0">
                <a:latin typeface="Times New Roman"/>
                <a:ea typeface="Times New Roman"/>
                <a:cs typeface="Times New Roman"/>
              </a:rPr>
            </a:br>
            <a:r>
              <a:rPr lang="en-US" sz="1400" dirty="0">
                <a:latin typeface="Times New Roman"/>
                <a:ea typeface="Times New Roman"/>
                <a:cs typeface="Times New Roman"/>
              </a:rPr>
              <a:t>12. </a:t>
            </a:r>
            <a:r>
              <a:rPr lang="en-US" sz="1400" b="1" dirty="0">
                <a:latin typeface="Times New Roman"/>
                <a:ea typeface="Times New Roman"/>
                <a:cs typeface="Times New Roman"/>
              </a:rPr>
              <a:t>Life-long learning:</a:t>
            </a:r>
            <a:r>
              <a:rPr lang="en-US" sz="1400" dirty="0">
                <a:latin typeface="Times New Roman"/>
                <a:ea typeface="Times New Roman"/>
                <a:cs typeface="Times New Roman"/>
              </a:rPr>
              <a:t> Recognize the need for, and have the preparation and ability to engage in independent and life-long learning in the broadest context of technological change</a:t>
            </a:r>
            <a:r>
              <a:rPr lang="en-US" sz="1300" dirty="0">
                <a:latin typeface="Times New Roman"/>
                <a:ea typeface="Times New Roman"/>
                <a:cs typeface="Times New Roman"/>
              </a:rPr>
              <a:t>.</a:t>
            </a:r>
          </a:p>
          <a:p>
            <a:pPr marL="274320" marR="274320" indent="0" algn="just">
              <a:lnSpc>
                <a:spcPct val="114999"/>
              </a:lnSpc>
              <a:spcBef>
                <a:spcPts val="0"/>
              </a:spcBef>
              <a:buClr>
                <a:schemeClr val="dk1"/>
              </a:buClr>
              <a:buSzPts val="1100"/>
              <a:buFont typeface="Arial"/>
              <a:buNone/>
              <a:defRPr/>
            </a:pPr>
            <a:endParaRPr lang="en-US" sz="1300" dirty="0">
              <a:latin typeface="Times New Roman"/>
              <a:ea typeface="Times New Roman"/>
              <a:cs typeface="Times New Roman"/>
            </a:endParaRPr>
          </a:p>
          <a:p>
            <a:pPr marL="274320" marR="274320" indent="0">
              <a:buFont typeface="Arial" panose="020B0604020202020204" pitchFamily="34" charset="0"/>
              <a:buNone/>
              <a:defRPr/>
            </a:pPr>
            <a:endParaRPr lang="en-US" dirty="0"/>
          </a:p>
        </p:txBody>
      </p:sp>
      <p:sp>
        <p:nvSpPr>
          <p:cNvPr id="2" name="Footer Placeholder 1">
            <a:extLst>
              <a:ext uri="{FF2B5EF4-FFF2-40B4-BE49-F238E27FC236}">
                <a16:creationId xmlns:a16="http://schemas.microsoft.com/office/drawing/2014/main" id="{EF11A453-C474-7B4A-FE1E-4E9C92743CC3}"/>
              </a:ext>
            </a:extLst>
          </p:cNvPr>
          <p:cNvSpPr>
            <a:spLocks noGrp="1"/>
          </p:cNvSpPr>
          <p:nvPr>
            <p:ph type="ftr" sz="quarter" idx="11"/>
          </p:nvPr>
        </p:nvSpPr>
        <p:spPr/>
        <p:txBody>
          <a:bodyPr/>
          <a:lstStyle/>
          <a:p>
            <a:r>
              <a:rPr lang="en-IN"/>
              <a:t>Dept Of CSE(CY)</a:t>
            </a:r>
          </a:p>
        </p:txBody>
      </p:sp>
      <p:sp>
        <p:nvSpPr>
          <p:cNvPr id="3" name="TextBox 2">
            <a:extLst>
              <a:ext uri="{FF2B5EF4-FFF2-40B4-BE49-F238E27FC236}">
                <a16:creationId xmlns:a16="http://schemas.microsoft.com/office/drawing/2014/main" id="{DDEEDAAB-BD74-E2E0-D604-E58F8431DDCF}"/>
              </a:ext>
            </a:extLst>
          </p:cNvPr>
          <p:cNvSpPr txBox="1"/>
          <p:nvPr/>
        </p:nvSpPr>
        <p:spPr>
          <a:xfrm>
            <a:off x="4368800" y="-61656"/>
            <a:ext cx="3023135" cy="276999"/>
          </a:xfrm>
          <a:prstGeom prst="rect">
            <a:avLst/>
          </a:prstGeom>
          <a:noFill/>
        </p:spPr>
        <p:txBody>
          <a:bodyPr wrap="none" rtlCol="0">
            <a:spAutoFit/>
          </a:bodyPr>
          <a:lstStyle/>
          <a:p>
            <a:r>
              <a:rPr lang="en-IN" sz="1200" dirty="0">
                <a:solidFill>
                  <a:schemeClr val="bg1">
                    <a:lumMod val="65000"/>
                  </a:schemeClr>
                </a:solidFill>
              </a:rPr>
              <a:t>STM32 Smart Attendance Register Using RFID</a:t>
            </a:r>
          </a:p>
        </p:txBody>
      </p:sp>
    </p:spTree>
    <p:extLst>
      <p:ext uri="{BB962C8B-B14F-4D97-AF65-F5344CB8AC3E}">
        <p14:creationId xmlns:p14="http://schemas.microsoft.com/office/powerpoint/2010/main" val="19457391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5" name="Google Shape;174;p32"/>
          <p:cNvSpPr txBox="1">
            <a:spLocks/>
          </p:cNvSpPr>
          <p:nvPr/>
        </p:nvSpPr>
        <p:spPr bwMode="auto">
          <a:xfrm>
            <a:off x="603261" y="2291786"/>
            <a:ext cx="11156618" cy="4048113"/>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14999"/>
              </a:lnSpc>
              <a:spcBef>
                <a:spcPts val="0"/>
              </a:spcBef>
              <a:buClr>
                <a:schemeClr val="dk1"/>
              </a:buClr>
              <a:buSzPts val="1100"/>
              <a:buFont typeface="Arial"/>
              <a:buNone/>
              <a:defRPr/>
            </a:pPr>
            <a:r>
              <a:rPr lang="en-US" b="1" u="sng" dirty="0" err="1">
                <a:latin typeface="Times New Roman"/>
                <a:ea typeface="Times New Roman"/>
                <a:cs typeface="Times New Roman"/>
              </a:rPr>
              <a:t>Programme</a:t>
            </a:r>
            <a:r>
              <a:rPr lang="en-US" b="1" u="sng" dirty="0">
                <a:latin typeface="Times New Roman"/>
                <a:ea typeface="Times New Roman"/>
                <a:cs typeface="Times New Roman"/>
              </a:rPr>
              <a:t> Specific Outcomes (PSOs)</a:t>
            </a:r>
            <a:endParaRPr lang="en-US" u="sng" dirty="0">
              <a:latin typeface="Times New Roman"/>
              <a:ea typeface="Times New Roman"/>
              <a:cs typeface="Times New Roman"/>
            </a:endParaRPr>
          </a:p>
          <a:p>
            <a:pPr marL="0" indent="0" algn="ctr">
              <a:lnSpc>
                <a:spcPct val="114999"/>
              </a:lnSpc>
              <a:spcBef>
                <a:spcPts val="0"/>
              </a:spcBef>
              <a:buClr>
                <a:schemeClr val="dk1"/>
              </a:buClr>
              <a:buSzPts val="1100"/>
              <a:buFont typeface="Arial"/>
              <a:buNone/>
              <a:defRPr/>
            </a:pPr>
            <a:endParaRPr lang="en-US" sz="1800" dirty="0">
              <a:latin typeface="Times New Roman" panose="02020603050405020304" pitchFamily="18" charset="0"/>
            </a:endParaRPr>
          </a:p>
          <a:p>
            <a:pPr marL="0" indent="0" algn="just">
              <a:lnSpc>
                <a:spcPct val="114999"/>
              </a:lnSpc>
              <a:spcBef>
                <a:spcPts val="0"/>
              </a:spcBef>
              <a:buClr>
                <a:schemeClr val="dk1"/>
              </a:buClr>
              <a:buSzPts val="1100"/>
              <a:buFont typeface="Arial"/>
              <a:buNone/>
              <a:defRPr/>
            </a:pPr>
            <a:r>
              <a:rPr lang="en-US" sz="1800" dirty="0">
                <a:latin typeface="Times New Roman" panose="02020603050405020304" pitchFamily="18" charset="0"/>
              </a:rPr>
              <a:t> On the completion of Computer Science &amp; Engineering program, the students will possess:</a:t>
            </a:r>
          </a:p>
          <a:p>
            <a:pPr algn="just">
              <a:lnSpc>
                <a:spcPct val="150000"/>
              </a:lnSpc>
              <a:spcBef>
                <a:spcPts val="1200"/>
              </a:spcBef>
              <a:spcAft>
                <a:spcPts val="1200"/>
              </a:spcAft>
            </a:pPr>
            <a:r>
              <a:rPr lang="en-IN" sz="1800" b="0" dirty="0">
                <a:effectLst/>
                <a:latin typeface="Times New Roman" panose="02020603050405020304" pitchFamily="18" charset="0"/>
                <a:ea typeface="Times New Roman" panose="02020603050405020304" pitchFamily="18" charset="0"/>
              </a:rPr>
              <a:t> </a:t>
            </a:r>
            <a:r>
              <a:rPr lang="en-IN" sz="1800" b="1" dirty="0">
                <a:effectLst/>
                <a:latin typeface="Times New Roman" panose="02020603050405020304" pitchFamily="18" charset="0"/>
                <a:ea typeface="Times New Roman" panose="02020603050405020304" pitchFamily="18" charset="0"/>
              </a:rPr>
              <a:t>PSO 1</a:t>
            </a:r>
            <a:r>
              <a:rPr lang="en-IN" sz="1800" b="0" dirty="0">
                <a:effectLst/>
                <a:latin typeface="Times New Roman" panose="02020603050405020304" pitchFamily="18" charset="0"/>
                <a:ea typeface="Times New Roman" panose="02020603050405020304" pitchFamily="18" charset="0"/>
              </a:rPr>
              <a:t>: Apply cyber security principles to mitigate cyber risk and </a:t>
            </a:r>
            <a:r>
              <a:rPr lang="en-IN" sz="1800" b="0" dirty="0" err="1">
                <a:effectLst/>
                <a:latin typeface="Times New Roman" panose="02020603050405020304" pitchFamily="18" charset="0"/>
                <a:ea typeface="Times New Roman" panose="02020603050405020304" pitchFamily="18" charset="0"/>
              </a:rPr>
              <a:t>analyze</a:t>
            </a:r>
            <a:r>
              <a:rPr lang="en-IN" sz="1800" b="0" dirty="0">
                <a:effectLst/>
                <a:latin typeface="Times New Roman" panose="02020603050405020304" pitchFamily="18" charset="0"/>
                <a:ea typeface="Times New Roman" panose="02020603050405020304" pitchFamily="18" charset="0"/>
              </a:rPr>
              <a:t> security requirements of an organization.</a:t>
            </a:r>
            <a:endParaRPr lang="en-IN" sz="1800" b="1" dirty="0">
              <a:effectLst/>
              <a:latin typeface="Arial" panose="020B0604020202020204" pitchFamily="34" charset="0"/>
            </a:endParaRPr>
          </a:p>
          <a:p>
            <a:pPr algn="just">
              <a:lnSpc>
                <a:spcPct val="150000"/>
              </a:lnSpc>
              <a:spcBef>
                <a:spcPts val="1200"/>
              </a:spcBef>
              <a:spcAft>
                <a:spcPts val="1200"/>
              </a:spcAft>
            </a:pPr>
            <a:r>
              <a:rPr lang="en-IN" sz="1800" b="1" dirty="0">
                <a:effectLst/>
                <a:latin typeface="Times New Roman" panose="02020603050405020304" pitchFamily="18" charset="0"/>
                <a:ea typeface="Times New Roman" panose="02020603050405020304" pitchFamily="18" charset="0"/>
              </a:rPr>
              <a:t>PSO 2</a:t>
            </a:r>
            <a:r>
              <a:rPr lang="en-IN" sz="1800" b="0" dirty="0">
                <a:effectLst/>
                <a:latin typeface="Times New Roman" panose="02020603050405020304" pitchFamily="18" charset="0"/>
                <a:ea typeface="Times New Roman" panose="02020603050405020304" pitchFamily="18" charset="0"/>
              </a:rPr>
              <a:t>: Develop and deploy secure software and infrastructure using modern tools and industry standards. </a:t>
            </a:r>
            <a:endParaRPr lang="en-IN" sz="1800" b="1" dirty="0">
              <a:effectLst/>
              <a:latin typeface="Arial" panose="020B0604020202020204" pitchFamily="34" charset="0"/>
            </a:endParaRPr>
          </a:p>
          <a:p>
            <a:pPr algn="just">
              <a:lnSpc>
                <a:spcPct val="150000"/>
              </a:lnSpc>
              <a:spcBef>
                <a:spcPts val="1200"/>
              </a:spcBef>
              <a:spcAft>
                <a:spcPts val="1200"/>
              </a:spcAft>
            </a:pPr>
            <a:r>
              <a:rPr lang="en-IN" sz="1800" b="1" dirty="0">
                <a:effectLst/>
                <a:latin typeface="Times New Roman" panose="02020603050405020304" pitchFamily="18" charset="0"/>
                <a:ea typeface="Times New Roman" panose="02020603050405020304" pitchFamily="18" charset="0"/>
              </a:rPr>
              <a:t>PSO 3</a:t>
            </a:r>
            <a:r>
              <a:rPr lang="en-IN" sz="1800" b="0" dirty="0">
                <a:effectLst/>
                <a:latin typeface="Times New Roman" panose="02020603050405020304" pitchFamily="18" charset="0"/>
                <a:ea typeface="Times New Roman" panose="02020603050405020304" pitchFamily="18" charset="0"/>
              </a:rPr>
              <a:t>: Uphold ethical, legal, and societal responsibilities while protecting privacy, data, and digital assets.</a:t>
            </a:r>
            <a:endParaRPr lang="en-IN" sz="1800" b="1" dirty="0">
              <a:effectLst/>
              <a:latin typeface="Arial" panose="020B0604020202020204" pitchFamily="34" charset="0"/>
            </a:endParaRPr>
          </a:p>
          <a:p>
            <a:pPr marL="0" indent="0" algn="just">
              <a:lnSpc>
                <a:spcPct val="114999"/>
              </a:lnSpc>
              <a:spcBef>
                <a:spcPts val="0"/>
              </a:spcBef>
              <a:buClr>
                <a:schemeClr val="dk1"/>
              </a:buClr>
              <a:buSzPts val="1100"/>
              <a:buFont typeface="Arial"/>
              <a:buNone/>
              <a:defRPr/>
            </a:pPr>
            <a:endParaRPr lang="en-US" sz="1600" dirty="0">
              <a:latin typeface="Times New Roman"/>
              <a:ea typeface="Times New Roman"/>
              <a:cs typeface="Times New Roman"/>
            </a:endParaRPr>
          </a:p>
          <a:p>
            <a:pPr marL="0" indent="0">
              <a:buFont typeface="Arial" panose="020B0604020202020204" pitchFamily="34" charset="0"/>
              <a:buNone/>
              <a:defRPr/>
            </a:pPr>
            <a:endParaRPr lang="en-US" sz="3200" dirty="0"/>
          </a:p>
        </p:txBody>
      </p:sp>
      <p:sp>
        <p:nvSpPr>
          <p:cNvPr id="2" name="Footer Placeholder 1">
            <a:extLst>
              <a:ext uri="{FF2B5EF4-FFF2-40B4-BE49-F238E27FC236}">
                <a16:creationId xmlns:a16="http://schemas.microsoft.com/office/drawing/2014/main" id="{EBBCA71B-5D66-4CFC-A85C-860928E0FFE0}"/>
              </a:ext>
            </a:extLst>
          </p:cNvPr>
          <p:cNvSpPr>
            <a:spLocks noGrp="1"/>
          </p:cNvSpPr>
          <p:nvPr>
            <p:ph type="ftr" sz="quarter" idx="11"/>
          </p:nvPr>
        </p:nvSpPr>
        <p:spPr/>
        <p:txBody>
          <a:bodyPr/>
          <a:lstStyle/>
          <a:p>
            <a:r>
              <a:rPr lang="en-IN"/>
              <a:t>Dept Of CSE(CY)</a:t>
            </a:r>
          </a:p>
        </p:txBody>
      </p:sp>
      <p:sp>
        <p:nvSpPr>
          <p:cNvPr id="3" name="TextBox 2">
            <a:extLst>
              <a:ext uri="{FF2B5EF4-FFF2-40B4-BE49-F238E27FC236}">
                <a16:creationId xmlns:a16="http://schemas.microsoft.com/office/drawing/2014/main" id="{4DDC49A1-FB3F-F5F9-BAAB-E1D94199C187}"/>
              </a:ext>
            </a:extLst>
          </p:cNvPr>
          <p:cNvSpPr txBox="1"/>
          <p:nvPr/>
        </p:nvSpPr>
        <p:spPr>
          <a:xfrm>
            <a:off x="4988560" y="-21016"/>
            <a:ext cx="4858930" cy="553998"/>
          </a:xfrm>
          <a:prstGeom prst="rect">
            <a:avLst/>
          </a:prstGeom>
          <a:noFill/>
        </p:spPr>
        <p:txBody>
          <a:bodyPr wrap="square" rtlCol="0">
            <a:spAutoFit/>
          </a:bodyPr>
          <a:lstStyle/>
          <a:p>
            <a:r>
              <a:rPr lang="en-IN" sz="1200" dirty="0">
                <a:solidFill>
                  <a:schemeClr val="bg1">
                    <a:lumMod val="65000"/>
                  </a:schemeClr>
                </a:solidFill>
              </a:rPr>
              <a:t>STM32 Smart Attendance Register Using RFID</a:t>
            </a:r>
          </a:p>
          <a:p>
            <a:endParaRPr lang="en-IN" dirty="0"/>
          </a:p>
        </p:txBody>
      </p:sp>
    </p:spTree>
    <p:extLst>
      <p:ext uri="{BB962C8B-B14F-4D97-AF65-F5344CB8AC3E}">
        <p14:creationId xmlns:p14="http://schemas.microsoft.com/office/powerpoint/2010/main" val="4903506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4" name="Content Placeholder 2"/>
          <p:cNvSpPr txBox="1">
            <a:spLocks noChangeArrowheads="1"/>
          </p:cNvSpPr>
          <p:nvPr/>
        </p:nvSpPr>
        <p:spPr bwMode="auto">
          <a:xfrm>
            <a:off x="1319513" y="1990845"/>
            <a:ext cx="9560689" cy="476877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None/>
              <a:defRPr/>
            </a:pPr>
            <a:r>
              <a:rPr lang="en-US" sz="4000" b="1" u="sng" dirty="0">
                <a:latin typeface="Times New Roman"/>
                <a:cs typeface="Times New Roman"/>
              </a:rPr>
              <a:t>CONTENTS</a:t>
            </a:r>
            <a:endParaRPr lang="en-US" sz="2000" b="1" dirty="0">
              <a:solidFill>
                <a:srgbClr val="002060"/>
              </a:solidFill>
              <a:latin typeface="Times New Roman"/>
              <a:cs typeface="Times New Roman"/>
            </a:endParaRPr>
          </a:p>
          <a:p>
            <a:pPr>
              <a:lnSpc>
                <a:spcPct val="100000"/>
              </a:lnSpc>
              <a:spcBef>
                <a:spcPts val="0"/>
              </a:spcBef>
              <a:defRPr/>
            </a:pPr>
            <a:endParaRPr lang="en-US" sz="2000" b="1" dirty="0">
              <a:solidFill>
                <a:srgbClr val="002060"/>
              </a:solidFill>
              <a:latin typeface="Times New Roman"/>
              <a:cs typeface="Times New Roman"/>
            </a:endParaRPr>
          </a:p>
          <a:p>
            <a:pPr>
              <a:lnSpc>
                <a:spcPct val="100000"/>
              </a:lnSpc>
              <a:spcBef>
                <a:spcPts val="0"/>
              </a:spcBef>
              <a:defRPr/>
            </a:pPr>
            <a:r>
              <a:rPr lang="en-US" sz="2400" b="1" dirty="0">
                <a:solidFill>
                  <a:srgbClr val="002060"/>
                </a:solidFill>
                <a:latin typeface="Times New Roman"/>
                <a:cs typeface="Times New Roman"/>
              </a:rPr>
              <a:t>Motivation</a:t>
            </a:r>
          </a:p>
          <a:p>
            <a:pPr>
              <a:lnSpc>
                <a:spcPct val="100000"/>
              </a:lnSpc>
              <a:spcBef>
                <a:spcPts val="0"/>
              </a:spcBef>
              <a:defRPr/>
            </a:pPr>
            <a:r>
              <a:rPr lang="en-US" sz="2400" b="1" dirty="0">
                <a:solidFill>
                  <a:srgbClr val="002060"/>
                </a:solidFill>
                <a:latin typeface="Times New Roman"/>
                <a:cs typeface="Times New Roman"/>
              </a:rPr>
              <a:t>Introduction</a:t>
            </a:r>
          </a:p>
          <a:p>
            <a:pPr>
              <a:lnSpc>
                <a:spcPct val="100000"/>
              </a:lnSpc>
              <a:spcBef>
                <a:spcPts val="0"/>
              </a:spcBef>
              <a:defRPr/>
            </a:pPr>
            <a:r>
              <a:rPr lang="en-US" sz="2400" b="1" dirty="0">
                <a:solidFill>
                  <a:srgbClr val="002060"/>
                </a:solidFill>
                <a:latin typeface="Times New Roman"/>
                <a:cs typeface="Times New Roman"/>
              </a:rPr>
              <a:t>Problem Statement</a:t>
            </a:r>
          </a:p>
          <a:p>
            <a:pPr>
              <a:lnSpc>
                <a:spcPct val="100000"/>
              </a:lnSpc>
              <a:spcBef>
                <a:spcPts val="0"/>
              </a:spcBef>
              <a:defRPr/>
            </a:pPr>
            <a:r>
              <a:rPr lang="en-US" sz="2400" b="1" dirty="0">
                <a:solidFill>
                  <a:srgbClr val="002060"/>
                </a:solidFill>
                <a:latin typeface="Times New Roman"/>
                <a:cs typeface="Times New Roman"/>
              </a:rPr>
              <a:t>Proposed Method </a:t>
            </a:r>
          </a:p>
          <a:p>
            <a:pPr>
              <a:lnSpc>
                <a:spcPct val="100000"/>
              </a:lnSpc>
              <a:spcBef>
                <a:spcPts val="0"/>
              </a:spcBef>
              <a:defRPr/>
            </a:pPr>
            <a:r>
              <a:rPr lang="en-US" sz="2400" b="1" dirty="0">
                <a:solidFill>
                  <a:srgbClr val="002060"/>
                </a:solidFill>
                <a:latin typeface="Times New Roman"/>
                <a:cs typeface="Times New Roman"/>
              </a:rPr>
              <a:t>Basic Block Diagram</a:t>
            </a:r>
          </a:p>
          <a:p>
            <a:pPr>
              <a:lnSpc>
                <a:spcPct val="100000"/>
              </a:lnSpc>
              <a:spcBef>
                <a:spcPts val="0"/>
              </a:spcBef>
              <a:defRPr/>
            </a:pPr>
            <a:r>
              <a:rPr lang="en-US" sz="2400" b="1" dirty="0">
                <a:solidFill>
                  <a:srgbClr val="002060"/>
                </a:solidFill>
                <a:latin typeface="Times New Roman"/>
                <a:cs typeface="Times New Roman"/>
              </a:rPr>
              <a:t>Conclusion </a:t>
            </a:r>
          </a:p>
          <a:p>
            <a:pPr>
              <a:lnSpc>
                <a:spcPct val="100000"/>
              </a:lnSpc>
              <a:spcBef>
                <a:spcPts val="0"/>
              </a:spcBef>
              <a:defRPr/>
            </a:pPr>
            <a:r>
              <a:rPr lang="en-US" sz="2400" b="1" dirty="0">
                <a:solidFill>
                  <a:srgbClr val="002060"/>
                </a:solidFill>
                <a:latin typeface="Times New Roman"/>
                <a:cs typeface="Times New Roman"/>
              </a:rPr>
              <a:t>References</a:t>
            </a:r>
            <a:endParaRPr lang="en-US" sz="2400" dirty="0">
              <a:latin typeface="Times New Roman"/>
              <a:cs typeface="Times New Roman"/>
            </a:endParaRPr>
          </a:p>
        </p:txBody>
      </p:sp>
      <p:sp>
        <p:nvSpPr>
          <p:cNvPr id="2" name="Footer Placeholder 1">
            <a:extLst>
              <a:ext uri="{FF2B5EF4-FFF2-40B4-BE49-F238E27FC236}">
                <a16:creationId xmlns:a16="http://schemas.microsoft.com/office/drawing/2014/main" id="{170EF8DC-743D-6BF4-048E-BDD1397BA854}"/>
              </a:ext>
            </a:extLst>
          </p:cNvPr>
          <p:cNvSpPr>
            <a:spLocks noGrp="1"/>
          </p:cNvSpPr>
          <p:nvPr>
            <p:ph type="ftr" sz="quarter" idx="11"/>
          </p:nvPr>
        </p:nvSpPr>
        <p:spPr/>
        <p:txBody>
          <a:bodyPr/>
          <a:lstStyle/>
          <a:p>
            <a:r>
              <a:rPr lang="en-IN"/>
              <a:t>Dept Of CSE(CY)</a:t>
            </a:r>
          </a:p>
        </p:txBody>
      </p:sp>
      <p:sp>
        <p:nvSpPr>
          <p:cNvPr id="3" name="TextBox 2">
            <a:extLst>
              <a:ext uri="{FF2B5EF4-FFF2-40B4-BE49-F238E27FC236}">
                <a16:creationId xmlns:a16="http://schemas.microsoft.com/office/drawing/2014/main" id="{B71A9339-F2C2-BC1B-2298-B37F49A212A3}"/>
              </a:ext>
            </a:extLst>
          </p:cNvPr>
          <p:cNvSpPr txBox="1"/>
          <p:nvPr/>
        </p:nvSpPr>
        <p:spPr>
          <a:xfrm>
            <a:off x="4439920" y="-81976"/>
            <a:ext cx="3023135" cy="553998"/>
          </a:xfrm>
          <a:prstGeom prst="rect">
            <a:avLst/>
          </a:prstGeom>
          <a:noFill/>
        </p:spPr>
        <p:txBody>
          <a:bodyPr wrap="none" rtlCol="0">
            <a:spAutoFit/>
          </a:bodyPr>
          <a:lstStyle/>
          <a:p>
            <a:r>
              <a:rPr lang="en-IN" sz="1200" dirty="0">
                <a:solidFill>
                  <a:schemeClr val="bg1">
                    <a:lumMod val="65000"/>
                  </a:schemeClr>
                </a:solidFill>
              </a:rPr>
              <a:t>STM32 Smart Attendance Register Using RFID</a:t>
            </a:r>
          </a:p>
          <a:p>
            <a:endParaRPr lang="en-IN" dirty="0"/>
          </a:p>
        </p:txBody>
      </p:sp>
    </p:spTree>
    <p:extLst>
      <p:ext uri="{BB962C8B-B14F-4D97-AF65-F5344CB8AC3E}">
        <p14:creationId xmlns:p14="http://schemas.microsoft.com/office/powerpoint/2010/main" val="13304621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3" name="Title 1"/>
          <p:cNvSpPr>
            <a:spLocks noGrp="1"/>
          </p:cNvSpPr>
          <p:nvPr>
            <p:ph type="title"/>
          </p:nvPr>
        </p:nvSpPr>
        <p:spPr bwMode="auto">
          <a:xfrm>
            <a:off x="1765319" y="1990845"/>
            <a:ext cx="8229240" cy="819154"/>
          </a:xfrm>
        </p:spPr>
        <p:txBody>
          <a:bodyPr>
            <a:normAutofit/>
          </a:bodyPr>
          <a:lstStyle/>
          <a:p>
            <a:pPr algn="ctr">
              <a:defRPr/>
            </a:pPr>
            <a:r>
              <a:rPr lang="en-US" sz="4000" b="1" u="sng" dirty="0">
                <a:latin typeface="Times New Roman"/>
                <a:ea typeface="Times New Roman"/>
                <a:cs typeface="Times New Roman"/>
              </a:rPr>
              <a:t>Motivation</a:t>
            </a:r>
            <a:endParaRPr sz="6000" b="1" dirty="0"/>
          </a:p>
        </p:txBody>
      </p:sp>
      <p:sp>
        <p:nvSpPr>
          <p:cNvPr id="2" name="TextBox 1">
            <a:extLst>
              <a:ext uri="{FF2B5EF4-FFF2-40B4-BE49-F238E27FC236}">
                <a16:creationId xmlns:a16="http://schemas.microsoft.com/office/drawing/2014/main" id="{1BF52009-3650-74F8-9174-CD9885C1D7BF}"/>
              </a:ext>
            </a:extLst>
          </p:cNvPr>
          <p:cNvSpPr txBox="1"/>
          <p:nvPr/>
        </p:nvSpPr>
        <p:spPr>
          <a:xfrm>
            <a:off x="2456596" y="2809999"/>
            <a:ext cx="6846685" cy="1477328"/>
          </a:xfrm>
          <a:prstGeom prst="rect">
            <a:avLst/>
          </a:prstGeom>
          <a:noFill/>
        </p:spPr>
        <p:txBody>
          <a:bodyPr wrap="square" rtlCol="0">
            <a:spAutoFit/>
          </a:bodyPr>
          <a:lstStyle/>
          <a:p>
            <a:pPr marL="285750" indent="-285750" algn="l">
              <a:buFont typeface="Arial" panose="020B0604020202020204" pitchFamily="34" charset="0"/>
              <a:buChar char="•"/>
            </a:pPr>
            <a:r>
              <a:rPr lang="en-US" dirty="0"/>
              <a:t>Manual attendance systems are time-consuming and prone to errors.
Proxy attendance reduces the accuracy of attendance records.
Institutions require a fast and paperless attendance system.
Automation helps save time and improve efficiency</a:t>
            </a:r>
          </a:p>
        </p:txBody>
      </p:sp>
      <p:sp>
        <p:nvSpPr>
          <p:cNvPr id="4" name="Footer Placeholder 3">
            <a:extLst>
              <a:ext uri="{FF2B5EF4-FFF2-40B4-BE49-F238E27FC236}">
                <a16:creationId xmlns:a16="http://schemas.microsoft.com/office/drawing/2014/main" id="{09558E20-AE06-5425-EA7B-E80C0C9B579C}"/>
              </a:ext>
            </a:extLst>
          </p:cNvPr>
          <p:cNvSpPr>
            <a:spLocks noGrp="1"/>
          </p:cNvSpPr>
          <p:nvPr>
            <p:ph type="ftr" sz="quarter" idx="11"/>
          </p:nvPr>
        </p:nvSpPr>
        <p:spPr/>
        <p:txBody>
          <a:bodyPr/>
          <a:lstStyle/>
          <a:p>
            <a:r>
              <a:rPr lang="en-IN"/>
              <a:t>Dept Of CSE(CY)</a:t>
            </a:r>
          </a:p>
        </p:txBody>
      </p:sp>
      <p:sp>
        <p:nvSpPr>
          <p:cNvPr id="5" name="TextBox 4">
            <a:extLst>
              <a:ext uri="{FF2B5EF4-FFF2-40B4-BE49-F238E27FC236}">
                <a16:creationId xmlns:a16="http://schemas.microsoft.com/office/drawing/2014/main" id="{58803E38-6364-B72D-253F-A03FF01FB10C}"/>
              </a:ext>
            </a:extLst>
          </p:cNvPr>
          <p:cNvSpPr txBox="1"/>
          <p:nvPr/>
        </p:nvSpPr>
        <p:spPr>
          <a:xfrm>
            <a:off x="4338320" y="-81280"/>
            <a:ext cx="3023135" cy="553998"/>
          </a:xfrm>
          <a:prstGeom prst="rect">
            <a:avLst/>
          </a:prstGeom>
          <a:noFill/>
        </p:spPr>
        <p:txBody>
          <a:bodyPr wrap="none" rtlCol="0">
            <a:spAutoFit/>
          </a:bodyPr>
          <a:lstStyle/>
          <a:p>
            <a:r>
              <a:rPr lang="en-IN" sz="1200" dirty="0">
                <a:solidFill>
                  <a:schemeClr val="bg1">
                    <a:lumMod val="65000"/>
                  </a:schemeClr>
                </a:solidFill>
              </a:rPr>
              <a:t>STM32 Smart Attendance Register Using RFID</a:t>
            </a:r>
          </a:p>
          <a:p>
            <a:endParaRPr lang="en-IN" dirty="0"/>
          </a:p>
        </p:txBody>
      </p:sp>
    </p:spTree>
    <p:extLst>
      <p:ext uri="{BB962C8B-B14F-4D97-AF65-F5344CB8AC3E}">
        <p14:creationId xmlns:p14="http://schemas.microsoft.com/office/powerpoint/2010/main" val="30737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3" name="Title 1"/>
          <p:cNvSpPr>
            <a:spLocks noGrp="1"/>
          </p:cNvSpPr>
          <p:nvPr>
            <p:ph type="title"/>
          </p:nvPr>
        </p:nvSpPr>
        <p:spPr bwMode="auto">
          <a:xfrm>
            <a:off x="1732268" y="2070319"/>
            <a:ext cx="8229240" cy="628135"/>
          </a:xfrm>
        </p:spPr>
        <p:txBody>
          <a:bodyPr>
            <a:noAutofit/>
          </a:bodyPr>
          <a:lstStyle/>
          <a:p>
            <a:pPr algn="ctr">
              <a:defRPr/>
            </a:pPr>
            <a:r>
              <a:rPr lang="en-US" sz="4000" b="1" u="sng" dirty="0">
                <a:latin typeface="Times New Roman"/>
                <a:ea typeface="Times New Roman"/>
                <a:cs typeface="Times New Roman"/>
              </a:rPr>
              <a:t>Introduction</a:t>
            </a:r>
            <a:endParaRPr sz="4800" b="1" dirty="0"/>
          </a:p>
        </p:txBody>
      </p:sp>
      <p:sp>
        <p:nvSpPr>
          <p:cNvPr id="2" name="TextBox 1">
            <a:extLst>
              <a:ext uri="{FF2B5EF4-FFF2-40B4-BE49-F238E27FC236}">
                <a16:creationId xmlns:a16="http://schemas.microsoft.com/office/drawing/2014/main" id="{AB7E1A0E-3BC3-BE42-D36A-01C34088EE3D}"/>
              </a:ext>
            </a:extLst>
          </p:cNvPr>
          <p:cNvSpPr txBox="1"/>
          <p:nvPr/>
        </p:nvSpPr>
        <p:spPr>
          <a:xfrm>
            <a:off x="2251070" y="2777928"/>
            <a:ext cx="7191635" cy="2031325"/>
          </a:xfrm>
          <a:prstGeom prst="rect">
            <a:avLst/>
          </a:prstGeom>
          <a:noFill/>
        </p:spPr>
        <p:txBody>
          <a:bodyPr wrap="square" rtlCol="0">
            <a:spAutoFit/>
          </a:bodyPr>
          <a:lstStyle/>
          <a:p>
            <a:pPr marL="285750" indent="-285750" algn="l">
              <a:buFont typeface="Arial" panose="020B0604020202020204" pitchFamily="34" charset="0"/>
              <a:buChar char="•"/>
            </a:pPr>
            <a:r>
              <a:rPr lang="en-US" dirty="0"/>
              <a:t>The project is an STM32-based Smart Attendance Register using RFID technology.
It uses an RC522 RFID reader to scan RFID cards.
The scanned card ID is compared with the stored database.
Valid users have their attendance recorded automatically.
The LCD displays the attendance status, and a buzzer alerts for invalid cards. </a:t>
            </a:r>
          </a:p>
        </p:txBody>
      </p:sp>
      <p:sp>
        <p:nvSpPr>
          <p:cNvPr id="4" name="Footer Placeholder 3">
            <a:extLst>
              <a:ext uri="{FF2B5EF4-FFF2-40B4-BE49-F238E27FC236}">
                <a16:creationId xmlns:a16="http://schemas.microsoft.com/office/drawing/2014/main" id="{D2EB4A7A-5CA8-3629-2177-563102E78059}"/>
              </a:ext>
            </a:extLst>
          </p:cNvPr>
          <p:cNvSpPr>
            <a:spLocks noGrp="1"/>
          </p:cNvSpPr>
          <p:nvPr>
            <p:ph type="ftr" sz="quarter" idx="11"/>
          </p:nvPr>
        </p:nvSpPr>
        <p:spPr/>
        <p:txBody>
          <a:bodyPr/>
          <a:lstStyle/>
          <a:p>
            <a:r>
              <a:rPr lang="en-IN"/>
              <a:t>Dept Of CSE(CY)</a:t>
            </a:r>
          </a:p>
        </p:txBody>
      </p:sp>
      <p:sp>
        <p:nvSpPr>
          <p:cNvPr id="5" name="TextBox 4">
            <a:extLst>
              <a:ext uri="{FF2B5EF4-FFF2-40B4-BE49-F238E27FC236}">
                <a16:creationId xmlns:a16="http://schemas.microsoft.com/office/drawing/2014/main" id="{A038F25A-ABF1-13BB-9E0A-4AB5BFEE0911}"/>
              </a:ext>
            </a:extLst>
          </p:cNvPr>
          <p:cNvSpPr txBox="1"/>
          <p:nvPr/>
        </p:nvSpPr>
        <p:spPr>
          <a:xfrm>
            <a:off x="4328160" y="-40640"/>
            <a:ext cx="3023135" cy="553998"/>
          </a:xfrm>
          <a:prstGeom prst="rect">
            <a:avLst/>
          </a:prstGeom>
          <a:noFill/>
        </p:spPr>
        <p:txBody>
          <a:bodyPr wrap="none" rtlCol="0">
            <a:spAutoFit/>
          </a:bodyPr>
          <a:lstStyle/>
          <a:p>
            <a:r>
              <a:rPr lang="en-IN" sz="1200" dirty="0">
                <a:solidFill>
                  <a:schemeClr val="bg1">
                    <a:lumMod val="65000"/>
                  </a:schemeClr>
                </a:solidFill>
              </a:rPr>
              <a:t>STM32 Smart Attendance Register Using RFID</a:t>
            </a:r>
          </a:p>
          <a:p>
            <a:endParaRPr lang="en-IN" dirty="0"/>
          </a:p>
        </p:txBody>
      </p:sp>
    </p:spTree>
    <p:extLst>
      <p:ext uri="{BB962C8B-B14F-4D97-AF65-F5344CB8AC3E}">
        <p14:creationId xmlns:p14="http://schemas.microsoft.com/office/powerpoint/2010/main" val="42813067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5" name="Title 1"/>
          <p:cNvSpPr>
            <a:spLocks noGrp="1"/>
          </p:cNvSpPr>
          <p:nvPr>
            <p:ph type="title"/>
          </p:nvPr>
        </p:nvSpPr>
        <p:spPr bwMode="auto">
          <a:xfrm>
            <a:off x="2066261" y="1990845"/>
            <a:ext cx="8229240" cy="628135"/>
          </a:xfrm>
        </p:spPr>
        <p:txBody>
          <a:bodyPr>
            <a:noAutofit/>
          </a:bodyPr>
          <a:lstStyle/>
          <a:p>
            <a:pPr algn="ctr">
              <a:lnSpc>
                <a:spcPct val="100000"/>
              </a:lnSpc>
              <a:spcBef>
                <a:spcPts val="0"/>
              </a:spcBef>
              <a:defRPr/>
            </a:pPr>
            <a:r>
              <a:rPr lang="en-IN" sz="4000" b="1" u="sng" dirty="0">
                <a:solidFill>
                  <a:srgbClr val="002060"/>
                </a:solidFill>
                <a:latin typeface="Times New Roman"/>
                <a:cs typeface="Times New Roman"/>
              </a:rPr>
              <a:t>Problem Statement</a:t>
            </a:r>
            <a:endParaRPr lang="en-US" sz="4000" b="1" u="sng" dirty="0">
              <a:solidFill>
                <a:srgbClr val="002060"/>
              </a:solidFill>
              <a:latin typeface="Times New Roman"/>
              <a:cs typeface="Times New Roman"/>
            </a:endParaRPr>
          </a:p>
        </p:txBody>
      </p:sp>
      <p:sp>
        <p:nvSpPr>
          <p:cNvPr id="2" name="TextBox 1">
            <a:extLst>
              <a:ext uri="{FF2B5EF4-FFF2-40B4-BE49-F238E27FC236}">
                <a16:creationId xmlns:a16="http://schemas.microsoft.com/office/drawing/2014/main" id="{D74F8BDF-E7A7-57EB-6441-7839F08CC5AC}"/>
              </a:ext>
            </a:extLst>
          </p:cNvPr>
          <p:cNvSpPr txBox="1"/>
          <p:nvPr/>
        </p:nvSpPr>
        <p:spPr>
          <a:xfrm>
            <a:off x="3155272" y="2761217"/>
            <a:ext cx="5881456" cy="1477328"/>
          </a:xfrm>
          <a:prstGeom prst="rect">
            <a:avLst/>
          </a:prstGeom>
          <a:noFill/>
        </p:spPr>
        <p:txBody>
          <a:bodyPr wrap="square" rtlCol="0">
            <a:spAutoFit/>
          </a:bodyPr>
          <a:lstStyle/>
          <a:p>
            <a:pPr marL="285750" indent="-285750" algn="l">
              <a:buFont typeface="Arial" panose="020B0604020202020204" pitchFamily="34" charset="0"/>
              <a:buChar char="•"/>
            </a:pPr>
            <a:r>
              <a:rPr lang="en-US" dirty="0"/>
              <a:t>Manual attendance takes more time.
Attendance records may contain human errors.
Proxy attendance is difficult to detect.
Existing systems require a more secure and automated solution</a:t>
            </a:r>
          </a:p>
        </p:txBody>
      </p:sp>
      <p:sp>
        <p:nvSpPr>
          <p:cNvPr id="3" name="Footer Placeholder 2">
            <a:extLst>
              <a:ext uri="{FF2B5EF4-FFF2-40B4-BE49-F238E27FC236}">
                <a16:creationId xmlns:a16="http://schemas.microsoft.com/office/drawing/2014/main" id="{2F6B4EFE-9850-AFDF-0858-85B79C9D89AD}"/>
              </a:ext>
            </a:extLst>
          </p:cNvPr>
          <p:cNvSpPr>
            <a:spLocks noGrp="1"/>
          </p:cNvSpPr>
          <p:nvPr>
            <p:ph type="ftr" sz="quarter" idx="11"/>
          </p:nvPr>
        </p:nvSpPr>
        <p:spPr/>
        <p:txBody>
          <a:bodyPr/>
          <a:lstStyle/>
          <a:p>
            <a:r>
              <a:rPr lang="en-IN"/>
              <a:t>Dept Of CSE(CY)</a:t>
            </a:r>
          </a:p>
        </p:txBody>
      </p:sp>
      <p:sp>
        <p:nvSpPr>
          <p:cNvPr id="4" name="TextBox 3">
            <a:extLst>
              <a:ext uri="{FF2B5EF4-FFF2-40B4-BE49-F238E27FC236}">
                <a16:creationId xmlns:a16="http://schemas.microsoft.com/office/drawing/2014/main" id="{39FE3767-843B-A537-9A05-8F5461CAB830}"/>
              </a:ext>
            </a:extLst>
          </p:cNvPr>
          <p:cNvSpPr txBox="1"/>
          <p:nvPr/>
        </p:nvSpPr>
        <p:spPr>
          <a:xfrm>
            <a:off x="4038600" y="-37554"/>
            <a:ext cx="3023135" cy="553998"/>
          </a:xfrm>
          <a:prstGeom prst="rect">
            <a:avLst/>
          </a:prstGeom>
          <a:noFill/>
        </p:spPr>
        <p:txBody>
          <a:bodyPr wrap="none" rtlCol="0">
            <a:spAutoFit/>
          </a:bodyPr>
          <a:lstStyle/>
          <a:p>
            <a:r>
              <a:rPr lang="en-IN" sz="1200" dirty="0">
                <a:solidFill>
                  <a:schemeClr val="bg1">
                    <a:lumMod val="65000"/>
                  </a:schemeClr>
                </a:solidFill>
              </a:rPr>
              <a:t>STM32 Smart Attendance Register Using RFID</a:t>
            </a:r>
          </a:p>
          <a:p>
            <a:endParaRPr lang="en-IN" dirty="0"/>
          </a:p>
        </p:txBody>
      </p:sp>
    </p:spTree>
    <p:extLst>
      <p:ext uri="{BB962C8B-B14F-4D97-AF65-F5344CB8AC3E}">
        <p14:creationId xmlns:p14="http://schemas.microsoft.com/office/powerpoint/2010/main" val="24053778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3" name="Title 1"/>
          <p:cNvSpPr>
            <a:spLocks noGrp="1"/>
          </p:cNvSpPr>
          <p:nvPr>
            <p:ph type="title"/>
          </p:nvPr>
        </p:nvSpPr>
        <p:spPr bwMode="auto">
          <a:xfrm>
            <a:off x="2066261" y="1990845"/>
            <a:ext cx="8229240" cy="628135"/>
          </a:xfrm>
        </p:spPr>
        <p:txBody>
          <a:bodyPr>
            <a:noAutofit/>
          </a:bodyPr>
          <a:lstStyle/>
          <a:p>
            <a:pPr algn="ctr">
              <a:lnSpc>
                <a:spcPct val="100000"/>
              </a:lnSpc>
              <a:spcBef>
                <a:spcPts val="0"/>
              </a:spcBef>
              <a:defRPr/>
            </a:pPr>
            <a:r>
              <a:rPr lang="en-IN" sz="4000" b="1" u="sng" dirty="0">
                <a:solidFill>
                  <a:srgbClr val="002060"/>
                </a:solidFill>
                <a:latin typeface="Times New Roman"/>
                <a:cs typeface="Times New Roman"/>
              </a:rPr>
              <a:t>Proposed Method</a:t>
            </a:r>
            <a:endParaRPr lang="en-US" sz="4000" b="1" u="sng" dirty="0">
              <a:solidFill>
                <a:srgbClr val="002060"/>
              </a:solidFill>
              <a:latin typeface="Times New Roman"/>
              <a:cs typeface="Times New Roman"/>
            </a:endParaRPr>
          </a:p>
        </p:txBody>
      </p:sp>
      <p:sp>
        <p:nvSpPr>
          <p:cNvPr id="2" name="TextBox 1">
            <a:extLst>
              <a:ext uri="{FF2B5EF4-FFF2-40B4-BE49-F238E27FC236}">
                <a16:creationId xmlns:a16="http://schemas.microsoft.com/office/drawing/2014/main" id="{E0EF1519-E837-7B2C-28C5-68DE8346A2D6}"/>
              </a:ext>
            </a:extLst>
          </p:cNvPr>
          <p:cNvSpPr txBox="1"/>
          <p:nvPr/>
        </p:nvSpPr>
        <p:spPr>
          <a:xfrm>
            <a:off x="2820157" y="2859417"/>
            <a:ext cx="7804951" cy="2031325"/>
          </a:xfrm>
          <a:prstGeom prst="rect">
            <a:avLst/>
          </a:prstGeom>
          <a:noFill/>
        </p:spPr>
        <p:txBody>
          <a:bodyPr wrap="square" rtlCol="0">
            <a:spAutoFit/>
          </a:bodyPr>
          <a:lstStyle/>
          <a:p>
            <a:pPr marL="285750" indent="-285750" algn="l">
              <a:buFont typeface="Arial" panose="020B0604020202020204" pitchFamily="34" charset="0"/>
              <a:buChar char="•"/>
            </a:pPr>
            <a:r>
              <a:rPr lang="en-US" dirty="0"/>
              <a:t>Initialize the STM32 microcontroller and RFID reader.
Scan the RFID card and read its unique ID.
Compare the card ID with the stored database.
If the card is valid, record attendance and display “Attendance Marked” on the LCD.
If the card is invalid, display “Access Denied” and activate the buzzer.
Repeat the process for each user to ensure quick and accurate attendance. </a:t>
            </a:r>
          </a:p>
        </p:txBody>
      </p:sp>
      <p:sp>
        <p:nvSpPr>
          <p:cNvPr id="4" name="Footer Placeholder 3">
            <a:extLst>
              <a:ext uri="{FF2B5EF4-FFF2-40B4-BE49-F238E27FC236}">
                <a16:creationId xmlns:a16="http://schemas.microsoft.com/office/drawing/2014/main" id="{936AFB97-D019-A617-0FC2-21279150702D}"/>
              </a:ext>
            </a:extLst>
          </p:cNvPr>
          <p:cNvSpPr>
            <a:spLocks noGrp="1"/>
          </p:cNvSpPr>
          <p:nvPr>
            <p:ph type="ftr" sz="quarter" idx="11"/>
          </p:nvPr>
        </p:nvSpPr>
        <p:spPr/>
        <p:txBody>
          <a:bodyPr/>
          <a:lstStyle/>
          <a:p>
            <a:r>
              <a:rPr lang="en-IN"/>
              <a:t>Dept Of CSE(CY)</a:t>
            </a:r>
          </a:p>
        </p:txBody>
      </p:sp>
      <p:sp>
        <p:nvSpPr>
          <p:cNvPr id="5" name="TextBox 4">
            <a:extLst>
              <a:ext uri="{FF2B5EF4-FFF2-40B4-BE49-F238E27FC236}">
                <a16:creationId xmlns:a16="http://schemas.microsoft.com/office/drawing/2014/main" id="{7006FE80-39A9-7185-C453-446901A086BB}"/>
              </a:ext>
            </a:extLst>
          </p:cNvPr>
          <p:cNvSpPr txBox="1"/>
          <p:nvPr/>
        </p:nvSpPr>
        <p:spPr>
          <a:xfrm>
            <a:off x="5303520" y="-40640"/>
            <a:ext cx="3023135" cy="553998"/>
          </a:xfrm>
          <a:prstGeom prst="rect">
            <a:avLst/>
          </a:prstGeom>
          <a:noFill/>
        </p:spPr>
        <p:txBody>
          <a:bodyPr wrap="none" rtlCol="0">
            <a:spAutoFit/>
          </a:bodyPr>
          <a:lstStyle/>
          <a:p>
            <a:r>
              <a:rPr lang="en-IN" sz="1200" dirty="0">
                <a:solidFill>
                  <a:schemeClr val="bg1">
                    <a:lumMod val="65000"/>
                  </a:schemeClr>
                </a:solidFill>
              </a:rPr>
              <a:t>STM32 Smart Attendance Register Using RFID</a:t>
            </a:r>
          </a:p>
          <a:p>
            <a:endParaRPr lang="en-IN" dirty="0"/>
          </a:p>
        </p:txBody>
      </p:sp>
    </p:spTree>
    <p:extLst>
      <p:ext uri="{BB962C8B-B14F-4D97-AF65-F5344CB8AC3E}">
        <p14:creationId xmlns:p14="http://schemas.microsoft.com/office/powerpoint/2010/main" val="36210661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07939" y="162121"/>
            <a:ext cx="9745883" cy="1610027"/>
          </a:xfrm>
          <a:prstGeom prst="rect">
            <a:avLst/>
          </a:prstGeom>
        </p:spPr>
      </p:pic>
      <p:sp>
        <p:nvSpPr>
          <p:cNvPr id="3" name="Title 1"/>
          <p:cNvSpPr>
            <a:spLocks noGrp="1"/>
          </p:cNvSpPr>
          <p:nvPr>
            <p:ph type="title"/>
          </p:nvPr>
        </p:nvSpPr>
        <p:spPr bwMode="auto">
          <a:xfrm>
            <a:off x="2066260" y="1772148"/>
            <a:ext cx="8229240" cy="628135"/>
          </a:xfrm>
        </p:spPr>
        <p:txBody>
          <a:bodyPr>
            <a:noAutofit/>
          </a:bodyPr>
          <a:lstStyle/>
          <a:p>
            <a:pPr algn="ctr">
              <a:lnSpc>
                <a:spcPct val="100000"/>
              </a:lnSpc>
              <a:spcBef>
                <a:spcPts val="0"/>
              </a:spcBef>
              <a:defRPr/>
            </a:pPr>
            <a:r>
              <a:rPr lang="en-US" sz="3600" b="1" u="sng" dirty="0">
                <a:solidFill>
                  <a:srgbClr val="002060"/>
                </a:solidFill>
                <a:latin typeface="Times New Roman"/>
                <a:cs typeface="Times New Roman"/>
              </a:rPr>
              <a:t>Basic Block Diagram</a:t>
            </a:r>
          </a:p>
        </p:txBody>
      </p:sp>
      <p:pic>
        <p:nvPicPr>
          <p:cNvPr id="2" name="Picture 1">
            <a:extLst>
              <a:ext uri="{FF2B5EF4-FFF2-40B4-BE49-F238E27FC236}">
                <a16:creationId xmlns:a16="http://schemas.microsoft.com/office/drawing/2014/main" id="{C521402C-A227-DB81-4B44-96A00B4A9C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67500" y="2794182"/>
            <a:ext cx="8128000" cy="3327071"/>
          </a:xfrm>
          <a:prstGeom prst="rect">
            <a:avLst/>
          </a:prstGeom>
        </p:spPr>
      </p:pic>
      <p:sp>
        <p:nvSpPr>
          <p:cNvPr id="4" name="Footer Placeholder 3">
            <a:extLst>
              <a:ext uri="{FF2B5EF4-FFF2-40B4-BE49-F238E27FC236}">
                <a16:creationId xmlns:a16="http://schemas.microsoft.com/office/drawing/2014/main" id="{430F6A77-6725-F144-36B2-DBA9C22FFEB4}"/>
              </a:ext>
            </a:extLst>
          </p:cNvPr>
          <p:cNvSpPr>
            <a:spLocks noGrp="1"/>
          </p:cNvSpPr>
          <p:nvPr>
            <p:ph type="ftr" sz="quarter" idx="11"/>
          </p:nvPr>
        </p:nvSpPr>
        <p:spPr/>
        <p:txBody>
          <a:bodyPr/>
          <a:lstStyle/>
          <a:p>
            <a:r>
              <a:rPr lang="en-IN"/>
              <a:t>Dept Of CSE(CY)</a:t>
            </a:r>
          </a:p>
        </p:txBody>
      </p:sp>
      <p:sp>
        <p:nvSpPr>
          <p:cNvPr id="5" name="TextBox 4">
            <a:extLst>
              <a:ext uri="{FF2B5EF4-FFF2-40B4-BE49-F238E27FC236}">
                <a16:creationId xmlns:a16="http://schemas.microsoft.com/office/drawing/2014/main" id="{C5229A99-D6F4-F252-632D-E49D422E8F67}"/>
              </a:ext>
            </a:extLst>
          </p:cNvPr>
          <p:cNvSpPr txBox="1"/>
          <p:nvPr/>
        </p:nvSpPr>
        <p:spPr>
          <a:xfrm>
            <a:off x="4246880" y="-30919"/>
            <a:ext cx="3023135" cy="553998"/>
          </a:xfrm>
          <a:prstGeom prst="rect">
            <a:avLst/>
          </a:prstGeom>
          <a:noFill/>
        </p:spPr>
        <p:txBody>
          <a:bodyPr wrap="none" rtlCol="0">
            <a:spAutoFit/>
          </a:bodyPr>
          <a:lstStyle/>
          <a:p>
            <a:r>
              <a:rPr lang="en-IN" sz="1200" dirty="0">
                <a:solidFill>
                  <a:schemeClr val="bg1">
                    <a:lumMod val="65000"/>
                  </a:schemeClr>
                </a:solidFill>
              </a:rPr>
              <a:t>STM32 Smart Attendance Register Using RFID</a:t>
            </a:r>
          </a:p>
          <a:p>
            <a:endParaRPr lang="en-IN" dirty="0"/>
          </a:p>
        </p:txBody>
      </p:sp>
    </p:spTree>
    <p:extLst>
      <p:ext uri="{BB962C8B-B14F-4D97-AF65-F5344CB8AC3E}">
        <p14:creationId xmlns:p14="http://schemas.microsoft.com/office/powerpoint/2010/main" val="27126034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bwMode="auto">
          <a:xfrm>
            <a:off x="1765319" y="1816931"/>
            <a:ext cx="8229240" cy="628135"/>
          </a:xfrm>
        </p:spPr>
        <p:txBody>
          <a:bodyPr>
            <a:noAutofit/>
          </a:bodyPr>
          <a:lstStyle/>
          <a:p>
            <a:pPr algn="ctr">
              <a:lnSpc>
                <a:spcPct val="100000"/>
              </a:lnSpc>
              <a:spcBef>
                <a:spcPts val="0"/>
              </a:spcBef>
              <a:defRPr/>
            </a:pPr>
            <a:r>
              <a:rPr lang="en-IN" sz="4000" b="1" u="sng" dirty="0">
                <a:solidFill>
                  <a:srgbClr val="002060"/>
                </a:solidFill>
                <a:latin typeface="Times New Roman"/>
                <a:cs typeface="Times New Roman"/>
              </a:rPr>
              <a:t>Conclusion </a:t>
            </a:r>
            <a:endParaRPr lang="en-US" sz="4000" b="1" u="sng" dirty="0">
              <a:solidFill>
                <a:srgbClr val="002060"/>
              </a:solidFill>
              <a:latin typeface="Times New Roman"/>
              <a:cs typeface="Times New Roman"/>
            </a:endParaRP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2" name="TextBox 1">
            <a:extLst>
              <a:ext uri="{FF2B5EF4-FFF2-40B4-BE49-F238E27FC236}">
                <a16:creationId xmlns:a16="http://schemas.microsoft.com/office/drawing/2014/main" id="{AF01BD00-6872-6429-7308-DA4BE97B52CB}"/>
              </a:ext>
            </a:extLst>
          </p:cNvPr>
          <p:cNvSpPr txBox="1"/>
          <p:nvPr/>
        </p:nvSpPr>
        <p:spPr>
          <a:xfrm>
            <a:off x="2866747" y="2690336"/>
            <a:ext cx="5936941" cy="2031325"/>
          </a:xfrm>
          <a:prstGeom prst="rect">
            <a:avLst/>
          </a:prstGeom>
          <a:noFill/>
        </p:spPr>
        <p:txBody>
          <a:bodyPr wrap="square" rtlCol="0">
            <a:spAutoFit/>
          </a:bodyPr>
          <a:lstStyle/>
          <a:p>
            <a:pPr marL="285750" indent="-285750" algn="l">
              <a:buFont typeface="Arial" panose="020B0604020202020204" pitchFamily="34" charset="0"/>
              <a:buChar char="•"/>
            </a:pPr>
            <a:r>
              <a:rPr lang="en-US" dirty="0"/>
              <a:t>The system provides fast and accurate attendance recording.
It minimizes human errors and prevents unauthorized access.
The project offers a paperless and automated attendance solution.
It is suitable for schools, colleges, and offices. �</a:t>
            </a:r>
          </a:p>
        </p:txBody>
      </p:sp>
      <p:sp>
        <p:nvSpPr>
          <p:cNvPr id="5" name="Footer Placeholder 4">
            <a:extLst>
              <a:ext uri="{FF2B5EF4-FFF2-40B4-BE49-F238E27FC236}">
                <a16:creationId xmlns:a16="http://schemas.microsoft.com/office/drawing/2014/main" id="{B5CD7A11-312C-ECF0-F9D5-FA2C464FFE8E}"/>
              </a:ext>
            </a:extLst>
          </p:cNvPr>
          <p:cNvSpPr>
            <a:spLocks noGrp="1"/>
          </p:cNvSpPr>
          <p:nvPr>
            <p:ph type="ftr" sz="quarter" idx="11"/>
          </p:nvPr>
        </p:nvSpPr>
        <p:spPr/>
        <p:txBody>
          <a:bodyPr/>
          <a:lstStyle/>
          <a:p>
            <a:r>
              <a:rPr lang="en-IN"/>
              <a:t>Dept Of CSE(CY)</a:t>
            </a:r>
          </a:p>
        </p:txBody>
      </p:sp>
      <p:sp>
        <p:nvSpPr>
          <p:cNvPr id="6" name="TextBox 5">
            <a:extLst>
              <a:ext uri="{FF2B5EF4-FFF2-40B4-BE49-F238E27FC236}">
                <a16:creationId xmlns:a16="http://schemas.microsoft.com/office/drawing/2014/main" id="{521B6244-976D-5754-140F-897A1FEC0141}"/>
              </a:ext>
            </a:extLst>
          </p:cNvPr>
          <p:cNvSpPr txBox="1"/>
          <p:nvPr/>
        </p:nvSpPr>
        <p:spPr>
          <a:xfrm>
            <a:off x="4511040" y="-10160"/>
            <a:ext cx="3023135" cy="553998"/>
          </a:xfrm>
          <a:prstGeom prst="rect">
            <a:avLst/>
          </a:prstGeom>
          <a:noFill/>
        </p:spPr>
        <p:txBody>
          <a:bodyPr wrap="none" rtlCol="0">
            <a:spAutoFit/>
          </a:bodyPr>
          <a:lstStyle/>
          <a:p>
            <a:r>
              <a:rPr lang="en-IN" sz="1200" dirty="0">
                <a:solidFill>
                  <a:schemeClr val="bg1">
                    <a:lumMod val="65000"/>
                  </a:schemeClr>
                </a:solidFill>
              </a:rPr>
              <a:t>STM32 Smart Attendance Register Using RFID</a:t>
            </a:r>
          </a:p>
          <a:p>
            <a:endParaRPr lang="en-IN" dirty="0"/>
          </a:p>
        </p:txBody>
      </p:sp>
    </p:spTree>
    <p:extLst>
      <p:ext uri="{BB962C8B-B14F-4D97-AF65-F5344CB8AC3E}">
        <p14:creationId xmlns:p14="http://schemas.microsoft.com/office/powerpoint/2010/main" val="12730870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bwMode="auto">
          <a:xfrm>
            <a:off x="1765319" y="1816931"/>
            <a:ext cx="8229240" cy="628135"/>
          </a:xfrm>
        </p:spPr>
        <p:txBody>
          <a:bodyPr>
            <a:noAutofit/>
          </a:bodyPr>
          <a:lstStyle/>
          <a:p>
            <a:pPr algn="ctr">
              <a:lnSpc>
                <a:spcPct val="100000"/>
              </a:lnSpc>
              <a:spcBef>
                <a:spcPts val="0"/>
              </a:spcBef>
              <a:defRPr/>
            </a:pPr>
            <a:r>
              <a:rPr lang="en-IN" sz="4000" b="1" u="sng" dirty="0">
                <a:solidFill>
                  <a:srgbClr val="002060"/>
                </a:solidFill>
                <a:latin typeface="Times New Roman"/>
                <a:cs typeface="Times New Roman"/>
              </a:rPr>
              <a:t>References</a:t>
            </a:r>
            <a:endParaRPr lang="en-US" sz="4000" b="1" u="sng" dirty="0">
              <a:solidFill>
                <a:srgbClr val="002060"/>
              </a:solidFill>
              <a:latin typeface="Times New Roman"/>
              <a:cs typeface="Times New Roman"/>
            </a:endParaRP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2" name="TextBox 1">
            <a:extLst>
              <a:ext uri="{FF2B5EF4-FFF2-40B4-BE49-F238E27FC236}">
                <a16:creationId xmlns:a16="http://schemas.microsoft.com/office/drawing/2014/main" id="{2A2633E8-F79C-95FA-493D-DC20FAA6FF40}"/>
              </a:ext>
            </a:extLst>
          </p:cNvPr>
          <p:cNvSpPr txBox="1"/>
          <p:nvPr/>
        </p:nvSpPr>
        <p:spPr>
          <a:xfrm>
            <a:off x="5179750" y="2516449"/>
            <a:ext cx="1828800" cy="1828800"/>
          </a:xfrm>
          <a:prstGeom prst="rect">
            <a:avLst/>
          </a:prstGeom>
          <a:noFill/>
        </p:spPr>
        <p:txBody>
          <a:bodyPr wrap="square" rtlCol="0">
            <a:spAutoFit/>
          </a:bodyPr>
          <a:lstStyle/>
          <a:p>
            <a:pPr algn="l"/>
            <a:endParaRPr lang="en-US" dirty="0"/>
          </a:p>
        </p:txBody>
      </p:sp>
      <p:sp>
        <p:nvSpPr>
          <p:cNvPr id="5" name="TextBox 4">
            <a:extLst>
              <a:ext uri="{FF2B5EF4-FFF2-40B4-BE49-F238E27FC236}">
                <a16:creationId xmlns:a16="http://schemas.microsoft.com/office/drawing/2014/main" id="{9CEC9424-0DFE-5516-BC67-FECE69F4B6BF}"/>
              </a:ext>
            </a:extLst>
          </p:cNvPr>
          <p:cNvSpPr txBox="1"/>
          <p:nvPr/>
        </p:nvSpPr>
        <p:spPr>
          <a:xfrm>
            <a:off x="3384612" y="2967335"/>
            <a:ext cx="4531310" cy="923330"/>
          </a:xfrm>
          <a:prstGeom prst="rect">
            <a:avLst/>
          </a:prstGeom>
          <a:noFill/>
        </p:spPr>
        <p:txBody>
          <a:bodyPr wrap="square" rtlCol="0">
            <a:spAutoFit/>
          </a:bodyPr>
          <a:lstStyle/>
          <a:p>
            <a:pPr marL="285750" indent="-285750" algn="l">
              <a:buFont typeface="Arial" panose="020B0604020202020204" pitchFamily="34" charset="0"/>
              <a:buChar char="•"/>
            </a:pPr>
            <a:r>
              <a:rPr lang="en-US" i="1" dirty="0"/>
              <a:t>STM32 Microcontroller Datasheet.
RC522 RFID Reader Module Datasheet.
RFID Technology Documentation.</a:t>
            </a:r>
          </a:p>
        </p:txBody>
      </p:sp>
      <p:sp>
        <p:nvSpPr>
          <p:cNvPr id="6" name="Footer Placeholder 5">
            <a:extLst>
              <a:ext uri="{FF2B5EF4-FFF2-40B4-BE49-F238E27FC236}">
                <a16:creationId xmlns:a16="http://schemas.microsoft.com/office/drawing/2014/main" id="{F2689BC9-0C43-DDDB-7CFE-66CB3E646EA8}"/>
              </a:ext>
            </a:extLst>
          </p:cNvPr>
          <p:cNvSpPr>
            <a:spLocks noGrp="1"/>
          </p:cNvSpPr>
          <p:nvPr>
            <p:ph type="ftr" sz="quarter" idx="11"/>
          </p:nvPr>
        </p:nvSpPr>
        <p:spPr/>
        <p:txBody>
          <a:bodyPr/>
          <a:lstStyle/>
          <a:p>
            <a:r>
              <a:rPr lang="en-IN"/>
              <a:t>Dept Of CSE(CY)</a:t>
            </a:r>
          </a:p>
        </p:txBody>
      </p:sp>
      <p:sp>
        <p:nvSpPr>
          <p:cNvPr id="7" name="TextBox 6">
            <a:extLst>
              <a:ext uri="{FF2B5EF4-FFF2-40B4-BE49-F238E27FC236}">
                <a16:creationId xmlns:a16="http://schemas.microsoft.com/office/drawing/2014/main" id="{A602F473-EEDF-1589-F229-898DAC015FDD}"/>
              </a:ext>
            </a:extLst>
          </p:cNvPr>
          <p:cNvSpPr txBox="1"/>
          <p:nvPr/>
        </p:nvSpPr>
        <p:spPr>
          <a:xfrm>
            <a:off x="4785360" y="-71816"/>
            <a:ext cx="3023135" cy="276999"/>
          </a:xfrm>
          <a:prstGeom prst="rect">
            <a:avLst/>
          </a:prstGeom>
          <a:noFill/>
        </p:spPr>
        <p:txBody>
          <a:bodyPr wrap="none" rtlCol="0">
            <a:spAutoFit/>
          </a:bodyPr>
          <a:lstStyle/>
          <a:p>
            <a:r>
              <a:rPr lang="en-IN" sz="1200" dirty="0">
                <a:solidFill>
                  <a:schemeClr val="bg1">
                    <a:lumMod val="65000"/>
                  </a:schemeClr>
                </a:solidFill>
              </a:rPr>
              <a:t>STM32 Smart Attendance Register Using RFID</a:t>
            </a:r>
          </a:p>
        </p:txBody>
      </p:sp>
    </p:spTree>
    <p:extLst>
      <p:ext uri="{BB962C8B-B14F-4D97-AF65-F5344CB8AC3E}">
        <p14:creationId xmlns:p14="http://schemas.microsoft.com/office/powerpoint/2010/main" val="38527563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285</TotalTime>
  <Words>1340</Words>
  <Application>Microsoft Office PowerPoint</Application>
  <PresentationFormat>Widescreen</PresentationFormat>
  <Paragraphs>106</Paragraphs>
  <Slides>16</Slides>
  <Notes>0</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Motivation</vt:lpstr>
      <vt:lpstr>Introduction</vt:lpstr>
      <vt:lpstr>Problem Statement</vt:lpstr>
      <vt:lpstr>Proposed Method</vt:lpstr>
      <vt:lpstr>Basic Block Diagram</vt:lpstr>
      <vt:lpstr>Conclusion </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zennaangel@gmail.com</cp:lastModifiedBy>
  <cp:revision>13</cp:revision>
  <dcterms:created xsi:type="dcterms:W3CDTF">2025-10-04T04:58:01Z</dcterms:created>
  <dcterms:modified xsi:type="dcterms:W3CDTF">2026-07-29T16:36:21Z</dcterms:modified>
</cp:coreProperties>
</file>