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handoutMasterIdLst>
    <p:handoutMasterId r:id="rId19"/>
  </p:handoutMasterIdLst>
  <p:sldIdLst>
    <p:sldId id="257" r:id="rId2"/>
    <p:sldId id="304" r:id="rId3"/>
    <p:sldId id="282" r:id="rId4"/>
    <p:sldId id="305" r:id="rId5"/>
    <p:sldId id="283" r:id="rId6"/>
    <p:sldId id="284" r:id="rId7"/>
    <p:sldId id="285" r:id="rId8"/>
    <p:sldId id="286" r:id="rId9"/>
    <p:sldId id="287" r:id="rId10"/>
    <p:sldId id="288" r:id="rId11"/>
    <p:sldId id="289" r:id="rId12"/>
    <p:sldId id="295" r:id="rId13"/>
    <p:sldId id="296" r:id="rId14"/>
    <p:sldId id="303" r:id="rId15"/>
    <p:sldId id="279" r:id="rId16"/>
    <p:sldId id="28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ANANDA SANTHOSH" userId="75b68f0fa5f65389" providerId="LiveId" clId="{91345776-D598-4413-8977-2B7871548F3F}"/>
    <pc:docChg chg="modSld">
      <pc:chgData name="DEVANANDA SANTHOSH" userId="75b68f0fa5f65389" providerId="LiveId" clId="{91345776-D598-4413-8977-2B7871548F3F}" dt="2026-07-29T17:36:36.284" v="59" actId="255"/>
      <pc:docMkLst>
        <pc:docMk/>
      </pc:docMkLst>
      <pc:sldChg chg="addSp delSp modSp mod">
        <pc:chgData name="DEVANANDA SANTHOSH" userId="75b68f0fa5f65389" providerId="LiveId" clId="{91345776-D598-4413-8977-2B7871548F3F}" dt="2026-07-29T17:31:37.497" v="10" actId="1076"/>
        <pc:sldMkLst>
          <pc:docMk/>
          <pc:sldMk cId="1241010064" sldId="257"/>
        </pc:sldMkLst>
        <pc:spChg chg="add del mod">
          <ac:chgData name="DEVANANDA SANTHOSH" userId="75b68f0fa5f65389" providerId="LiveId" clId="{91345776-D598-4413-8977-2B7871548F3F}" dt="2026-07-29T17:30:29.383" v="3"/>
          <ac:spMkLst>
            <pc:docMk/>
            <pc:sldMk cId="1241010064" sldId="257"/>
            <ac:spMk id="5" creationId="{E95F5F5D-6865-AD9E-03FE-523BAD3A8028}"/>
          </ac:spMkLst>
        </pc:spChg>
        <pc:spChg chg="mod">
          <ac:chgData name="DEVANANDA SANTHOSH" userId="75b68f0fa5f65389" providerId="LiveId" clId="{91345776-D598-4413-8977-2B7871548F3F}" dt="2026-07-29T17:28:16.733" v="0" actId="14100"/>
          <ac:spMkLst>
            <pc:docMk/>
            <pc:sldMk cId="1241010064" sldId="257"/>
            <ac:spMk id="7" creationId="{00000000-0000-0000-0000-000000000000}"/>
          </ac:spMkLst>
        </pc:spChg>
        <pc:spChg chg="add mod">
          <ac:chgData name="DEVANANDA SANTHOSH" userId="75b68f0fa5f65389" providerId="LiveId" clId="{91345776-D598-4413-8977-2B7871548F3F}" dt="2026-07-29T17:31:37.497" v="10" actId="1076"/>
          <ac:spMkLst>
            <pc:docMk/>
            <pc:sldMk cId="1241010064" sldId="257"/>
            <ac:spMk id="8" creationId="{72173DBD-2207-712E-D5B3-3343A86323EF}"/>
          </ac:spMkLst>
        </pc:spChg>
      </pc:sldChg>
      <pc:sldChg chg="addSp modSp mod">
        <pc:chgData name="DEVANANDA SANTHOSH" userId="75b68f0fa5f65389" providerId="LiveId" clId="{91345776-D598-4413-8977-2B7871548F3F}" dt="2026-07-29T17:36:23.486" v="56" actId="255"/>
        <pc:sldMkLst>
          <pc:docMk/>
          <pc:sldMk cId="1273087078" sldId="279"/>
        </pc:sldMkLst>
        <pc:spChg chg="add mod">
          <ac:chgData name="DEVANANDA SANTHOSH" userId="75b68f0fa5f65389" providerId="LiveId" clId="{91345776-D598-4413-8977-2B7871548F3F}" dt="2026-07-29T17:36:23.486" v="56" actId="255"/>
          <ac:spMkLst>
            <pc:docMk/>
            <pc:sldMk cId="1273087078" sldId="279"/>
            <ac:spMk id="8" creationId="{3E134C5C-1D73-4688-A31E-951D70966C75}"/>
          </ac:spMkLst>
        </pc:spChg>
      </pc:sldChg>
      <pc:sldChg chg="addSp modSp mod">
        <pc:chgData name="DEVANANDA SANTHOSH" userId="75b68f0fa5f65389" providerId="LiveId" clId="{91345776-D598-4413-8977-2B7871548F3F}" dt="2026-07-29T17:36:36.284" v="59" actId="255"/>
        <pc:sldMkLst>
          <pc:docMk/>
          <pc:sldMk cId="3852756335" sldId="281"/>
        </pc:sldMkLst>
        <pc:spChg chg="add mod">
          <ac:chgData name="DEVANANDA SANTHOSH" userId="75b68f0fa5f65389" providerId="LiveId" clId="{91345776-D598-4413-8977-2B7871548F3F}" dt="2026-07-29T17:36:36.284" v="59" actId="255"/>
          <ac:spMkLst>
            <pc:docMk/>
            <pc:sldMk cId="3852756335" sldId="281"/>
            <ac:spMk id="8" creationId="{4276037C-039B-7F8F-96C2-D6607CDA8663}"/>
          </ac:spMkLst>
        </pc:spChg>
      </pc:sldChg>
      <pc:sldChg chg="addSp modSp mod">
        <pc:chgData name="DEVANANDA SANTHOSH" userId="75b68f0fa5f65389" providerId="LiveId" clId="{91345776-D598-4413-8977-2B7871548F3F}" dt="2026-07-29T17:32:56.156" v="17" actId="14100"/>
        <pc:sldMkLst>
          <pc:docMk/>
          <pc:sldMk cId="60512213" sldId="282"/>
        </pc:sldMkLst>
        <pc:spChg chg="add mod">
          <ac:chgData name="DEVANANDA SANTHOSH" userId="75b68f0fa5f65389" providerId="LiveId" clId="{91345776-D598-4413-8977-2B7871548F3F}" dt="2026-07-29T17:32:56.156" v="17" actId="14100"/>
          <ac:spMkLst>
            <pc:docMk/>
            <pc:sldMk cId="60512213" sldId="282"/>
            <ac:spMk id="5" creationId="{77E7C74D-8CE7-6B83-3F9D-EABAB99008A2}"/>
          </ac:spMkLst>
        </pc:spChg>
      </pc:sldChg>
      <pc:sldChg chg="addSp modSp mod">
        <pc:chgData name="DEVANANDA SANTHOSH" userId="75b68f0fa5f65389" providerId="LiveId" clId="{91345776-D598-4413-8977-2B7871548F3F}" dt="2026-07-29T17:33:45.450" v="25" actId="14100"/>
        <pc:sldMkLst>
          <pc:docMk/>
          <pc:sldMk cId="2602629959" sldId="283"/>
        </pc:sldMkLst>
        <pc:spChg chg="add mod">
          <ac:chgData name="DEVANANDA SANTHOSH" userId="75b68f0fa5f65389" providerId="LiveId" clId="{91345776-D598-4413-8977-2B7871548F3F}" dt="2026-07-29T17:33:45.450" v="25" actId="14100"/>
          <ac:spMkLst>
            <pc:docMk/>
            <pc:sldMk cId="2602629959" sldId="283"/>
            <ac:spMk id="7" creationId="{1720ED3A-07FE-E298-6500-018B5F47666C}"/>
          </ac:spMkLst>
        </pc:spChg>
      </pc:sldChg>
      <pc:sldChg chg="addSp modSp mod">
        <pc:chgData name="DEVANANDA SANTHOSH" userId="75b68f0fa5f65389" providerId="LiveId" clId="{91345776-D598-4413-8977-2B7871548F3F}" dt="2026-07-29T17:34:03.999" v="29" actId="14100"/>
        <pc:sldMkLst>
          <pc:docMk/>
          <pc:sldMk cId="3735924430" sldId="284"/>
        </pc:sldMkLst>
        <pc:spChg chg="add mod">
          <ac:chgData name="DEVANANDA SANTHOSH" userId="75b68f0fa5f65389" providerId="LiveId" clId="{91345776-D598-4413-8977-2B7871548F3F}" dt="2026-07-29T17:34:03.999" v="29" actId="14100"/>
          <ac:spMkLst>
            <pc:docMk/>
            <pc:sldMk cId="3735924430" sldId="284"/>
            <ac:spMk id="7" creationId="{487300B5-4CCB-5A35-50CC-AEFF4271B53D}"/>
          </ac:spMkLst>
        </pc:spChg>
      </pc:sldChg>
      <pc:sldChg chg="addSp modSp mod">
        <pc:chgData name="DEVANANDA SANTHOSH" userId="75b68f0fa5f65389" providerId="LiveId" clId="{91345776-D598-4413-8977-2B7871548F3F}" dt="2026-07-29T17:34:17.859" v="32" actId="255"/>
        <pc:sldMkLst>
          <pc:docMk/>
          <pc:sldMk cId="1945739107" sldId="285"/>
        </pc:sldMkLst>
        <pc:spChg chg="add mod">
          <ac:chgData name="DEVANANDA SANTHOSH" userId="75b68f0fa5f65389" providerId="LiveId" clId="{91345776-D598-4413-8977-2B7871548F3F}" dt="2026-07-29T17:34:17.859" v="32" actId="255"/>
          <ac:spMkLst>
            <pc:docMk/>
            <pc:sldMk cId="1945739107" sldId="285"/>
            <ac:spMk id="7" creationId="{4FFA0B04-09E5-F772-EA4A-3557ED851EA9}"/>
          </ac:spMkLst>
        </pc:spChg>
      </pc:sldChg>
      <pc:sldChg chg="addSp modSp mod">
        <pc:chgData name="DEVANANDA SANTHOSH" userId="75b68f0fa5f65389" providerId="LiveId" clId="{91345776-D598-4413-8977-2B7871548F3F}" dt="2026-07-29T17:34:34.272" v="35" actId="255"/>
        <pc:sldMkLst>
          <pc:docMk/>
          <pc:sldMk cId="490350623" sldId="286"/>
        </pc:sldMkLst>
        <pc:spChg chg="add mod">
          <ac:chgData name="DEVANANDA SANTHOSH" userId="75b68f0fa5f65389" providerId="LiveId" clId="{91345776-D598-4413-8977-2B7871548F3F}" dt="2026-07-29T17:34:34.272" v="35" actId="255"/>
          <ac:spMkLst>
            <pc:docMk/>
            <pc:sldMk cId="490350623" sldId="286"/>
            <ac:spMk id="7" creationId="{B6C5A3A6-60CF-FD8A-256C-AB84686BE59D}"/>
          </ac:spMkLst>
        </pc:spChg>
      </pc:sldChg>
      <pc:sldChg chg="addSp modSp mod">
        <pc:chgData name="DEVANANDA SANTHOSH" userId="75b68f0fa5f65389" providerId="LiveId" clId="{91345776-D598-4413-8977-2B7871548F3F}" dt="2026-07-29T17:34:47.440" v="38" actId="255"/>
        <pc:sldMkLst>
          <pc:docMk/>
          <pc:sldMk cId="1330462120" sldId="287"/>
        </pc:sldMkLst>
        <pc:spChg chg="add mod">
          <ac:chgData name="DEVANANDA SANTHOSH" userId="75b68f0fa5f65389" providerId="LiveId" clId="{91345776-D598-4413-8977-2B7871548F3F}" dt="2026-07-29T17:34:47.440" v="38" actId="255"/>
          <ac:spMkLst>
            <pc:docMk/>
            <pc:sldMk cId="1330462120" sldId="287"/>
            <ac:spMk id="7" creationId="{E2D2B9AF-E0A3-1368-BE0E-806DD8DF14D4}"/>
          </ac:spMkLst>
        </pc:spChg>
      </pc:sldChg>
      <pc:sldChg chg="addSp modSp mod">
        <pc:chgData name="DEVANANDA SANTHOSH" userId="75b68f0fa5f65389" providerId="LiveId" clId="{91345776-D598-4413-8977-2B7871548F3F}" dt="2026-07-29T17:35:00.442" v="41" actId="255"/>
        <pc:sldMkLst>
          <pc:docMk/>
          <pc:sldMk cId="3073759" sldId="288"/>
        </pc:sldMkLst>
        <pc:spChg chg="add mod">
          <ac:chgData name="DEVANANDA SANTHOSH" userId="75b68f0fa5f65389" providerId="LiveId" clId="{91345776-D598-4413-8977-2B7871548F3F}" dt="2026-07-29T17:35:00.442" v="41" actId="255"/>
          <ac:spMkLst>
            <pc:docMk/>
            <pc:sldMk cId="3073759" sldId="288"/>
            <ac:spMk id="8" creationId="{E358E7DC-D65D-B17E-EBA8-BEE20B0D7DFB}"/>
          </ac:spMkLst>
        </pc:spChg>
      </pc:sldChg>
      <pc:sldChg chg="addSp modSp mod">
        <pc:chgData name="DEVANANDA SANTHOSH" userId="75b68f0fa5f65389" providerId="LiveId" clId="{91345776-D598-4413-8977-2B7871548F3F}" dt="2026-07-29T17:35:22.504" v="44" actId="255"/>
        <pc:sldMkLst>
          <pc:docMk/>
          <pc:sldMk cId="4281306745" sldId="289"/>
        </pc:sldMkLst>
        <pc:spChg chg="add mod">
          <ac:chgData name="DEVANANDA SANTHOSH" userId="75b68f0fa5f65389" providerId="LiveId" clId="{91345776-D598-4413-8977-2B7871548F3F}" dt="2026-07-29T17:35:22.504" v="44" actId="255"/>
          <ac:spMkLst>
            <pc:docMk/>
            <pc:sldMk cId="4281306745" sldId="289"/>
            <ac:spMk id="8" creationId="{C9EE1ABA-BAA2-4F7E-0D37-2FC676BF9779}"/>
          </ac:spMkLst>
        </pc:spChg>
      </pc:sldChg>
      <pc:sldChg chg="addSp modSp mod">
        <pc:chgData name="DEVANANDA SANTHOSH" userId="75b68f0fa5f65389" providerId="LiveId" clId="{91345776-D598-4413-8977-2B7871548F3F}" dt="2026-07-29T17:35:38.254" v="47" actId="255"/>
        <pc:sldMkLst>
          <pc:docMk/>
          <pc:sldMk cId="2405377836" sldId="295"/>
        </pc:sldMkLst>
        <pc:spChg chg="add mod">
          <ac:chgData name="DEVANANDA SANTHOSH" userId="75b68f0fa5f65389" providerId="LiveId" clId="{91345776-D598-4413-8977-2B7871548F3F}" dt="2026-07-29T17:35:38.254" v="47" actId="255"/>
          <ac:spMkLst>
            <pc:docMk/>
            <pc:sldMk cId="2405377836" sldId="295"/>
            <ac:spMk id="8" creationId="{24815BBF-40D9-F7FF-55B8-CB72C98B7417}"/>
          </ac:spMkLst>
        </pc:spChg>
      </pc:sldChg>
      <pc:sldChg chg="addSp modSp mod">
        <pc:chgData name="DEVANANDA SANTHOSH" userId="75b68f0fa5f65389" providerId="LiveId" clId="{91345776-D598-4413-8977-2B7871548F3F}" dt="2026-07-29T17:35:57.853" v="50" actId="255"/>
        <pc:sldMkLst>
          <pc:docMk/>
          <pc:sldMk cId="3621066164" sldId="296"/>
        </pc:sldMkLst>
        <pc:spChg chg="add mod">
          <ac:chgData name="DEVANANDA SANTHOSH" userId="75b68f0fa5f65389" providerId="LiveId" clId="{91345776-D598-4413-8977-2B7871548F3F}" dt="2026-07-29T17:35:57.853" v="50" actId="255"/>
          <ac:spMkLst>
            <pc:docMk/>
            <pc:sldMk cId="3621066164" sldId="296"/>
            <ac:spMk id="8" creationId="{32D470DD-EDDA-CBA0-3F17-BFE82E34A5A0}"/>
          </ac:spMkLst>
        </pc:spChg>
      </pc:sldChg>
      <pc:sldChg chg="addSp modSp mod">
        <pc:chgData name="DEVANANDA SANTHOSH" userId="75b68f0fa5f65389" providerId="LiveId" clId="{91345776-D598-4413-8977-2B7871548F3F}" dt="2026-07-29T17:36:11.530" v="53" actId="255"/>
        <pc:sldMkLst>
          <pc:docMk/>
          <pc:sldMk cId="2712603411" sldId="303"/>
        </pc:sldMkLst>
        <pc:spChg chg="add mod">
          <ac:chgData name="DEVANANDA SANTHOSH" userId="75b68f0fa5f65389" providerId="LiveId" clId="{91345776-D598-4413-8977-2B7871548F3F}" dt="2026-07-29T17:36:11.530" v="53" actId="255"/>
          <ac:spMkLst>
            <pc:docMk/>
            <pc:sldMk cId="2712603411" sldId="303"/>
            <ac:spMk id="7" creationId="{66BF32D5-49B3-3F18-B687-0AD224CFBEF5}"/>
          </ac:spMkLst>
        </pc:spChg>
      </pc:sldChg>
      <pc:sldChg chg="addSp modSp mod">
        <pc:chgData name="DEVANANDA SANTHOSH" userId="75b68f0fa5f65389" providerId="LiveId" clId="{91345776-D598-4413-8977-2B7871548F3F}" dt="2026-07-29T17:32:29.678" v="13" actId="255"/>
        <pc:sldMkLst>
          <pc:docMk/>
          <pc:sldMk cId="998908478" sldId="304"/>
        </pc:sldMkLst>
        <pc:spChg chg="add mod">
          <ac:chgData name="DEVANANDA SANTHOSH" userId="75b68f0fa5f65389" providerId="LiveId" clId="{91345776-D598-4413-8977-2B7871548F3F}" dt="2026-07-29T17:32:29.678" v="13" actId="255"/>
          <ac:spMkLst>
            <pc:docMk/>
            <pc:sldMk cId="998908478" sldId="304"/>
            <ac:spMk id="5" creationId="{16823C6D-FC84-47F8-28A8-7BECEAEAFB00}"/>
          </ac:spMkLst>
        </pc:spChg>
      </pc:sldChg>
      <pc:sldChg chg="addSp modSp mod">
        <pc:chgData name="DEVANANDA SANTHOSH" userId="75b68f0fa5f65389" providerId="LiveId" clId="{91345776-D598-4413-8977-2B7871548F3F}" dt="2026-07-29T17:33:27.487" v="20" actId="255"/>
        <pc:sldMkLst>
          <pc:docMk/>
          <pc:sldMk cId="2836553598" sldId="305"/>
        </pc:sldMkLst>
        <pc:spChg chg="add mod">
          <ac:chgData name="DEVANANDA SANTHOSH" userId="75b68f0fa5f65389" providerId="LiveId" clId="{91345776-D598-4413-8977-2B7871548F3F}" dt="2026-07-29T17:33:27.487" v="20" actId="255"/>
          <ac:spMkLst>
            <pc:docMk/>
            <pc:sldMk cId="2836553598" sldId="305"/>
            <ac:spMk id="8" creationId="{21BB3DB9-115F-606D-2FB2-F61711FF166A}"/>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816F0B5-8D23-CBE0-3986-E3E7FC524C6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ENVIRONMENTAL TAMPER DETECTION FOR SERVER RACK</a:t>
            </a:r>
          </a:p>
        </p:txBody>
      </p:sp>
      <p:sp>
        <p:nvSpPr>
          <p:cNvPr id="3" name="Date Placeholder 2">
            <a:extLst>
              <a:ext uri="{FF2B5EF4-FFF2-40B4-BE49-F238E27FC236}">
                <a16:creationId xmlns:a16="http://schemas.microsoft.com/office/drawing/2014/main" id="{590899DB-AF28-877C-8099-401B1B8854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797DD0C-FCB0-423A-B1E6-E4438F7CB391}" type="datetime1">
              <a:rPr lang="en-IN" smtClean="0"/>
              <a:t>29-07-2026</a:t>
            </a:fld>
            <a:endParaRPr lang="en-IN"/>
          </a:p>
        </p:txBody>
      </p:sp>
      <p:sp>
        <p:nvSpPr>
          <p:cNvPr id="4" name="Footer Placeholder 3">
            <a:extLst>
              <a:ext uri="{FF2B5EF4-FFF2-40B4-BE49-F238E27FC236}">
                <a16:creationId xmlns:a16="http://schemas.microsoft.com/office/drawing/2014/main" id="{1BCC9821-D0AD-6C90-D363-CD60DE2D519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IN"/>
              <a:t>30-07-2026</a:t>
            </a:r>
          </a:p>
        </p:txBody>
      </p:sp>
      <p:sp>
        <p:nvSpPr>
          <p:cNvPr id="5" name="Slide Number Placeholder 4">
            <a:extLst>
              <a:ext uri="{FF2B5EF4-FFF2-40B4-BE49-F238E27FC236}">
                <a16:creationId xmlns:a16="http://schemas.microsoft.com/office/drawing/2014/main" id="{B5EFBB54-AE55-9908-7CE6-93A00E792D7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654F040-930C-4C24-B705-52A288F0DE79}" type="slidenum">
              <a:rPr lang="en-IN" smtClean="0"/>
              <a:t>‹#›</a:t>
            </a:fld>
            <a:endParaRPr lang="en-IN"/>
          </a:p>
        </p:txBody>
      </p:sp>
    </p:spTree>
    <p:extLst>
      <p:ext uri="{BB962C8B-B14F-4D97-AF65-F5344CB8AC3E}">
        <p14:creationId xmlns:p14="http://schemas.microsoft.com/office/powerpoint/2010/main" val="2678987729"/>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ENVIRONMENTAL TAMPER DETECTION FOR SERVER RACK</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D62606-50C8-4369-8CC3-211B3A90C3E3}" type="datetime1">
              <a:rPr lang="en-IN" smtClean="0"/>
              <a:t>29-07-2026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IN"/>
              <a:t>30-07-2026</a:t>
            </a: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048A6C-062F-4B15-A507-7EF0402BD7AB}" type="slidenum">
              <a:rPr lang="en-IN" smtClean="0"/>
              <a:t>‹#›</a:t>
            </a:fld>
            <a:endParaRPr lang="en-IN"/>
          </a:p>
        </p:txBody>
      </p:sp>
    </p:spTree>
    <p:extLst>
      <p:ext uri="{BB962C8B-B14F-4D97-AF65-F5344CB8AC3E}">
        <p14:creationId xmlns:p14="http://schemas.microsoft.com/office/powerpoint/2010/main" val="1056285221"/>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t>30-07-2026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22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6674592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30-07-2026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7151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t>30-07-2026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7459437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t>30-07-2026</a:t>
            </a:r>
            <a:endParaRPr lang="en-IN"/>
          </a:p>
        </p:txBody>
      </p:sp>
      <p:sp>
        <p:nvSpPr>
          <p:cNvPr id="8" name="Footer Placeholder 7"/>
          <p:cNvSpPr>
            <a:spLocks noGrp="1"/>
          </p:cNvSpPr>
          <p:nvPr>
            <p:ph type="ftr" sz="quarter" idx="11"/>
          </p:nvPr>
        </p:nvSpPr>
        <p:spPr/>
        <p:txBody>
          <a:bodyPr/>
          <a:lstStyle/>
          <a:p>
            <a:r>
              <a:rPr lang="en-IN"/>
              <a:t>Dept of CSE(CY)</a:t>
            </a:r>
          </a:p>
        </p:txBody>
      </p:sp>
      <p:sp>
        <p:nvSpPr>
          <p:cNvPr id="9" name="Slide Number Placeholder 8"/>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97043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t>30-07-2026</a:t>
            </a:r>
            <a:endParaRPr lang="en-IN"/>
          </a:p>
        </p:txBody>
      </p:sp>
      <p:sp>
        <p:nvSpPr>
          <p:cNvPr id="4" name="Footer Placeholder 3"/>
          <p:cNvSpPr>
            <a:spLocks noGrp="1"/>
          </p:cNvSpPr>
          <p:nvPr>
            <p:ph type="ftr" sz="quarter" idx="11"/>
          </p:nvPr>
        </p:nvSpPr>
        <p:spPr/>
        <p:txBody>
          <a:bodyPr/>
          <a:lstStyle/>
          <a:p>
            <a:r>
              <a:rPr lang="en-IN"/>
              <a:t>Dept of CSE(CY)</a:t>
            </a:r>
          </a:p>
        </p:txBody>
      </p:sp>
      <p:sp>
        <p:nvSpPr>
          <p:cNvPr id="5" name="Slide Number Placeholder 4"/>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30548704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30-07-2026</a:t>
            </a:r>
            <a:endParaRPr lang="en-IN"/>
          </a:p>
        </p:txBody>
      </p:sp>
      <p:sp>
        <p:nvSpPr>
          <p:cNvPr id="3" name="Footer Placeholder 2"/>
          <p:cNvSpPr>
            <a:spLocks noGrp="1"/>
          </p:cNvSpPr>
          <p:nvPr>
            <p:ph type="ftr" sz="quarter" idx="11"/>
          </p:nvPr>
        </p:nvSpPr>
        <p:spPr/>
        <p:txBody>
          <a:bodyPr/>
          <a:lstStyle/>
          <a:p>
            <a:r>
              <a:rPr lang="en-IN"/>
              <a:t>Dept of CSE(CY)</a:t>
            </a:r>
          </a:p>
        </p:txBody>
      </p:sp>
      <p:sp>
        <p:nvSpPr>
          <p:cNvPr id="4" name="Slide Number Placeholder 3"/>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8880308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6928572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30-07-2026</a:t>
            </a:r>
            <a:endParaRPr lang="en-IN"/>
          </a:p>
        </p:txBody>
      </p:sp>
      <p:sp>
        <p:nvSpPr>
          <p:cNvPr id="6" name="Footer Placeholder 5"/>
          <p:cNvSpPr>
            <a:spLocks noGrp="1"/>
          </p:cNvSpPr>
          <p:nvPr>
            <p:ph type="ftr" sz="quarter" idx="11"/>
          </p:nvPr>
        </p:nvSpPr>
        <p:spPr/>
        <p:txBody>
          <a:bodyPr/>
          <a:lstStyle/>
          <a:p>
            <a:r>
              <a:rPr lang="en-IN"/>
              <a:t>Dept of CSE(CY)</a:t>
            </a:r>
          </a:p>
        </p:txBody>
      </p:sp>
      <p:sp>
        <p:nvSpPr>
          <p:cNvPr id="7" name="Slide Number Placeholder 6"/>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10764349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9867943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t>30-07-2026</a:t>
            </a:r>
            <a:endParaRPr lang="en-IN"/>
          </a:p>
        </p:txBody>
      </p:sp>
      <p:sp>
        <p:nvSpPr>
          <p:cNvPr id="5" name="Footer Placeholder 4"/>
          <p:cNvSpPr>
            <a:spLocks noGrp="1"/>
          </p:cNvSpPr>
          <p:nvPr>
            <p:ph type="ftr" sz="quarter" idx="11"/>
          </p:nvPr>
        </p:nvSpPr>
        <p:spPr/>
        <p:txBody>
          <a:bodyPr/>
          <a:lstStyle/>
          <a:p>
            <a:r>
              <a:rPr lang="en-IN"/>
              <a:t>Dept of CSE(CY)</a:t>
            </a:r>
          </a:p>
        </p:txBody>
      </p:sp>
      <p:sp>
        <p:nvSpPr>
          <p:cNvPr id="6" name="Slide Number Placeholder 5"/>
          <p:cNvSpPr>
            <a:spLocks noGrp="1"/>
          </p:cNvSpPr>
          <p:nvPr>
            <p:ph type="sldNum" sz="quarter" idx="12"/>
          </p:nvPr>
        </p:nvSpPr>
        <p:spPr/>
        <p:txBody>
          <a:bodyPr/>
          <a:lstStyle/>
          <a:p>
            <a:fld id="{7C33CCD4-7228-4506-A3A6-5A9074B2CE31}" type="slidenum">
              <a:rPr lang="en-IN" smtClean="0"/>
              <a:t>‹#›</a:t>
            </a:fld>
            <a:endParaRPr lang="en-IN"/>
          </a:p>
        </p:txBody>
      </p:sp>
    </p:spTree>
    <p:extLst>
      <p:ext uri="{BB962C8B-B14F-4D97-AF65-F5344CB8AC3E}">
        <p14:creationId xmlns:p14="http://schemas.microsoft.com/office/powerpoint/2010/main" val="21127615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30-07-2026</a:t>
            </a:r>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Dept of CSE(CY)</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33CCD4-7228-4506-A3A6-5A9074B2CE31}" type="slidenum">
              <a:rPr lang="en-IN" smtClean="0"/>
              <a:t>‹#›</a:t>
            </a:fld>
            <a:endParaRPr lang="en-IN"/>
          </a:p>
        </p:txBody>
      </p:sp>
    </p:spTree>
    <p:extLst>
      <p:ext uri="{BB962C8B-B14F-4D97-AF65-F5344CB8AC3E}">
        <p14:creationId xmlns:p14="http://schemas.microsoft.com/office/powerpoint/2010/main" val="33352989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jecc.etlab.in/teacher/viewsubject/93460551045?sub_id=1916076829214&amp;sem_id=116225560662" TargetMode="External"/><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espressif.com/"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https://randomnerdtutorials.com/" TargetMode="External"/><Relationship Id="rId4" Type="http://schemas.openxmlformats.org/officeDocument/2006/relationships/hyperlink" Target="https://www.arduino.cc/"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1844889" y="1990845"/>
            <a:ext cx="9722822" cy="4867155"/>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ctr">
              <a:buSzPts val="1800"/>
              <a:buFont typeface="Arial" panose="020B0604020202020204" pitchFamily="34" charset="0"/>
              <a:buNone/>
              <a:defRPr/>
            </a:pPr>
            <a:endParaRPr lang="en-US" sz="5400" b="1" dirty="0">
              <a:solidFill>
                <a:srgbClr val="C0504D"/>
              </a:solidFill>
              <a:latin typeface="Times New Roman"/>
              <a:ea typeface="Times New Roman"/>
              <a:cs typeface="Times New Roman"/>
            </a:endParaRPr>
          </a:p>
          <a:p>
            <a:pPr marL="0" indent="0" algn="l">
              <a:buNone/>
            </a:pPr>
            <a:r>
              <a:rPr lang="en-IN" sz="4000" b="1" i="0" u="none" strike="noStrike" dirty="0">
                <a:solidFill>
                  <a:schemeClr val="accent2">
                    <a:lumMod val="75000"/>
                  </a:schemeClr>
                </a:solidFill>
                <a:effectLst/>
                <a:latin typeface="Helvetica Neue"/>
                <a:hlinkClick r:id="rId3">
                  <a:extLst>
                    <a:ext uri="{A12FA001-AC4F-418D-AE19-62706E023703}">
                      <ahyp:hlinkClr xmlns:ahyp="http://schemas.microsoft.com/office/drawing/2018/hyperlinkcolor" val="tx"/>
                    </a:ext>
                  </a:extLst>
                </a:hlinkClick>
              </a:rPr>
              <a:t>PBCST504 – MICROCONTROLLERS</a:t>
            </a:r>
            <a:endParaRPr lang="en-IN" sz="4000" b="1" i="0" u="none" strike="noStrike" dirty="0">
              <a:solidFill>
                <a:schemeClr val="accent2">
                  <a:lumMod val="75000"/>
                </a:schemeClr>
              </a:solidFill>
              <a:effectLst/>
              <a:latin typeface="Helvetica Neue"/>
            </a:endParaRPr>
          </a:p>
          <a:p>
            <a:pPr marL="0" indent="0" algn="ctr">
              <a:buNone/>
            </a:pPr>
            <a:r>
              <a:rPr lang="en-IN" sz="4000" b="1" dirty="0">
                <a:solidFill>
                  <a:schemeClr val="accent2">
                    <a:lumMod val="75000"/>
                  </a:schemeClr>
                </a:solidFill>
                <a:latin typeface="Helvetica Neue"/>
              </a:rPr>
              <a:t>MICRO PROJECT</a:t>
            </a:r>
            <a:endParaRPr lang="en-IN" sz="4000" b="1" i="0" dirty="0">
              <a:solidFill>
                <a:schemeClr val="accent2">
                  <a:lumMod val="75000"/>
                </a:schemeClr>
              </a:solidFill>
              <a:effectLst/>
              <a:latin typeface="Helvetica Neue"/>
            </a:endParaRPr>
          </a:p>
          <a:p>
            <a:pPr marL="114300" indent="0" algn="ctr">
              <a:buSzPts val="1800"/>
              <a:buNone/>
              <a:defRPr/>
            </a:pPr>
            <a:endParaRPr lang="en-US" sz="5400" b="1" dirty="0">
              <a:solidFill>
                <a:srgbClr val="C0504D"/>
              </a:solidFill>
              <a:latin typeface="Times New Roman"/>
              <a:cs typeface="Times New Roman"/>
            </a:endParaRPr>
          </a:p>
          <a:p>
            <a:pPr marL="114300" indent="0" algn="ctr">
              <a:buSzPts val="1800"/>
              <a:buNone/>
              <a:defRPr/>
            </a:pPr>
            <a:r>
              <a:rPr lang="en-US" sz="4800" b="1" dirty="0">
                <a:solidFill>
                  <a:srgbClr val="7030A0"/>
                </a:solidFill>
                <a:latin typeface="Times New Roman"/>
                <a:cs typeface="Times New Roman"/>
              </a:rPr>
              <a:t>Zeroth Review</a:t>
            </a:r>
            <a:endParaRPr lang="en-US" sz="4800" b="1" dirty="0">
              <a:solidFill>
                <a:srgbClr val="7030A0"/>
              </a:solidFill>
            </a:endParaRPr>
          </a:p>
        </p:txBody>
      </p:sp>
      <p:sp>
        <p:nvSpPr>
          <p:cNvPr id="2" name="Date Placeholder 1">
            <a:extLst>
              <a:ext uri="{FF2B5EF4-FFF2-40B4-BE49-F238E27FC236}">
                <a16:creationId xmlns:a16="http://schemas.microsoft.com/office/drawing/2014/main" id="{B42420F6-6FBA-F6A4-7A6D-BD684F1A13BB}"/>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63B18EB5-1C10-EFFE-7ABD-6958C1537E1E}"/>
              </a:ext>
            </a:extLst>
          </p:cNvPr>
          <p:cNvSpPr>
            <a:spLocks noGrp="1"/>
          </p:cNvSpPr>
          <p:nvPr>
            <p:ph type="ftr" sz="quarter" idx="11"/>
          </p:nvPr>
        </p:nvSpPr>
        <p:spPr/>
        <p:txBody>
          <a:bodyPr/>
          <a:lstStyle/>
          <a:p>
            <a:r>
              <a:rPr lang="en-IN"/>
              <a:t>Dept of CSE(CY)</a:t>
            </a:r>
          </a:p>
        </p:txBody>
      </p:sp>
      <p:sp>
        <p:nvSpPr>
          <p:cNvPr id="4" name="Slide Number Placeholder 3">
            <a:extLst>
              <a:ext uri="{FF2B5EF4-FFF2-40B4-BE49-F238E27FC236}">
                <a16:creationId xmlns:a16="http://schemas.microsoft.com/office/drawing/2014/main" id="{87028D33-B74C-AE1B-65F8-9953B2D31F13}"/>
              </a:ext>
            </a:extLst>
          </p:cNvPr>
          <p:cNvSpPr>
            <a:spLocks noGrp="1"/>
          </p:cNvSpPr>
          <p:nvPr>
            <p:ph type="sldNum" sz="quarter" idx="12"/>
          </p:nvPr>
        </p:nvSpPr>
        <p:spPr/>
        <p:txBody>
          <a:bodyPr/>
          <a:lstStyle/>
          <a:p>
            <a:fld id="{7C33CCD4-7228-4506-A3A6-5A9074B2CE31}" type="slidenum">
              <a:rPr lang="en-IN" smtClean="0"/>
              <a:t>1</a:t>
            </a:fld>
            <a:endParaRPr lang="en-IN"/>
          </a:p>
        </p:txBody>
      </p:sp>
      <p:sp>
        <p:nvSpPr>
          <p:cNvPr id="8" name="TextBox 7">
            <a:extLst>
              <a:ext uri="{FF2B5EF4-FFF2-40B4-BE49-F238E27FC236}">
                <a16:creationId xmlns:a16="http://schemas.microsoft.com/office/drawing/2014/main" id="{72173DBD-2207-712E-D5B3-3343A86323EF}"/>
              </a:ext>
            </a:extLst>
          </p:cNvPr>
          <p:cNvSpPr txBox="1"/>
          <p:nvPr/>
        </p:nvSpPr>
        <p:spPr>
          <a:xfrm>
            <a:off x="0" y="0"/>
            <a:ext cx="5576596" cy="261610"/>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p:txBody>
      </p:sp>
    </p:spTree>
    <p:extLst>
      <p:ext uri="{BB962C8B-B14F-4D97-AF65-F5344CB8AC3E}">
        <p14:creationId xmlns:p14="http://schemas.microsoft.com/office/powerpoint/2010/main" val="1241010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7" name="Google Shape;185;p1"/>
          <p:cNvSpPr txBox="1">
            <a:spLocks/>
          </p:cNvSpPr>
          <p:nvPr/>
        </p:nvSpPr>
        <p:spPr bwMode="auto">
          <a:xfrm>
            <a:off x="2048268" y="2134888"/>
            <a:ext cx="8838900" cy="4618940"/>
          </a:xfrm>
          <a:prstGeom prst="rect">
            <a:avLst/>
          </a:prstGeom>
          <a:noFill/>
          <a:ln>
            <a:noFill/>
          </a:ln>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lgn="just">
              <a:buSzPts val="1800"/>
              <a:buFont typeface="Arial" panose="020B0604020202020204" pitchFamily="34" charset="0"/>
              <a:buNone/>
              <a:defRPr/>
            </a:pPr>
            <a:endParaRPr lang="en-US" b="1" dirty="0">
              <a:solidFill>
                <a:srgbClr val="C0504D"/>
              </a:solidFill>
              <a:latin typeface="Times New Roman"/>
              <a:ea typeface="Times New Roman"/>
              <a:cs typeface="Times New Roman"/>
            </a:endParaRPr>
          </a:p>
          <a:p>
            <a:pPr marL="114300" indent="0" algn="just">
              <a:buSzPts val="1800"/>
              <a:buFont typeface="Arial" panose="020B0604020202020204" pitchFamily="34" charset="0"/>
              <a:buNone/>
              <a:defRPr/>
            </a:pPr>
            <a:r>
              <a:rPr lang="en-US" b="1" dirty="0">
                <a:solidFill>
                  <a:srgbClr val="0070C0"/>
                </a:solidFill>
                <a:latin typeface="Times New Roman"/>
                <a:ea typeface="Times New Roman"/>
                <a:cs typeface="Times New Roman"/>
              </a:rPr>
              <a:t>Title:- </a:t>
            </a:r>
            <a:r>
              <a:rPr lang="en-US" sz="2150" dirty="0">
                <a:solidFill>
                  <a:srgbClr val="0070C0"/>
                </a:solidFill>
                <a:latin typeface="Times New Roman"/>
                <a:ea typeface="Times New Roman"/>
                <a:cs typeface="Times New Roman"/>
              </a:rPr>
              <a:t>ENVIRONMENTAL TAMPER DETECTION FOR SERVER RACK</a:t>
            </a:r>
            <a:endParaRPr lang="en-US" sz="2150" dirty="0">
              <a:solidFill>
                <a:srgbClr val="0070C0"/>
              </a:solidFill>
            </a:endParaRPr>
          </a:p>
        </p:txBody>
      </p:sp>
      <p:sp>
        <p:nvSpPr>
          <p:cNvPr id="8" name="Google Shape;187;p1"/>
          <p:cNvSpPr txBox="1">
            <a:spLocks/>
          </p:cNvSpPr>
          <p:nvPr/>
        </p:nvSpPr>
        <p:spPr bwMode="auto">
          <a:xfrm>
            <a:off x="501513" y="3902550"/>
            <a:ext cx="4948707" cy="2038199"/>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dirty="0">
                <a:solidFill>
                  <a:srgbClr val="00B050"/>
                </a:solidFill>
                <a:latin typeface="Times New Roman" panose="02020603050405020304" pitchFamily="18" charset="0"/>
                <a:cs typeface="Times New Roman" panose="02020603050405020304" pitchFamily="18" charset="0"/>
              </a:rPr>
              <a:t>Group No:11</a:t>
            </a:r>
          </a:p>
          <a:p>
            <a:pPr marL="114300" indent="0">
              <a:buSzPts val="1800"/>
              <a:buFont typeface="Arial" panose="020B0604020202020204" pitchFamily="34" charset="0"/>
              <a:buNone/>
              <a:defRPr/>
            </a:pPr>
            <a:r>
              <a:rPr lang="en-US" dirty="0">
                <a:solidFill>
                  <a:srgbClr val="C00000"/>
                </a:solidFill>
                <a:latin typeface="Times New Roman" panose="02020603050405020304" pitchFamily="18" charset="0"/>
                <a:cs typeface="Times New Roman" panose="02020603050405020304" pitchFamily="18" charset="0"/>
              </a:rPr>
              <a:t>Members: </a:t>
            </a:r>
          </a:p>
          <a:p>
            <a:pPr marL="114300" indent="0">
              <a:buSzPts val="1800"/>
              <a:buFont typeface="Arial" panose="020B0604020202020204" pitchFamily="34" charset="0"/>
              <a:buNone/>
              <a:defRPr/>
            </a:pPr>
            <a:r>
              <a:rPr lang="en-US" sz="1600" dirty="0">
                <a:solidFill>
                  <a:srgbClr val="C00000"/>
                </a:solidFill>
                <a:latin typeface="Times New Roman" panose="02020603050405020304" pitchFamily="18" charset="0"/>
                <a:cs typeface="Times New Roman" panose="02020603050405020304" pitchFamily="18" charset="0"/>
              </a:rPr>
              <a:t>JEC24CC004-ADHIL K B</a:t>
            </a:r>
          </a:p>
          <a:p>
            <a:pPr marL="114300" indent="0">
              <a:buSzPts val="1800"/>
              <a:buFont typeface="Arial" panose="020B0604020202020204" pitchFamily="34" charset="0"/>
              <a:buNone/>
              <a:defRPr/>
            </a:pPr>
            <a:r>
              <a:rPr lang="en-US" sz="1600" dirty="0">
                <a:solidFill>
                  <a:srgbClr val="C00000"/>
                </a:solidFill>
                <a:latin typeface="Times New Roman" panose="02020603050405020304" pitchFamily="18" charset="0"/>
                <a:cs typeface="Times New Roman" panose="02020603050405020304" pitchFamily="18" charset="0"/>
              </a:rPr>
              <a:t>JEC24CC015-ALWIN C ABHILASH</a:t>
            </a:r>
          </a:p>
          <a:p>
            <a:pPr marL="114300" indent="0">
              <a:buSzPts val="1800"/>
              <a:buFont typeface="Arial" panose="020B0604020202020204" pitchFamily="34" charset="0"/>
              <a:buNone/>
              <a:defRPr/>
            </a:pPr>
            <a:r>
              <a:rPr lang="en-US" sz="1600" dirty="0">
                <a:solidFill>
                  <a:srgbClr val="C00000"/>
                </a:solidFill>
                <a:latin typeface="Times New Roman" panose="02020603050405020304" pitchFamily="18" charset="0"/>
                <a:cs typeface="Times New Roman" panose="02020603050405020304" pitchFamily="18" charset="0"/>
              </a:rPr>
              <a:t>JEC24CC018-ANGELO T J</a:t>
            </a:r>
          </a:p>
          <a:p>
            <a:pPr marL="114300" indent="0">
              <a:buSzPts val="1800"/>
              <a:buFont typeface="Arial" panose="020B0604020202020204" pitchFamily="34" charset="0"/>
              <a:buNone/>
              <a:defRPr/>
            </a:pPr>
            <a:r>
              <a:rPr lang="en-US" sz="1600" dirty="0">
                <a:solidFill>
                  <a:srgbClr val="C00000"/>
                </a:solidFill>
                <a:latin typeface="Times New Roman" panose="02020603050405020304" pitchFamily="18" charset="0"/>
                <a:cs typeface="Times New Roman" panose="02020603050405020304" pitchFamily="18" charset="0"/>
              </a:rPr>
              <a:t>JEC24CC031-DEVANANDA SANTHOSH</a:t>
            </a:r>
          </a:p>
          <a:p>
            <a:pPr marL="114300" indent="0">
              <a:buSzPts val="1800"/>
              <a:buFont typeface="Arial" panose="020B0604020202020204" pitchFamily="34" charset="0"/>
              <a:buNone/>
              <a:defRPr/>
            </a:pPr>
            <a:r>
              <a:rPr lang="en-US" sz="1600" dirty="0">
                <a:solidFill>
                  <a:srgbClr val="C00000"/>
                </a:solidFill>
                <a:latin typeface="Times New Roman" panose="02020603050405020304" pitchFamily="18" charset="0"/>
                <a:cs typeface="Times New Roman" panose="02020603050405020304" pitchFamily="18" charset="0"/>
              </a:rPr>
              <a:t>JEC24CC058-VAISHNAV MANOJ</a:t>
            </a:r>
          </a:p>
        </p:txBody>
      </p:sp>
      <p:sp>
        <p:nvSpPr>
          <p:cNvPr id="9" name="Google Shape;186;p1"/>
          <p:cNvSpPr txBox="1">
            <a:spLocks/>
          </p:cNvSpPr>
          <p:nvPr/>
        </p:nvSpPr>
        <p:spPr bwMode="auto">
          <a:xfrm>
            <a:off x="8331238" y="5134941"/>
            <a:ext cx="4015500" cy="1323600"/>
          </a:xfrm>
          <a:prstGeom prst="rect">
            <a:avLst/>
          </a:prstGeom>
          <a:noFill/>
          <a:ln>
            <a:noFill/>
          </a:ln>
        </p:spPr>
        <p:txBody>
          <a:bodyPr spcFirstLastPara="1" wrap="square" lIns="0" tIns="0" rIns="0" bIns="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4300" indent="0">
              <a:buSzPts val="1800"/>
              <a:buFont typeface="Arial" panose="020B0604020202020204" pitchFamily="34" charset="0"/>
              <a:buNone/>
              <a:defRPr/>
            </a:pPr>
            <a:r>
              <a:rPr lang="en-US" b="1" dirty="0">
                <a:solidFill>
                  <a:schemeClr val="bg2">
                    <a:lumMod val="10000"/>
                  </a:schemeClr>
                </a:solidFill>
                <a:latin typeface="Times New Roman" panose="02020603050405020304" pitchFamily="18" charset="0"/>
                <a:cs typeface="Times New Roman" panose="02020603050405020304" pitchFamily="18" charset="0"/>
              </a:rPr>
              <a:t>Project Coordinator:</a:t>
            </a:r>
          </a:p>
          <a:p>
            <a:pPr marL="114300" indent="0">
              <a:buSzPts val="1800"/>
              <a:buFont typeface="Arial" panose="020B0604020202020204" pitchFamily="34" charset="0"/>
              <a:buNone/>
              <a:defRPr/>
            </a:pPr>
            <a:r>
              <a:rPr lang="en-US" dirty="0" err="1">
                <a:solidFill>
                  <a:schemeClr val="bg2">
                    <a:lumMod val="10000"/>
                  </a:schemeClr>
                </a:solidFill>
                <a:latin typeface="Times New Roman" panose="02020603050405020304" pitchFamily="18" charset="0"/>
                <a:cs typeface="Times New Roman" panose="02020603050405020304" pitchFamily="18" charset="0"/>
              </a:rPr>
              <a:t>Ms.Sagna</a:t>
            </a:r>
            <a:r>
              <a:rPr lang="en-US" dirty="0">
                <a:solidFill>
                  <a:schemeClr val="bg2">
                    <a:lumMod val="10000"/>
                  </a:schemeClr>
                </a:solidFill>
                <a:latin typeface="Times New Roman" panose="02020603050405020304" pitchFamily="18" charset="0"/>
                <a:cs typeface="Times New Roman" panose="02020603050405020304" pitchFamily="18" charset="0"/>
              </a:rPr>
              <a:t> L T</a:t>
            </a:r>
          </a:p>
          <a:p>
            <a:pPr marL="114300" indent="0">
              <a:buSzPts val="1800"/>
              <a:buFont typeface="Arial" panose="020B0604020202020204" pitchFamily="34" charset="0"/>
              <a:buNone/>
              <a:defRPr/>
            </a:pPr>
            <a:r>
              <a:rPr lang="en-US" dirty="0">
                <a:solidFill>
                  <a:schemeClr val="bg2">
                    <a:lumMod val="10000"/>
                  </a:schemeClr>
                </a:solidFill>
                <a:latin typeface="Times New Roman" panose="02020603050405020304" pitchFamily="18" charset="0"/>
                <a:cs typeface="Times New Roman" panose="02020603050405020304" pitchFamily="18" charset="0"/>
              </a:rPr>
              <a:t>Asst. Prof. CSE(CY)</a:t>
            </a:r>
          </a:p>
          <a:p>
            <a:pPr marL="114300" indent="0">
              <a:buSzPts val="1800"/>
              <a:buFont typeface="Arial" panose="020B0604020202020204" pitchFamily="34" charset="0"/>
              <a:buNone/>
              <a:defRPr/>
            </a:pPr>
            <a:endParaRPr lang="en-US" dirty="0">
              <a:solidFill>
                <a:schemeClr val="bg2">
                  <a:lumMod val="10000"/>
                </a:schemeClr>
              </a:solidFill>
            </a:endParaRPr>
          </a:p>
        </p:txBody>
      </p:sp>
      <p:sp>
        <p:nvSpPr>
          <p:cNvPr id="2" name="Date Placeholder 1">
            <a:extLst>
              <a:ext uri="{FF2B5EF4-FFF2-40B4-BE49-F238E27FC236}">
                <a16:creationId xmlns:a16="http://schemas.microsoft.com/office/drawing/2014/main" id="{2D705127-2A39-853D-BEB1-D7A89430DAFD}"/>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DEE1DF07-3F9B-09F1-B6BD-FD1C56499990}"/>
              </a:ext>
            </a:extLst>
          </p:cNvPr>
          <p:cNvSpPr>
            <a:spLocks noGrp="1"/>
          </p:cNvSpPr>
          <p:nvPr>
            <p:ph type="ftr" sz="quarter" idx="11"/>
          </p:nvPr>
        </p:nvSpPr>
        <p:spPr/>
        <p:txBody>
          <a:bodyPr/>
          <a:lstStyle/>
          <a:p>
            <a:r>
              <a:rPr lang="en-IN"/>
              <a:t>Dept of CSE(CY)</a:t>
            </a:r>
          </a:p>
        </p:txBody>
      </p:sp>
      <p:sp>
        <p:nvSpPr>
          <p:cNvPr id="4" name="Slide Number Placeholder 3">
            <a:extLst>
              <a:ext uri="{FF2B5EF4-FFF2-40B4-BE49-F238E27FC236}">
                <a16:creationId xmlns:a16="http://schemas.microsoft.com/office/drawing/2014/main" id="{56BEC667-FA19-3E4F-B88B-CF52066B2B9A}"/>
              </a:ext>
            </a:extLst>
          </p:cNvPr>
          <p:cNvSpPr>
            <a:spLocks noGrp="1"/>
          </p:cNvSpPr>
          <p:nvPr>
            <p:ph type="sldNum" sz="quarter" idx="12"/>
          </p:nvPr>
        </p:nvSpPr>
        <p:spPr/>
        <p:txBody>
          <a:bodyPr/>
          <a:lstStyle/>
          <a:p>
            <a:fld id="{7C33CCD4-7228-4506-A3A6-5A9074B2CE31}" type="slidenum">
              <a:rPr lang="en-IN" smtClean="0"/>
              <a:t>2</a:t>
            </a:fld>
            <a:endParaRPr lang="en-IN"/>
          </a:p>
        </p:txBody>
      </p:sp>
      <p:sp>
        <p:nvSpPr>
          <p:cNvPr id="5" name="TextBox 4">
            <a:extLst>
              <a:ext uri="{FF2B5EF4-FFF2-40B4-BE49-F238E27FC236}">
                <a16:creationId xmlns:a16="http://schemas.microsoft.com/office/drawing/2014/main" id="{16823C6D-FC84-47F8-28A8-7BECEAEAFB00}"/>
              </a:ext>
            </a:extLst>
          </p:cNvPr>
          <p:cNvSpPr txBox="1"/>
          <p:nvPr/>
        </p:nvSpPr>
        <p:spPr>
          <a:xfrm>
            <a:off x="74645" y="0"/>
            <a:ext cx="4170784"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998908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10" name="Google Shape;154;p28"/>
          <p:cNvSpPr txBox="1">
            <a:spLocks/>
          </p:cNvSpPr>
          <p:nvPr/>
        </p:nvSpPr>
        <p:spPr bwMode="auto">
          <a:xfrm>
            <a:off x="785806" y="1990845"/>
            <a:ext cx="11033220" cy="4693534"/>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Font typeface="Arial" panose="020B0604020202020204" pitchFamily="34" charset="0"/>
              <a:buNone/>
              <a:defRPr/>
            </a:pPr>
            <a:r>
              <a:rPr lang="en-US" b="1" dirty="0"/>
              <a:t> </a:t>
            </a:r>
            <a:r>
              <a:rPr lang="en-US" sz="2100" b="1" dirty="0">
                <a:latin typeface="Times New Roman"/>
                <a:ea typeface="Times New Roman"/>
                <a:cs typeface="Times New Roman"/>
              </a:rPr>
              <a:t>Vision of the Department</a:t>
            </a:r>
          </a:p>
          <a:p>
            <a:pPr marL="0" indent="0" algn="ctr">
              <a:lnSpc>
                <a:spcPct val="150000"/>
              </a:lnSpc>
              <a:buNone/>
              <a:defRPr/>
            </a:pPr>
            <a:r>
              <a:rPr lang="en-IN" sz="2000" dirty="0">
                <a:solidFill>
                  <a:srgbClr val="000000"/>
                </a:solidFill>
                <a:effectLst/>
                <a:latin typeface="Times New Roman" panose="02020603050405020304" pitchFamily="18" charset="0"/>
                <a:ea typeface="Times New Roman" panose="02020603050405020304" pitchFamily="18" charset="0"/>
              </a:rPr>
              <a:t>To be a globally recognized centre of excellence in Cyber Security education, research and innovation by nurturing ethical professionals , fostering technological advancement through responsible practice and contributing to a secure and sustainable digital society.</a:t>
            </a:r>
            <a:endParaRPr lang="en-IN" sz="2000" dirty="0">
              <a:effectLst/>
              <a:latin typeface="Arial" panose="020B0604020202020204" pitchFamily="34" charset="0"/>
              <a:ea typeface="Arial" panose="020B0604020202020204" pitchFamily="34" charset="0"/>
            </a:endParaRPr>
          </a:p>
          <a:p>
            <a:pPr marL="0" indent="0" algn="ctr">
              <a:buFont typeface="Arial" panose="020B0604020202020204" pitchFamily="34" charset="0"/>
              <a:buNone/>
              <a:defRPr/>
            </a:pPr>
            <a:endParaRPr lang="en-US" sz="2100" b="1" dirty="0">
              <a:latin typeface="Times New Roman"/>
              <a:ea typeface="Times New Roman"/>
              <a:cs typeface="Times New Roman"/>
            </a:endParaRPr>
          </a:p>
          <a:p>
            <a:pPr marL="0" indent="0">
              <a:buClr>
                <a:schemeClr val="dk1"/>
              </a:buClr>
              <a:buSzPts val="1100"/>
              <a:buFont typeface="Arial"/>
              <a:buNone/>
              <a:defRPr/>
            </a:pPr>
            <a:endParaRPr lang="en-US" sz="2100" dirty="0">
              <a:latin typeface="Times New Roman"/>
              <a:ea typeface="Times New Roman"/>
              <a:cs typeface="Times New Roman"/>
            </a:endParaRPr>
          </a:p>
          <a:p>
            <a:pPr marL="0" indent="0">
              <a:buFont typeface="Arial" panose="020B0604020202020204" pitchFamily="34" charset="0"/>
              <a:buNone/>
              <a:defRPr/>
            </a:pPr>
            <a:endParaRPr lang="en-US" sz="1700" dirty="0">
              <a:latin typeface="Times New Roman"/>
              <a:ea typeface="Times New Roman"/>
              <a:cs typeface="Times New Roman"/>
            </a:endParaRPr>
          </a:p>
          <a:p>
            <a:pPr marL="0" indent="0">
              <a:buClr>
                <a:schemeClr val="dk1"/>
              </a:buClr>
              <a:buSzPts val="1100"/>
              <a:buFont typeface="Arial"/>
              <a:buNone/>
              <a:defRPr/>
            </a:pPr>
            <a:endParaRPr lang="en-US" sz="1300" dirty="0">
              <a:latin typeface="Times New Roman"/>
              <a:ea typeface="Times New Roman"/>
              <a:cs typeface="Times New Roman"/>
            </a:endParaRPr>
          </a:p>
          <a:p>
            <a:pPr marL="0" indent="0">
              <a:buFont typeface="Arial" panose="020B0604020202020204" pitchFamily="34" charset="0"/>
              <a:buNone/>
              <a:defRPr/>
            </a:pPr>
            <a:endParaRPr lang="en-US" sz="6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C5A13CEF-62C5-F2DB-A6B5-5AC4975CFACA}"/>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18C44D02-3030-A14A-AA8D-898FCFA6F16E}"/>
              </a:ext>
            </a:extLst>
          </p:cNvPr>
          <p:cNvSpPr>
            <a:spLocks noGrp="1"/>
          </p:cNvSpPr>
          <p:nvPr>
            <p:ph type="ftr" sz="quarter" idx="11"/>
          </p:nvPr>
        </p:nvSpPr>
        <p:spPr/>
        <p:txBody>
          <a:bodyPr/>
          <a:lstStyle/>
          <a:p>
            <a:r>
              <a:rPr lang="en-IN"/>
              <a:t>Dept of CSE(CY)</a:t>
            </a:r>
          </a:p>
        </p:txBody>
      </p:sp>
      <p:sp>
        <p:nvSpPr>
          <p:cNvPr id="4" name="Slide Number Placeholder 3">
            <a:extLst>
              <a:ext uri="{FF2B5EF4-FFF2-40B4-BE49-F238E27FC236}">
                <a16:creationId xmlns:a16="http://schemas.microsoft.com/office/drawing/2014/main" id="{1CB4FDA8-317E-1EB6-615A-0E7DF509B9C4}"/>
              </a:ext>
            </a:extLst>
          </p:cNvPr>
          <p:cNvSpPr>
            <a:spLocks noGrp="1"/>
          </p:cNvSpPr>
          <p:nvPr>
            <p:ph type="sldNum" sz="quarter" idx="12"/>
          </p:nvPr>
        </p:nvSpPr>
        <p:spPr/>
        <p:txBody>
          <a:bodyPr/>
          <a:lstStyle/>
          <a:p>
            <a:fld id="{7C33CCD4-7228-4506-A3A6-5A9074B2CE31}" type="slidenum">
              <a:rPr lang="en-IN" smtClean="0"/>
              <a:t>3</a:t>
            </a:fld>
            <a:endParaRPr lang="en-IN"/>
          </a:p>
        </p:txBody>
      </p:sp>
      <p:sp>
        <p:nvSpPr>
          <p:cNvPr id="5" name="TextBox 4">
            <a:extLst>
              <a:ext uri="{FF2B5EF4-FFF2-40B4-BE49-F238E27FC236}">
                <a16:creationId xmlns:a16="http://schemas.microsoft.com/office/drawing/2014/main" id="{77E7C74D-8CE7-6B83-3F9D-EABAB99008A2}"/>
              </a:ext>
            </a:extLst>
          </p:cNvPr>
          <p:cNvSpPr txBox="1"/>
          <p:nvPr/>
        </p:nvSpPr>
        <p:spPr>
          <a:xfrm>
            <a:off x="0" y="0"/>
            <a:ext cx="4152122"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605122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869F6-06A2-2C9C-FE5E-4FD031430E3D}"/>
              </a:ext>
            </a:extLst>
          </p:cNvPr>
          <p:cNvSpPr>
            <a:spLocks noGrp="1"/>
          </p:cNvSpPr>
          <p:nvPr>
            <p:ph type="title"/>
          </p:nvPr>
        </p:nvSpPr>
        <p:spPr/>
        <p:txBody>
          <a:bodyPr/>
          <a:lstStyle/>
          <a:p>
            <a:endParaRPr lang="en-IN" b="1" dirty="0"/>
          </a:p>
        </p:txBody>
      </p:sp>
      <p:sp>
        <p:nvSpPr>
          <p:cNvPr id="3" name="Content Placeholder 2">
            <a:extLst>
              <a:ext uri="{FF2B5EF4-FFF2-40B4-BE49-F238E27FC236}">
                <a16:creationId xmlns:a16="http://schemas.microsoft.com/office/drawing/2014/main" id="{1BCCBBEA-1434-6DE1-CA55-FFE665791840}"/>
              </a:ext>
            </a:extLst>
          </p:cNvPr>
          <p:cNvSpPr>
            <a:spLocks noGrp="1"/>
          </p:cNvSpPr>
          <p:nvPr>
            <p:ph idx="1"/>
          </p:nvPr>
        </p:nvSpPr>
        <p:spPr>
          <a:xfrm>
            <a:off x="838200" y="2220261"/>
            <a:ext cx="10515600" cy="4351338"/>
          </a:xfrm>
        </p:spPr>
        <p:txBody>
          <a:bodyPr>
            <a:normAutofit fontScale="92500" lnSpcReduction="10000"/>
          </a:bodyPr>
          <a:lstStyle/>
          <a:p>
            <a:pPr marL="0" indent="0" algn="ctr">
              <a:buFont typeface="Arial" panose="020B0604020202020204" pitchFamily="34" charset="0"/>
              <a:buNone/>
              <a:defRPr/>
            </a:pPr>
            <a:r>
              <a:rPr lang="en-US" b="1" dirty="0">
                <a:latin typeface="Times New Roman"/>
                <a:ea typeface="Times New Roman"/>
                <a:cs typeface="Times New Roman"/>
              </a:rPr>
              <a:t>DEPARTMENT OF COMPUTER SCIENCE &amp; ENGINEERING </a:t>
            </a:r>
          </a:p>
          <a:p>
            <a:pPr marL="0" indent="0" algn="ctr">
              <a:buFont typeface="Arial" panose="020B0604020202020204" pitchFamily="34" charset="0"/>
              <a:buNone/>
              <a:defRPr/>
            </a:pPr>
            <a:r>
              <a:rPr lang="en-US" b="1" dirty="0">
                <a:latin typeface="Times New Roman"/>
                <a:ea typeface="Times New Roman"/>
                <a:cs typeface="Times New Roman"/>
              </a:rPr>
              <a:t>(Cyber Security)</a:t>
            </a:r>
          </a:p>
          <a:p>
            <a:pPr marL="0" indent="0" algn="ctr">
              <a:buNone/>
              <a:defRPr/>
            </a:pPr>
            <a:r>
              <a:rPr lang="en-US" b="1" dirty="0"/>
              <a:t> </a:t>
            </a:r>
            <a:r>
              <a:rPr lang="en-US" sz="2800" b="1" dirty="0">
                <a:latin typeface="Times New Roman"/>
                <a:ea typeface="Times New Roman"/>
                <a:cs typeface="Times New Roman"/>
              </a:rPr>
              <a:t>Mission of the Department</a:t>
            </a: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M1: Excellence in Education</a:t>
            </a:r>
            <a:r>
              <a:rPr lang="en-IN" sz="1800" b="1" dirty="0">
                <a:latin typeface="Arial" panose="020B0604020202020204" pitchFamily="34" charset="0"/>
              </a:rPr>
              <a:t> : </a:t>
            </a:r>
            <a:r>
              <a:rPr lang="en-IN" sz="1800" dirty="0">
                <a:solidFill>
                  <a:srgbClr val="000000"/>
                </a:solidFill>
                <a:effectLst/>
                <a:latin typeface="Times New Roman" panose="02020603050405020304" pitchFamily="18" charset="0"/>
                <a:ea typeface="Times New Roman" panose="02020603050405020304" pitchFamily="18" charset="0"/>
              </a:rPr>
              <a:t>To provide outcome-based and industry-oriented education by integrating core computer science principles with advanced cybersecurity technologies and practices.</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M2: Ethics and Professional Responsibility : </a:t>
            </a:r>
            <a:r>
              <a:rPr lang="en-IN" sz="1800" dirty="0">
                <a:solidFill>
                  <a:srgbClr val="000000"/>
                </a:solidFill>
                <a:effectLst/>
                <a:latin typeface="Times New Roman" panose="02020603050405020304" pitchFamily="18" charset="0"/>
                <a:ea typeface="Times New Roman" panose="02020603050405020304" pitchFamily="18" charset="0"/>
              </a:rPr>
              <a:t>To cultivate ethical values, integrity, social responsibility, and secure computing practices for protecting digital assets and strengthening cyber trust.</a:t>
            </a:r>
            <a:endParaRPr lang="en-IN" sz="1800" dirty="0">
              <a:effectLst/>
              <a:latin typeface="Arial" panose="020B0604020202020204" pitchFamily="34" charset="0"/>
              <a:ea typeface="Arial" panose="020B0604020202020204" pitchFamily="34" charset="0"/>
            </a:endParaRPr>
          </a:p>
          <a:p>
            <a:pPr algn="just">
              <a:spcBef>
                <a:spcPts val="1125"/>
              </a:spcBef>
              <a:spcAft>
                <a:spcPts val="1125"/>
              </a:spcAft>
            </a:pPr>
            <a:r>
              <a:rPr lang="en-IN" sz="1800" b="1" dirty="0">
                <a:effectLst/>
                <a:latin typeface="Times New Roman" panose="02020603050405020304" pitchFamily="18" charset="0"/>
                <a:ea typeface="Times New Roman" panose="02020603050405020304" pitchFamily="18" charset="0"/>
              </a:rPr>
              <a:t>M3: Research, Innovation, and Entrepreneurship : </a:t>
            </a:r>
            <a:r>
              <a:rPr lang="en-IN" sz="1800" dirty="0">
                <a:solidFill>
                  <a:srgbClr val="000000"/>
                </a:solidFill>
                <a:effectLst/>
                <a:latin typeface="Times New Roman" panose="02020603050405020304" pitchFamily="18" charset="0"/>
                <a:ea typeface="Times New Roman" panose="02020603050405020304" pitchFamily="18" charset="0"/>
              </a:rPr>
              <a:t>To promote research, innovation, and entrepreneurial thinking for developing sustainable solutions to emerging cybersecurity challenges.</a:t>
            </a:r>
            <a:endParaRPr lang="en-IN" sz="1800" dirty="0">
              <a:effectLst/>
              <a:latin typeface="Arial" panose="020B0604020202020204" pitchFamily="34" charset="0"/>
              <a:ea typeface="Arial" panose="020B0604020202020204" pitchFamily="34" charset="0"/>
            </a:endParaRPr>
          </a:p>
          <a:p>
            <a:pPr algn="just">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M4: Holistic and Global Development : </a:t>
            </a:r>
            <a:r>
              <a:rPr lang="en-IN" sz="1800" dirty="0">
                <a:solidFill>
                  <a:srgbClr val="000000"/>
                </a:solidFill>
                <a:effectLst/>
                <a:latin typeface="Times New Roman" panose="02020603050405020304" pitchFamily="18" charset="0"/>
                <a:ea typeface="Times New Roman" panose="02020603050405020304" pitchFamily="18" charset="0"/>
              </a:rPr>
              <a:t>To enhance leadership, teamwork, lifelong learning, and global competence through industry collaboration, interdisciplinary activities, and community engagement.</a:t>
            </a:r>
            <a:endParaRPr lang="en-US" b="1" dirty="0">
              <a:latin typeface="Times New Roman"/>
              <a:ea typeface="Times New Roman"/>
              <a:cs typeface="Times New Roman"/>
            </a:endParaRPr>
          </a:p>
          <a:p>
            <a:pPr marL="0" indent="0" algn="ctr">
              <a:buFont typeface="Arial" panose="020B0604020202020204" pitchFamily="34" charset="0"/>
              <a:buNone/>
              <a:defRPr/>
            </a:pPr>
            <a:endParaRPr lang="en-US" b="1" dirty="0">
              <a:latin typeface="Times New Roman"/>
              <a:ea typeface="Times New Roman"/>
              <a:cs typeface="Times New Roman"/>
            </a:endParaRPr>
          </a:p>
        </p:txBody>
      </p:sp>
      <p:pic>
        <p:nvPicPr>
          <p:cNvPr id="4" name="Picture 3">
            <a:extLst>
              <a:ext uri="{FF2B5EF4-FFF2-40B4-BE49-F238E27FC236}">
                <a16:creationId xmlns:a16="http://schemas.microsoft.com/office/drawing/2014/main" id="{828CC5CA-38F7-B56F-B512-4FD8B75F85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5487" y="365125"/>
            <a:ext cx="10579260" cy="1747701"/>
          </a:xfrm>
          <a:prstGeom prst="rect">
            <a:avLst/>
          </a:prstGeom>
        </p:spPr>
      </p:pic>
      <p:sp>
        <p:nvSpPr>
          <p:cNvPr id="5" name="Date Placeholder 4">
            <a:extLst>
              <a:ext uri="{FF2B5EF4-FFF2-40B4-BE49-F238E27FC236}">
                <a16:creationId xmlns:a16="http://schemas.microsoft.com/office/drawing/2014/main" id="{83EC38C0-2CA4-C8C5-1B50-D49903BC585F}"/>
              </a:ext>
            </a:extLst>
          </p:cNvPr>
          <p:cNvSpPr>
            <a:spLocks noGrp="1"/>
          </p:cNvSpPr>
          <p:nvPr>
            <p:ph type="dt" sz="half" idx="10"/>
          </p:nvPr>
        </p:nvSpPr>
        <p:spPr/>
        <p:txBody>
          <a:bodyPr/>
          <a:lstStyle/>
          <a:p>
            <a:r>
              <a:rPr lang="en-US"/>
              <a:t>30-07-2026</a:t>
            </a:r>
            <a:endParaRPr lang="en-IN"/>
          </a:p>
        </p:txBody>
      </p:sp>
      <p:sp>
        <p:nvSpPr>
          <p:cNvPr id="6" name="Footer Placeholder 5">
            <a:extLst>
              <a:ext uri="{FF2B5EF4-FFF2-40B4-BE49-F238E27FC236}">
                <a16:creationId xmlns:a16="http://schemas.microsoft.com/office/drawing/2014/main" id="{FD8B93DD-D299-DD0C-5F7A-E0EB50DA5C64}"/>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2C47C0E2-3FAC-1F3C-8D76-CF308C03D361}"/>
              </a:ext>
            </a:extLst>
          </p:cNvPr>
          <p:cNvSpPr>
            <a:spLocks noGrp="1"/>
          </p:cNvSpPr>
          <p:nvPr>
            <p:ph type="sldNum" sz="quarter" idx="12"/>
          </p:nvPr>
        </p:nvSpPr>
        <p:spPr/>
        <p:txBody>
          <a:bodyPr/>
          <a:lstStyle/>
          <a:p>
            <a:fld id="{7C33CCD4-7228-4506-A3A6-5A9074B2CE31}" type="slidenum">
              <a:rPr lang="en-IN" smtClean="0"/>
              <a:t>4</a:t>
            </a:fld>
            <a:endParaRPr lang="en-IN"/>
          </a:p>
        </p:txBody>
      </p:sp>
      <p:sp>
        <p:nvSpPr>
          <p:cNvPr id="8" name="TextBox 7">
            <a:extLst>
              <a:ext uri="{FF2B5EF4-FFF2-40B4-BE49-F238E27FC236}">
                <a16:creationId xmlns:a16="http://schemas.microsoft.com/office/drawing/2014/main" id="{21BB3DB9-115F-606D-2FB2-F61711FF166A}"/>
              </a:ext>
            </a:extLst>
          </p:cNvPr>
          <p:cNvSpPr txBox="1"/>
          <p:nvPr/>
        </p:nvSpPr>
        <p:spPr>
          <a:xfrm>
            <a:off x="0" y="0"/>
            <a:ext cx="4254759"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283655359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59;p29"/>
          <p:cNvSpPr txBox="1">
            <a:spLocks/>
          </p:cNvSpPr>
          <p:nvPr/>
        </p:nvSpPr>
        <p:spPr bwMode="auto">
          <a:xfrm>
            <a:off x="575840" y="2268638"/>
            <a:ext cx="11210081" cy="401069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Educational Objectives (PEOs)</a:t>
            </a: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1:</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apply strong foundations in computer science and cybersecurity to design, develop, and manage secure and reliable computing systems for industry and society.</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2:</a:t>
            </a:r>
            <a:r>
              <a:rPr lang="en-IN" sz="1800" b="1" dirty="0">
                <a:latin typeface="Arial" panose="020B0604020202020204" pitchFamily="34" charset="0"/>
              </a:rPr>
              <a:t> </a:t>
            </a:r>
            <a:r>
              <a:rPr lang="en-IN" sz="1800" dirty="0">
                <a:effectLst/>
                <a:latin typeface="Times New Roman" panose="02020603050405020304" pitchFamily="18" charset="0"/>
                <a:ea typeface="Times New Roman" panose="02020603050405020304" pitchFamily="18" charset="0"/>
              </a:rPr>
              <a:t>Graduates will pursue successful careers as professionals, innovators or entrepreneurs engaged in technology development, deployment or engineering system implementation in industry and society and contribute to the economic growth of the country. </a:t>
            </a:r>
            <a:endParaRPr lang="en-IN" sz="1800" dirty="0">
              <a:effectLst/>
              <a:latin typeface="Arial" panose="020B0604020202020204" pitchFamily="34" charset="0"/>
              <a:ea typeface="Arial" panose="020B0604020202020204" pitchFamily="34" charset="0"/>
            </a:endParaRPr>
          </a:p>
          <a:p>
            <a:pPr>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PEO 3:</a:t>
            </a:r>
            <a:r>
              <a:rPr lang="en-IN" sz="1800" b="1" dirty="0">
                <a:latin typeface="Arial" panose="020B0604020202020204" pitchFamily="34" charset="0"/>
              </a:rPr>
              <a:t> </a:t>
            </a:r>
            <a:r>
              <a:rPr lang="en-IN" sz="1800" dirty="0">
                <a:solidFill>
                  <a:srgbClr val="000000"/>
                </a:solidFill>
                <a:effectLst/>
                <a:latin typeface="Times New Roman" panose="02020603050405020304" pitchFamily="18" charset="0"/>
                <a:ea typeface="Times New Roman" panose="02020603050405020304" pitchFamily="18" charset="0"/>
              </a:rPr>
              <a:t>Graduates will demonstrate ethical responsibility, leadership, teamwork, and effective communication while adapting to evolving global technological environments through lifelong learning.</a:t>
            </a:r>
            <a:endParaRPr lang="en-IN" sz="1800" dirty="0">
              <a:effectLst/>
              <a:latin typeface="Arial" panose="020B0604020202020204" pitchFamily="34" charset="0"/>
              <a:ea typeface="Arial" panose="020B0604020202020204" pitchFamily="34" charset="0"/>
            </a:endParaRPr>
          </a:p>
          <a:p>
            <a:pPr marL="0" indent="0">
              <a:buFont typeface="Arial" panose="020B0604020202020204" pitchFamily="34" charset="0"/>
              <a:buNone/>
              <a:defRPr/>
            </a:pPr>
            <a:endParaRPr lang="en-US" sz="1800" dirty="0">
              <a:latin typeface="Times New Roman"/>
              <a:ea typeface="Times New Roman"/>
              <a:cs typeface="Times New Roman"/>
            </a:endParaRPr>
          </a:p>
        </p:txBody>
      </p:sp>
      <p:sp>
        <p:nvSpPr>
          <p:cNvPr id="2" name="Date Placeholder 1">
            <a:extLst>
              <a:ext uri="{FF2B5EF4-FFF2-40B4-BE49-F238E27FC236}">
                <a16:creationId xmlns:a16="http://schemas.microsoft.com/office/drawing/2014/main" id="{03C53711-D5C0-CEC3-615C-3F0B95E4A2E1}"/>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9D8CA968-CEBE-1A57-3DA7-00DAF6C927C8}"/>
              </a:ext>
            </a:extLst>
          </p:cNvPr>
          <p:cNvSpPr>
            <a:spLocks noGrp="1"/>
          </p:cNvSpPr>
          <p:nvPr>
            <p:ph type="ftr" sz="quarter" idx="11"/>
          </p:nvPr>
        </p:nvSpPr>
        <p:spPr/>
        <p:txBody>
          <a:bodyPr/>
          <a:lstStyle/>
          <a:p>
            <a:r>
              <a:rPr lang="en-IN"/>
              <a:t>Dept of CSE(CY)</a:t>
            </a:r>
          </a:p>
        </p:txBody>
      </p:sp>
      <p:sp>
        <p:nvSpPr>
          <p:cNvPr id="5" name="Slide Number Placeholder 4">
            <a:extLst>
              <a:ext uri="{FF2B5EF4-FFF2-40B4-BE49-F238E27FC236}">
                <a16:creationId xmlns:a16="http://schemas.microsoft.com/office/drawing/2014/main" id="{5428CBD5-78E5-9B3E-A237-ECD602D578EA}"/>
              </a:ext>
            </a:extLst>
          </p:cNvPr>
          <p:cNvSpPr>
            <a:spLocks noGrp="1"/>
          </p:cNvSpPr>
          <p:nvPr>
            <p:ph type="sldNum" sz="quarter" idx="12"/>
          </p:nvPr>
        </p:nvSpPr>
        <p:spPr/>
        <p:txBody>
          <a:bodyPr/>
          <a:lstStyle/>
          <a:p>
            <a:fld id="{7C33CCD4-7228-4506-A3A6-5A9074B2CE31}" type="slidenum">
              <a:rPr lang="en-IN" smtClean="0"/>
              <a:t>5</a:t>
            </a:fld>
            <a:endParaRPr lang="en-IN"/>
          </a:p>
        </p:txBody>
      </p:sp>
      <p:sp>
        <p:nvSpPr>
          <p:cNvPr id="7" name="TextBox 6">
            <a:extLst>
              <a:ext uri="{FF2B5EF4-FFF2-40B4-BE49-F238E27FC236}">
                <a16:creationId xmlns:a16="http://schemas.microsoft.com/office/drawing/2014/main" id="{1720ED3A-07FE-E298-6500-018B5F47666C}"/>
              </a:ext>
            </a:extLst>
          </p:cNvPr>
          <p:cNvSpPr txBox="1"/>
          <p:nvPr/>
        </p:nvSpPr>
        <p:spPr>
          <a:xfrm>
            <a:off x="93305" y="0"/>
            <a:ext cx="4180115"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2602629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64;p30"/>
          <p:cNvSpPr txBox="1">
            <a:spLocks/>
          </p:cNvSpPr>
          <p:nvPr/>
        </p:nvSpPr>
        <p:spPr bwMode="auto">
          <a:xfrm>
            <a:off x="393538" y="1990844"/>
            <a:ext cx="11250593" cy="4641449"/>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Outcomes</a:t>
            </a:r>
            <a:endParaRPr lang="en-US" u="sng" dirty="0">
              <a:latin typeface="Times New Roman"/>
              <a:ea typeface="Times New Roman"/>
              <a:cs typeface="Times New Roman"/>
            </a:endParaRPr>
          </a:p>
          <a:p>
            <a:pPr marL="0" indent="0">
              <a:lnSpc>
                <a:spcPct val="114999"/>
              </a:lnSpc>
              <a:spcBef>
                <a:spcPts val="0"/>
              </a:spcBef>
              <a:buFont typeface="Arial" panose="020B0604020202020204" pitchFamily="34" charset="0"/>
              <a:buNone/>
              <a:defRPr/>
            </a:pPr>
            <a:r>
              <a:rPr lang="en-US" sz="1400" dirty="0">
                <a:latin typeface="Times New Roman"/>
                <a:ea typeface="Times New Roman"/>
                <a:cs typeface="Times New Roman"/>
              </a:rPr>
              <a:t>    Engineering Graduates will be able to:</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1. </a:t>
            </a:r>
            <a:r>
              <a:rPr lang="en-US" sz="1500" b="1" dirty="0">
                <a:latin typeface="Times New Roman"/>
                <a:ea typeface="Times New Roman"/>
                <a:cs typeface="Times New Roman"/>
              </a:rPr>
              <a:t>Engineering knowledge:</a:t>
            </a:r>
            <a:r>
              <a:rPr lang="en-US" sz="1500" dirty="0">
                <a:latin typeface="Times New Roman"/>
                <a:ea typeface="Times New Roman"/>
                <a:cs typeface="Times New Roman"/>
              </a:rPr>
              <a:t> Apply the knowledge of mathematics, science, engineering fundamentals, and an engineering specialization to the solution of complex engineering problems.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2. </a:t>
            </a:r>
            <a:r>
              <a:rPr lang="en-US" sz="1500" b="1" dirty="0">
                <a:latin typeface="Times New Roman"/>
                <a:ea typeface="Times New Roman"/>
                <a:cs typeface="Times New Roman"/>
              </a:rPr>
              <a:t>Problem analysis:</a:t>
            </a:r>
            <a:r>
              <a:rPr lang="en-US" sz="1500" dirty="0">
                <a:latin typeface="Times New Roman"/>
                <a:ea typeface="Times New Roman"/>
                <a:cs typeface="Times New Roman"/>
              </a:rPr>
              <a:t> Identify, formulate, review research literature, and analyze complex engineering problems reaching substantiated conclusions using first principles of mathematics, natural sciences, and engineering sciences.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3. </a:t>
            </a:r>
            <a:r>
              <a:rPr lang="en-US" sz="1500" b="1" dirty="0">
                <a:latin typeface="Times New Roman"/>
                <a:ea typeface="Times New Roman"/>
                <a:cs typeface="Times New Roman"/>
              </a:rPr>
              <a:t>Design/development of solutions:</a:t>
            </a:r>
            <a:r>
              <a:rPr lang="en-US" sz="1500" dirty="0">
                <a:latin typeface="Times New Roman"/>
                <a:ea typeface="Times New Roman"/>
                <a:cs typeface="Times New Roman"/>
              </a:rPr>
              <a:t> Design solutions for complex engineering problems and design system components or processes that meet the specified needs with appropriate consideration for the public health and safety, and the cultural, societal, and environmental considerations.</a:t>
            </a:r>
          </a:p>
          <a:p>
            <a:pPr marL="457200" marR="274320" indent="0" algn="just">
              <a:lnSpc>
                <a:spcPct val="114999"/>
              </a:lnSpc>
              <a:spcBef>
                <a:spcPts val="0"/>
              </a:spcBef>
              <a:buClr>
                <a:schemeClr val="dk1"/>
              </a:buClr>
              <a:buSzPts val="1100"/>
              <a:buFont typeface="Arial"/>
              <a:buNone/>
              <a:defRPr/>
            </a:pPr>
            <a:br>
              <a:rPr lang="en-US" sz="1500" dirty="0">
                <a:latin typeface="Times New Roman"/>
                <a:ea typeface="Times New Roman"/>
                <a:cs typeface="Times New Roman"/>
              </a:rPr>
            </a:br>
            <a:r>
              <a:rPr lang="en-US" sz="1500" dirty="0">
                <a:latin typeface="Times New Roman"/>
                <a:ea typeface="Times New Roman"/>
                <a:cs typeface="Times New Roman"/>
              </a:rPr>
              <a:t>4. </a:t>
            </a:r>
            <a:r>
              <a:rPr lang="en-US" sz="1500" b="1" dirty="0">
                <a:latin typeface="Times New Roman"/>
                <a:ea typeface="Times New Roman"/>
                <a:cs typeface="Times New Roman"/>
              </a:rPr>
              <a:t>Conduct investigations of complex problems:</a:t>
            </a:r>
            <a:r>
              <a:rPr lang="en-US" sz="1500" dirty="0">
                <a:latin typeface="Times New Roman"/>
                <a:ea typeface="Times New Roman"/>
                <a:cs typeface="Times New Roman"/>
              </a:rPr>
              <a:t> Use research-based knowledge and research methods including design of experiments, analysis and interpretation of data, and synthesis of the information to provide valid conclusions.</a:t>
            </a:r>
          </a:p>
          <a:p>
            <a:pPr marL="457200" marR="274320" indent="0" algn="just">
              <a:lnSpc>
                <a:spcPct val="114999"/>
              </a:lnSpc>
              <a:spcBef>
                <a:spcPts val="0"/>
              </a:spcBef>
              <a:buClr>
                <a:schemeClr val="dk1"/>
              </a:buClr>
              <a:buSzPts val="1100"/>
              <a:buFont typeface="Arial"/>
              <a:buNone/>
              <a:defRPr/>
            </a:pPr>
            <a:r>
              <a:rPr lang="en-US" sz="1500" dirty="0">
                <a:latin typeface="Times New Roman"/>
                <a:ea typeface="Times New Roman"/>
                <a:cs typeface="Times New Roman"/>
              </a:rPr>
              <a:t>5. </a:t>
            </a:r>
            <a:r>
              <a:rPr lang="en-US" sz="1500" b="1" dirty="0">
                <a:latin typeface="Times New Roman"/>
                <a:ea typeface="Times New Roman"/>
                <a:cs typeface="Times New Roman"/>
              </a:rPr>
              <a:t>Modern tool usage:</a:t>
            </a:r>
            <a:r>
              <a:rPr lang="en-US" sz="1500" dirty="0">
                <a:latin typeface="Times New Roman"/>
                <a:ea typeface="Times New Roman"/>
                <a:cs typeface="Times New Roman"/>
              </a:rPr>
              <a:t> Create, select, and apply appropriate techniques, resources, and modern engineering and IT tools including prediction and modeling to complex engineering activities with an understanding of the limitations.</a:t>
            </a:r>
          </a:p>
          <a:p>
            <a:pPr marL="0" indent="0">
              <a:buFont typeface="Arial" panose="020B0604020202020204" pitchFamily="34" charset="0"/>
              <a:buNone/>
              <a:defRPr/>
            </a:pPr>
            <a:endParaRPr lang="en-US" sz="3100" dirty="0"/>
          </a:p>
        </p:txBody>
      </p:sp>
      <p:sp>
        <p:nvSpPr>
          <p:cNvPr id="2" name="Date Placeholder 1">
            <a:extLst>
              <a:ext uri="{FF2B5EF4-FFF2-40B4-BE49-F238E27FC236}">
                <a16:creationId xmlns:a16="http://schemas.microsoft.com/office/drawing/2014/main" id="{D0EB2C2A-B699-6F36-E9E0-53AA8FAEAD45}"/>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068E3FAF-E5E8-B773-F74E-EEE24CE73F49}"/>
              </a:ext>
            </a:extLst>
          </p:cNvPr>
          <p:cNvSpPr>
            <a:spLocks noGrp="1"/>
          </p:cNvSpPr>
          <p:nvPr>
            <p:ph type="ftr" sz="quarter" idx="11"/>
          </p:nvPr>
        </p:nvSpPr>
        <p:spPr/>
        <p:txBody>
          <a:bodyPr/>
          <a:lstStyle/>
          <a:p>
            <a:r>
              <a:rPr lang="en-IN"/>
              <a:t>Dept of CSE(CY)</a:t>
            </a:r>
          </a:p>
        </p:txBody>
      </p:sp>
      <p:sp>
        <p:nvSpPr>
          <p:cNvPr id="4" name="Slide Number Placeholder 3">
            <a:extLst>
              <a:ext uri="{FF2B5EF4-FFF2-40B4-BE49-F238E27FC236}">
                <a16:creationId xmlns:a16="http://schemas.microsoft.com/office/drawing/2014/main" id="{4F3B5104-E292-1CC3-316F-25B5E2147BD3}"/>
              </a:ext>
            </a:extLst>
          </p:cNvPr>
          <p:cNvSpPr>
            <a:spLocks noGrp="1"/>
          </p:cNvSpPr>
          <p:nvPr>
            <p:ph type="sldNum" sz="quarter" idx="12"/>
          </p:nvPr>
        </p:nvSpPr>
        <p:spPr/>
        <p:txBody>
          <a:bodyPr/>
          <a:lstStyle/>
          <a:p>
            <a:fld id="{7C33CCD4-7228-4506-A3A6-5A9074B2CE31}" type="slidenum">
              <a:rPr lang="en-IN" smtClean="0"/>
              <a:t>6</a:t>
            </a:fld>
            <a:endParaRPr lang="en-IN"/>
          </a:p>
        </p:txBody>
      </p:sp>
      <p:sp>
        <p:nvSpPr>
          <p:cNvPr id="7" name="TextBox 6">
            <a:extLst>
              <a:ext uri="{FF2B5EF4-FFF2-40B4-BE49-F238E27FC236}">
                <a16:creationId xmlns:a16="http://schemas.microsoft.com/office/drawing/2014/main" id="{487300B5-4CCB-5A35-50CC-AEFF4271B53D}"/>
              </a:ext>
            </a:extLst>
          </p:cNvPr>
          <p:cNvSpPr txBox="1"/>
          <p:nvPr/>
        </p:nvSpPr>
        <p:spPr>
          <a:xfrm>
            <a:off x="0" y="0"/>
            <a:ext cx="4152122"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3735924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Google Shape;169;p31"/>
          <p:cNvSpPr txBox="1">
            <a:spLocks/>
          </p:cNvSpPr>
          <p:nvPr/>
        </p:nvSpPr>
        <p:spPr bwMode="auto">
          <a:xfrm>
            <a:off x="92596" y="2268638"/>
            <a:ext cx="11910349" cy="4589362"/>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274320" indent="0" algn="just">
              <a:lnSpc>
                <a:spcPct val="114999"/>
              </a:lnSpc>
              <a:spcBef>
                <a:spcPts val="0"/>
              </a:spcBef>
              <a:buClr>
                <a:schemeClr val="dk1"/>
              </a:buClr>
              <a:buSzPts val="1100"/>
              <a:buFont typeface="Arial"/>
              <a:buNone/>
              <a:defRPr/>
            </a:pPr>
            <a:br>
              <a:rPr lang="en-US" sz="1200" dirty="0">
                <a:latin typeface="Times New Roman"/>
                <a:ea typeface="Times New Roman"/>
                <a:cs typeface="Times New Roman"/>
              </a:rPr>
            </a:br>
            <a:r>
              <a:rPr lang="en-US" sz="1400" dirty="0">
                <a:latin typeface="Times New Roman"/>
                <a:ea typeface="Times New Roman"/>
                <a:cs typeface="Times New Roman"/>
              </a:rPr>
              <a:t>6. </a:t>
            </a:r>
            <a:r>
              <a:rPr lang="en-US" sz="1400" b="1" dirty="0">
                <a:latin typeface="Times New Roman"/>
                <a:ea typeface="Times New Roman"/>
                <a:cs typeface="Times New Roman"/>
              </a:rPr>
              <a:t>The engineer and society:</a:t>
            </a:r>
            <a:r>
              <a:rPr lang="en-US" sz="1400" dirty="0">
                <a:latin typeface="Times New Roman"/>
                <a:ea typeface="Times New Roman"/>
                <a:cs typeface="Times New Roman"/>
              </a:rPr>
              <a:t> Apply reasoning informed by the contextual knowledge to assess societal, health, safety, legal and cultural issues and the consequent responsibilities relevant to the professional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7. </a:t>
            </a:r>
            <a:r>
              <a:rPr lang="en-US" sz="1400" b="1" dirty="0">
                <a:latin typeface="Times New Roman"/>
                <a:ea typeface="Times New Roman"/>
                <a:cs typeface="Times New Roman"/>
              </a:rPr>
              <a:t>Environment and sustainability:</a:t>
            </a:r>
            <a:r>
              <a:rPr lang="en-US" sz="1400" dirty="0">
                <a:latin typeface="Times New Roman"/>
                <a:ea typeface="Times New Roman"/>
                <a:cs typeface="Times New Roman"/>
              </a:rPr>
              <a:t> Understand the impact of the professional engineering solutions in societal and environmental contexts, and demonstrate the knowledge of, and need for sustainable development.</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8. </a:t>
            </a:r>
            <a:r>
              <a:rPr lang="en-US" sz="1400" b="1" dirty="0">
                <a:latin typeface="Times New Roman"/>
                <a:ea typeface="Times New Roman"/>
                <a:cs typeface="Times New Roman"/>
              </a:rPr>
              <a:t>Ethics:</a:t>
            </a:r>
            <a:r>
              <a:rPr lang="en-US" sz="1400" dirty="0">
                <a:latin typeface="Times New Roman"/>
                <a:ea typeface="Times New Roman"/>
                <a:cs typeface="Times New Roman"/>
              </a:rPr>
              <a:t> Apply ethical principles and commit to professional ethics and responsibilities and norms of the engineering practice.</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9. </a:t>
            </a:r>
            <a:r>
              <a:rPr lang="en-US" sz="1400" b="1" dirty="0">
                <a:latin typeface="Times New Roman"/>
                <a:ea typeface="Times New Roman"/>
                <a:cs typeface="Times New Roman"/>
              </a:rPr>
              <a:t>Individual and team work:</a:t>
            </a:r>
            <a:r>
              <a:rPr lang="en-US" sz="1400" dirty="0">
                <a:latin typeface="Times New Roman"/>
                <a:ea typeface="Times New Roman"/>
                <a:cs typeface="Times New Roman"/>
              </a:rPr>
              <a:t> Function effectively as an individual, and as a member or leader in diverse teams, and in multidisciplinary settings.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10. </a:t>
            </a:r>
            <a:r>
              <a:rPr lang="en-US" sz="1400" b="1" dirty="0">
                <a:latin typeface="Times New Roman"/>
                <a:ea typeface="Times New Roman"/>
                <a:cs typeface="Times New Roman"/>
              </a:rPr>
              <a:t>Communication:</a:t>
            </a:r>
            <a:r>
              <a:rPr lang="en-US" sz="1400" dirty="0">
                <a:latin typeface="Times New Roman"/>
                <a:ea typeface="Times New Roman"/>
                <a:cs typeface="Times New Roman"/>
              </a:rPr>
              <a:t> Communicate effectively on complex engineering activities with the engineering community and with society at large, such as, being able to comprehend and write effective reports and design documentation, make effective presentations, and give and receive clear instructions.</a:t>
            </a:r>
          </a:p>
          <a:p>
            <a:pPr marL="274320" marR="274320" indent="0" algn="just">
              <a:lnSpc>
                <a:spcPct val="114999"/>
              </a:lnSpc>
              <a:spcBef>
                <a:spcPts val="0"/>
              </a:spcBef>
              <a:buClr>
                <a:schemeClr val="dk1"/>
              </a:buClr>
              <a:buSzPts val="1100"/>
              <a:buFont typeface="Arial"/>
              <a:buNone/>
              <a:defRPr/>
            </a:pPr>
            <a:br>
              <a:rPr lang="en-US" sz="1400" dirty="0">
                <a:latin typeface="Times New Roman"/>
                <a:ea typeface="Times New Roman"/>
                <a:cs typeface="Times New Roman"/>
              </a:rPr>
            </a:br>
            <a:r>
              <a:rPr lang="en-US" sz="1400" dirty="0">
                <a:latin typeface="Times New Roman"/>
                <a:ea typeface="Times New Roman"/>
                <a:cs typeface="Times New Roman"/>
              </a:rPr>
              <a:t>11. </a:t>
            </a:r>
            <a:r>
              <a:rPr lang="en-US" sz="1400" b="1" dirty="0">
                <a:latin typeface="Times New Roman"/>
                <a:ea typeface="Times New Roman"/>
                <a:cs typeface="Times New Roman"/>
              </a:rPr>
              <a:t>Project management and finance:</a:t>
            </a:r>
            <a:r>
              <a:rPr lang="en-US" sz="1400" dirty="0">
                <a:latin typeface="Times New Roman"/>
                <a:ea typeface="Times New Roman"/>
                <a:cs typeface="Times New Roman"/>
              </a:rPr>
              <a:t> Demonstrate knowledge and understanding of the engineering and management principles and apply these to one’s own work, as a member and leader in a team, to manage projects and in multidisciplinary environments.</a:t>
            </a:r>
            <a:br>
              <a:rPr lang="en-US" sz="1400" dirty="0">
                <a:latin typeface="Times New Roman"/>
                <a:ea typeface="Times New Roman"/>
                <a:cs typeface="Times New Roman"/>
              </a:rPr>
            </a:br>
            <a:r>
              <a:rPr lang="en-US" sz="1400" dirty="0">
                <a:latin typeface="Times New Roman"/>
                <a:ea typeface="Times New Roman"/>
                <a:cs typeface="Times New Roman"/>
              </a:rPr>
              <a:t>12. </a:t>
            </a:r>
            <a:r>
              <a:rPr lang="en-US" sz="1400" b="1" dirty="0">
                <a:latin typeface="Times New Roman"/>
                <a:ea typeface="Times New Roman"/>
                <a:cs typeface="Times New Roman"/>
              </a:rPr>
              <a:t>Life-long learning:</a:t>
            </a:r>
            <a:r>
              <a:rPr lang="en-US" sz="1400" dirty="0">
                <a:latin typeface="Times New Roman"/>
                <a:ea typeface="Times New Roman"/>
                <a:cs typeface="Times New Roman"/>
              </a:rPr>
              <a:t> Recognize the need for, and have the preparation and ability to engage in independent and life-long learning in the broadest context of technological change</a:t>
            </a:r>
            <a:r>
              <a:rPr lang="en-US" sz="1300" dirty="0">
                <a:latin typeface="Times New Roman"/>
                <a:ea typeface="Times New Roman"/>
                <a:cs typeface="Times New Roman"/>
              </a:rPr>
              <a:t>.</a:t>
            </a:r>
          </a:p>
          <a:p>
            <a:pPr marL="274320" marR="274320" indent="0" algn="just">
              <a:lnSpc>
                <a:spcPct val="114999"/>
              </a:lnSpc>
              <a:spcBef>
                <a:spcPts val="0"/>
              </a:spcBef>
              <a:buClr>
                <a:schemeClr val="dk1"/>
              </a:buClr>
              <a:buSzPts val="1100"/>
              <a:buFont typeface="Arial"/>
              <a:buNone/>
              <a:defRPr/>
            </a:pPr>
            <a:endParaRPr lang="en-US" sz="1300" dirty="0">
              <a:latin typeface="Times New Roman"/>
              <a:ea typeface="Times New Roman"/>
              <a:cs typeface="Times New Roman"/>
            </a:endParaRPr>
          </a:p>
          <a:p>
            <a:pPr marL="274320" marR="274320" indent="0">
              <a:buFont typeface="Arial" panose="020B0604020202020204" pitchFamily="34" charset="0"/>
              <a:buNone/>
              <a:defRPr/>
            </a:pPr>
            <a:endParaRPr lang="en-US" dirty="0"/>
          </a:p>
        </p:txBody>
      </p:sp>
      <p:sp>
        <p:nvSpPr>
          <p:cNvPr id="2" name="Date Placeholder 1">
            <a:extLst>
              <a:ext uri="{FF2B5EF4-FFF2-40B4-BE49-F238E27FC236}">
                <a16:creationId xmlns:a16="http://schemas.microsoft.com/office/drawing/2014/main" id="{1F06FAF6-A3AD-0AA5-8B4A-F6DCF1CB97CE}"/>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6D5CB93D-D64E-DC76-A6FD-DAAAD8259720}"/>
              </a:ext>
            </a:extLst>
          </p:cNvPr>
          <p:cNvSpPr>
            <a:spLocks noGrp="1"/>
          </p:cNvSpPr>
          <p:nvPr>
            <p:ph type="ftr" sz="quarter" idx="11"/>
          </p:nvPr>
        </p:nvSpPr>
        <p:spPr/>
        <p:txBody>
          <a:bodyPr/>
          <a:lstStyle/>
          <a:p>
            <a:r>
              <a:rPr lang="en-IN"/>
              <a:t>Dept of CSE(CY)</a:t>
            </a:r>
          </a:p>
        </p:txBody>
      </p:sp>
      <p:sp>
        <p:nvSpPr>
          <p:cNvPr id="5" name="Slide Number Placeholder 4">
            <a:extLst>
              <a:ext uri="{FF2B5EF4-FFF2-40B4-BE49-F238E27FC236}">
                <a16:creationId xmlns:a16="http://schemas.microsoft.com/office/drawing/2014/main" id="{B472B273-4748-AB81-E631-EE278FDE86CE}"/>
              </a:ext>
            </a:extLst>
          </p:cNvPr>
          <p:cNvSpPr>
            <a:spLocks noGrp="1"/>
          </p:cNvSpPr>
          <p:nvPr>
            <p:ph type="sldNum" sz="quarter" idx="12"/>
          </p:nvPr>
        </p:nvSpPr>
        <p:spPr/>
        <p:txBody>
          <a:bodyPr/>
          <a:lstStyle/>
          <a:p>
            <a:fld id="{7C33CCD4-7228-4506-A3A6-5A9074B2CE31}" type="slidenum">
              <a:rPr lang="en-IN" smtClean="0"/>
              <a:t>7</a:t>
            </a:fld>
            <a:endParaRPr lang="en-IN"/>
          </a:p>
        </p:txBody>
      </p:sp>
      <p:sp>
        <p:nvSpPr>
          <p:cNvPr id="7" name="TextBox 6">
            <a:extLst>
              <a:ext uri="{FF2B5EF4-FFF2-40B4-BE49-F238E27FC236}">
                <a16:creationId xmlns:a16="http://schemas.microsoft.com/office/drawing/2014/main" id="{4FFA0B04-09E5-F772-EA4A-3557ED851EA9}"/>
              </a:ext>
            </a:extLst>
          </p:cNvPr>
          <p:cNvSpPr txBox="1"/>
          <p:nvPr/>
        </p:nvSpPr>
        <p:spPr>
          <a:xfrm>
            <a:off x="92596" y="0"/>
            <a:ext cx="5281837"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1945739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Google Shape;174;p32"/>
          <p:cNvSpPr txBox="1">
            <a:spLocks/>
          </p:cNvSpPr>
          <p:nvPr/>
        </p:nvSpPr>
        <p:spPr bwMode="auto">
          <a:xfrm>
            <a:off x="603261" y="2291786"/>
            <a:ext cx="11156618" cy="4048113"/>
          </a:xfrm>
          <a:prstGeom prst="rect">
            <a:avLst/>
          </a:prstGeom>
        </p:spPr>
        <p:txBody>
          <a:bodyPr spcFirstLastPara="1" vert="horz" wrap="square" lIns="0" tIns="0" rIns="0" bIns="0" rtlCol="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14999"/>
              </a:lnSpc>
              <a:spcBef>
                <a:spcPts val="0"/>
              </a:spcBef>
              <a:buClr>
                <a:schemeClr val="dk1"/>
              </a:buClr>
              <a:buSzPts val="1100"/>
              <a:buFont typeface="Arial"/>
              <a:buNone/>
              <a:defRPr/>
            </a:pPr>
            <a:r>
              <a:rPr lang="en-US" b="1" u="sng" dirty="0" err="1">
                <a:latin typeface="Times New Roman"/>
                <a:ea typeface="Times New Roman"/>
                <a:cs typeface="Times New Roman"/>
              </a:rPr>
              <a:t>Programme</a:t>
            </a:r>
            <a:r>
              <a:rPr lang="en-US" b="1" u="sng" dirty="0">
                <a:latin typeface="Times New Roman"/>
                <a:ea typeface="Times New Roman"/>
                <a:cs typeface="Times New Roman"/>
              </a:rPr>
              <a:t> Specific Outcomes (PSOs)</a:t>
            </a:r>
            <a:endParaRPr lang="en-US" u="sng" dirty="0">
              <a:latin typeface="Times New Roman"/>
              <a:ea typeface="Times New Roman"/>
              <a:cs typeface="Times New Roman"/>
            </a:endParaRPr>
          </a:p>
          <a:p>
            <a:pPr marL="0" indent="0" algn="ctr">
              <a:lnSpc>
                <a:spcPct val="114999"/>
              </a:lnSpc>
              <a:spcBef>
                <a:spcPts val="0"/>
              </a:spcBef>
              <a:buClr>
                <a:schemeClr val="dk1"/>
              </a:buClr>
              <a:buSzPts val="1100"/>
              <a:buFont typeface="Arial"/>
              <a:buNone/>
              <a:defRPr/>
            </a:pPr>
            <a:endParaRPr lang="en-US" sz="1800" dirty="0">
              <a:latin typeface="Times New Roman" panose="02020603050405020304" pitchFamily="18" charset="0"/>
            </a:endParaRPr>
          </a:p>
          <a:p>
            <a:pPr marL="0" indent="0" algn="just">
              <a:lnSpc>
                <a:spcPct val="114999"/>
              </a:lnSpc>
              <a:spcBef>
                <a:spcPts val="0"/>
              </a:spcBef>
              <a:buClr>
                <a:schemeClr val="dk1"/>
              </a:buClr>
              <a:buSzPts val="1100"/>
              <a:buFont typeface="Arial"/>
              <a:buNone/>
              <a:defRPr/>
            </a:pPr>
            <a:r>
              <a:rPr lang="en-US" sz="1800" dirty="0">
                <a:latin typeface="Times New Roman" panose="02020603050405020304" pitchFamily="18" charset="0"/>
              </a:rPr>
              <a:t> On the completion of Computer Science &amp; Engineering program, the students will possess:</a:t>
            </a:r>
          </a:p>
          <a:p>
            <a:pPr algn="just">
              <a:lnSpc>
                <a:spcPct val="150000"/>
              </a:lnSpc>
              <a:spcBef>
                <a:spcPts val="1200"/>
              </a:spcBef>
              <a:spcAft>
                <a:spcPts val="1200"/>
              </a:spcAft>
            </a:pPr>
            <a:r>
              <a:rPr lang="en-IN" sz="1800" b="0" dirty="0">
                <a:effectLst/>
                <a:latin typeface="Times New Roman" panose="02020603050405020304" pitchFamily="18" charset="0"/>
                <a:ea typeface="Times New Roman" panose="02020603050405020304" pitchFamily="18" charset="0"/>
              </a:rPr>
              <a:t> </a:t>
            </a:r>
            <a:r>
              <a:rPr lang="en-IN" sz="1800" b="1" dirty="0">
                <a:effectLst/>
                <a:latin typeface="Times New Roman" panose="02020603050405020304" pitchFamily="18" charset="0"/>
                <a:ea typeface="Times New Roman" panose="02020603050405020304" pitchFamily="18" charset="0"/>
              </a:rPr>
              <a:t>PSO 1</a:t>
            </a:r>
            <a:r>
              <a:rPr lang="en-IN" sz="1800" b="0" dirty="0">
                <a:effectLst/>
                <a:latin typeface="Times New Roman" panose="02020603050405020304" pitchFamily="18" charset="0"/>
                <a:ea typeface="Times New Roman" panose="02020603050405020304" pitchFamily="18" charset="0"/>
              </a:rPr>
              <a:t>: Apply cyber security principles to mitigate cyber risk and </a:t>
            </a:r>
            <a:r>
              <a:rPr lang="en-IN" sz="1800" b="0" dirty="0" err="1">
                <a:effectLst/>
                <a:latin typeface="Times New Roman" panose="02020603050405020304" pitchFamily="18" charset="0"/>
                <a:ea typeface="Times New Roman" panose="02020603050405020304" pitchFamily="18" charset="0"/>
              </a:rPr>
              <a:t>analyze</a:t>
            </a:r>
            <a:r>
              <a:rPr lang="en-IN" sz="1800" b="0" dirty="0">
                <a:effectLst/>
                <a:latin typeface="Times New Roman" panose="02020603050405020304" pitchFamily="18" charset="0"/>
                <a:ea typeface="Times New Roman" panose="02020603050405020304" pitchFamily="18" charset="0"/>
              </a:rPr>
              <a:t> security requirements of an organization.</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2</a:t>
            </a:r>
            <a:r>
              <a:rPr lang="en-IN" sz="1800" b="0" dirty="0">
                <a:effectLst/>
                <a:latin typeface="Times New Roman" panose="02020603050405020304" pitchFamily="18" charset="0"/>
                <a:ea typeface="Times New Roman" panose="02020603050405020304" pitchFamily="18" charset="0"/>
              </a:rPr>
              <a:t>: Develop and deploy secure software and infrastructure using modern tools and industry standards. </a:t>
            </a:r>
            <a:endParaRPr lang="en-IN" sz="1800" b="1" dirty="0">
              <a:effectLst/>
              <a:latin typeface="Arial" panose="020B0604020202020204" pitchFamily="34" charset="0"/>
            </a:endParaRPr>
          </a:p>
          <a:p>
            <a:pPr algn="just">
              <a:lnSpc>
                <a:spcPct val="150000"/>
              </a:lnSpc>
              <a:spcBef>
                <a:spcPts val="1200"/>
              </a:spcBef>
              <a:spcAft>
                <a:spcPts val="1200"/>
              </a:spcAft>
            </a:pPr>
            <a:r>
              <a:rPr lang="en-IN" sz="1800" b="1" dirty="0">
                <a:effectLst/>
                <a:latin typeface="Times New Roman" panose="02020603050405020304" pitchFamily="18" charset="0"/>
                <a:ea typeface="Times New Roman" panose="02020603050405020304" pitchFamily="18" charset="0"/>
              </a:rPr>
              <a:t>PSO 3</a:t>
            </a:r>
            <a:r>
              <a:rPr lang="en-IN" sz="1800" b="0" dirty="0">
                <a:effectLst/>
                <a:latin typeface="Times New Roman" panose="02020603050405020304" pitchFamily="18" charset="0"/>
                <a:ea typeface="Times New Roman" panose="02020603050405020304" pitchFamily="18" charset="0"/>
              </a:rPr>
              <a:t>: Uphold ethical, legal, and societal responsibilities while protecting privacy, data, and digital assets.</a:t>
            </a:r>
            <a:endParaRPr lang="en-IN" sz="1800" b="1" dirty="0">
              <a:effectLst/>
              <a:latin typeface="Arial" panose="020B0604020202020204" pitchFamily="34" charset="0"/>
            </a:endParaRPr>
          </a:p>
          <a:p>
            <a:pPr marL="0" indent="0" algn="just">
              <a:lnSpc>
                <a:spcPct val="114999"/>
              </a:lnSpc>
              <a:spcBef>
                <a:spcPts val="0"/>
              </a:spcBef>
              <a:buClr>
                <a:schemeClr val="dk1"/>
              </a:buClr>
              <a:buSzPts val="1100"/>
              <a:buFont typeface="Arial"/>
              <a:buNone/>
              <a:defRPr/>
            </a:pPr>
            <a:endParaRPr lang="en-US" sz="1600" dirty="0">
              <a:latin typeface="Times New Roman"/>
              <a:ea typeface="Times New Roman"/>
              <a:cs typeface="Times New Roman"/>
            </a:endParaRPr>
          </a:p>
          <a:p>
            <a:pPr marL="0" indent="0">
              <a:buFont typeface="Arial" panose="020B0604020202020204" pitchFamily="34" charset="0"/>
              <a:buNone/>
              <a:defRPr/>
            </a:pPr>
            <a:endParaRPr lang="en-US" sz="3200" dirty="0"/>
          </a:p>
        </p:txBody>
      </p:sp>
      <p:sp>
        <p:nvSpPr>
          <p:cNvPr id="2" name="Date Placeholder 1">
            <a:extLst>
              <a:ext uri="{FF2B5EF4-FFF2-40B4-BE49-F238E27FC236}">
                <a16:creationId xmlns:a16="http://schemas.microsoft.com/office/drawing/2014/main" id="{27797909-87A6-8F3C-D552-862D7AD57491}"/>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C004ABA6-6A0E-FF63-9DB6-0A69708B48A5}"/>
              </a:ext>
            </a:extLst>
          </p:cNvPr>
          <p:cNvSpPr>
            <a:spLocks noGrp="1"/>
          </p:cNvSpPr>
          <p:nvPr>
            <p:ph type="ftr" sz="quarter" idx="11"/>
          </p:nvPr>
        </p:nvSpPr>
        <p:spPr/>
        <p:txBody>
          <a:bodyPr/>
          <a:lstStyle/>
          <a:p>
            <a:r>
              <a:rPr lang="en-IN"/>
              <a:t>Dept of CSE(CY)</a:t>
            </a:r>
          </a:p>
        </p:txBody>
      </p:sp>
      <p:sp>
        <p:nvSpPr>
          <p:cNvPr id="4" name="Slide Number Placeholder 3">
            <a:extLst>
              <a:ext uri="{FF2B5EF4-FFF2-40B4-BE49-F238E27FC236}">
                <a16:creationId xmlns:a16="http://schemas.microsoft.com/office/drawing/2014/main" id="{9A6CAE8E-488F-4CD7-B470-DE4B09E4F1E9}"/>
              </a:ext>
            </a:extLst>
          </p:cNvPr>
          <p:cNvSpPr>
            <a:spLocks noGrp="1"/>
          </p:cNvSpPr>
          <p:nvPr>
            <p:ph type="sldNum" sz="quarter" idx="12"/>
          </p:nvPr>
        </p:nvSpPr>
        <p:spPr/>
        <p:txBody>
          <a:bodyPr/>
          <a:lstStyle/>
          <a:p>
            <a:fld id="{7C33CCD4-7228-4506-A3A6-5A9074B2CE31}" type="slidenum">
              <a:rPr lang="en-IN" smtClean="0"/>
              <a:t>8</a:t>
            </a:fld>
            <a:endParaRPr lang="en-IN"/>
          </a:p>
        </p:txBody>
      </p:sp>
      <p:sp>
        <p:nvSpPr>
          <p:cNvPr id="7" name="TextBox 6">
            <a:extLst>
              <a:ext uri="{FF2B5EF4-FFF2-40B4-BE49-F238E27FC236}">
                <a16:creationId xmlns:a16="http://schemas.microsoft.com/office/drawing/2014/main" id="{B6C5A3A6-60CF-FD8A-256C-AB84686BE59D}"/>
              </a:ext>
            </a:extLst>
          </p:cNvPr>
          <p:cNvSpPr txBox="1"/>
          <p:nvPr/>
        </p:nvSpPr>
        <p:spPr>
          <a:xfrm>
            <a:off x="65314" y="0"/>
            <a:ext cx="5047862"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490350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4" name="Content Placeholder 2"/>
          <p:cNvSpPr txBox="1">
            <a:spLocks noChangeArrowheads="1"/>
          </p:cNvSpPr>
          <p:nvPr/>
        </p:nvSpPr>
        <p:spPr bwMode="auto">
          <a:xfrm>
            <a:off x="1319513" y="1990845"/>
            <a:ext cx="9560689" cy="476877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ts val="0"/>
              </a:spcBef>
              <a:buNone/>
              <a:defRPr/>
            </a:pPr>
            <a:r>
              <a:rPr lang="en-US" sz="4000" b="1" u="sng" dirty="0">
                <a:latin typeface="Times New Roman"/>
                <a:cs typeface="Times New Roman"/>
              </a:rPr>
              <a:t>CONTENTS</a:t>
            </a:r>
            <a:endParaRPr lang="en-US" sz="2000" b="1" dirty="0">
              <a:solidFill>
                <a:srgbClr val="002060"/>
              </a:solidFill>
              <a:latin typeface="Times New Roman"/>
              <a:cs typeface="Times New Roman"/>
            </a:endParaRPr>
          </a:p>
          <a:p>
            <a:pPr>
              <a:lnSpc>
                <a:spcPct val="100000"/>
              </a:lnSpc>
              <a:spcBef>
                <a:spcPts val="0"/>
              </a:spcBef>
              <a:defRPr/>
            </a:pPr>
            <a:endParaRPr lang="en-US" sz="2000" b="1" dirty="0">
              <a:solidFill>
                <a:srgbClr val="002060"/>
              </a:solidFill>
              <a:latin typeface="Times New Roman"/>
              <a:cs typeface="Times New Roman"/>
            </a:endParaRPr>
          </a:p>
          <a:p>
            <a:pPr>
              <a:lnSpc>
                <a:spcPct val="100000"/>
              </a:lnSpc>
              <a:spcBef>
                <a:spcPts val="0"/>
              </a:spcBef>
              <a:defRPr/>
            </a:pPr>
            <a:r>
              <a:rPr lang="en-US" sz="2400" b="1" dirty="0">
                <a:solidFill>
                  <a:srgbClr val="002060"/>
                </a:solidFill>
                <a:latin typeface="Times New Roman"/>
                <a:cs typeface="Times New Roman"/>
              </a:rPr>
              <a:t>Motivation</a:t>
            </a:r>
          </a:p>
          <a:p>
            <a:pPr>
              <a:lnSpc>
                <a:spcPct val="100000"/>
              </a:lnSpc>
              <a:spcBef>
                <a:spcPts val="0"/>
              </a:spcBef>
              <a:defRPr/>
            </a:pPr>
            <a:r>
              <a:rPr lang="en-US" sz="2400" b="1" dirty="0">
                <a:solidFill>
                  <a:srgbClr val="002060"/>
                </a:solidFill>
                <a:latin typeface="Times New Roman"/>
                <a:cs typeface="Times New Roman"/>
              </a:rPr>
              <a:t>Introduction</a:t>
            </a:r>
          </a:p>
          <a:p>
            <a:pPr>
              <a:lnSpc>
                <a:spcPct val="100000"/>
              </a:lnSpc>
              <a:spcBef>
                <a:spcPts val="0"/>
              </a:spcBef>
              <a:defRPr/>
            </a:pPr>
            <a:r>
              <a:rPr lang="en-US" sz="2400" b="1" dirty="0">
                <a:solidFill>
                  <a:srgbClr val="002060"/>
                </a:solidFill>
                <a:latin typeface="Times New Roman"/>
                <a:cs typeface="Times New Roman"/>
              </a:rPr>
              <a:t>Problem Statement</a:t>
            </a:r>
          </a:p>
          <a:p>
            <a:pPr>
              <a:lnSpc>
                <a:spcPct val="100000"/>
              </a:lnSpc>
              <a:spcBef>
                <a:spcPts val="0"/>
              </a:spcBef>
              <a:defRPr/>
            </a:pPr>
            <a:r>
              <a:rPr lang="en-US" sz="2400" b="1" dirty="0">
                <a:solidFill>
                  <a:srgbClr val="002060"/>
                </a:solidFill>
                <a:latin typeface="Times New Roman"/>
                <a:cs typeface="Times New Roman"/>
              </a:rPr>
              <a:t>Proposed Method </a:t>
            </a:r>
          </a:p>
          <a:p>
            <a:pPr>
              <a:lnSpc>
                <a:spcPct val="100000"/>
              </a:lnSpc>
              <a:spcBef>
                <a:spcPts val="0"/>
              </a:spcBef>
              <a:defRPr/>
            </a:pPr>
            <a:r>
              <a:rPr lang="en-US" sz="2400" b="1" dirty="0">
                <a:solidFill>
                  <a:srgbClr val="002060"/>
                </a:solidFill>
                <a:latin typeface="Times New Roman"/>
                <a:cs typeface="Times New Roman"/>
              </a:rPr>
              <a:t>Basic Block Diagram</a:t>
            </a:r>
          </a:p>
          <a:p>
            <a:pPr>
              <a:lnSpc>
                <a:spcPct val="100000"/>
              </a:lnSpc>
              <a:spcBef>
                <a:spcPts val="0"/>
              </a:spcBef>
              <a:defRPr/>
            </a:pPr>
            <a:r>
              <a:rPr lang="en-US" sz="2400" b="1" dirty="0">
                <a:solidFill>
                  <a:srgbClr val="002060"/>
                </a:solidFill>
                <a:latin typeface="Times New Roman"/>
                <a:cs typeface="Times New Roman"/>
              </a:rPr>
              <a:t>Conclusion </a:t>
            </a:r>
          </a:p>
          <a:p>
            <a:pPr>
              <a:lnSpc>
                <a:spcPct val="100000"/>
              </a:lnSpc>
              <a:spcBef>
                <a:spcPts val="0"/>
              </a:spcBef>
              <a:defRPr/>
            </a:pPr>
            <a:r>
              <a:rPr lang="en-US" sz="2400" b="1" dirty="0">
                <a:solidFill>
                  <a:srgbClr val="002060"/>
                </a:solidFill>
                <a:latin typeface="Times New Roman"/>
                <a:cs typeface="Times New Roman"/>
              </a:rPr>
              <a:t>References</a:t>
            </a:r>
            <a:endParaRPr lang="en-US" sz="2400" dirty="0">
              <a:latin typeface="Times New Roman"/>
              <a:cs typeface="Times New Roman"/>
            </a:endParaRPr>
          </a:p>
        </p:txBody>
      </p:sp>
      <p:sp>
        <p:nvSpPr>
          <p:cNvPr id="2" name="Date Placeholder 1">
            <a:extLst>
              <a:ext uri="{FF2B5EF4-FFF2-40B4-BE49-F238E27FC236}">
                <a16:creationId xmlns:a16="http://schemas.microsoft.com/office/drawing/2014/main" id="{86460426-7AA0-DCE1-C655-DC5AB588B2F1}"/>
              </a:ext>
            </a:extLst>
          </p:cNvPr>
          <p:cNvSpPr>
            <a:spLocks noGrp="1"/>
          </p:cNvSpPr>
          <p:nvPr>
            <p:ph type="dt" sz="half" idx="10"/>
          </p:nvPr>
        </p:nvSpPr>
        <p:spPr/>
        <p:txBody>
          <a:bodyPr/>
          <a:lstStyle/>
          <a:p>
            <a:r>
              <a:rPr lang="en-US"/>
              <a:t>30-07-2026</a:t>
            </a:r>
            <a:endParaRPr lang="en-IN"/>
          </a:p>
        </p:txBody>
      </p:sp>
      <p:sp>
        <p:nvSpPr>
          <p:cNvPr id="3" name="Footer Placeholder 2">
            <a:extLst>
              <a:ext uri="{FF2B5EF4-FFF2-40B4-BE49-F238E27FC236}">
                <a16:creationId xmlns:a16="http://schemas.microsoft.com/office/drawing/2014/main" id="{FF047AF1-4CE6-C71E-FB2A-EEE9EBF89ADC}"/>
              </a:ext>
            </a:extLst>
          </p:cNvPr>
          <p:cNvSpPr>
            <a:spLocks noGrp="1"/>
          </p:cNvSpPr>
          <p:nvPr>
            <p:ph type="ftr" sz="quarter" idx="11"/>
          </p:nvPr>
        </p:nvSpPr>
        <p:spPr/>
        <p:txBody>
          <a:bodyPr/>
          <a:lstStyle/>
          <a:p>
            <a:r>
              <a:rPr lang="en-IN"/>
              <a:t>Dept of CSE(CY)</a:t>
            </a:r>
          </a:p>
        </p:txBody>
      </p:sp>
      <p:sp>
        <p:nvSpPr>
          <p:cNvPr id="5" name="Slide Number Placeholder 4">
            <a:extLst>
              <a:ext uri="{FF2B5EF4-FFF2-40B4-BE49-F238E27FC236}">
                <a16:creationId xmlns:a16="http://schemas.microsoft.com/office/drawing/2014/main" id="{CC914F5C-CF29-A072-11DD-B7014F710CD9}"/>
              </a:ext>
            </a:extLst>
          </p:cNvPr>
          <p:cNvSpPr>
            <a:spLocks noGrp="1"/>
          </p:cNvSpPr>
          <p:nvPr>
            <p:ph type="sldNum" sz="quarter" idx="12"/>
          </p:nvPr>
        </p:nvSpPr>
        <p:spPr/>
        <p:txBody>
          <a:bodyPr/>
          <a:lstStyle/>
          <a:p>
            <a:fld id="{7C33CCD4-7228-4506-A3A6-5A9074B2CE31}" type="slidenum">
              <a:rPr lang="en-IN" smtClean="0"/>
              <a:t>9</a:t>
            </a:fld>
            <a:endParaRPr lang="en-IN"/>
          </a:p>
        </p:txBody>
      </p:sp>
      <p:sp>
        <p:nvSpPr>
          <p:cNvPr id="7" name="TextBox 6">
            <a:extLst>
              <a:ext uri="{FF2B5EF4-FFF2-40B4-BE49-F238E27FC236}">
                <a16:creationId xmlns:a16="http://schemas.microsoft.com/office/drawing/2014/main" id="{E2D2B9AF-E0A3-1368-BE0E-806DD8DF14D4}"/>
              </a:ext>
            </a:extLst>
          </p:cNvPr>
          <p:cNvSpPr txBox="1"/>
          <p:nvPr/>
        </p:nvSpPr>
        <p:spPr>
          <a:xfrm>
            <a:off x="0" y="0"/>
            <a:ext cx="4376057"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133046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65319" y="1990845"/>
            <a:ext cx="8229240" cy="819154"/>
          </a:xfrm>
        </p:spPr>
        <p:txBody>
          <a:bodyPr>
            <a:normAutofit/>
          </a:bodyPr>
          <a:lstStyle/>
          <a:p>
            <a:pPr algn="ctr">
              <a:defRPr/>
            </a:pPr>
            <a:r>
              <a:rPr lang="en-US" sz="4000" b="1" u="sng" dirty="0">
                <a:latin typeface="Times New Roman"/>
                <a:ea typeface="Times New Roman"/>
                <a:cs typeface="Times New Roman"/>
              </a:rPr>
              <a:t>Motivation</a:t>
            </a:r>
            <a:endParaRPr sz="6000" b="1" dirty="0"/>
          </a:p>
        </p:txBody>
      </p:sp>
      <p:sp>
        <p:nvSpPr>
          <p:cNvPr id="2" name="TextBox 1">
            <a:extLst>
              <a:ext uri="{FF2B5EF4-FFF2-40B4-BE49-F238E27FC236}">
                <a16:creationId xmlns:a16="http://schemas.microsoft.com/office/drawing/2014/main" id="{284BA22E-E343-24D8-2972-4AF33FB56374}"/>
              </a:ext>
            </a:extLst>
          </p:cNvPr>
          <p:cNvSpPr txBox="1"/>
          <p:nvPr/>
        </p:nvSpPr>
        <p:spPr>
          <a:xfrm>
            <a:off x="615820" y="2659224"/>
            <a:ext cx="11159413" cy="4446730"/>
          </a:xfrm>
          <a:prstGeom prst="rect">
            <a:avLst/>
          </a:prstGeom>
          <a:noFill/>
        </p:spPr>
        <p:txBody>
          <a:bodyPr wrap="square" rtlCol="0">
            <a:spAutoFit/>
          </a:bodyPr>
          <a:lstStyle/>
          <a:p>
            <a:pPr marL="285750" indent="-285750">
              <a:lnSpc>
                <a:spcPct val="200000"/>
              </a:lnSpc>
              <a:buFont typeface="Arial" panose="020B0604020202020204" pitchFamily="34" charset="0"/>
              <a:buChar char="•"/>
            </a:pPr>
            <a:endParaRPr lang="en-IN" b="1" dirty="0"/>
          </a:p>
          <a:p>
            <a:pPr marL="285750" indent="-285750">
              <a:lnSpc>
                <a:spcPct val="200000"/>
              </a:lnSpc>
              <a:buFont typeface="Arial" panose="020B0604020202020204" pitchFamily="34" charset="0"/>
              <a:buChar char="•"/>
            </a:pPr>
            <a:r>
              <a:rPr lang="en-IN" dirty="0"/>
              <a:t>Server racks require a secure and controlled environment for reliable operation.</a:t>
            </a:r>
          </a:p>
          <a:p>
            <a:pPr marL="285750" indent="-285750">
              <a:lnSpc>
                <a:spcPct val="200000"/>
              </a:lnSpc>
              <a:buFont typeface="Arial" panose="020B0604020202020204" pitchFamily="34" charset="0"/>
              <a:buChar char="•"/>
            </a:pPr>
            <a:r>
              <a:rPr lang="en-IN" dirty="0"/>
              <a:t>Physical tampering, unauthorized access and vibration can damage server equipment.</a:t>
            </a:r>
          </a:p>
          <a:p>
            <a:pPr marL="285750" indent="-285750">
              <a:lnSpc>
                <a:spcPct val="200000"/>
              </a:lnSpc>
              <a:buFont typeface="Arial" panose="020B0604020202020204" pitchFamily="34" charset="0"/>
              <a:buChar char="•"/>
            </a:pPr>
            <a:r>
              <a:rPr lang="en-IN" dirty="0"/>
              <a:t>Traditional monitoring systems may not detect physical threats immediately.</a:t>
            </a:r>
          </a:p>
          <a:p>
            <a:pPr marL="285750" indent="-285750">
              <a:lnSpc>
                <a:spcPct val="200000"/>
              </a:lnSpc>
              <a:buFont typeface="Arial" panose="020B0604020202020204" pitchFamily="34" charset="0"/>
              <a:buChar char="•"/>
            </a:pPr>
            <a:r>
              <a:rPr lang="en-IN" dirty="0"/>
              <a:t>Need for a low-cost, real-time environmental monitoring system.</a:t>
            </a:r>
          </a:p>
          <a:p>
            <a:pPr marL="285750" indent="-285750">
              <a:lnSpc>
                <a:spcPct val="200000"/>
              </a:lnSpc>
              <a:buFont typeface="Arial" panose="020B0604020202020204" pitchFamily="34" charset="0"/>
              <a:buChar char="•"/>
            </a:pPr>
            <a:r>
              <a:rPr lang="en-IN" dirty="0"/>
              <a:t>To improve server security and prevent hardware failures.</a:t>
            </a:r>
          </a:p>
          <a:p>
            <a:pPr marL="285750" indent="-285750">
              <a:lnSpc>
                <a:spcPct val="200000"/>
              </a:lnSpc>
              <a:buFont typeface="Arial" panose="020B0604020202020204" pitchFamily="34" charset="0"/>
              <a:buChar char="•"/>
            </a:pPr>
            <a:r>
              <a:rPr lang="en-IN" dirty="0"/>
              <a:t>To develop a microcontroller-based system that provides instant alerts during abnormal conditions.</a:t>
            </a:r>
          </a:p>
          <a:p>
            <a:pPr marL="285750" indent="-285750">
              <a:lnSpc>
                <a:spcPct val="200000"/>
              </a:lnSpc>
              <a:buFont typeface="Arial" panose="020B0604020202020204" pitchFamily="34" charset="0"/>
              <a:buChar char="•"/>
            </a:pPr>
            <a:endParaRPr lang="en-IN" dirty="0"/>
          </a:p>
        </p:txBody>
      </p:sp>
      <p:sp>
        <p:nvSpPr>
          <p:cNvPr id="4" name="Date Placeholder 3">
            <a:extLst>
              <a:ext uri="{FF2B5EF4-FFF2-40B4-BE49-F238E27FC236}">
                <a16:creationId xmlns:a16="http://schemas.microsoft.com/office/drawing/2014/main" id="{07C7CD4C-066F-B8F2-05FD-81D88FE36548}"/>
              </a:ext>
            </a:extLst>
          </p:cNvPr>
          <p:cNvSpPr>
            <a:spLocks noGrp="1"/>
          </p:cNvSpPr>
          <p:nvPr>
            <p:ph type="dt" sz="half" idx="10"/>
          </p:nvPr>
        </p:nvSpPr>
        <p:spPr/>
        <p:txBody>
          <a:bodyPr/>
          <a:lstStyle/>
          <a:p>
            <a:r>
              <a:rPr lang="en-US"/>
              <a:t>30-07-2026</a:t>
            </a:r>
            <a:endParaRPr lang="en-IN"/>
          </a:p>
        </p:txBody>
      </p:sp>
      <p:sp>
        <p:nvSpPr>
          <p:cNvPr id="5" name="Footer Placeholder 4">
            <a:extLst>
              <a:ext uri="{FF2B5EF4-FFF2-40B4-BE49-F238E27FC236}">
                <a16:creationId xmlns:a16="http://schemas.microsoft.com/office/drawing/2014/main" id="{659397C2-C3ED-A192-8804-6C3E03295355}"/>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022359C7-1F9C-8D07-B401-3797CA6C7456}"/>
              </a:ext>
            </a:extLst>
          </p:cNvPr>
          <p:cNvSpPr>
            <a:spLocks noGrp="1"/>
          </p:cNvSpPr>
          <p:nvPr>
            <p:ph type="sldNum" sz="quarter" idx="12"/>
          </p:nvPr>
        </p:nvSpPr>
        <p:spPr/>
        <p:txBody>
          <a:bodyPr/>
          <a:lstStyle/>
          <a:p>
            <a:fld id="{7C33CCD4-7228-4506-A3A6-5A9074B2CE31}" type="slidenum">
              <a:rPr lang="en-IN" smtClean="0"/>
              <a:t>10</a:t>
            </a:fld>
            <a:endParaRPr lang="en-IN"/>
          </a:p>
        </p:txBody>
      </p:sp>
      <p:sp>
        <p:nvSpPr>
          <p:cNvPr id="8" name="TextBox 7">
            <a:extLst>
              <a:ext uri="{FF2B5EF4-FFF2-40B4-BE49-F238E27FC236}">
                <a16:creationId xmlns:a16="http://schemas.microsoft.com/office/drawing/2014/main" id="{E358E7DC-D65D-B17E-EBA8-BEE20B0D7DFB}"/>
              </a:ext>
            </a:extLst>
          </p:cNvPr>
          <p:cNvSpPr txBox="1"/>
          <p:nvPr/>
        </p:nvSpPr>
        <p:spPr>
          <a:xfrm>
            <a:off x="0" y="0"/>
            <a:ext cx="5365102"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30737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1732268" y="2070319"/>
            <a:ext cx="8229240" cy="628135"/>
          </a:xfrm>
        </p:spPr>
        <p:txBody>
          <a:bodyPr>
            <a:noAutofit/>
          </a:bodyPr>
          <a:lstStyle/>
          <a:p>
            <a:pPr algn="ctr">
              <a:defRPr/>
            </a:pPr>
            <a:r>
              <a:rPr lang="en-US" sz="4000" b="1" u="sng" dirty="0">
                <a:latin typeface="Times New Roman"/>
                <a:ea typeface="Times New Roman"/>
                <a:cs typeface="Times New Roman"/>
              </a:rPr>
              <a:t>Introduction</a:t>
            </a:r>
            <a:endParaRPr sz="4800" b="1" dirty="0"/>
          </a:p>
        </p:txBody>
      </p:sp>
      <p:sp>
        <p:nvSpPr>
          <p:cNvPr id="2" name="TextBox 1">
            <a:extLst>
              <a:ext uri="{FF2B5EF4-FFF2-40B4-BE49-F238E27FC236}">
                <a16:creationId xmlns:a16="http://schemas.microsoft.com/office/drawing/2014/main" id="{624E4078-2162-9BFD-8380-530C298A3433}"/>
              </a:ext>
            </a:extLst>
          </p:cNvPr>
          <p:cNvSpPr txBox="1"/>
          <p:nvPr/>
        </p:nvSpPr>
        <p:spPr>
          <a:xfrm>
            <a:off x="522514" y="2698454"/>
            <a:ext cx="10579260"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In the digital era, servers play a vital role in storing and processing critical information.</a:t>
            </a:r>
          </a:p>
          <a:p>
            <a:pPr marL="285750" indent="-285750">
              <a:lnSpc>
                <a:spcPct val="150000"/>
              </a:lnSpc>
              <a:buFont typeface="Arial" panose="020B0604020202020204" pitchFamily="34" charset="0"/>
              <a:buChar char="•"/>
            </a:pPr>
            <a:r>
              <a:rPr lang="en-IN" dirty="0"/>
              <a:t>Continuous monitoring is essential to ensure server safety and reliability.</a:t>
            </a:r>
          </a:p>
          <a:p>
            <a:pPr marL="285750" indent="-285750">
              <a:lnSpc>
                <a:spcPct val="150000"/>
              </a:lnSpc>
              <a:buFont typeface="Arial" panose="020B0604020202020204" pitchFamily="34" charset="0"/>
              <a:buChar char="•"/>
            </a:pPr>
            <a:r>
              <a:rPr lang="en-IN" dirty="0"/>
              <a:t>Environmental issues like unauthorized access and physical disturbances can damage server systems.</a:t>
            </a:r>
          </a:p>
          <a:p>
            <a:pPr marL="285750" indent="-285750">
              <a:lnSpc>
                <a:spcPct val="150000"/>
              </a:lnSpc>
              <a:buFont typeface="Arial" panose="020B0604020202020204" pitchFamily="34" charset="0"/>
              <a:buChar char="•"/>
            </a:pPr>
            <a:r>
              <a:rPr lang="en-IN" dirty="0"/>
              <a:t>This project introduces a microcontroller-based system for server rack protection.</a:t>
            </a:r>
          </a:p>
          <a:p>
            <a:pPr marL="285750" indent="-285750">
              <a:lnSpc>
                <a:spcPct val="150000"/>
              </a:lnSpc>
              <a:buFont typeface="Arial" panose="020B0604020202020204" pitchFamily="34" charset="0"/>
              <a:buChar char="•"/>
            </a:pPr>
            <a:r>
              <a:rPr lang="en-IN" dirty="0"/>
              <a:t>The system monitors door access, vibration, and light conditions in real time.</a:t>
            </a:r>
          </a:p>
          <a:p>
            <a:pPr marL="285750" indent="-285750">
              <a:lnSpc>
                <a:spcPct val="150000"/>
              </a:lnSpc>
              <a:buFont typeface="Arial" panose="020B0604020202020204" pitchFamily="34" charset="0"/>
              <a:buChar char="•"/>
            </a:pPr>
            <a:r>
              <a:rPr lang="en-IN" dirty="0"/>
              <a:t>It provides instant alerts during abnormal situations to prevent failures and improve security.</a:t>
            </a:r>
          </a:p>
          <a:p>
            <a:pPr marL="285750" indent="-285750">
              <a:lnSpc>
                <a:spcPct val="150000"/>
              </a:lnSpc>
              <a:buFont typeface="Arial" panose="020B0604020202020204" pitchFamily="34" charset="0"/>
              <a:buChar char="•"/>
            </a:pPr>
            <a:endParaRPr lang="en-IN" dirty="0"/>
          </a:p>
        </p:txBody>
      </p:sp>
      <p:sp>
        <p:nvSpPr>
          <p:cNvPr id="4" name="Date Placeholder 3">
            <a:extLst>
              <a:ext uri="{FF2B5EF4-FFF2-40B4-BE49-F238E27FC236}">
                <a16:creationId xmlns:a16="http://schemas.microsoft.com/office/drawing/2014/main" id="{ED4A9679-DB82-029F-1E0F-0D702B15F376}"/>
              </a:ext>
            </a:extLst>
          </p:cNvPr>
          <p:cNvSpPr>
            <a:spLocks noGrp="1"/>
          </p:cNvSpPr>
          <p:nvPr>
            <p:ph type="dt" sz="half" idx="10"/>
          </p:nvPr>
        </p:nvSpPr>
        <p:spPr/>
        <p:txBody>
          <a:bodyPr/>
          <a:lstStyle/>
          <a:p>
            <a:r>
              <a:rPr lang="en-US"/>
              <a:t>30-07-2026</a:t>
            </a:r>
            <a:endParaRPr lang="en-IN"/>
          </a:p>
        </p:txBody>
      </p:sp>
      <p:sp>
        <p:nvSpPr>
          <p:cNvPr id="5" name="Footer Placeholder 4">
            <a:extLst>
              <a:ext uri="{FF2B5EF4-FFF2-40B4-BE49-F238E27FC236}">
                <a16:creationId xmlns:a16="http://schemas.microsoft.com/office/drawing/2014/main" id="{4AE7B7BB-5C61-29C5-A970-EF30711EB71B}"/>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9CDE1EC9-3494-2830-8032-77EB0F2692A8}"/>
              </a:ext>
            </a:extLst>
          </p:cNvPr>
          <p:cNvSpPr>
            <a:spLocks noGrp="1"/>
          </p:cNvSpPr>
          <p:nvPr>
            <p:ph type="sldNum" sz="quarter" idx="12"/>
          </p:nvPr>
        </p:nvSpPr>
        <p:spPr/>
        <p:txBody>
          <a:bodyPr/>
          <a:lstStyle/>
          <a:p>
            <a:fld id="{7C33CCD4-7228-4506-A3A6-5A9074B2CE31}" type="slidenum">
              <a:rPr lang="en-IN" smtClean="0"/>
              <a:t>11</a:t>
            </a:fld>
            <a:endParaRPr lang="en-IN"/>
          </a:p>
        </p:txBody>
      </p:sp>
      <p:sp>
        <p:nvSpPr>
          <p:cNvPr id="8" name="TextBox 7">
            <a:extLst>
              <a:ext uri="{FF2B5EF4-FFF2-40B4-BE49-F238E27FC236}">
                <a16:creationId xmlns:a16="http://schemas.microsoft.com/office/drawing/2014/main" id="{C9EE1ABA-BAA2-4F7E-0D37-2FC676BF9779}"/>
              </a:ext>
            </a:extLst>
          </p:cNvPr>
          <p:cNvSpPr txBox="1"/>
          <p:nvPr/>
        </p:nvSpPr>
        <p:spPr>
          <a:xfrm>
            <a:off x="0" y="0"/>
            <a:ext cx="4404049"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4281306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5"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Problem Statement</a:t>
            </a:r>
            <a:endParaRPr lang="en-US" sz="4000" b="1" u="sng" dirty="0">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404ECD92-F0E8-9458-C047-769ABE6FA727}"/>
              </a:ext>
            </a:extLst>
          </p:cNvPr>
          <p:cNvSpPr txBox="1"/>
          <p:nvPr/>
        </p:nvSpPr>
        <p:spPr>
          <a:xfrm>
            <a:off x="457200" y="2724539"/>
            <a:ext cx="11262049"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Server racks require continuous monitoring to maintain safe and reliable operation.</a:t>
            </a:r>
          </a:p>
          <a:p>
            <a:pPr marL="285750" indent="-285750">
              <a:lnSpc>
                <a:spcPct val="150000"/>
              </a:lnSpc>
              <a:buFont typeface="Arial" panose="020B0604020202020204" pitchFamily="34" charset="0"/>
              <a:buChar char="•"/>
            </a:pPr>
            <a:r>
              <a:rPr lang="en-IN" dirty="0"/>
              <a:t>Environmental changes </a:t>
            </a:r>
            <a:r>
              <a:rPr lang="en-IN"/>
              <a:t>such as vibration </a:t>
            </a:r>
            <a:r>
              <a:rPr lang="en-IN" dirty="0"/>
              <a:t>and unauthorized access can cause server damage.</a:t>
            </a:r>
          </a:p>
          <a:p>
            <a:pPr marL="285750" indent="-285750">
              <a:lnSpc>
                <a:spcPct val="150000"/>
              </a:lnSpc>
              <a:buFont typeface="Arial" panose="020B0604020202020204" pitchFamily="34" charset="0"/>
              <a:buChar char="•"/>
            </a:pPr>
            <a:r>
              <a:rPr lang="en-IN" dirty="0"/>
              <a:t>Existing systems may not provide immediate detection of physical tampering.</a:t>
            </a:r>
          </a:p>
          <a:p>
            <a:pPr marL="285750" indent="-285750">
              <a:lnSpc>
                <a:spcPct val="150000"/>
              </a:lnSpc>
              <a:buFont typeface="Arial" panose="020B0604020202020204" pitchFamily="34" charset="0"/>
              <a:buChar char="•"/>
            </a:pPr>
            <a:r>
              <a:rPr lang="en-IN" dirty="0"/>
              <a:t>A low-cost and efficient monitoring system is needed to identify abnormal conditions.</a:t>
            </a:r>
          </a:p>
          <a:p>
            <a:pPr marL="285750" indent="-285750">
              <a:lnSpc>
                <a:spcPct val="150000"/>
              </a:lnSpc>
              <a:buFont typeface="Arial" panose="020B0604020202020204" pitchFamily="34" charset="0"/>
              <a:buChar char="•"/>
            </a:pPr>
            <a:r>
              <a:rPr lang="en-IN" dirty="0"/>
              <a:t>The project aims to develop a microcontroller-based system that detects environmental threats and provides real-time alerts.</a:t>
            </a:r>
          </a:p>
          <a:p>
            <a:pPr marL="285750" indent="-285750">
              <a:lnSpc>
                <a:spcPct val="150000"/>
              </a:lnSpc>
              <a:buFont typeface="Arial" panose="020B0604020202020204" pitchFamily="34" charset="0"/>
              <a:buChar char="•"/>
            </a:pPr>
            <a:endParaRPr lang="en-IN" dirty="0"/>
          </a:p>
        </p:txBody>
      </p:sp>
      <p:sp>
        <p:nvSpPr>
          <p:cNvPr id="3" name="Date Placeholder 2">
            <a:extLst>
              <a:ext uri="{FF2B5EF4-FFF2-40B4-BE49-F238E27FC236}">
                <a16:creationId xmlns:a16="http://schemas.microsoft.com/office/drawing/2014/main" id="{9727AF5C-3622-E12B-AA46-EDDCE8AF53F9}"/>
              </a:ext>
            </a:extLst>
          </p:cNvPr>
          <p:cNvSpPr>
            <a:spLocks noGrp="1"/>
          </p:cNvSpPr>
          <p:nvPr>
            <p:ph type="dt" sz="half" idx="10"/>
          </p:nvPr>
        </p:nvSpPr>
        <p:spPr/>
        <p:txBody>
          <a:bodyPr/>
          <a:lstStyle/>
          <a:p>
            <a:r>
              <a:rPr lang="en-US"/>
              <a:t>30-07-2026</a:t>
            </a:r>
            <a:endParaRPr lang="en-IN"/>
          </a:p>
        </p:txBody>
      </p:sp>
      <p:sp>
        <p:nvSpPr>
          <p:cNvPr id="4" name="Footer Placeholder 3">
            <a:extLst>
              <a:ext uri="{FF2B5EF4-FFF2-40B4-BE49-F238E27FC236}">
                <a16:creationId xmlns:a16="http://schemas.microsoft.com/office/drawing/2014/main" id="{99F3BDDA-A28E-23EE-3037-B9B0D863C866}"/>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2237F66C-2C52-269E-0594-E5779735749B}"/>
              </a:ext>
            </a:extLst>
          </p:cNvPr>
          <p:cNvSpPr>
            <a:spLocks noGrp="1"/>
          </p:cNvSpPr>
          <p:nvPr>
            <p:ph type="sldNum" sz="quarter" idx="12"/>
          </p:nvPr>
        </p:nvSpPr>
        <p:spPr/>
        <p:txBody>
          <a:bodyPr/>
          <a:lstStyle/>
          <a:p>
            <a:fld id="{7C33CCD4-7228-4506-A3A6-5A9074B2CE31}" type="slidenum">
              <a:rPr lang="en-IN" smtClean="0"/>
              <a:t>12</a:t>
            </a:fld>
            <a:endParaRPr lang="en-IN"/>
          </a:p>
        </p:txBody>
      </p:sp>
      <p:sp>
        <p:nvSpPr>
          <p:cNvPr id="8" name="TextBox 7">
            <a:extLst>
              <a:ext uri="{FF2B5EF4-FFF2-40B4-BE49-F238E27FC236}">
                <a16:creationId xmlns:a16="http://schemas.microsoft.com/office/drawing/2014/main" id="{24815BBF-40D9-F7FF-55B8-CB72C98B7417}"/>
              </a:ext>
            </a:extLst>
          </p:cNvPr>
          <p:cNvSpPr txBox="1"/>
          <p:nvPr/>
        </p:nvSpPr>
        <p:spPr>
          <a:xfrm>
            <a:off x="0" y="0"/>
            <a:ext cx="6344816"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24053778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3" name="Title 1"/>
          <p:cNvSpPr>
            <a:spLocks noGrp="1"/>
          </p:cNvSpPr>
          <p:nvPr>
            <p:ph type="title"/>
          </p:nvPr>
        </p:nvSpPr>
        <p:spPr bwMode="auto">
          <a:xfrm>
            <a:off x="2066261" y="1990845"/>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Proposed Method</a:t>
            </a:r>
            <a:endParaRPr lang="en-US" sz="4000" b="1" u="sng" dirty="0">
              <a:solidFill>
                <a:srgbClr val="002060"/>
              </a:solidFill>
              <a:latin typeface="Times New Roman"/>
              <a:cs typeface="Times New Roman"/>
            </a:endParaRPr>
          </a:p>
        </p:txBody>
      </p:sp>
      <p:sp>
        <p:nvSpPr>
          <p:cNvPr id="2" name="TextBox 1">
            <a:extLst>
              <a:ext uri="{FF2B5EF4-FFF2-40B4-BE49-F238E27FC236}">
                <a16:creationId xmlns:a16="http://schemas.microsoft.com/office/drawing/2014/main" id="{90E77F3B-0662-BB81-36B8-450DA4052585}"/>
              </a:ext>
            </a:extLst>
          </p:cNvPr>
          <p:cNvSpPr txBox="1"/>
          <p:nvPr/>
        </p:nvSpPr>
        <p:spPr>
          <a:xfrm>
            <a:off x="671804" y="2808514"/>
            <a:ext cx="10412963" cy="29578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t>Develop a microcontroller-based tamper detection system using ESP32.</a:t>
            </a:r>
          </a:p>
          <a:p>
            <a:pPr marL="285750" indent="-285750">
              <a:lnSpc>
                <a:spcPct val="150000"/>
              </a:lnSpc>
              <a:buFont typeface="Arial" panose="020B0604020202020204" pitchFamily="34" charset="0"/>
              <a:buChar char="•"/>
            </a:pPr>
            <a:r>
              <a:rPr lang="en-IN" dirty="0"/>
              <a:t>Detect door opening using a Reed Switch. </a:t>
            </a:r>
          </a:p>
          <a:p>
            <a:pPr marL="285750" indent="-285750">
              <a:lnSpc>
                <a:spcPct val="150000"/>
              </a:lnSpc>
              <a:buFont typeface="Arial" panose="020B0604020202020204" pitchFamily="34" charset="0"/>
              <a:buChar char="•"/>
            </a:pPr>
            <a:r>
              <a:rPr lang="en-IN" dirty="0"/>
              <a:t>Detect physical tampering using a Vibration Sensor. </a:t>
            </a:r>
          </a:p>
          <a:p>
            <a:pPr marL="285750" indent="-285750">
              <a:lnSpc>
                <a:spcPct val="150000"/>
              </a:lnSpc>
              <a:buFont typeface="Arial" panose="020B0604020202020204" pitchFamily="34" charset="0"/>
              <a:buChar char="•"/>
            </a:pPr>
            <a:r>
              <a:rPr lang="en-IN" dirty="0"/>
              <a:t>Detect light changes using an LDR.</a:t>
            </a:r>
          </a:p>
          <a:p>
            <a:pPr marL="285750" indent="-285750">
              <a:lnSpc>
                <a:spcPct val="150000"/>
              </a:lnSpc>
              <a:buFont typeface="Arial" panose="020B0604020202020204" pitchFamily="34" charset="0"/>
              <a:buChar char="•"/>
            </a:pPr>
            <a:r>
              <a:rPr lang="en-IN" dirty="0"/>
              <a:t> Process sensor data using ESP32. </a:t>
            </a:r>
          </a:p>
          <a:p>
            <a:pPr marL="285750" indent="-285750">
              <a:lnSpc>
                <a:spcPct val="150000"/>
              </a:lnSpc>
              <a:buFont typeface="Arial" panose="020B0604020202020204" pitchFamily="34" charset="0"/>
              <a:buChar char="•"/>
            </a:pPr>
            <a:r>
              <a:rPr lang="en-IN" dirty="0"/>
              <a:t>Trigger buzzer, LED, and mobile notification.</a:t>
            </a:r>
          </a:p>
          <a:p>
            <a:pPr marL="285750" indent="-285750">
              <a:lnSpc>
                <a:spcPct val="150000"/>
              </a:lnSpc>
              <a:buFont typeface="Arial" panose="020B0604020202020204" pitchFamily="34" charset="0"/>
              <a:buChar char="•"/>
            </a:pPr>
            <a:endParaRPr lang="en-IN" dirty="0"/>
          </a:p>
        </p:txBody>
      </p:sp>
      <p:sp>
        <p:nvSpPr>
          <p:cNvPr id="4" name="Date Placeholder 3">
            <a:extLst>
              <a:ext uri="{FF2B5EF4-FFF2-40B4-BE49-F238E27FC236}">
                <a16:creationId xmlns:a16="http://schemas.microsoft.com/office/drawing/2014/main" id="{C620E944-7610-31B6-2202-9FB747B23943}"/>
              </a:ext>
            </a:extLst>
          </p:cNvPr>
          <p:cNvSpPr>
            <a:spLocks noGrp="1"/>
          </p:cNvSpPr>
          <p:nvPr>
            <p:ph type="dt" sz="half" idx="10"/>
          </p:nvPr>
        </p:nvSpPr>
        <p:spPr/>
        <p:txBody>
          <a:bodyPr/>
          <a:lstStyle/>
          <a:p>
            <a:r>
              <a:rPr lang="en-US"/>
              <a:t>30-07-2026</a:t>
            </a:r>
            <a:endParaRPr lang="en-IN"/>
          </a:p>
        </p:txBody>
      </p:sp>
      <p:sp>
        <p:nvSpPr>
          <p:cNvPr id="5" name="Footer Placeholder 4">
            <a:extLst>
              <a:ext uri="{FF2B5EF4-FFF2-40B4-BE49-F238E27FC236}">
                <a16:creationId xmlns:a16="http://schemas.microsoft.com/office/drawing/2014/main" id="{BD4B766E-CDA8-476D-D644-28F964E4563A}"/>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9E79D8E0-F48D-42C7-D447-7680D0223B92}"/>
              </a:ext>
            </a:extLst>
          </p:cNvPr>
          <p:cNvSpPr>
            <a:spLocks noGrp="1"/>
          </p:cNvSpPr>
          <p:nvPr>
            <p:ph type="sldNum" sz="quarter" idx="12"/>
          </p:nvPr>
        </p:nvSpPr>
        <p:spPr/>
        <p:txBody>
          <a:bodyPr/>
          <a:lstStyle/>
          <a:p>
            <a:fld id="{7C33CCD4-7228-4506-A3A6-5A9074B2CE31}" type="slidenum">
              <a:rPr lang="en-IN" smtClean="0"/>
              <a:t>13</a:t>
            </a:fld>
            <a:endParaRPr lang="en-IN"/>
          </a:p>
        </p:txBody>
      </p:sp>
      <p:sp>
        <p:nvSpPr>
          <p:cNvPr id="8" name="TextBox 7">
            <a:extLst>
              <a:ext uri="{FF2B5EF4-FFF2-40B4-BE49-F238E27FC236}">
                <a16:creationId xmlns:a16="http://schemas.microsoft.com/office/drawing/2014/main" id="{32D470DD-EDDA-CBA0-3F17-BFE82E34A5A0}"/>
              </a:ext>
            </a:extLst>
          </p:cNvPr>
          <p:cNvSpPr txBox="1"/>
          <p:nvPr/>
        </p:nvSpPr>
        <p:spPr>
          <a:xfrm>
            <a:off x="0" y="0"/>
            <a:ext cx="8276253"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3621066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307939" y="162121"/>
            <a:ext cx="9745883" cy="1610027"/>
          </a:xfrm>
          <a:prstGeom prst="rect">
            <a:avLst/>
          </a:prstGeom>
        </p:spPr>
      </p:pic>
      <p:sp>
        <p:nvSpPr>
          <p:cNvPr id="3" name="Title 1"/>
          <p:cNvSpPr>
            <a:spLocks noGrp="1"/>
          </p:cNvSpPr>
          <p:nvPr>
            <p:ph type="title"/>
          </p:nvPr>
        </p:nvSpPr>
        <p:spPr bwMode="auto">
          <a:xfrm>
            <a:off x="2066260" y="1772148"/>
            <a:ext cx="8229240" cy="628135"/>
          </a:xfrm>
        </p:spPr>
        <p:txBody>
          <a:bodyPr>
            <a:noAutofit/>
          </a:bodyPr>
          <a:lstStyle/>
          <a:p>
            <a:pPr algn="ctr">
              <a:lnSpc>
                <a:spcPct val="100000"/>
              </a:lnSpc>
              <a:spcBef>
                <a:spcPts val="0"/>
              </a:spcBef>
              <a:defRPr/>
            </a:pPr>
            <a:r>
              <a:rPr lang="en-US" sz="3600" b="1" u="sng" dirty="0">
                <a:solidFill>
                  <a:srgbClr val="002060"/>
                </a:solidFill>
                <a:latin typeface="Times New Roman"/>
                <a:cs typeface="Times New Roman"/>
              </a:rPr>
              <a:t>Basic Block Diagram</a:t>
            </a:r>
          </a:p>
        </p:txBody>
      </p:sp>
      <p:pic>
        <p:nvPicPr>
          <p:cNvPr id="8" name="Picture 7">
            <a:extLst>
              <a:ext uri="{FF2B5EF4-FFF2-40B4-BE49-F238E27FC236}">
                <a16:creationId xmlns:a16="http://schemas.microsoft.com/office/drawing/2014/main" id="{ABC3E476-F7C8-CED7-710B-7AC6239EF52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559580" y="2286000"/>
            <a:ext cx="9072840" cy="4068147"/>
          </a:xfrm>
          <a:prstGeom prst="rect">
            <a:avLst/>
          </a:prstGeom>
        </p:spPr>
      </p:pic>
      <p:sp>
        <p:nvSpPr>
          <p:cNvPr id="2" name="Date Placeholder 1">
            <a:extLst>
              <a:ext uri="{FF2B5EF4-FFF2-40B4-BE49-F238E27FC236}">
                <a16:creationId xmlns:a16="http://schemas.microsoft.com/office/drawing/2014/main" id="{94E3C873-37F1-B723-84E1-86DFB6A4BA91}"/>
              </a:ext>
            </a:extLst>
          </p:cNvPr>
          <p:cNvSpPr>
            <a:spLocks noGrp="1"/>
          </p:cNvSpPr>
          <p:nvPr>
            <p:ph type="dt" sz="half" idx="10"/>
          </p:nvPr>
        </p:nvSpPr>
        <p:spPr/>
        <p:txBody>
          <a:bodyPr/>
          <a:lstStyle/>
          <a:p>
            <a:r>
              <a:rPr lang="en-US"/>
              <a:t>30-07-2026</a:t>
            </a:r>
            <a:endParaRPr lang="en-IN"/>
          </a:p>
        </p:txBody>
      </p:sp>
      <p:sp>
        <p:nvSpPr>
          <p:cNvPr id="4" name="Footer Placeholder 3">
            <a:extLst>
              <a:ext uri="{FF2B5EF4-FFF2-40B4-BE49-F238E27FC236}">
                <a16:creationId xmlns:a16="http://schemas.microsoft.com/office/drawing/2014/main" id="{3309F183-90C1-B6F5-85A0-5566AC2494C8}"/>
              </a:ext>
            </a:extLst>
          </p:cNvPr>
          <p:cNvSpPr>
            <a:spLocks noGrp="1"/>
          </p:cNvSpPr>
          <p:nvPr>
            <p:ph type="ftr" sz="quarter" idx="11"/>
          </p:nvPr>
        </p:nvSpPr>
        <p:spPr/>
        <p:txBody>
          <a:bodyPr/>
          <a:lstStyle/>
          <a:p>
            <a:r>
              <a:rPr lang="en-IN"/>
              <a:t>Dept of CSE(CY)</a:t>
            </a:r>
          </a:p>
        </p:txBody>
      </p:sp>
      <p:sp>
        <p:nvSpPr>
          <p:cNvPr id="5" name="Slide Number Placeholder 4">
            <a:extLst>
              <a:ext uri="{FF2B5EF4-FFF2-40B4-BE49-F238E27FC236}">
                <a16:creationId xmlns:a16="http://schemas.microsoft.com/office/drawing/2014/main" id="{BA57C664-B898-28B9-8C5E-C3E4FB758439}"/>
              </a:ext>
            </a:extLst>
          </p:cNvPr>
          <p:cNvSpPr>
            <a:spLocks noGrp="1"/>
          </p:cNvSpPr>
          <p:nvPr>
            <p:ph type="sldNum" sz="quarter" idx="12"/>
          </p:nvPr>
        </p:nvSpPr>
        <p:spPr/>
        <p:txBody>
          <a:bodyPr/>
          <a:lstStyle/>
          <a:p>
            <a:fld id="{7C33CCD4-7228-4506-A3A6-5A9074B2CE31}" type="slidenum">
              <a:rPr lang="en-IN" smtClean="0"/>
              <a:t>14</a:t>
            </a:fld>
            <a:endParaRPr lang="en-IN"/>
          </a:p>
        </p:txBody>
      </p:sp>
      <p:sp>
        <p:nvSpPr>
          <p:cNvPr id="7" name="TextBox 6">
            <a:extLst>
              <a:ext uri="{FF2B5EF4-FFF2-40B4-BE49-F238E27FC236}">
                <a16:creationId xmlns:a16="http://schemas.microsoft.com/office/drawing/2014/main" id="{66BF32D5-49B3-3F18-B687-0AD224CFBEF5}"/>
              </a:ext>
            </a:extLst>
          </p:cNvPr>
          <p:cNvSpPr txBox="1"/>
          <p:nvPr/>
        </p:nvSpPr>
        <p:spPr>
          <a:xfrm>
            <a:off x="0" y="0"/>
            <a:ext cx="6662057"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2712603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Conclusion </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E4EA6491-99C9-6AE7-E3A6-390AF50DEAD9}"/>
              </a:ext>
            </a:extLst>
          </p:cNvPr>
          <p:cNvSpPr txBox="1"/>
          <p:nvPr/>
        </p:nvSpPr>
        <p:spPr>
          <a:xfrm>
            <a:off x="520959" y="2538372"/>
            <a:ext cx="11150081" cy="3373359"/>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en-IN" b="1" dirty="0"/>
          </a:p>
          <a:p>
            <a:pPr marL="285750" indent="-285750">
              <a:lnSpc>
                <a:spcPct val="150000"/>
              </a:lnSpc>
              <a:buFont typeface="Arial" panose="020B0604020202020204" pitchFamily="34" charset="0"/>
              <a:buChar char="•"/>
            </a:pPr>
            <a:r>
              <a:rPr lang="en-IN" dirty="0"/>
              <a:t>Developed a low-cost microcontroller-based tamper detection system.</a:t>
            </a:r>
          </a:p>
          <a:p>
            <a:pPr marL="285750" indent="-285750">
              <a:lnSpc>
                <a:spcPct val="150000"/>
              </a:lnSpc>
              <a:buFont typeface="Arial" panose="020B0604020202020204" pitchFamily="34" charset="0"/>
              <a:buChar char="•"/>
            </a:pPr>
            <a:r>
              <a:rPr lang="en-IN" dirty="0"/>
              <a:t>Detects unauthorized door opening using a </a:t>
            </a:r>
            <a:r>
              <a:rPr lang="en-IN" b="1" dirty="0"/>
              <a:t>Reed Switch</a:t>
            </a:r>
            <a:r>
              <a:rPr lang="en-IN" dirty="0"/>
              <a:t>.</a:t>
            </a:r>
          </a:p>
          <a:p>
            <a:pPr marL="285750" indent="-285750">
              <a:lnSpc>
                <a:spcPct val="150000"/>
              </a:lnSpc>
              <a:buFont typeface="Arial" panose="020B0604020202020204" pitchFamily="34" charset="0"/>
              <a:buChar char="•"/>
            </a:pPr>
            <a:r>
              <a:rPr lang="en-IN" dirty="0"/>
              <a:t>Detects physical tampering using a </a:t>
            </a:r>
            <a:r>
              <a:rPr lang="en-IN" b="1" dirty="0"/>
              <a:t>Vibration Sensor</a:t>
            </a:r>
            <a:r>
              <a:rPr lang="en-IN" dirty="0"/>
              <a:t>.</a:t>
            </a:r>
          </a:p>
          <a:p>
            <a:pPr marL="285750" indent="-285750">
              <a:lnSpc>
                <a:spcPct val="150000"/>
              </a:lnSpc>
              <a:buFont typeface="Arial" panose="020B0604020202020204" pitchFamily="34" charset="0"/>
              <a:buChar char="•"/>
            </a:pPr>
            <a:r>
              <a:rPr lang="en-IN" dirty="0"/>
              <a:t>Monitors light changes inside the server rack using a </a:t>
            </a:r>
            <a:r>
              <a:rPr lang="en-IN" b="1" dirty="0"/>
              <a:t>Light Sensor</a:t>
            </a:r>
            <a:r>
              <a:rPr lang="en-IN" dirty="0"/>
              <a:t>.</a:t>
            </a:r>
          </a:p>
          <a:p>
            <a:pPr marL="285750" indent="-285750">
              <a:lnSpc>
                <a:spcPct val="150000"/>
              </a:lnSpc>
              <a:buFont typeface="Arial" panose="020B0604020202020204" pitchFamily="34" charset="0"/>
              <a:buChar char="•"/>
            </a:pPr>
            <a:r>
              <a:rPr lang="en-IN" dirty="0"/>
              <a:t>Provides real-time alerts during abnormal conditions.</a:t>
            </a:r>
          </a:p>
          <a:p>
            <a:pPr marL="285750" indent="-285750">
              <a:lnSpc>
                <a:spcPct val="150000"/>
              </a:lnSpc>
              <a:buFont typeface="Arial" panose="020B0604020202020204" pitchFamily="34" charset="0"/>
              <a:buChar char="•"/>
            </a:pPr>
            <a:r>
              <a:rPr lang="en-IN" dirty="0"/>
              <a:t>Enhances the security and protection of server racks.</a:t>
            </a:r>
          </a:p>
          <a:p>
            <a:pPr marL="285750" indent="-285750">
              <a:lnSpc>
                <a:spcPct val="150000"/>
              </a:lnSpc>
              <a:buFont typeface="Arial" panose="020B0604020202020204" pitchFamily="34" charset="0"/>
              <a:buChar char="•"/>
            </a:pPr>
            <a:endParaRPr lang="en-IN" dirty="0"/>
          </a:p>
        </p:txBody>
      </p:sp>
      <p:sp>
        <p:nvSpPr>
          <p:cNvPr id="5" name="Date Placeholder 4">
            <a:extLst>
              <a:ext uri="{FF2B5EF4-FFF2-40B4-BE49-F238E27FC236}">
                <a16:creationId xmlns:a16="http://schemas.microsoft.com/office/drawing/2014/main" id="{5AD073FE-06ED-03E8-25CC-0004571FFEA2}"/>
              </a:ext>
            </a:extLst>
          </p:cNvPr>
          <p:cNvSpPr>
            <a:spLocks noGrp="1"/>
          </p:cNvSpPr>
          <p:nvPr>
            <p:ph type="dt" sz="half" idx="10"/>
          </p:nvPr>
        </p:nvSpPr>
        <p:spPr/>
        <p:txBody>
          <a:bodyPr/>
          <a:lstStyle/>
          <a:p>
            <a:r>
              <a:rPr lang="en-US"/>
              <a:t>30-07-2026</a:t>
            </a:r>
            <a:endParaRPr lang="en-IN"/>
          </a:p>
        </p:txBody>
      </p:sp>
      <p:sp>
        <p:nvSpPr>
          <p:cNvPr id="6" name="Footer Placeholder 5">
            <a:extLst>
              <a:ext uri="{FF2B5EF4-FFF2-40B4-BE49-F238E27FC236}">
                <a16:creationId xmlns:a16="http://schemas.microsoft.com/office/drawing/2014/main" id="{AFF21486-8C29-0DF8-F59F-A86AE36213DF}"/>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6EDCCCEA-6891-ABB5-A722-00A380657DC6}"/>
              </a:ext>
            </a:extLst>
          </p:cNvPr>
          <p:cNvSpPr>
            <a:spLocks noGrp="1"/>
          </p:cNvSpPr>
          <p:nvPr>
            <p:ph type="sldNum" sz="quarter" idx="12"/>
          </p:nvPr>
        </p:nvSpPr>
        <p:spPr/>
        <p:txBody>
          <a:bodyPr/>
          <a:lstStyle/>
          <a:p>
            <a:fld id="{7C33CCD4-7228-4506-A3A6-5A9074B2CE31}" type="slidenum">
              <a:rPr lang="en-IN" smtClean="0"/>
              <a:t>15</a:t>
            </a:fld>
            <a:endParaRPr lang="en-IN"/>
          </a:p>
        </p:txBody>
      </p:sp>
      <p:sp>
        <p:nvSpPr>
          <p:cNvPr id="8" name="TextBox 7">
            <a:extLst>
              <a:ext uri="{FF2B5EF4-FFF2-40B4-BE49-F238E27FC236}">
                <a16:creationId xmlns:a16="http://schemas.microsoft.com/office/drawing/2014/main" id="{3E134C5C-1D73-4688-A31E-951D70966C75}"/>
              </a:ext>
            </a:extLst>
          </p:cNvPr>
          <p:cNvSpPr txBox="1"/>
          <p:nvPr/>
        </p:nvSpPr>
        <p:spPr>
          <a:xfrm>
            <a:off x="0" y="0"/>
            <a:ext cx="7277878"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12730870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bwMode="auto">
          <a:xfrm>
            <a:off x="1765319" y="1816931"/>
            <a:ext cx="8229240" cy="628135"/>
          </a:xfrm>
        </p:spPr>
        <p:txBody>
          <a:bodyPr>
            <a:noAutofit/>
          </a:bodyPr>
          <a:lstStyle/>
          <a:p>
            <a:pPr algn="ctr">
              <a:lnSpc>
                <a:spcPct val="100000"/>
              </a:lnSpc>
              <a:spcBef>
                <a:spcPts val="0"/>
              </a:spcBef>
              <a:defRPr/>
            </a:pPr>
            <a:r>
              <a:rPr lang="en-IN" sz="4000" b="1" u="sng" dirty="0">
                <a:solidFill>
                  <a:srgbClr val="002060"/>
                </a:solidFill>
                <a:latin typeface="Times New Roman"/>
                <a:cs typeface="Times New Roman"/>
              </a:rPr>
              <a:t>References</a:t>
            </a:r>
            <a:endParaRPr lang="en-US" sz="4000" b="1" u="sng" dirty="0">
              <a:solidFill>
                <a:srgbClr val="002060"/>
              </a:solidFill>
              <a:latin typeface="Times New Roman"/>
              <a:cs typeface="Times New Roman"/>
            </a:endParaRP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91251" y="243144"/>
            <a:ext cx="10579260" cy="1747701"/>
          </a:xfrm>
          <a:prstGeom prst="rect">
            <a:avLst/>
          </a:prstGeom>
        </p:spPr>
      </p:pic>
      <p:sp>
        <p:nvSpPr>
          <p:cNvPr id="2" name="TextBox 1">
            <a:extLst>
              <a:ext uri="{FF2B5EF4-FFF2-40B4-BE49-F238E27FC236}">
                <a16:creationId xmlns:a16="http://schemas.microsoft.com/office/drawing/2014/main" id="{65BEA320-C896-4F95-0161-B647CA37E697}"/>
              </a:ext>
            </a:extLst>
          </p:cNvPr>
          <p:cNvSpPr txBox="1"/>
          <p:nvPr/>
        </p:nvSpPr>
        <p:spPr>
          <a:xfrm>
            <a:off x="503853" y="2445066"/>
            <a:ext cx="11280710" cy="25423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b="1" dirty="0" err="1"/>
              <a:t>Espressif</a:t>
            </a:r>
            <a:r>
              <a:rPr lang="en-IN" b="1" dirty="0"/>
              <a:t> Systems</a:t>
            </a:r>
            <a:r>
              <a:rPr lang="en-IN" dirty="0"/>
              <a:t> – ESP32 Datasheet (</a:t>
            </a:r>
            <a:r>
              <a:rPr lang="en-IN" dirty="0">
                <a:hlinkClick r:id="rId3"/>
              </a:rPr>
              <a:t>https://www.espressif.com</a:t>
            </a:r>
            <a:r>
              <a:rPr lang="en-IN" dirty="0"/>
              <a:t>)</a:t>
            </a:r>
          </a:p>
          <a:p>
            <a:pPr marL="285750" indent="-285750">
              <a:lnSpc>
                <a:spcPct val="150000"/>
              </a:lnSpc>
              <a:buFont typeface="Arial" panose="020B0604020202020204" pitchFamily="34" charset="0"/>
              <a:buChar char="•"/>
            </a:pPr>
            <a:r>
              <a:rPr lang="en-IN" dirty="0"/>
              <a:t> </a:t>
            </a:r>
            <a:r>
              <a:rPr lang="en-IN" b="1" dirty="0"/>
              <a:t>Arduino</a:t>
            </a:r>
            <a:r>
              <a:rPr lang="en-IN" dirty="0"/>
              <a:t> – Arduino IDE Documentation (</a:t>
            </a:r>
            <a:r>
              <a:rPr lang="en-IN" dirty="0">
                <a:hlinkClick r:id="rId4"/>
              </a:rPr>
              <a:t>https://www.arduino.cc</a:t>
            </a:r>
            <a:r>
              <a:rPr lang="en-IN" dirty="0"/>
              <a:t>)</a:t>
            </a:r>
          </a:p>
          <a:p>
            <a:pPr marL="285750" indent="-285750">
              <a:lnSpc>
                <a:spcPct val="150000"/>
              </a:lnSpc>
              <a:buFont typeface="Arial" panose="020B0604020202020204" pitchFamily="34" charset="0"/>
              <a:buChar char="•"/>
            </a:pPr>
            <a:r>
              <a:rPr lang="en-IN" dirty="0"/>
              <a:t> </a:t>
            </a:r>
            <a:r>
              <a:rPr lang="en-IN" b="1" dirty="0"/>
              <a:t>Random Nerd Tutorials</a:t>
            </a:r>
            <a:r>
              <a:rPr lang="en-IN" dirty="0"/>
              <a:t> – ESP32 Sensor Interfacing (</a:t>
            </a:r>
            <a:r>
              <a:rPr lang="en-IN" dirty="0">
                <a:hlinkClick r:id="rId5"/>
              </a:rPr>
              <a:t>https://randomnerdtutorials.com</a:t>
            </a:r>
            <a:r>
              <a:rPr lang="en-IN" dirty="0"/>
              <a:t>) </a:t>
            </a:r>
          </a:p>
          <a:p>
            <a:pPr marL="285750" indent="-285750">
              <a:lnSpc>
                <a:spcPct val="150000"/>
              </a:lnSpc>
              <a:buFont typeface="Arial" panose="020B0604020202020204" pitchFamily="34" charset="0"/>
              <a:buChar char="•"/>
            </a:pPr>
            <a:r>
              <a:rPr lang="en-IN" dirty="0"/>
              <a:t>Reed Switch Datasheet</a:t>
            </a:r>
          </a:p>
          <a:p>
            <a:pPr marL="285750" indent="-285750">
              <a:lnSpc>
                <a:spcPct val="150000"/>
              </a:lnSpc>
              <a:buFont typeface="Arial" panose="020B0604020202020204" pitchFamily="34" charset="0"/>
              <a:buChar char="•"/>
            </a:pPr>
            <a:r>
              <a:rPr lang="en-IN" dirty="0"/>
              <a:t> SW-420 Vibration Sensor Datasheet </a:t>
            </a:r>
          </a:p>
          <a:p>
            <a:pPr marL="285750" indent="-285750">
              <a:lnSpc>
                <a:spcPct val="150000"/>
              </a:lnSpc>
              <a:buFont typeface="Arial" panose="020B0604020202020204" pitchFamily="34" charset="0"/>
              <a:buChar char="•"/>
            </a:pPr>
            <a:r>
              <a:rPr lang="en-IN" dirty="0"/>
              <a:t>LDR Datasheet</a:t>
            </a:r>
          </a:p>
        </p:txBody>
      </p:sp>
      <p:sp>
        <p:nvSpPr>
          <p:cNvPr id="5" name="Date Placeholder 4">
            <a:extLst>
              <a:ext uri="{FF2B5EF4-FFF2-40B4-BE49-F238E27FC236}">
                <a16:creationId xmlns:a16="http://schemas.microsoft.com/office/drawing/2014/main" id="{E511B2F0-E0CA-5E6B-878E-786C8DCDB0D8}"/>
              </a:ext>
            </a:extLst>
          </p:cNvPr>
          <p:cNvSpPr>
            <a:spLocks noGrp="1"/>
          </p:cNvSpPr>
          <p:nvPr>
            <p:ph type="dt" sz="half" idx="10"/>
          </p:nvPr>
        </p:nvSpPr>
        <p:spPr/>
        <p:txBody>
          <a:bodyPr/>
          <a:lstStyle/>
          <a:p>
            <a:r>
              <a:rPr lang="en-US"/>
              <a:t>30-07-2026</a:t>
            </a:r>
            <a:endParaRPr lang="en-IN"/>
          </a:p>
        </p:txBody>
      </p:sp>
      <p:sp>
        <p:nvSpPr>
          <p:cNvPr id="6" name="Footer Placeholder 5">
            <a:extLst>
              <a:ext uri="{FF2B5EF4-FFF2-40B4-BE49-F238E27FC236}">
                <a16:creationId xmlns:a16="http://schemas.microsoft.com/office/drawing/2014/main" id="{F11DA708-6133-5AD3-3C02-4227BD2CDF6C}"/>
              </a:ext>
            </a:extLst>
          </p:cNvPr>
          <p:cNvSpPr>
            <a:spLocks noGrp="1"/>
          </p:cNvSpPr>
          <p:nvPr>
            <p:ph type="ftr" sz="quarter" idx="11"/>
          </p:nvPr>
        </p:nvSpPr>
        <p:spPr/>
        <p:txBody>
          <a:bodyPr/>
          <a:lstStyle/>
          <a:p>
            <a:r>
              <a:rPr lang="en-IN"/>
              <a:t>Dept of CSE(CY)</a:t>
            </a:r>
          </a:p>
        </p:txBody>
      </p:sp>
      <p:sp>
        <p:nvSpPr>
          <p:cNvPr id="7" name="Slide Number Placeholder 6">
            <a:extLst>
              <a:ext uri="{FF2B5EF4-FFF2-40B4-BE49-F238E27FC236}">
                <a16:creationId xmlns:a16="http://schemas.microsoft.com/office/drawing/2014/main" id="{51A292BE-3A17-DCB1-3FC4-23EA1FCBAC3E}"/>
              </a:ext>
            </a:extLst>
          </p:cNvPr>
          <p:cNvSpPr>
            <a:spLocks noGrp="1"/>
          </p:cNvSpPr>
          <p:nvPr>
            <p:ph type="sldNum" sz="quarter" idx="12"/>
          </p:nvPr>
        </p:nvSpPr>
        <p:spPr/>
        <p:txBody>
          <a:bodyPr/>
          <a:lstStyle/>
          <a:p>
            <a:fld id="{7C33CCD4-7228-4506-A3A6-5A9074B2CE31}" type="slidenum">
              <a:rPr lang="en-IN" smtClean="0"/>
              <a:t>16</a:t>
            </a:fld>
            <a:endParaRPr lang="en-IN"/>
          </a:p>
        </p:txBody>
      </p:sp>
      <p:sp>
        <p:nvSpPr>
          <p:cNvPr id="8" name="TextBox 7">
            <a:extLst>
              <a:ext uri="{FF2B5EF4-FFF2-40B4-BE49-F238E27FC236}">
                <a16:creationId xmlns:a16="http://schemas.microsoft.com/office/drawing/2014/main" id="{4276037C-039B-7F8F-96C2-D6607CDA8663}"/>
              </a:ext>
            </a:extLst>
          </p:cNvPr>
          <p:cNvSpPr txBox="1"/>
          <p:nvPr/>
        </p:nvSpPr>
        <p:spPr>
          <a:xfrm>
            <a:off x="0" y="0"/>
            <a:ext cx="5346441" cy="430887"/>
          </a:xfrm>
          <a:prstGeom prst="rect">
            <a:avLst/>
          </a:prstGeom>
          <a:noFill/>
        </p:spPr>
        <p:txBody>
          <a:bodyPr wrap="square" rtlCol="0">
            <a:spAutoFit/>
          </a:bodyPr>
          <a:lstStyle/>
          <a:p>
            <a:r>
              <a:rPr lang="en-US" sz="1100" dirty="0">
                <a:latin typeface="Times New Roman"/>
                <a:ea typeface="Times New Roman"/>
                <a:cs typeface="Times New Roman"/>
              </a:rPr>
              <a:t>ENVIRONMENTAL TAMPER DETECTION FOR SERVER RACK</a:t>
            </a:r>
            <a:endParaRPr lang="en-IN" sz="1100" dirty="0"/>
          </a:p>
          <a:p>
            <a:endParaRPr lang="en-IN" sz="1100" dirty="0"/>
          </a:p>
        </p:txBody>
      </p:sp>
    </p:spTree>
    <p:extLst>
      <p:ext uri="{BB962C8B-B14F-4D97-AF65-F5344CB8AC3E}">
        <p14:creationId xmlns:p14="http://schemas.microsoft.com/office/powerpoint/2010/main" val="385275633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404</TotalTime>
  <Words>1462</Words>
  <Application>Microsoft Office PowerPoint</Application>
  <PresentationFormat>Widescreen</PresentationFormat>
  <Paragraphs>171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Helvetica Neue</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Motivation</vt:lpstr>
      <vt:lpstr>Introduction</vt:lpstr>
      <vt:lpstr>Problem Statement</vt:lpstr>
      <vt:lpstr>Proposed Method</vt:lpstr>
      <vt:lpstr>Basic Block Diagram</vt:lpstr>
      <vt:lpstr>Conclusion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DEVANANDA SANTHOSH</cp:lastModifiedBy>
  <cp:revision>21</cp:revision>
  <dcterms:created xsi:type="dcterms:W3CDTF">2025-10-04T04:58:01Z</dcterms:created>
  <dcterms:modified xsi:type="dcterms:W3CDTF">2026-07-29T17:36:56Z</dcterms:modified>
</cp:coreProperties>
</file>