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EB49CC-8993-4C5E-BBAA-1E5CC7E3EDA8}">
  <a:tblStyle styleId="{35EB49CC-8993-4C5E-BBAA-1E5CC7E3EDA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3840"/>
        <p:guide orient="horz"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1: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7: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8: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9: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0: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1: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2: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4: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5: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16: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7: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0: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21: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rgbClr val="FFFFFF"/>
        </a:solidFill>
        <a:effectLst/>
      </p:bgPr>
    </p:bg>
    <p:spTree>
      <p:nvGrpSpPr>
        <p:cNvPr id="1" name="Shape 6"/>
        <p:cNvGrpSpPr/>
        <p:nvPr/>
      </p:nvGrpSpPr>
      <p:grpSpPr>
        <a:xfrm>
          <a:off x="0" y="0"/>
          <a:ext cx="0" cy="0"/>
          <a:chOff x="0" y="0"/>
          <a:chExt cx="0" cy="0"/>
        </a:xfrm>
      </p:grpSpPr>
      <p:sp>
        <p:nvSpPr>
          <p:cNvPr id="7" name="Google Shape;7;p2"/>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 name="Google Shape;8;p2"/>
          <p:cNvSpPr txBox="1">
            <a:spLocks noGrp="1"/>
          </p:cNvSpPr>
          <p:nvPr>
            <p:ph type="body" idx="1"/>
          </p:nvPr>
        </p:nvSpPr>
        <p:spPr>
          <a:xfrm>
            <a:off x="838080" y="1825560"/>
            <a:ext cx="10514400" cy="4350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2"/>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solidFill>
          <a:srgbClr val="FFFFFF"/>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4" name="Google Shape;14;p3"/>
          <p:cNvSpPr txBox="1">
            <a:spLocks noGrp="1"/>
          </p:cNvSpPr>
          <p:nvPr>
            <p:ph type="body" idx="1"/>
          </p:nvPr>
        </p:nvSpPr>
        <p:spPr>
          <a:xfrm>
            <a:off x="838080" y="1825560"/>
            <a:ext cx="5180400" cy="4350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 name="Google Shape;15;p3"/>
          <p:cNvSpPr txBox="1">
            <a:spLocks noGrp="1"/>
          </p:cNvSpPr>
          <p:nvPr>
            <p:ph type="body" idx="2"/>
          </p:nvPr>
        </p:nvSpPr>
        <p:spPr>
          <a:xfrm>
            <a:off x="6172200" y="1825560"/>
            <a:ext cx="5180400" cy="4350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3"/>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3"/>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3"/>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blank">
  <p:cSld name="BLANK">
    <p:bg>
      <p:bgPr>
        <a:solidFill>
          <a:srgbClr val="FFFFFF"/>
        </a:solidFill>
        <a:effectLst/>
      </p:bgPr>
    </p:bg>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839879"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1" name="Google Shape;21;p4"/>
          <p:cNvSpPr txBox="1">
            <a:spLocks noGrp="1"/>
          </p:cNvSpPr>
          <p:nvPr>
            <p:ph type="body" idx="1"/>
          </p:nvPr>
        </p:nvSpPr>
        <p:spPr>
          <a:xfrm>
            <a:off x="839879" y="1681200"/>
            <a:ext cx="5156700" cy="8229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1"/>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4"/>
          <p:cNvSpPr txBox="1">
            <a:spLocks noGrp="1"/>
          </p:cNvSpPr>
          <p:nvPr>
            <p:ph type="body" idx="2"/>
          </p:nvPr>
        </p:nvSpPr>
        <p:spPr>
          <a:xfrm>
            <a:off x="839879" y="2505240"/>
            <a:ext cx="5156700" cy="36834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4"/>
          <p:cNvSpPr txBox="1">
            <a:spLocks noGrp="1"/>
          </p:cNvSpPr>
          <p:nvPr>
            <p:ph type="body" idx="3"/>
          </p:nvPr>
        </p:nvSpPr>
        <p:spPr>
          <a:xfrm>
            <a:off x="6172200" y="1681200"/>
            <a:ext cx="5182200" cy="8229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1"/>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4"/>
          <p:cNvSpPr txBox="1">
            <a:spLocks noGrp="1"/>
          </p:cNvSpPr>
          <p:nvPr>
            <p:ph type="body" idx="4"/>
          </p:nvPr>
        </p:nvSpPr>
        <p:spPr>
          <a:xfrm>
            <a:off x="6172200" y="2505240"/>
            <a:ext cx="5182200" cy="36834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rgbClr val="FFFFFF"/>
        </a:solidFill>
        <a:effectLst/>
      </p:bgPr>
    </p:bg>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0" name="Google Shape;30;p5"/>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5"/>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solidFill>
        <a:effectLst/>
      </p:bgPr>
    </p:bg>
    <p:spTree>
      <p:nvGrpSpPr>
        <p:cNvPr id="1" name="Shape 33"/>
        <p:cNvGrpSpPr/>
        <p:nvPr/>
      </p:nvGrpSpPr>
      <p:grpSpPr>
        <a:xfrm>
          <a:off x="0" y="0"/>
          <a:ext cx="0" cy="0"/>
          <a:chOff x="0" y="0"/>
          <a:chExt cx="0" cy="0"/>
        </a:xfrm>
      </p:grpSpPr>
      <p:sp>
        <p:nvSpPr>
          <p:cNvPr id="34" name="Google Shape;34;p6"/>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6"/>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p6"/>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solidFill>
          <a:srgbClr val="FFFFFF"/>
        </a:solidFill>
        <a:effectLst/>
      </p:bgPr>
    </p:bg>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839879" y="457200"/>
            <a:ext cx="3931200" cy="1599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9" name="Google Shape;39;p7"/>
          <p:cNvSpPr txBox="1">
            <a:spLocks noGrp="1"/>
          </p:cNvSpPr>
          <p:nvPr>
            <p:ph type="body" idx="1"/>
          </p:nvPr>
        </p:nvSpPr>
        <p:spPr>
          <a:xfrm>
            <a:off x="5183280" y="987480"/>
            <a:ext cx="6171000" cy="48726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1"/>
              </a:spcBef>
              <a:spcAft>
                <a:spcPts val="0"/>
              </a:spcAft>
              <a:buClr>
                <a:srgbClr val="000000"/>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499"/>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Google Shape;40;p7"/>
          <p:cNvSpPr txBox="1">
            <a:spLocks noGrp="1"/>
          </p:cNvSpPr>
          <p:nvPr>
            <p:ph type="body" idx="2"/>
          </p:nvPr>
        </p:nvSpPr>
        <p:spPr>
          <a:xfrm>
            <a:off x="839879" y="2057400"/>
            <a:ext cx="3931200" cy="381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1"/>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 name="Google Shape;41;p7"/>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7"/>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7"/>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bg>
      <p:bgPr>
        <a:solidFill>
          <a:srgbClr val="FFFFFF"/>
        </a:solidFill>
        <a:effectLst/>
      </p:bgPr>
    </p:bg>
    <p:spTree>
      <p:nvGrpSpPr>
        <p:cNvPr id="1" name="Shape 44"/>
        <p:cNvGrpSpPr/>
        <p:nvPr/>
      </p:nvGrpSpPr>
      <p:grpSpPr>
        <a:xfrm>
          <a:off x="0" y="0"/>
          <a:ext cx="0" cy="0"/>
          <a:chOff x="0" y="0"/>
          <a:chExt cx="0" cy="0"/>
        </a:xfrm>
      </p:grpSpPr>
      <p:sp>
        <p:nvSpPr>
          <p:cNvPr id="45" name="Google Shape;45;p8"/>
          <p:cNvSpPr txBox="1">
            <a:spLocks noGrp="1"/>
          </p:cNvSpPr>
          <p:nvPr>
            <p:ph type="title"/>
          </p:nvPr>
        </p:nvSpPr>
        <p:spPr>
          <a:xfrm>
            <a:off x="839879" y="457200"/>
            <a:ext cx="3931200" cy="1599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6" name="Google Shape;46;p8"/>
          <p:cNvSpPr txBox="1">
            <a:spLocks noGrp="1"/>
          </p:cNvSpPr>
          <p:nvPr>
            <p:ph type="body" idx="1"/>
          </p:nvPr>
        </p:nvSpPr>
        <p:spPr>
          <a:xfrm>
            <a:off x="5183280" y="987480"/>
            <a:ext cx="6171000" cy="4872600"/>
          </a:xfrm>
          <a:prstGeom prst="rect">
            <a:avLst/>
          </a:prstGeom>
          <a:noFill/>
          <a:ln>
            <a:noFill/>
          </a:ln>
        </p:spPr>
        <p:txBody>
          <a:bodyPr spcFirstLastPara="1" wrap="square" lIns="90000" tIns="45000" rIns="90000" bIns="45000" anchor="t" anchorCtr="0">
            <a:noAutofit/>
          </a:bodyPr>
          <a:lstStyle>
            <a:lvl1pPr marL="457200" marR="0" lvl="0" indent="-431800" algn="l" rtl="0">
              <a:lnSpc>
                <a:spcPct val="90000"/>
              </a:lnSpc>
              <a:spcBef>
                <a:spcPts val="1001"/>
              </a:spcBef>
              <a:spcAft>
                <a:spcPts val="0"/>
              </a:spcAft>
              <a:buClr>
                <a:srgbClr val="000000"/>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Noto Sans Symbols"/>
              <a:buChar char="−"/>
              <a:defRPr sz="3200" b="0" i="0" u="none" strike="noStrike" cap="none">
                <a:solidFill>
                  <a:schemeClr val="dk1"/>
                </a:solidFill>
                <a:latin typeface="Calibri"/>
                <a:ea typeface="Calibri"/>
                <a:cs typeface="Calibri"/>
                <a:sym typeface="Calibri"/>
              </a:defRPr>
            </a:lvl2pPr>
            <a:lvl3pPr marL="1371600" marR="0" lvl="2" indent="-320040" algn="l" rtl="0">
              <a:lnSpc>
                <a:spcPct val="90000"/>
              </a:lnSpc>
              <a:spcBef>
                <a:spcPts val="499"/>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499"/>
              </a:spcBef>
              <a:spcAft>
                <a:spcPts val="0"/>
              </a:spcAft>
              <a:buClr>
                <a:srgbClr val="000000"/>
              </a:buClr>
              <a:buSzPts val="2400"/>
              <a:buFont typeface="Noto Sans Symbols"/>
              <a:buChar char="−"/>
              <a:defRPr sz="3200" b="0" i="0" u="none" strike="noStrike" cap="none">
                <a:solidFill>
                  <a:schemeClr val="dk1"/>
                </a:solidFill>
                <a:latin typeface="Calibri"/>
                <a:ea typeface="Calibri"/>
                <a:cs typeface="Calibri"/>
                <a:sym typeface="Calibri"/>
              </a:defRPr>
            </a:lvl4pPr>
            <a:lvl5pPr marL="2286000" marR="0" lvl="4" indent="-320040" algn="l" rtl="0">
              <a:lnSpc>
                <a:spcPct val="90000"/>
              </a:lnSpc>
              <a:spcBef>
                <a:spcPts val="499"/>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5pPr>
            <a:lvl6pPr marL="2743200" marR="0" lvl="5" indent="-320040" algn="l" rtl="0">
              <a:lnSpc>
                <a:spcPct val="90000"/>
              </a:lnSpc>
              <a:spcBef>
                <a:spcPts val="283"/>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6pPr>
            <a:lvl7pPr marL="3200400" marR="0" lvl="6" indent="-320040" algn="l" rtl="0">
              <a:lnSpc>
                <a:spcPct val="90000"/>
              </a:lnSpc>
              <a:spcBef>
                <a:spcPts val="283"/>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7" name="Google Shape;47;p8"/>
          <p:cNvSpPr txBox="1">
            <a:spLocks noGrp="1"/>
          </p:cNvSpPr>
          <p:nvPr>
            <p:ph type="body" idx="2"/>
          </p:nvPr>
        </p:nvSpPr>
        <p:spPr>
          <a:xfrm>
            <a:off x="839879" y="2057400"/>
            <a:ext cx="3931200" cy="381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1"/>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8"/>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8"/>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8"/>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FFFFFF"/>
        </a:solidFill>
        <a:effectLst/>
      </p:bgPr>
    </p:bg>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1523880" y="1122480"/>
            <a:ext cx="9142800" cy="23865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3" name="Google Shape;53;p9"/>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9"/>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9"/>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bg>
      <p:bgPr>
        <a:solidFill>
          <a:srgbClr val="FFFFFF"/>
        </a:solidFill>
        <a:effectLst/>
      </p:bgPr>
    </p:bg>
    <p:spTree>
      <p:nvGrpSpPr>
        <p:cNvPr id="1" name="Shape 56"/>
        <p:cNvGrpSpPr/>
        <p:nvPr/>
      </p:nvGrpSpPr>
      <p:grpSpPr>
        <a:xfrm>
          <a:off x="0" y="0"/>
          <a:ext cx="0" cy="0"/>
          <a:chOff x="0" y="0"/>
          <a:chExt cx="0" cy="0"/>
        </a:xfrm>
      </p:grpSpPr>
      <p:sp>
        <p:nvSpPr>
          <p:cNvPr id="57" name="Google Shape;57;p10"/>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8" name="Google Shape;58;p10"/>
          <p:cNvSpPr txBox="1">
            <a:spLocks noGrp="1"/>
          </p:cNvSpPr>
          <p:nvPr>
            <p:ph type="body" idx="1"/>
          </p:nvPr>
        </p:nvSpPr>
        <p:spPr>
          <a:xfrm rot="5400000">
            <a:off x="3920250" y="-1256490"/>
            <a:ext cx="4350300" cy="105144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9" name="Google Shape;59;p10"/>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10"/>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10"/>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bg>
      <p:bgPr>
        <a:solidFill>
          <a:srgbClr val="FFFFFF"/>
        </a:solidFill>
        <a:effectLst/>
      </p:bgPr>
    </p:bg>
    <p:spTree>
      <p:nvGrpSpPr>
        <p:cNvPr id="1" name="Shape 62"/>
        <p:cNvGrpSpPr/>
        <p:nvPr/>
      </p:nvGrpSpPr>
      <p:grpSpPr>
        <a:xfrm>
          <a:off x="0" y="0"/>
          <a:ext cx="0" cy="0"/>
          <a:chOff x="0" y="0"/>
          <a:chExt cx="0" cy="0"/>
        </a:xfrm>
      </p:grpSpPr>
      <p:sp>
        <p:nvSpPr>
          <p:cNvPr id="63" name="Google Shape;63;p11"/>
          <p:cNvSpPr txBox="1">
            <a:spLocks noGrp="1"/>
          </p:cNvSpPr>
          <p:nvPr>
            <p:ph type="title"/>
          </p:nvPr>
        </p:nvSpPr>
        <p:spPr>
          <a:xfrm rot="5400000">
            <a:off x="7133610" y="1956390"/>
            <a:ext cx="5810700" cy="26280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64" name="Google Shape;64;p11"/>
          <p:cNvSpPr txBox="1">
            <a:spLocks noGrp="1"/>
          </p:cNvSpPr>
          <p:nvPr>
            <p:ph type="body" idx="1"/>
          </p:nvPr>
        </p:nvSpPr>
        <p:spPr>
          <a:xfrm rot="5400000">
            <a:off x="1799340" y="-596160"/>
            <a:ext cx="5810700" cy="77331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5" name="Google Shape;65;p11"/>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1"/>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1"/>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FFFFFF"/>
        </a:solidFill>
        <a:effectLst/>
      </p:bgPr>
    </p:bg>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1960" y="1709640"/>
            <a:ext cx="10514400" cy="28515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0" name="Google Shape;70;p12"/>
          <p:cNvSpPr txBox="1">
            <a:spLocks noGrp="1"/>
          </p:cNvSpPr>
          <p:nvPr>
            <p:ph type="body" idx="1"/>
          </p:nvPr>
        </p:nvSpPr>
        <p:spPr>
          <a:xfrm>
            <a:off x="831960" y="4589640"/>
            <a:ext cx="10514400" cy="1499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1"/>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 name="Google Shape;71;p12"/>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12"/>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12"/>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hyperlink" Target="https://jecc.etlab.in/teacher/viewsubject/93460551045?sub_id=1916076829214&amp;sem_id=116225560662" TargetMode="Externa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4.xml" /><Relationship Id="rId1" Type="http://schemas.openxmlformats.org/officeDocument/2006/relationships/slideLayout" Target="../slideLayouts/slideLayout1.xml" /><Relationship Id="rId4" Type="http://schemas.openxmlformats.org/officeDocument/2006/relationships/image" Target="../media/image2.png" /></Relationships>
</file>

<file path=ppt/slides/_rels/slide1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5.xml"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1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7.xml"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1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1.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3"/>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79" name="Google Shape;79;p13"/>
          <p:cNvSpPr/>
          <p:nvPr/>
        </p:nvSpPr>
        <p:spPr>
          <a:xfrm>
            <a:off x="1845000" y="2239200"/>
            <a:ext cx="9721800" cy="4617600"/>
          </a:xfrm>
          <a:prstGeom prst="rect">
            <a:avLst/>
          </a:prstGeom>
          <a:noFill/>
          <a:ln>
            <a:noFill/>
          </a:ln>
        </p:spPr>
        <p:txBody>
          <a:bodyPr spcFirstLastPara="1" wrap="square" lIns="0" tIns="0" rIns="0" bIns="0" anchor="t" anchorCtr="0">
            <a:noAutofit/>
          </a:bodyPr>
          <a:lstStyle/>
          <a:p>
            <a:pPr marL="114480" marR="0" lvl="0" indent="0" algn="ctr" rtl="0">
              <a:lnSpc>
                <a:spcPct val="90000"/>
              </a:lnSpc>
              <a:spcBef>
                <a:spcPts val="0"/>
              </a:spcBef>
              <a:spcAft>
                <a:spcPts val="0"/>
              </a:spcAft>
              <a:buNone/>
            </a:pPr>
            <a:endParaRPr sz="54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r>
              <a:rPr lang="en-US" sz="4000" b="1" i="0" u="sng" strike="noStrike" cap="none">
                <a:solidFill>
                  <a:schemeClr val="hlink"/>
                </a:solidFill>
                <a:latin typeface="Helvetica Neue"/>
                <a:ea typeface="Helvetica Neue"/>
                <a:cs typeface="Helvetica Neue"/>
                <a:sym typeface="Helvetica Neue"/>
                <a:hlinkClick r:id="rId4"/>
              </a:rPr>
              <a:t>PBCST504 – MICROCONTROLLERS</a:t>
            </a:r>
            <a:endParaRPr sz="4000" b="0" i="0" u="none" strike="noStrike" cap="none">
              <a:solidFill>
                <a:srgbClr val="000000"/>
              </a:solidFill>
              <a:latin typeface="Arial"/>
              <a:ea typeface="Arial"/>
              <a:cs typeface="Arial"/>
              <a:sym typeface="Arial"/>
            </a:endParaRPr>
          </a:p>
          <a:p>
            <a:pPr marL="0" marR="0" lvl="0" indent="0" algn="ctr" rtl="0">
              <a:lnSpc>
                <a:spcPct val="90000"/>
              </a:lnSpc>
              <a:spcBef>
                <a:spcPts val="1001"/>
              </a:spcBef>
              <a:spcAft>
                <a:spcPts val="0"/>
              </a:spcAft>
              <a:buNone/>
            </a:pPr>
            <a:r>
              <a:rPr lang="en-US" sz="4000" b="1" i="0" u="none" strike="noStrike" cap="none">
                <a:solidFill>
                  <a:srgbClr val="C55A11"/>
                </a:solidFill>
                <a:latin typeface="Helvetica Neue"/>
                <a:ea typeface="Helvetica Neue"/>
                <a:cs typeface="Helvetica Neue"/>
                <a:sym typeface="Helvetica Neue"/>
              </a:rPr>
              <a:t>MICRO PROJECT</a:t>
            </a:r>
            <a:endParaRPr sz="4000" b="0" i="0" u="none" strike="noStrike" cap="none">
              <a:solidFill>
                <a:srgbClr val="000000"/>
              </a:solidFill>
              <a:latin typeface="Arial"/>
              <a:ea typeface="Arial"/>
              <a:cs typeface="Arial"/>
              <a:sym typeface="Arial"/>
            </a:endParaRPr>
          </a:p>
          <a:p>
            <a:pPr marL="114480" marR="0" lvl="0" indent="0" algn="ctr" rtl="0">
              <a:lnSpc>
                <a:spcPct val="90000"/>
              </a:lnSpc>
              <a:spcBef>
                <a:spcPts val="1001"/>
              </a:spcBef>
              <a:spcAft>
                <a:spcPts val="0"/>
              </a:spcAft>
              <a:buNone/>
            </a:pPr>
            <a:endParaRPr sz="5400" b="0" i="0" u="none" strike="noStrike" cap="none">
              <a:solidFill>
                <a:srgbClr val="000000"/>
              </a:solidFill>
              <a:latin typeface="Arial"/>
              <a:ea typeface="Arial"/>
              <a:cs typeface="Arial"/>
              <a:sym typeface="Arial"/>
            </a:endParaRPr>
          </a:p>
          <a:p>
            <a:pPr marL="114480" marR="0" lvl="0" indent="0" algn="ctr" rtl="0">
              <a:lnSpc>
                <a:spcPct val="90000"/>
              </a:lnSpc>
              <a:spcBef>
                <a:spcPts val="1001"/>
              </a:spcBef>
              <a:spcAft>
                <a:spcPts val="0"/>
              </a:spcAft>
              <a:buNone/>
            </a:pPr>
            <a:r>
              <a:rPr lang="en-US" sz="4800" b="1" i="0" u="none" strike="noStrike" cap="none">
                <a:solidFill>
                  <a:srgbClr val="7030A0"/>
                </a:solidFill>
                <a:latin typeface="Times New Roman"/>
                <a:ea typeface="Times New Roman"/>
                <a:cs typeface="Times New Roman"/>
                <a:sym typeface="Times New Roman"/>
              </a:rPr>
              <a:t>First Review</a:t>
            </a:r>
            <a:endParaRPr sz="4800" b="0" i="0" u="none" strike="noStrike" cap="none">
              <a:solidFill>
                <a:srgbClr val="000000"/>
              </a:solidFill>
              <a:latin typeface="Arial"/>
              <a:ea typeface="Arial"/>
              <a:cs typeface="Arial"/>
              <a:sym typeface="Arial"/>
            </a:endParaRPr>
          </a:p>
        </p:txBody>
      </p:sp>
      <p:sp>
        <p:nvSpPr>
          <p:cNvPr id="80" name="Google Shape;80;p13"/>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81" name="Google Shape;81;p13"/>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82" name="Google Shape;82;p13"/>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a:t>
            </a:fld>
            <a:endParaRPr/>
          </a:p>
        </p:txBody>
      </p:sp>
      <p:sp>
        <p:nvSpPr>
          <p:cNvPr id="83" name="Google Shape;83;p13"/>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4"/>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89" name="Google Shape;89;p14"/>
          <p:cNvSpPr/>
          <p:nvPr/>
        </p:nvSpPr>
        <p:spPr>
          <a:xfrm>
            <a:off x="1907640" y="1722960"/>
            <a:ext cx="8838000" cy="4617600"/>
          </a:xfrm>
          <a:prstGeom prst="rect">
            <a:avLst/>
          </a:prstGeom>
          <a:noFill/>
          <a:ln>
            <a:noFill/>
          </a:ln>
        </p:spPr>
        <p:txBody>
          <a:bodyPr spcFirstLastPara="1" wrap="square" lIns="0" tIns="0" rIns="0" bIns="0" anchor="t" anchorCtr="0">
            <a:noAutofit/>
          </a:bodyPr>
          <a:lstStyle/>
          <a:p>
            <a:pPr marL="114480" marR="0" lvl="0" indent="0" algn="just" rtl="0">
              <a:lnSpc>
                <a:spcPct val="9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114480" marR="0" lvl="0" indent="0" algn="just" rtl="0">
              <a:lnSpc>
                <a:spcPct val="90000"/>
              </a:lnSpc>
              <a:spcBef>
                <a:spcPts val="1001"/>
              </a:spcBef>
              <a:spcAft>
                <a:spcPts val="0"/>
              </a:spcAft>
              <a:buNone/>
            </a:pPr>
            <a:r>
              <a:rPr lang="en-US" sz="2800" b="1" i="0" u="none" strike="noStrike" cap="none">
                <a:solidFill>
                  <a:srgbClr val="0070C0"/>
                </a:solidFill>
                <a:latin typeface="Times New Roman"/>
                <a:ea typeface="Times New Roman"/>
                <a:cs typeface="Times New Roman"/>
                <a:sym typeface="Times New Roman"/>
              </a:rPr>
              <a:t>Title:- VibeGuard: Low-Cost Embedded Vibration Monitoring System</a:t>
            </a:r>
            <a:endParaRPr sz="2800" b="0" i="0" u="none" strike="noStrike" cap="none">
              <a:solidFill>
                <a:srgbClr val="000000"/>
              </a:solidFill>
              <a:latin typeface="Arial"/>
              <a:ea typeface="Arial"/>
              <a:cs typeface="Arial"/>
              <a:sym typeface="Arial"/>
            </a:endParaRPr>
          </a:p>
        </p:txBody>
      </p:sp>
      <p:sp>
        <p:nvSpPr>
          <p:cNvPr id="90" name="Google Shape;90;p14"/>
          <p:cNvSpPr/>
          <p:nvPr/>
        </p:nvSpPr>
        <p:spPr>
          <a:xfrm>
            <a:off x="170640" y="3221640"/>
            <a:ext cx="4947600" cy="3825300"/>
          </a:xfrm>
          <a:prstGeom prst="rect">
            <a:avLst/>
          </a:prstGeom>
          <a:noFill/>
          <a:ln>
            <a:noFill/>
          </a:ln>
        </p:spPr>
        <p:txBody>
          <a:bodyPr spcFirstLastPara="1" wrap="square" lIns="0" tIns="0" rIns="0" bIns="0" anchor="t" anchorCtr="0">
            <a:noAutofit/>
          </a:bodyPr>
          <a:lstStyle/>
          <a:p>
            <a:pPr marL="114480" marR="0" lvl="0" indent="0" algn="l" rtl="0">
              <a:lnSpc>
                <a:spcPct val="90000"/>
              </a:lnSpc>
              <a:spcBef>
                <a:spcPts val="0"/>
              </a:spcBef>
              <a:spcAft>
                <a:spcPts val="0"/>
              </a:spcAft>
              <a:buNone/>
            </a:pPr>
            <a:r>
              <a:rPr lang="en-US" sz="2800" b="0" i="0" u="none" strike="noStrike" cap="none">
                <a:solidFill>
                  <a:srgbClr val="00B050"/>
                </a:solidFill>
                <a:latin typeface="Times New Roman"/>
                <a:ea typeface="Times New Roman"/>
                <a:cs typeface="Times New Roman"/>
                <a:sym typeface="Times New Roman"/>
              </a:rPr>
              <a:t>Group No: Group 8</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2800" b="0" i="0" u="none" strike="noStrike" cap="none">
                <a:solidFill>
                  <a:srgbClr val="C00000"/>
                </a:solidFill>
                <a:latin typeface="Times New Roman"/>
                <a:ea typeface="Times New Roman"/>
                <a:cs typeface="Times New Roman"/>
                <a:sym typeface="Times New Roman"/>
              </a:rPr>
              <a:t>Members:</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Amith Krishna Das – JEC24CC016</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Archa Pramod – JEC24CC023</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Nihad P C – JEC24CC044</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Sreehari K – JEC24CC055</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Sreeprada K S – JEC24CC056</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2800" b="0" i="0" u="none" strike="noStrike" cap="none">
                <a:solidFill>
                  <a:srgbClr val="C00000"/>
                </a:solidFill>
                <a:latin typeface="Times New Roman"/>
                <a:ea typeface="Times New Roman"/>
                <a:cs typeface="Times New Roman"/>
                <a:sym typeface="Times New Roman"/>
              </a:rPr>
              <a:t>       </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endParaRPr sz="2800" b="0" i="0" u="none" strike="noStrike" cap="none">
              <a:solidFill>
                <a:srgbClr val="000000"/>
              </a:solidFill>
              <a:latin typeface="Arial"/>
              <a:ea typeface="Arial"/>
              <a:cs typeface="Arial"/>
              <a:sym typeface="Arial"/>
            </a:endParaRPr>
          </a:p>
        </p:txBody>
      </p:sp>
      <p:sp>
        <p:nvSpPr>
          <p:cNvPr id="91" name="Google Shape;91;p14"/>
          <p:cNvSpPr/>
          <p:nvPr/>
        </p:nvSpPr>
        <p:spPr>
          <a:xfrm>
            <a:off x="8153280" y="4363920"/>
            <a:ext cx="4014300" cy="1322700"/>
          </a:xfrm>
          <a:prstGeom prst="rect">
            <a:avLst/>
          </a:prstGeom>
          <a:noFill/>
          <a:ln>
            <a:noFill/>
          </a:ln>
        </p:spPr>
        <p:txBody>
          <a:bodyPr spcFirstLastPara="1" wrap="square" lIns="0" tIns="0" rIns="0" bIns="0" anchor="t" anchorCtr="0">
            <a:noAutofit/>
          </a:bodyPr>
          <a:lstStyle/>
          <a:p>
            <a:pPr marL="114480" marR="0" lvl="0" indent="0" algn="l" rtl="0">
              <a:lnSpc>
                <a:spcPct val="90000"/>
              </a:lnSpc>
              <a:spcBef>
                <a:spcPts val="0"/>
              </a:spcBef>
              <a:spcAft>
                <a:spcPts val="0"/>
              </a:spcAft>
              <a:buNone/>
            </a:pPr>
            <a:r>
              <a:rPr lang="en-US" sz="2800" b="1" i="0" u="none" strike="noStrike" cap="none">
                <a:solidFill>
                  <a:srgbClr val="171616"/>
                </a:solidFill>
                <a:latin typeface="Times New Roman"/>
                <a:ea typeface="Times New Roman"/>
                <a:cs typeface="Times New Roman"/>
                <a:sym typeface="Times New Roman"/>
              </a:rPr>
              <a:t>Project Coordinator:</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2800" b="0" i="0" u="none" strike="noStrike" cap="none">
                <a:solidFill>
                  <a:srgbClr val="171616"/>
                </a:solidFill>
                <a:latin typeface="Times New Roman"/>
                <a:ea typeface="Times New Roman"/>
                <a:cs typeface="Times New Roman"/>
                <a:sym typeface="Times New Roman"/>
              </a:rPr>
              <a:t>Ms. Sagna L T</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2800" b="0" i="0" u="none" strike="noStrike" cap="none">
                <a:solidFill>
                  <a:srgbClr val="171616"/>
                </a:solidFill>
                <a:latin typeface="Times New Roman"/>
                <a:ea typeface="Times New Roman"/>
                <a:cs typeface="Times New Roman"/>
                <a:sym typeface="Times New Roman"/>
              </a:rPr>
              <a:t>Asst. Prof. CSE(CY)</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endParaRPr sz="2800" b="0" i="0" u="none" strike="noStrike" cap="none">
              <a:solidFill>
                <a:srgbClr val="000000"/>
              </a:solidFill>
              <a:latin typeface="Arial"/>
              <a:ea typeface="Arial"/>
              <a:cs typeface="Arial"/>
              <a:sym typeface="Arial"/>
            </a:endParaRPr>
          </a:p>
        </p:txBody>
      </p:sp>
      <p:sp>
        <p:nvSpPr>
          <p:cNvPr id="92" name="Google Shape;92;p14"/>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93" name="Google Shape;93;p14"/>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94" name="Google Shape;94;p14"/>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a:t>
            </a:fld>
            <a:endParaRPr/>
          </a:p>
        </p:txBody>
      </p:sp>
      <p:sp>
        <p:nvSpPr>
          <p:cNvPr id="95" name="Google Shape;95;p14"/>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5"/>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01" name="Google Shape;101;p15"/>
          <p:cNvSpPr/>
          <p:nvPr/>
        </p:nvSpPr>
        <p:spPr>
          <a:xfrm>
            <a:off x="785879" y="1990800"/>
            <a:ext cx="11032200" cy="4692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DEPARTMENT OF COMPUTER SCIENCE &amp; ENGINEERING </a:t>
            </a:r>
            <a:endParaRPr sz="2800" b="0" i="0" u="none" strike="noStrike" cap="none">
              <a:solidFill>
                <a:srgbClr val="000000"/>
              </a:solidFill>
              <a:latin typeface="Arial"/>
              <a:ea typeface="Arial"/>
              <a:cs typeface="Arial"/>
              <a:sym typeface="Arial"/>
            </a:endParaRPr>
          </a:p>
          <a:p>
            <a:pPr marL="0" marR="0" lvl="0" indent="0" algn="ctr" rtl="0">
              <a:lnSpc>
                <a:spcPct val="90000"/>
              </a:lnSpc>
              <a:spcBef>
                <a:spcPts val="1001"/>
              </a:spcBef>
              <a:spcAft>
                <a:spcPts val="0"/>
              </a:spcAft>
              <a:buNone/>
            </a:pPr>
            <a:r>
              <a:rPr lang="en-US" sz="2800" b="1" i="0" u="none" strike="noStrike" cap="none">
                <a:solidFill>
                  <a:schemeClr val="dk1"/>
                </a:solidFill>
                <a:latin typeface="Times New Roman"/>
                <a:ea typeface="Times New Roman"/>
                <a:cs typeface="Times New Roman"/>
                <a:sym typeface="Times New Roman"/>
              </a:rPr>
              <a:t>(Cyber Security)</a:t>
            </a:r>
            <a:endParaRPr sz="2800" b="0" i="0" u="none" strike="noStrike" cap="none">
              <a:solidFill>
                <a:srgbClr val="000000"/>
              </a:solidFill>
              <a:latin typeface="Arial"/>
              <a:ea typeface="Arial"/>
              <a:cs typeface="Arial"/>
              <a:sym typeface="Arial"/>
            </a:endParaRPr>
          </a:p>
          <a:p>
            <a:pPr marL="0" marR="0" lvl="0" indent="0" algn="ctr" rtl="0">
              <a:lnSpc>
                <a:spcPct val="90000"/>
              </a:lnSpc>
              <a:spcBef>
                <a:spcPts val="1001"/>
              </a:spcBef>
              <a:spcAft>
                <a:spcPts val="0"/>
              </a:spcAft>
              <a:buNone/>
            </a:pPr>
            <a:r>
              <a:rPr lang="en-US" sz="2800" b="1" i="0" u="none" strike="noStrike" cap="none">
                <a:solidFill>
                  <a:schemeClr val="dk1"/>
                </a:solidFill>
                <a:latin typeface="Calibri"/>
                <a:ea typeface="Calibri"/>
                <a:cs typeface="Calibri"/>
                <a:sym typeface="Calibri"/>
              </a:rPr>
              <a:t> </a:t>
            </a:r>
            <a:r>
              <a:rPr lang="en-US" sz="2100" b="1" i="0" u="none" strike="noStrike" cap="none">
                <a:solidFill>
                  <a:schemeClr val="dk1"/>
                </a:solidFill>
                <a:latin typeface="Times New Roman"/>
                <a:ea typeface="Times New Roman"/>
                <a:cs typeface="Times New Roman"/>
                <a:sym typeface="Times New Roman"/>
              </a:rPr>
              <a:t>Vision of the Department</a:t>
            </a:r>
            <a:endParaRPr sz="2100" b="0" i="0" u="none" strike="noStrike" cap="none">
              <a:solidFill>
                <a:srgbClr val="000000"/>
              </a:solidFill>
              <a:latin typeface="Arial"/>
              <a:ea typeface="Arial"/>
              <a:cs typeface="Arial"/>
              <a:sym typeface="Arial"/>
            </a:endParaRPr>
          </a:p>
          <a:p>
            <a:pPr marL="0" marR="0" lvl="0" indent="0" algn="ctr" rtl="0">
              <a:lnSpc>
                <a:spcPct val="150000"/>
              </a:lnSpc>
              <a:spcBef>
                <a:spcPts val="1001"/>
              </a:spcBef>
              <a:spcAft>
                <a:spcPts val="0"/>
              </a:spcAft>
              <a:buNone/>
            </a:pPr>
            <a:r>
              <a:rPr lang="en-US" sz="2000" b="0" i="0" u="none" strike="noStrike" cap="none">
                <a:solidFill>
                  <a:srgbClr val="000000"/>
                </a:solidFill>
                <a:latin typeface="Times New Roman"/>
                <a:ea typeface="Times New Roman"/>
                <a:cs typeface="Times New Roman"/>
                <a:sym typeface="Times New Roman"/>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sz="2000" b="0" i="0" u="none" strike="noStrike" cap="none">
              <a:solidFill>
                <a:srgbClr val="000000"/>
              </a:solidFill>
              <a:latin typeface="Arial"/>
              <a:ea typeface="Arial"/>
              <a:cs typeface="Arial"/>
              <a:sym typeface="Arial"/>
            </a:endParaRPr>
          </a:p>
          <a:p>
            <a:pPr marL="0" marR="0" lvl="0" indent="0" algn="ctr" rtl="0">
              <a:lnSpc>
                <a:spcPct val="90000"/>
              </a:lnSpc>
              <a:spcBef>
                <a:spcPts val="1001"/>
              </a:spcBef>
              <a:spcAft>
                <a:spcPts val="0"/>
              </a:spcAft>
              <a:buNone/>
            </a:pPr>
            <a:endParaRPr sz="21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21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17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13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600" b="0" i="0" u="none" strike="noStrike" cap="none">
              <a:solidFill>
                <a:srgbClr val="000000"/>
              </a:solidFill>
              <a:latin typeface="Arial"/>
              <a:ea typeface="Arial"/>
              <a:cs typeface="Arial"/>
              <a:sym typeface="Arial"/>
            </a:endParaRPr>
          </a:p>
        </p:txBody>
      </p:sp>
      <p:sp>
        <p:nvSpPr>
          <p:cNvPr id="102" name="Google Shape;102;p15"/>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03" name="Google Shape;103;p15"/>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04" name="Google Shape;104;p15"/>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a:t>
            </a:fld>
            <a:endParaRPr/>
          </a:p>
        </p:txBody>
      </p:sp>
      <p:sp>
        <p:nvSpPr>
          <p:cNvPr id="105" name="Google Shape;105;p15"/>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00"/>
              <a:buFont typeface="Calibri"/>
              <a:buNone/>
            </a:pPr>
            <a:r>
              <a:rPr lang="en-US" sz="100" b="1" u="none" strike="noStrike">
                <a:solidFill>
                  <a:schemeClr val="dk1"/>
                </a:solidFill>
                <a:latin typeface="Calibri"/>
                <a:ea typeface="Calibri"/>
                <a:cs typeface="Calibri"/>
                <a:sym typeface="Calibri"/>
              </a:rPr>
              <a:t>.</a:t>
            </a:r>
            <a:endParaRPr sz="100" b="0" u="none" strike="noStrike">
              <a:solidFill>
                <a:schemeClr val="dk1"/>
              </a:solidFill>
              <a:latin typeface="Calibri"/>
              <a:ea typeface="Calibri"/>
              <a:cs typeface="Calibri"/>
              <a:sym typeface="Calibri"/>
            </a:endParaRPr>
          </a:p>
        </p:txBody>
      </p:sp>
      <p:sp>
        <p:nvSpPr>
          <p:cNvPr id="111" name="Google Shape;111;p16"/>
          <p:cNvSpPr txBox="1">
            <a:spLocks noGrp="1"/>
          </p:cNvSpPr>
          <p:nvPr>
            <p:ph type="body" idx="1"/>
          </p:nvPr>
        </p:nvSpPr>
        <p:spPr>
          <a:xfrm>
            <a:off x="838080" y="2220120"/>
            <a:ext cx="10514400" cy="4350300"/>
          </a:xfrm>
          <a:prstGeom prst="rect">
            <a:avLst/>
          </a:prstGeom>
          <a:noFill/>
          <a:ln>
            <a:noFill/>
          </a:ln>
        </p:spPr>
        <p:txBody>
          <a:bodyPr spcFirstLastPara="1" wrap="square" lIns="91425" tIns="45700" rIns="91425" bIns="45700" anchor="t" anchorCtr="0">
            <a:normAutofit lnSpcReduction="10000"/>
          </a:bodyPr>
          <a:lstStyle/>
          <a:p>
            <a:pPr marL="0" marR="0" lvl="0" indent="0" algn="ctr" rtl="0">
              <a:lnSpc>
                <a:spcPct val="90000"/>
              </a:lnSpc>
              <a:spcBef>
                <a:spcPts val="0"/>
              </a:spcBef>
              <a:spcAft>
                <a:spcPts val="0"/>
              </a:spcAft>
              <a:buClr>
                <a:schemeClr val="dk1"/>
              </a:buClr>
              <a:buSzPts val="2800"/>
              <a:buFont typeface="Times New Roman"/>
              <a:buNone/>
            </a:pPr>
            <a:r>
              <a:rPr lang="en-US" sz="2800" b="1" i="0" u="none" strike="noStrike" cap="none">
                <a:solidFill>
                  <a:schemeClr val="dk1"/>
                </a:solidFill>
                <a:latin typeface="Times New Roman"/>
                <a:ea typeface="Times New Roman"/>
                <a:cs typeface="Times New Roman"/>
                <a:sym typeface="Times New Roman"/>
              </a:rPr>
              <a:t>DEPARTMENT OF COMPUTER SCIENCE &amp; ENGINEERING </a:t>
            </a:r>
            <a:endParaRPr sz="2800" b="0" i="0" u="none" strike="noStrike" cap="none">
              <a:solidFill>
                <a:schemeClr val="dk1"/>
              </a:solidFill>
              <a:latin typeface="Calibri"/>
              <a:ea typeface="Calibri"/>
              <a:cs typeface="Calibri"/>
              <a:sym typeface="Calibri"/>
            </a:endParaRPr>
          </a:p>
          <a:p>
            <a:pPr marL="0" marR="0" lvl="0" indent="0" algn="ctr" rtl="0">
              <a:lnSpc>
                <a:spcPct val="90000"/>
              </a:lnSpc>
              <a:spcBef>
                <a:spcPts val="1001"/>
              </a:spcBef>
              <a:spcAft>
                <a:spcPts val="0"/>
              </a:spcAft>
              <a:buClr>
                <a:schemeClr val="dk1"/>
              </a:buClr>
              <a:buSzPts val="2800"/>
              <a:buFont typeface="Times New Roman"/>
              <a:buNone/>
            </a:pPr>
            <a:r>
              <a:rPr lang="en-US" sz="2800" b="1" i="0" u="none" strike="noStrike" cap="none">
                <a:solidFill>
                  <a:schemeClr val="dk1"/>
                </a:solidFill>
                <a:latin typeface="Times New Roman"/>
                <a:ea typeface="Times New Roman"/>
                <a:cs typeface="Times New Roman"/>
                <a:sym typeface="Times New Roman"/>
              </a:rPr>
              <a:t>(Cyber Security)</a:t>
            </a:r>
            <a:endParaRPr sz="2800" b="0" i="0" u="none" strike="noStrike" cap="none">
              <a:solidFill>
                <a:schemeClr val="dk1"/>
              </a:solidFill>
              <a:latin typeface="Calibri"/>
              <a:ea typeface="Calibri"/>
              <a:cs typeface="Calibri"/>
              <a:sym typeface="Calibri"/>
            </a:endParaRPr>
          </a:p>
          <a:p>
            <a:pPr marL="0" marR="0" lvl="0" indent="0" algn="ctr" rtl="0">
              <a:lnSpc>
                <a:spcPct val="90000"/>
              </a:lnSpc>
              <a:spcBef>
                <a:spcPts val="1001"/>
              </a:spcBef>
              <a:spcAft>
                <a:spcPts val="0"/>
              </a:spcAft>
              <a:buClr>
                <a:schemeClr val="dk1"/>
              </a:buClr>
              <a:buSzPts val="2800"/>
              <a:buFont typeface="Calibri"/>
              <a:buNone/>
            </a:pPr>
            <a:r>
              <a:rPr lang="en-US" sz="2800" b="1" i="0" u="sng" strike="noStrike" cap="none">
                <a:solidFill>
                  <a:schemeClr val="dk1"/>
                </a:solidFill>
                <a:latin typeface="Calibri"/>
                <a:ea typeface="Calibri"/>
                <a:cs typeface="Calibri"/>
                <a:sym typeface="Calibri"/>
              </a:rPr>
              <a:t> </a:t>
            </a:r>
            <a:r>
              <a:rPr lang="en-US" sz="2800" b="1" i="0" u="sng" strike="noStrike" cap="none">
                <a:solidFill>
                  <a:schemeClr val="dk1"/>
                </a:solidFill>
                <a:latin typeface="Times New Roman"/>
                <a:ea typeface="Times New Roman"/>
                <a:cs typeface="Times New Roman"/>
                <a:sym typeface="Times New Roman"/>
              </a:rPr>
              <a:t>Mission of the Department</a:t>
            </a:r>
            <a:endParaRPr sz="2800" b="0" i="0" u="none" strike="noStrike" cap="none">
              <a:solidFill>
                <a:schemeClr val="dk1"/>
              </a:solidFill>
              <a:latin typeface="Calibri"/>
              <a:ea typeface="Calibri"/>
              <a:cs typeface="Calibri"/>
              <a:sym typeface="Calibri"/>
            </a:endParaRPr>
          </a:p>
          <a:p>
            <a:pPr marL="228600" marR="0" lvl="0" indent="-228600" algn="just" rtl="0">
              <a:lnSpc>
                <a:spcPct val="90000"/>
              </a:lnSpc>
              <a:spcBef>
                <a:spcPts val="1125"/>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M1: Excellence in Education</a:t>
            </a:r>
            <a:r>
              <a:rPr lang="en-US" sz="1800" b="1" i="0" u="none" strike="noStrike" cap="none">
                <a:solidFill>
                  <a:schemeClr val="dk1"/>
                </a:solidFill>
                <a:latin typeface="Arial"/>
                <a:ea typeface="Arial"/>
                <a:cs typeface="Arial"/>
                <a:sym typeface="Arial"/>
              </a:rPr>
              <a:t> : </a:t>
            </a:r>
            <a:r>
              <a:rPr lang="en-US" sz="1800" b="0" i="0" u="none" strike="noStrike" cap="none">
                <a:solidFill>
                  <a:srgbClr val="000000"/>
                </a:solidFill>
                <a:latin typeface="Times New Roman"/>
                <a:ea typeface="Times New Roman"/>
                <a:cs typeface="Times New Roman"/>
                <a:sym typeface="Times New Roman"/>
              </a:rPr>
              <a:t>To provide outcome-based and industry-oriented education by integrating core computer science principles with advanced cybersecurity technologies and practices.</a:t>
            </a:r>
            <a:endParaRPr sz="1800" b="0" i="0" u="none" strike="noStrike" cap="none">
              <a:solidFill>
                <a:schemeClr val="dk1"/>
              </a:solidFill>
              <a:latin typeface="Calibri"/>
              <a:ea typeface="Calibri"/>
              <a:cs typeface="Calibri"/>
              <a:sym typeface="Calibri"/>
            </a:endParaRPr>
          </a:p>
          <a:p>
            <a:pPr marL="228600" marR="0" lvl="0" indent="-228600" algn="just" rtl="0">
              <a:lnSpc>
                <a:spcPct val="90000"/>
              </a:lnSpc>
              <a:spcBef>
                <a:spcPts val="2250"/>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M2: Ethics and Professional Responsibility : </a:t>
            </a:r>
            <a:r>
              <a:rPr lang="en-US" sz="1800" b="0" i="0" u="none" strike="noStrike" cap="none">
                <a:solidFill>
                  <a:srgbClr val="000000"/>
                </a:solidFill>
                <a:latin typeface="Times New Roman"/>
                <a:ea typeface="Times New Roman"/>
                <a:cs typeface="Times New Roman"/>
                <a:sym typeface="Times New Roman"/>
              </a:rPr>
              <a:t>To cultivate ethical values, integrity, social responsibility, and secure computing practices for protecting digital assets and strengthening cyber trust.</a:t>
            </a:r>
            <a:endParaRPr sz="1800" b="0" i="0" u="none" strike="noStrike" cap="none">
              <a:solidFill>
                <a:schemeClr val="dk1"/>
              </a:solidFill>
              <a:latin typeface="Calibri"/>
              <a:ea typeface="Calibri"/>
              <a:cs typeface="Calibri"/>
              <a:sym typeface="Calibri"/>
            </a:endParaRPr>
          </a:p>
          <a:p>
            <a:pPr marL="228600" marR="0" lvl="0" indent="-228600" algn="just" rtl="0">
              <a:lnSpc>
                <a:spcPct val="90000"/>
              </a:lnSpc>
              <a:spcBef>
                <a:spcPts val="2250"/>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M3: Research, Innovation, and Entrepreneurship : </a:t>
            </a:r>
            <a:r>
              <a:rPr lang="en-US" sz="1800" b="0" i="0" u="none" strike="noStrike" cap="none">
                <a:solidFill>
                  <a:srgbClr val="000000"/>
                </a:solidFill>
                <a:latin typeface="Times New Roman"/>
                <a:ea typeface="Times New Roman"/>
                <a:cs typeface="Times New Roman"/>
                <a:sym typeface="Times New Roman"/>
              </a:rPr>
              <a:t>To promote research, innovation, and entrepreneurial thinking for developing sustainable solutions to emerging cybersecurity challenges.</a:t>
            </a:r>
            <a:endParaRPr sz="1800" b="0" i="0" u="none" strike="noStrike" cap="none">
              <a:solidFill>
                <a:schemeClr val="dk1"/>
              </a:solidFill>
              <a:latin typeface="Calibri"/>
              <a:ea typeface="Calibri"/>
              <a:cs typeface="Calibri"/>
              <a:sym typeface="Calibri"/>
            </a:endParaRPr>
          </a:p>
          <a:p>
            <a:pPr marL="228600" marR="0" lvl="0" indent="-228600" algn="just" rtl="0">
              <a:lnSpc>
                <a:spcPct val="90000"/>
              </a:lnSpc>
              <a:spcBef>
                <a:spcPts val="2324"/>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M4: Holistic and Global Development : </a:t>
            </a:r>
            <a:r>
              <a:rPr lang="en-US" sz="1800" b="0" i="0" u="none" strike="noStrike" cap="none">
                <a:solidFill>
                  <a:srgbClr val="000000"/>
                </a:solidFill>
                <a:latin typeface="Times New Roman"/>
                <a:ea typeface="Times New Roman"/>
                <a:cs typeface="Times New Roman"/>
                <a:sym typeface="Times New Roman"/>
              </a:rPr>
              <a:t>To enhance leadership, teamwork, lifelong learning, and global competence through industry collaboration, interdisciplinary activities, and community engagement.</a:t>
            </a:r>
            <a:endParaRPr sz="1800" b="0" i="0" u="none" strike="noStrike" cap="none">
              <a:solidFill>
                <a:schemeClr val="dk1"/>
              </a:solidFill>
              <a:latin typeface="Calibri"/>
              <a:ea typeface="Calibri"/>
              <a:cs typeface="Calibri"/>
              <a:sym typeface="Calibri"/>
            </a:endParaRPr>
          </a:p>
          <a:p>
            <a:pPr marL="0" marR="0" lvl="0" indent="0" algn="ctr" rtl="0">
              <a:lnSpc>
                <a:spcPct val="90000"/>
              </a:lnSpc>
              <a:spcBef>
                <a:spcPts val="2200"/>
              </a:spcBef>
              <a:spcAft>
                <a:spcPts val="0"/>
              </a:spcAft>
              <a:buClr>
                <a:schemeClr val="dk1"/>
              </a:buClr>
              <a:buSzPts val="2800"/>
              <a:buFont typeface="Calibri"/>
              <a:buNone/>
            </a:pPr>
            <a:endParaRPr sz="2800" b="0" i="0" u="none" strike="noStrike" cap="none">
              <a:solidFill>
                <a:schemeClr val="dk1"/>
              </a:solidFill>
              <a:latin typeface="Calibri"/>
              <a:ea typeface="Calibri"/>
              <a:cs typeface="Calibri"/>
              <a:sym typeface="Calibri"/>
            </a:endParaRPr>
          </a:p>
        </p:txBody>
      </p:sp>
      <p:pic>
        <p:nvPicPr>
          <p:cNvPr id="112" name="Google Shape;112;p16"/>
          <p:cNvPicPr preferRelativeResize="0"/>
          <p:nvPr/>
        </p:nvPicPr>
        <p:blipFill rotWithShape="1">
          <a:blip r:embed="rId3">
            <a:alphaModFix/>
          </a:blip>
          <a:srcRect/>
          <a:stretch/>
        </p:blipFill>
        <p:spPr>
          <a:xfrm>
            <a:off x="1045440" y="365040"/>
            <a:ext cx="10578239" cy="1746720"/>
          </a:xfrm>
          <a:prstGeom prst="rect">
            <a:avLst/>
          </a:prstGeom>
          <a:noFill/>
          <a:ln>
            <a:noFill/>
          </a:ln>
        </p:spPr>
      </p:pic>
      <p:sp>
        <p:nvSpPr>
          <p:cNvPr id="113" name="Google Shape;113;p16"/>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14" name="Google Shape;114;p16"/>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15" name="Google Shape;115;p16"/>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4</a:t>
            </a:fld>
            <a:endParaRPr/>
          </a:p>
        </p:txBody>
      </p:sp>
      <p:sp>
        <p:nvSpPr>
          <p:cNvPr id="116" name="Google Shape;116;p16"/>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17"/>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22" name="Google Shape;122;p17"/>
          <p:cNvSpPr/>
          <p:nvPr/>
        </p:nvSpPr>
        <p:spPr>
          <a:xfrm>
            <a:off x="576000" y="2268720"/>
            <a:ext cx="11208900" cy="40098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US" sz="2800" b="1" i="0" u="sng" strike="noStrike" cap="none">
                <a:solidFill>
                  <a:schemeClr val="dk1"/>
                </a:solidFill>
                <a:latin typeface="Times New Roman"/>
                <a:ea typeface="Times New Roman"/>
                <a:cs typeface="Times New Roman"/>
                <a:sym typeface="Times New Roman"/>
              </a:rPr>
              <a:t>Programme Educational Objectives (PEOs)</a:t>
            </a:r>
            <a:endParaRPr sz="2800" b="0" i="0" u="none" strike="noStrike" cap="none">
              <a:solidFill>
                <a:srgbClr val="000000"/>
              </a:solidFill>
              <a:latin typeface="Arial"/>
              <a:ea typeface="Arial"/>
              <a:cs typeface="Arial"/>
              <a:sym typeface="Arial"/>
            </a:endParaRPr>
          </a:p>
          <a:p>
            <a:pPr marL="228600" marR="0" lvl="0" indent="-228600" algn="l" rtl="0">
              <a:lnSpc>
                <a:spcPct val="90000"/>
              </a:lnSpc>
              <a:spcBef>
                <a:spcPts val="1199"/>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PEO 1:</a:t>
            </a:r>
            <a:r>
              <a:rPr lang="en-US" sz="1800" b="1" i="0" u="none" strike="noStrike" cap="none">
                <a:solidFill>
                  <a:schemeClr val="dk1"/>
                </a:solidFill>
                <a:latin typeface="Arial"/>
                <a:ea typeface="Arial"/>
                <a:cs typeface="Arial"/>
                <a:sym typeface="Arial"/>
              </a:rPr>
              <a:t> </a:t>
            </a:r>
            <a:r>
              <a:rPr lang="en-US" sz="1800" b="0" i="0" u="none" strike="noStrike" cap="none">
                <a:solidFill>
                  <a:srgbClr val="000000"/>
                </a:solidFill>
                <a:latin typeface="Times New Roman"/>
                <a:ea typeface="Times New Roman"/>
                <a:cs typeface="Times New Roman"/>
                <a:sym typeface="Times New Roman"/>
              </a:rPr>
              <a:t>Graduates will apply strong foundations in computer science and cybersecurity to design, develop, and manage secure and reliable computing systems for industry and society.</a:t>
            </a:r>
            <a:endParaRPr sz="1800" b="0" i="0" u="none" strike="noStrike" cap="none">
              <a:solidFill>
                <a:srgbClr val="000000"/>
              </a:solidFill>
              <a:latin typeface="Arial"/>
              <a:ea typeface="Arial"/>
              <a:cs typeface="Arial"/>
              <a:sym typeface="Arial"/>
            </a:endParaRPr>
          </a:p>
          <a:p>
            <a:pPr marL="228600" marR="0" lvl="0" indent="-228600" algn="l" rtl="0">
              <a:lnSpc>
                <a:spcPct val="90000"/>
              </a:lnSpc>
              <a:spcBef>
                <a:spcPts val="2398"/>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PEO 2:</a:t>
            </a:r>
            <a:r>
              <a:rPr lang="en-US" sz="1800" b="1" i="0" u="none" strike="noStrike" cap="none">
                <a:solidFill>
                  <a:schemeClr val="dk1"/>
                </a:solidFill>
                <a:latin typeface="Arial"/>
                <a:ea typeface="Arial"/>
                <a:cs typeface="Arial"/>
                <a:sym typeface="Arial"/>
              </a:rPr>
              <a:t> </a:t>
            </a:r>
            <a:r>
              <a:rPr lang="en-US" sz="1800" b="0" i="0" u="none" strike="noStrike" cap="none">
                <a:solidFill>
                  <a:schemeClr val="dk1"/>
                </a:solidFill>
                <a:latin typeface="Times New Roman"/>
                <a:ea typeface="Times New Roman"/>
                <a:cs typeface="Times New Roman"/>
                <a:sym typeface="Times New Roman"/>
              </a:rPr>
              <a:t>Graduates will pursue successful careers as professionals, innovators or entrepreneurs engaged in technology development, deployment or engineering system implementation in industry and society and contribute to the economic growth of the country. </a:t>
            </a:r>
            <a:endParaRPr sz="1800" b="0" i="0" u="none" strike="noStrike" cap="none">
              <a:solidFill>
                <a:srgbClr val="000000"/>
              </a:solidFill>
              <a:latin typeface="Arial"/>
              <a:ea typeface="Arial"/>
              <a:cs typeface="Arial"/>
              <a:sym typeface="Arial"/>
            </a:endParaRPr>
          </a:p>
          <a:p>
            <a:pPr marL="228600" marR="0" lvl="0" indent="-228600" algn="l" rtl="0">
              <a:lnSpc>
                <a:spcPct val="90000"/>
              </a:lnSpc>
              <a:spcBef>
                <a:spcPts val="2398"/>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PEO 3:</a:t>
            </a:r>
            <a:r>
              <a:rPr lang="en-US" sz="1800" b="1" i="0" u="none" strike="noStrike" cap="none">
                <a:solidFill>
                  <a:schemeClr val="dk1"/>
                </a:solidFill>
                <a:latin typeface="Arial"/>
                <a:ea typeface="Arial"/>
                <a:cs typeface="Arial"/>
                <a:sym typeface="Arial"/>
              </a:rPr>
              <a:t> </a:t>
            </a:r>
            <a:r>
              <a:rPr lang="en-US" sz="1800" b="0" i="0" u="none" strike="noStrike" cap="none">
                <a:solidFill>
                  <a:srgbClr val="000000"/>
                </a:solidFill>
                <a:latin typeface="Times New Roman"/>
                <a:ea typeface="Times New Roman"/>
                <a:cs typeface="Times New Roman"/>
                <a:sym typeface="Times New Roman"/>
              </a:rPr>
              <a:t>Graduates will demonstrate ethical responsibility, leadership, teamwork, and effective communication while adapting to evolving global technological environments through lifelong learning.</a:t>
            </a:r>
            <a:endParaRPr sz="1800" b="0" i="0" u="none" strike="noStrike" cap="none">
              <a:solidFill>
                <a:srgbClr val="000000"/>
              </a:solidFill>
              <a:latin typeface="Arial"/>
              <a:ea typeface="Arial"/>
              <a:cs typeface="Arial"/>
              <a:sym typeface="Arial"/>
            </a:endParaRPr>
          </a:p>
          <a:p>
            <a:pPr marL="0" marR="0" lvl="0" indent="0" algn="l" rtl="0">
              <a:lnSpc>
                <a:spcPct val="90000"/>
              </a:lnSpc>
              <a:spcBef>
                <a:spcPts val="2200"/>
              </a:spcBef>
              <a:spcAft>
                <a:spcPts val="0"/>
              </a:spcAft>
              <a:buNone/>
            </a:pPr>
            <a:endParaRPr sz="1800" b="0" i="0" u="none" strike="noStrike" cap="none">
              <a:solidFill>
                <a:srgbClr val="000000"/>
              </a:solidFill>
              <a:latin typeface="Arial"/>
              <a:ea typeface="Arial"/>
              <a:cs typeface="Arial"/>
              <a:sym typeface="Arial"/>
            </a:endParaRPr>
          </a:p>
        </p:txBody>
      </p:sp>
      <p:sp>
        <p:nvSpPr>
          <p:cNvPr id="123" name="Google Shape;123;p17"/>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24" name="Google Shape;124;p17"/>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25" name="Google Shape;125;p17"/>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5</a:t>
            </a:fld>
            <a:endParaRPr/>
          </a:p>
        </p:txBody>
      </p:sp>
      <p:sp>
        <p:nvSpPr>
          <p:cNvPr id="126" name="Google Shape;126;p17"/>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18"/>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32" name="Google Shape;132;p18"/>
          <p:cNvSpPr/>
          <p:nvPr/>
        </p:nvSpPr>
        <p:spPr>
          <a:xfrm>
            <a:off x="393480" y="1990800"/>
            <a:ext cx="11249700" cy="4364400"/>
          </a:xfrm>
          <a:prstGeom prst="rect">
            <a:avLst/>
          </a:prstGeom>
          <a:noFill/>
          <a:ln>
            <a:noFill/>
          </a:ln>
        </p:spPr>
        <p:txBody>
          <a:bodyPr spcFirstLastPara="1" wrap="square" lIns="0" tIns="0" rIns="0" bIns="0" anchor="t" anchorCtr="0">
            <a:noAutofit/>
          </a:bodyPr>
          <a:lstStyle/>
          <a:p>
            <a:pPr marL="0" marR="0" lvl="0" indent="0" algn="ctr" rtl="0">
              <a:lnSpc>
                <a:spcPct val="113999"/>
              </a:lnSpc>
              <a:spcBef>
                <a:spcPts val="0"/>
              </a:spcBef>
              <a:spcAft>
                <a:spcPts val="0"/>
              </a:spcAft>
              <a:buNone/>
            </a:pPr>
            <a:r>
              <a:rPr lang="en-US" sz="2800" b="1" i="0" u="sng" strike="noStrike" cap="none">
                <a:solidFill>
                  <a:schemeClr val="dk1"/>
                </a:solidFill>
                <a:latin typeface="Times New Roman"/>
                <a:ea typeface="Times New Roman"/>
                <a:cs typeface="Times New Roman"/>
                <a:sym typeface="Times New Roman"/>
              </a:rPr>
              <a:t>Programme Outcomes</a:t>
            </a:r>
            <a:endParaRPr sz="2800" b="0" i="0" u="none" strike="noStrike" cap="none">
              <a:solidFill>
                <a:srgbClr val="000000"/>
              </a:solidFill>
              <a:latin typeface="Arial"/>
              <a:ea typeface="Arial"/>
              <a:cs typeface="Arial"/>
              <a:sym typeface="Arial"/>
            </a:endParaRPr>
          </a:p>
          <a:p>
            <a:pPr marL="0" marR="0" lvl="0" indent="0" algn="l" rtl="0">
              <a:lnSpc>
                <a:spcPct val="113999"/>
              </a:lnSpc>
              <a:spcBef>
                <a:spcPts val="0"/>
              </a:spcBef>
              <a:spcAft>
                <a:spcPts val="0"/>
              </a:spcAft>
              <a:buNone/>
            </a:pPr>
            <a:r>
              <a:rPr lang="en-US" sz="1400" b="0" i="0" u="none" strike="noStrike" cap="none">
                <a:solidFill>
                  <a:schemeClr val="dk1"/>
                </a:solidFill>
                <a:latin typeface="Times New Roman"/>
                <a:ea typeface="Times New Roman"/>
                <a:cs typeface="Times New Roman"/>
                <a:sym typeface="Times New Roman"/>
              </a:rPr>
              <a:t>    Engineering Graduates will be able to:</a:t>
            </a:r>
            <a:endParaRPr sz="14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r>
              <a:rPr lang="en-US" sz="1500" b="0" i="0" u="none" strike="noStrike" cap="none">
                <a:solidFill>
                  <a:schemeClr val="dk1"/>
                </a:solidFill>
                <a:latin typeface="Times New Roman"/>
                <a:ea typeface="Times New Roman"/>
                <a:cs typeface="Times New Roman"/>
                <a:sym typeface="Times New Roman"/>
              </a:rPr>
              <a:t>1. </a:t>
            </a:r>
            <a:r>
              <a:rPr lang="en-US" sz="1500" b="1" i="0" u="none" strike="noStrike" cap="none">
                <a:solidFill>
                  <a:schemeClr val="dk1"/>
                </a:solidFill>
                <a:latin typeface="Times New Roman"/>
                <a:ea typeface="Times New Roman"/>
                <a:cs typeface="Times New Roman"/>
                <a:sym typeface="Times New Roman"/>
              </a:rPr>
              <a:t>Engineering knowledge:</a:t>
            </a:r>
            <a:r>
              <a:rPr lang="en-US" sz="1500" b="0" i="0" u="none" strike="noStrike" cap="none">
                <a:solidFill>
                  <a:schemeClr val="dk1"/>
                </a:solidFill>
                <a:latin typeface="Times New Roman"/>
                <a:ea typeface="Times New Roman"/>
                <a:cs typeface="Times New Roman"/>
                <a:sym typeface="Times New Roman"/>
              </a:rPr>
              <a:t> Apply the knowledge of mathematics, science, engineering fundamentals, and an engineering specialization to the solution of complex engineering problems.</a:t>
            </a:r>
            <a:endParaRPr sz="15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br>
              <a:rPr lang="en-US" sz="1500" b="0" i="0" u="none" strike="noStrike" cap="none">
                <a:solidFill>
                  <a:schemeClr val="dk1"/>
                </a:solidFill>
                <a:latin typeface="Calibri"/>
                <a:ea typeface="Calibri"/>
                <a:cs typeface="Calibri"/>
                <a:sym typeface="Calibri"/>
              </a:rPr>
            </a:br>
            <a:r>
              <a:rPr lang="en-US" sz="1500" b="0" i="0" u="none" strike="noStrike" cap="none">
                <a:solidFill>
                  <a:schemeClr val="dk1"/>
                </a:solidFill>
                <a:latin typeface="Times New Roman"/>
                <a:ea typeface="Times New Roman"/>
                <a:cs typeface="Times New Roman"/>
                <a:sym typeface="Times New Roman"/>
              </a:rPr>
              <a:t>2. </a:t>
            </a:r>
            <a:r>
              <a:rPr lang="en-US" sz="1500" b="1" i="0" u="none" strike="noStrike" cap="none">
                <a:solidFill>
                  <a:schemeClr val="dk1"/>
                </a:solidFill>
                <a:latin typeface="Times New Roman"/>
                <a:ea typeface="Times New Roman"/>
                <a:cs typeface="Times New Roman"/>
                <a:sym typeface="Times New Roman"/>
              </a:rPr>
              <a:t>Problem analysis:</a:t>
            </a:r>
            <a:r>
              <a:rPr lang="en-US" sz="1500" b="0" i="0" u="none" strike="noStrike" cap="none">
                <a:solidFill>
                  <a:schemeClr val="dk1"/>
                </a:solidFill>
                <a:latin typeface="Times New Roman"/>
                <a:ea typeface="Times New Roman"/>
                <a:cs typeface="Times New Roman"/>
                <a:sym typeface="Times New Roman"/>
              </a:rPr>
              <a:t> Identify, formulate, review research literature, and analyze complex engineering problems reaching substantiated conclusions using first principles of mathematics, natural sciences, and engineering sciences.</a:t>
            </a:r>
            <a:endParaRPr sz="15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br>
              <a:rPr lang="en-US" sz="1500" b="0" i="0" u="none" strike="noStrike" cap="none">
                <a:solidFill>
                  <a:schemeClr val="dk1"/>
                </a:solidFill>
                <a:latin typeface="Calibri"/>
                <a:ea typeface="Calibri"/>
                <a:cs typeface="Calibri"/>
                <a:sym typeface="Calibri"/>
              </a:rPr>
            </a:br>
            <a:r>
              <a:rPr lang="en-US" sz="1500" b="0" i="0" u="none" strike="noStrike" cap="none">
                <a:solidFill>
                  <a:schemeClr val="dk1"/>
                </a:solidFill>
                <a:latin typeface="Times New Roman"/>
                <a:ea typeface="Times New Roman"/>
                <a:cs typeface="Times New Roman"/>
                <a:sym typeface="Times New Roman"/>
              </a:rPr>
              <a:t>3. </a:t>
            </a:r>
            <a:r>
              <a:rPr lang="en-US" sz="1500" b="1" i="0" u="none" strike="noStrike" cap="none">
                <a:solidFill>
                  <a:schemeClr val="dk1"/>
                </a:solidFill>
                <a:latin typeface="Times New Roman"/>
                <a:ea typeface="Times New Roman"/>
                <a:cs typeface="Times New Roman"/>
                <a:sym typeface="Times New Roman"/>
              </a:rPr>
              <a:t>Design/development of solutions:</a:t>
            </a:r>
            <a:r>
              <a:rPr lang="en-US" sz="1500" b="0" i="0" u="none" strike="noStrike" cap="none">
                <a:solidFill>
                  <a:schemeClr val="dk1"/>
                </a:solidFill>
                <a:latin typeface="Times New Roman"/>
                <a:ea typeface="Times New Roman"/>
                <a:cs typeface="Times New Roman"/>
                <a:sym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endParaRPr sz="15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br>
              <a:rPr lang="en-US" sz="1500" b="0" i="0" u="none" strike="noStrike" cap="none">
                <a:solidFill>
                  <a:schemeClr val="dk1"/>
                </a:solidFill>
                <a:latin typeface="Calibri"/>
                <a:ea typeface="Calibri"/>
                <a:cs typeface="Calibri"/>
                <a:sym typeface="Calibri"/>
              </a:rPr>
            </a:br>
            <a:r>
              <a:rPr lang="en-US" sz="1500" b="0" i="0" u="none" strike="noStrike" cap="none">
                <a:solidFill>
                  <a:schemeClr val="dk1"/>
                </a:solidFill>
                <a:latin typeface="Times New Roman"/>
                <a:ea typeface="Times New Roman"/>
                <a:cs typeface="Times New Roman"/>
                <a:sym typeface="Times New Roman"/>
              </a:rPr>
              <a:t>4. </a:t>
            </a:r>
            <a:r>
              <a:rPr lang="en-US" sz="1500" b="1" i="0" u="none" strike="noStrike" cap="none">
                <a:solidFill>
                  <a:schemeClr val="dk1"/>
                </a:solidFill>
                <a:latin typeface="Times New Roman"/>
                <a:ea typeface="Times New Roman"/>
                <a:cs typeface="Times New Roman"/>
                <a:sym typeface="Times New Roman"/>
              </a:rPr>
              <a:t>Conduct investigations of complex problems:</a:t>
            </a:r>
            <a:r>
              <a:rPr lang="en-US" sz="1500" b="0" i="0" u="none" strike="noStrike" cap="none">
                <a:solidFill>
                  <a:schemeClr val="dk1"/>
                </a:solidFill>
                <a:latin typeface="Times New Roman"/>
                <a:ea typeface="Times New Roman"/>
                <a:cs typeface="Times New Roman"/>
                <a:sym typeface="Times New Roman"/>
              </a:rPr>
              <a:t> Use research-based knowledge and research methods including design of experiments, analysis and interpretation of data, and synthesis of the information to provide valid conclusions.</a:t>
            </a:r>
            <a:endParaRPr sz="15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r>
              <a:rPr lang="en-US" sz="1500" b="0" i="0" u="none" strike="noStrike" cap="none">
                <a:solidFill>
                  <a:schemeClr val="dk1"/>
                </a:solidFill>
                <a:latin typeface="Times New Roman"/>
                <a:ea typeface="Times New Roman"/>
                <a:cs typeface="Times New Roman"/>
                <a:sym typeface="Times New Roman"/>
              </a:rPr>
              <a:t>5. </a:t>
            </a:r>
            <a:r>
              <a:rPr lang="en-US" sz="1500" b="1" i="0" u="none" strike="noStrike" cap="none">
                <a:solidFill>
                  <a:schemeClr val="dk1"/>
                </a:solidFill>
                <a:latin typeface="Times New Roman"/>
                <a:ea typeface="Times New Roman"/>
                <a:cs typeface="Times New Roman"/>
                <a:sym typeface="Times New Roman"/>
              </a:rPr>
              <a:t>Modern tool usage:</a:t>
            </a:r>
            <a:r>
              <a:rPr lang="en-US" sz="1500" b="0" i="0" u="none" strike="noStrike" cap="none">
                <a:solidFill>
                  <a:schemeClr val="dk1"/>
                </a:solidFill>
                <a:latin typeface="Times New Roman"/>
                <a:ea typeface="Times New Roman"/>
                <a:cs typeface="Times New Roman"/>
                <a:sym typeface="Times New Roman"/>
              </a:rPr>
              <a:t> Create, select, and apply appropriate techniques, resources, and modern engineering and IT tools including prediction and modeling to complex engineering activities with an understanding of the limitations.</a:t>
            </a:r>
            <a:endParaRPr sz="15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3100" b="0" i="0" u="none" strike="noStrike" cap="none">
              <a:solidFill>
                <a:srgbClr val="000000"/>
              </a:solidFill>
              <a:latin typeface="Arial"/>
              <a:ea typeface="Arial"/>
              <a:cs typeface="Arial"/>
              <a:sym typeface="Arial"/>
            </a:endParaRPr>
          </a:p>
        </p:txBody>
      </p:sp>
      <p:sp>
        <p:nvSpPr>
          <p:cNvPr id="133" name="Google Shape;133;p18"/>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34" name="Google Shape;134;p18"/>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35" name="Google Shape;135;p18"/>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6</a:t>
            </a:fld>
            <a:endParaRPr/>
          </a:p>
        </p:txBody>
      </p:sp>
      <p:sp>
        <p:nvSpPr>
          <p:cNvPr id="136" name="Google Shape;136;p18"/>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19"/>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42" name="Google Shape;142;p19"/>
          <p:cNvSpPr/>
          <p:nvPr/>
        </p:nvSpPr>
        <p:spPr>
          <a:xfrm>
            <a:off x="140760" y="1766880"/>
            <a:ext cx="11909100" cy="4588200"/>
          </a:xfrm>
          <a:prstGeom prst="rect">
            <a:avLst/>
          </a:prstGeom>
          <a:noFill/>
          <a:ln>
            <a:noFill/>
          </a:ln>
        </p:spPr>
        <p:txBody>
          <a:bodyPr spcFirstLastPara="1" wrap="square" lIns="0" tIns="0" rIns="0" bIns="0" anchor="t" anchorCtr="0">
            <a:noAutofit/>
          </a:bodyPr>
          <a:lstStyle/>
          <a:p>
            <a:pPr marL="274320" marR="0" lvl="0" indent="0" algn="just" rtl="0">
              <a:lnSpc>
                <a:spcPct val="113999"/>
              </a:lnSpc>
              <a:spcBef>
                <a:spcPts val="0"/>
              </a:spcBef>
              <a:spcAft>
                <a:spcPts val="0"/>
              </a:spcAft>
              <a:buNone/>
            </a:pPr>
            <a:br>
              <a:rPr lang="en-US" sz="12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6. </a:t>
            </a:r>
            <a:r>
              <a:rPr lang="en-US" sz="1400" b="1" i="0" u="none" strike="noStrike" cap="none">
                <a:solidFill>
                  <a:schemeClr val="dk1"/>
                </a:solidFill>
                <a:latin typeface="Times New Roman"/>
                <a:ea typeface="Times New Roman"/>
                <a:cs typeface="Times New Roman"/>
                <a:sym typeface="Times New Roman"/>
              </a:rPr>
              <a:t>The engineer and society:</a:t>
            </a:r>
            <a:r>
              <a:rPr lang="en-US" sz="1400" b="0" i="0" u="none" strike="noStrike" cap="none">
                <a:solidFill>
                  <a:schemeClr val="dk1"/>
                </a:solidFill>
                <a:latin typeface="Times New Roman"/>
                <a:ea typeface="Times New Roman"/>
                <a:cs typeface="Times New Roman"/>
                <a:sym typeface="Times New Roman"/>
              </a:rPr>
              <a:t> Apply reasoning informed by the contextual knowledge to assess societal, health, safety, legal and cultural issues and the consequent responsibilities relevant to the professional engineering practice.</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7. </a:t>
            </a:r>
            <a:r>
              <a:rPr lang="en-US" sz="1400" b="1" i="0" u="none" strike="noStrike" cap="none">
                <a:solidFill>
                  <a:schemeClr val="dk1"/>
                </a:solidFill>
                <a:latin typeface="Times New Roman"/>
                <a:ea typeface="Times New Roman"/>
                <a:cs typeface="Times New Roman"/>
                <a:sym typeface="Times New Roman"/>
              </a:rPr>
              <a:t>Environment and sustainability:</a:t>
            </a:r>
            <a:r>
              <a:rPr lang="en-US" sz="1400" b="0" i="0" u="none" strike="noStrike" cap="none">
                <a:solidFill>
                  <a:schemeClr val="dk1"/>
                </a:solidFill>
                <a:latin typeface="Times New Roman"/>
                <a:ea typeface="Times New Roman"/>
                <a:cs typeface="Times New Roman"/>
                <a:sym typeface="Times New Roman"/>
              </a:rPr>
              <a:t> Understand the impact of the professional engineering solutions in societal and environmental contexts, and demonstrate the knowledge of, and need for sustainable development.</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8. </a:t>
            </a:r>
            <a:r>
              <a:rPr lang="en-US" sz="1400" b="1" i="0" u="none" strike="noStrike" cap="none">
                <a:solidFill>
                  <a:schemeClr val="dk1"/>
                </a:solidFill>
                <a:latin typeface="Times New Roman"/>
                <a:ea typeface="Times New Roman"/>
                <a:cs typeface="Times New Roman"/>
                <a:sym typeface="Times New Roman"/>
              </a:rPr>
              <a:t>Ethics:</a:t>
            </a:r>
            <a:r>
              <a:rPr lang="en-US" sz="1400" b="0" i="0" u="none" strike="noStrike" cap="none">
                <a:solidFill>
                  <a:schemeClr val="dk1"/>
                </a:solidFill>
                <a:latin typeface="Times New Roman"/>
                <a:ea typeface="Times New Roman"/>
                <a:cs typeface="Times New Roman"/>
                <a:sym typeface="Times New Roman"/>
              </a:rPr>
              <a:t> Apply ethical principles and commit to professional ethics and responsibilities and norms of the engineering practice.</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9. </a:t>
            </a:r>
            <a:r>
              <a:rPr lang="en-US" sz="1400" b="1" i="0" u="none" strike="noStrike" cap="none">
                <a:solidFill>
                  <a:schemeClr val="dk1"/>
                </a:solidFill>
                <a:latin typeface="Times New Roman"/>
                <a:ea typeface="Times New Roman"/>
                <a:cs typeface="Times New Roman"/>
                <a:sym typeface="Times New Roman"/>
              </a:rPr>
              <a:t>Individual and team work:</a:t>
            </a:r>
            <a:r>
              <a:rPr lang="en-US" sz="1400" b="0" i="0" u="none" strike="noStrike" cap="none">
                <a:solidFill>
                  <a:schemeClr val="dk1"/>
                </a:solidFill>
                <a:latin typeface="Times New Roman"/>
                <a:ea typeface="Times New Roman"/>
                <a:cs typeface="Times New Roman"/>
                <a:sym typeface="Times New Roman"/>
              </a:rPr>
              <a:t> Function effectively as an individual, and as a member or leader in diverse teams, and in multidisciplinary settings.</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10. </a:t>
            </a:r>
            <a:r>
              <a:rPr lang="en-US" sz="1400" b="1" i="0" u="none" strike="noStrike" cap="none">
                <a:solidFill>
                  <a:schemeClr val="dk1"/>
                </a:solidFill>
                <a:latin typeface="Times New Roman"/>
                <a:ea typeface="Times New Roman"/>
                <a:cs typeface="Times New Roman"/>
                <a:sym typeface="Times New Roman"/>
              </a:rPr>
              <a:t>Communication:</a:t>
            </a:r>
            <a:r>
              <a:rPr lang="en-US" sz="1400" b="0" i="0" u="none" strike="noStrike" cap="none">
                <a:solidFill>
                  <a:schemeClr val="dk1"/>
                </a:solidFill>
                <a:latin typeface="Times New Roman"/>
                <a:ea typeface="Times New Roman"/>
                <a:cs typeface="Times New Roman"/>
                <a:sym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11. </a:t>
            </a:r>
            <a:r>
              <a:rPr lang="en-US" sz="1400" b="1" i="0" u="none" strike="noStrike" cap="none">
                <a:solidFill>
                  <a:schemeClr val="dk1"/>
                </a:solidFill>
                <a:latin typeface="Times New Roman"/>
                <a:ea typeface="Times New Roman"/>
                <a:cs typeface="Times New Roman"/>
                <a:sym typeface="Times New Roman"/>
              </a:rPr>
              <a:t>Project management and finance:</a:t>
            </a:r>
            <a:r>
              <a:rPr lang="en-US" sz="1400" b="0" i="0" u="none" strike="noStrike" cap="none">
                <a:solidFill>
                  <a:schemeClr val="dk1"/>
                </a:solidFill>
                <a:latin typeface="Times New Roman"/>
                <a:ea typeface="Times New Roman"/>
                <a:cs typeface="Times New Roman"/>
                <a:sym typeface="Times New Roman"/>
              </a:rPr>
              <a:t> Demonstrate knowledge and understanding of the engineering and management principles and apply these to one’s own work, as a member and leader in a team, to manage projects and in multidisciplinary environments.</a:t>
            </a: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12. </a:t>
            </a:r>
            <a:r>
              <a:rPr lang="en-US" sz="1400" b="1" i="0" u="none" strike="noStrike" cap="none">
                <a:solidFill>
                  <a:schemeClr val="dk1"/>
                </a:solidFill>
                <a:latin typeface="Times New Roman"/>
                <a:ea typeface="Times New Roman"/>
                <a:cs typeface="Times New Roman"/>
                <a:sym typeface="Times New Roman"/>
              </a:rPr>
              <a:t>Life-long learning:</a:t>
            </a:r>
            <a:r>
              <a:rPr lang="en-US" sz="1400" b="0" i="0" u="none" strike="noStrike" cap="none">
                <a:solidFill>
                  <a:schemeClr val="dk1"/>
                </a:solidFill>
                <a:latin typeface="Times New Roman"/>
                <a:ea typeface="Times New Roman"/>
                <a:cs typeface="Times New Roman"/>
                <a:sym typeface="Times New Roman"/>
              </a:rPr>
              <a:t> Recognize the need for, and have the preparation and ability to engage in independent and life-long learning in the broadest context of technological change</a:t>
            </a:r>
            <a:r>
              <a:rPr lang="en-US" sz="1300" b="0" i="0" u="none" strike="noStrike" cap="none">
                <a:solidFill>
                  <a:schemeClr val="dk1"/>
                </a:solidFill>
                <a:latin typeface="Times New Roman"/>
                <a:ea typeface="Times New Roman"/>
                <a:cs typeface="Times New Roman"/>
                <a:sym typeface="Times New Roman"/>
              </a:rPr>
              <a:t>.</a:t>
            </a:r>
            <a:endParaRPr sz="13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endParaRPr sz="1300" b="0" i="0" u="none" strike="noStrike" cap="none">
              <a:solidFill>
                <a:srgbClr val="000000"/>
              </a:solidFill>
              <a:latin typeface="Arial"/>
              <a:ea typeface="Arial"/>
              <a:cs typeface="Arial"/>
              <a:sym typeface="Arial"/>
            </a:endParaRPr>
          </a:p>
          <a:p>
            <a:pPr marL="274320" marR="0" lvl="0" indent="0" algn="l" rtl="0">
              <a:lnSpc>
                <a:spcPct val="90000"/>
              </a:lnSpc>
              <a:spcBef>
                <a:spcPts val="1001"/>
              </a:spcBef>
              <a:spcAft>
                <a:spcPts val="0"/>
              </a:spcAft>
              <a:buNone/>
            </a:pPr>
            <a:endParaRPr sz="2800" b="0" i="0" u="none" strike="noStrike" cap="none">
              <a:solidFill>
                <a:srgbClr val="000000"/>
              </a:solidFill>
              <a:latin typeface="Arial"/>
              <a:ea typeface="Arial"/>
              <a:cs typeface="Arial"/>
              <a:sym typeface="Arial"/>
            </a:endParaRPr>
          </a:p>
        </p:txBody>
      </p:sp>
      <p:sp>
        <p:nvSpPr>
          <p:cNvPr id="143" name="Google Shape;143;p19"/>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44" name="Google Shape;144;p19"/>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45" name="Google Shape;145;p19"/>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7</a:t>
            </a:fld>
            <a:endParaRPr/>
          </a:p>
        </p:txBody>
      </p:sp>
      <p:sp>
        <p:nvSpPr>
          <p:cNvPr id="146" name="Google Shape;146;p19"/>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20"/>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52" name="Google Shape;152;p20"/>
          <p:cNvSpPr/>
          <p:nvPr/>
        </p:nvSpPr>
        <p:spPr>
          <a:xfrm>
            <a:off x="603360" y="2291760"/>
            <a:ext cx="11155800" cy="4047000"/>
          </a:xfrm>
          <a:prstGeom prst="rect">
            <a:avLst/>
          </a:prstGeom>
          <a:noFill/>
          <a:ln>
            <a:noFill/>
          </a:ln>
        </p:spPr>
        <p:txBody>
          <a:bodyPr spcFirstLastPara="1" wrap="square" lIns="0" tIns="0" rIns="0" bIns="0" anchor="t" anchorCtr="0">
            <a:noAutofit/>
          </a:bodyPr>
          <a:lstStyle/>
          <a:p>
            <a:pPr marL="0" marR="0" lvl="0" indent="0" algn="ctr" rtl="0">
              <a:lnSpc>
                <a:spcPct val="113999"/>
              </a:lnSpc>
              <a:spcBef>
                <a:spcPts val="0"/>
              </a:spcBef>
              <a:spcAft>
                <a:spcPts val="0"/>
              </a:spcAft>
              <a:buNone/>
            </a:pPr>
            <a:r>
              <a:rPr lang="en-US" sz="2800" b="1" i="0" u="sng" strike="noStrike" cap="none">
                <a:solidFill>
                  <a:schemeClr val="dk1"/>
                </a:solidFill>
                <a:latin typeface="Times New Roman"/>
                <a:ea typeface="Times New Roman"/>
                <a:cs typeface="Times New Roman"/>
                <a:sym typeface="Times New Roman"/>
              </a:rPr>
              <a:t>Programme Specific Outcomes (PSOs)</a:t>
            </a:r>
            <a:endParaRPr sz="2800" b="0" i="0" u="none" strike="noStrike" cap="none">
              <a:solidFill>
                <a:srgbClr val="000000"/>
              </a:solidFill>
              <a:latin typeface="Arial"/>
              <a:ea typeface="Arial"/>
              <a:cs typeface="Arial"/>
              <a:sym typeface="Arial"/>
            </a:endParaRPr>
          </a:p>
          <a:p>
            <a:pPr marL="0" marR="0" lvl="0" indent="0" algn="ctr" rtl="0">
              <a:lnSpc>
                <a:spcPct val="113999"/>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just" rtl="0">
              <a:lnSpc>
                <a:spcPct val="113999"/>
              </a:lnSpc>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 On the completion of Computer Science &amp; Engineering program, the students will possess:</a:t>
            </a:r>
            <a:endParaRPr sz="1800" b="0" i="0" u="none" strike="noStrike" cap="none">
              <a:solidFill>
                <a:srgbClr val="000000"/>
              </a:solidFill>
              <a:latin typeface="Arial"/>
              <a:ea typeface="Arial"/>
              <a:cs typeface="Arial"/>
              <a:sym typeface="Arial"/>
            </a:endParaRPr>
          </a:p>
          <a:p>
            <a:pPr marL="228600" marR="0" lvl="0" indent="-228600" algn="just" rtl="0">
              <a:lnSpc>
                <a:spcPct val="150000"/>
              </a:lnSpc>
              <a:spcBef>
                <a:spcPts val="1199"/>
              </a:spcBef>
              <a:spcAft>
                <a:spcPts val="0"/>
              </a:spcAft>
              <a:buClr>
                <a:srgbClr val="000000"/>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a:t>
            </a:r>
            <a:r>
              <a:rPr lang="en-US" sz="1800" b="1" i="0" u="none" strike="noStrike" cap="none">
                <a:solidFill>
                  <a:schemeClr val="dk1"/>
                </a:solidFill>
                <a:latin typeface="Times New Roman"/>
                <a:ea typeface="Times New Roman"/>
                <a:cs typeface="Times New Roman"/>
                <a:sym typeface="Times New Roman"/>
              </a:rPr>
              <a:t>PSO 1</a:t>
            </a:r>
            <a:r>
              <a:rPr lang="en-US" sz="1800" b="0" i="0" u="none" strike="noStrike" cap="none">
                <a:solidFill>
                  <a:schemeClr val="dk1"/>
                </a:solidFill>
                <a:latin typeface="Times New Roman"/>
                <a:ea typeface="Times New Roman"/>
                <a:cs typeface="Times New Roman"/>
                <a:sym typeface="Times New Roman"/>
              </a:rPr>
              <a:t>: Apply cyber security principles to mitigate cyber risk and analyze security requirements of an organization.</a:t>
            </a:r>
            <a:endParaRPr sz="1800" b="0" i="0" u="none" strike="noStrike" cap="none">
              <a:solidFill>
                <a:srgbClr val="000000"/>
              </a:solidFill>
              <a:latin typeface="Arial"/>
              <a:ea typeface="Arial"/>
              <a:cs typeface="Arial"/>
              <a:sym typeface="Arial"/>
            </a:endParaRPr>
          </a:p>
          <a:p>
            <a:pPr marL="228600" marR="0" lvl="0" indent="-228600" algn="just" rtl="0">
              <a:lnSpc>
                <a:spcPct val="150000"/>
              </a:lnSpc>
              <a:spcBef>
                <a:spcPts val="2398"/>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PSO 2</a:t>
            </a:r>
            <a:r>
              <a:rPr lang="en-US" sz="1800" b="0" i="0" u="none" strike="noStrike" cap="none">
                <a:solidFill>
                  <a:schemeClr val="dk1"/>
                </a:solidFill>
                <a:latin typeface="Times New Roman"/>
                <a:ea typeface="Times New Roman"/>
                <a:cs typeface="Times New Roman"/>
                <a:sym typeface="Times New Roman"/>
              </a:rPr>
              <a:t>: Develop and deploy secure software and infrastructure using modern tools and industry standards. </a:t>
            </a:r>
            <a:endParaRPr sz="1800" b="0" i="0" u="none" strike="noStrike" cap="none">
              <a:solidFill>
                <a:srgbClr val="000000"/>
              </a:solidFill>
              <a:latin typeface="Arial"/>
              <a:ea typeface="Arial"/>
              <a:cs typeface="Arial"/>
              <a:sym typeface="Arial"/>
            </a:endParaRPr>
          </a:p>
          <a:p>
            <a:pPr marL="228600" marR="0" lvl="0" indent="-228600" algn="just" rtl="0">
              <a:lnSpc>
                <a:spcPct val="150000"/>
              </a:lnSpc>
              <a:spcBef>
                <a:spcPts val="2398"/>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PSO 3</a:t>
            </a:r>
            <a:r>
              <a:rPr lang="en-US" sz="1800" b="0" i="0" u="none" strike="noStrike" cap="none">
                <a:solidFill>
                  <a:schemeClr val="dk1"/>
                </a:solidFill>
                <a:latin typeface="Times New Roman"/>
                <a:ea typeface="Times New Roman"/>
                <a:cs typeface="Times New Roman"/>
                <a:sym typeface="Times New Roman"/>
              </a:rPr>
              <a:t>: Uphold ethical, legal, and societal responsibilities while protecting privacy, data, and digital assets.</a:t>
            </a:r>
            <a:endParaRPr sz="1800" b="0" i="0" u="none" strike="noStrike" cap="none">
              <a:solidFill>
                <a:srgbClr val="000000"/>
              </a:solidFill>
              <a:latin typeface="Arial"/>
              <a:ea typeface="Arial"/>
              <a:cs typeface="Arial"/>
              <a:sym typeface="Arial"/>
            </a:endParaRPr>
          </a:p>
          <a:p>
            <a:pPr marL="0" marR="0" lvl="0" indent="0" algn="just" rtl="0">
              <a:lnSpc>
                <a:spcPct val="113999"/>
              </a:lnSpc>
              <a:spcBef>
                <a:spcPts val="1199"/>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3200" b="0" i="0" u="none" strike="noStrike" cap="none">
              <a:solidFill>
                <a:srgbClr val="000000"/>
              </a:solidFill>
              <a:latin typeface="Arial"/>
              <a:ea typeface="Arial"/>
              <a:cs typeface="Arial"/>
              <a:sym typeface="Arial"/>
            </a:endParaRPr>
          </a:p>
        </p:txBody>
      </p:sp>
      <p:sp>
        <p:nvSpPr>
          <p:cNvPr id="153" name="Google Shape;153;p20"/>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54" name="Google Shape;154;p20"/>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55" name="Google Shape;155;p20"/>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8</a:t>
            </a:fld>
            <a:endParaRPr/>
          </a:p>
        </p:txBody>
      </p:sp>
      <p:sp>
        <p:nvSpPr>
          <p:cNvPr id="156" name="Google Shape;156;p20"/>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21"/>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62" name="Google Shape;162;p21"/>
          <p:cNvSpPr/>
          <p:nvPr/>
        </p:nvSpPr>
        <p:spPr>
          <a:xfrm>
            <a:off x="1319400" y="1990800"/>
            <a:ext cx="9559500" cy="47679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4000" b="1" i="0" u="sng" strike="noStrike" cap="none">
                <a:solidFill>
                  <a:schemeClr val="dk1"/>
                </a:solidFill>
                <a:latin typeface="Times New Roman"/>
                <a:ea typeface="Times New Roman"/>
                <a:cs typeface="Times New Roman"/>
                <a:sym typeface="Times New Roman"/>
              </a:rPr>
              <a:t>CONTENTS</a:t>
            </a:r>
            <a:endParaRPr sz="4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Motivation</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Introduction</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Problem Statement</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Proposed Method </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Basic Block Diagram</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Conclusion </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References</a:t>
            </a:r>
            <a:endParaRPr sz="2400" b="0" i="0" u="none" strike="noStrike" cap="none">
              <a:solidFill>
                <a:srgbClr val="000000"/>
              </a:solidFill>
              <a:latin typeface="Arial"/>
              <a:ea typeface="Arial"/>
              <a:cs typeface="Arial"/>
              <a:sym typeface="Arial"/>
            </a:endParaRPr>
          </a:p>
        </p:txBody>
      </p:sp>
      <p:sp>
        <p:nvSpPr>
          <p:cNvPr id="163" name="Google Shape;163;p21"/>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64" name="Google Shape;164;p21"/>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65" name="Google Shape;165;p21"/>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9</a:t>
            </a:fld>
            <a:endParaRPr/>
          </a:p>
        </p:txBody>
      </p:sp>
      <p:sp>
        <p:nvSpPr>
          <p:cNvPr id="166" name="Google Shape;166;p21"/>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2"/>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72" name="Google Shape;172;p22"/>
          <p:cNvSpPr txBox="1">
            <a:spLocks noGrp="1"/>
          </p:cNvSpPr>
          <p:nvPr>
            <p:ph type="title"/>
          </p:nvPr>
        </p:nvSpPr>
        <p:spPr>
          <a:xfrm>
            <a:off x="838080" y="1559880"/>
            <a:ext cx="10514400" cy="1324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Times New Roman"/>
              <a:buNone/>
            </a:pPr>
            <a:r>
              <a:rPr lang="en-US" sz="4000" b="1" u="sng" strike="noStrike">
                <a:solidFill>
                  <a:schemeClr val="dk1"/>
                </a:solidFill>
                <a:latin typeface="Times New Roman"/>
                <a:ea typeface="Times New Roman"/>
                <a:cs typeface="Times New Roman"/>
                <a:sym typeface="Times New Roman"/>
              </a:rPr>
              <a:t>Motivation</a:t>
            </a:r>
            <a:endParaRPr sz="4000" b="0" u="none" strike="noStrike">
              <a:solidFill>
                <a:schemeClr val="dk1"/>
              </a:solidFill>
              <a:latin typeface="Calibri"/>
              <a:ea typeface="Calibri"/>
              <a:cs typeface="Calibri"/>
              <a:sym typeface="Calibri"/>
            </a:endParaRPr>
          </a:p>
        </p:txBody>
      </p:sp>
      <p:sp>
        <p:nvSpPr>
          <p:cNvPr id="173" name="Google Shape;173;p22"/>
          <p:cNvSpPr txBox="1">
            <a:spLocks noGrp="1"/>
          </p:cNvSpPr>
          <p:nvPr>
            <p:ph type="body" idx="1"/>
          </p:nvPr>
        </p:nvSpPr>
        <p:spPr>
          <a:xfrm>
            <a:off x="0" y="2539080"/>
            <a:ext cx="12191100" cy="3657300"/>
          </a:xfrm>
          <a:prstGeom prst="rect">
            <a:avLst/>
          </a:prstGeom>
          <a:noFill/>
          <a:ln>
            <a:noFill/>
          </a:ln>
        </p:spPr>
        <p:txBody>
          <a:bodyPr spcFirstLastPara="1" wrap="square" lIns="91425" tIns="45700" rIns="91425" bIns="45700" anchor="t" anchorCtr="0">
            <a:spAutoFit/>
          </a:bodyPr>
          <a:lstStyle/>
          <a:p>
            <a:pPr marL="228600" marR="0" lvl="0" indent="-228600" algn="l" rtl="0">
              <a:lnSpc>
                <a:spcPct val="2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Cost &amp; Accessibility:</a:t>
            </a:r>
            <a:r>
              <a:rPr lang="en-US" sz="1600" b="0" i="0" u="none" strike="noStrike" cap="none">
                <a:solidFill>
                  <a:schemeClr val="dk1"/>
                </a:solidFill>
                <a:latin typeface="Times New Roman"/>
                <a:ea typeface="Times New Roman"/>
                <a:cs typeface="Times New Roman"/>
                <a:sym typeface="Times New Roman"/>
              </a:rPr>
              <a:t> Commercial vibration-monitoring systems can be expensive for small machines, labs and low-cost setups.</a:t>
            </a:r>
            <a:endParaRPr sz="1600" b="0" i="0" u="none" strike="noStrike" cap="none">
              <a:solidFill>
                <a:schemeClr val="dk1"/>
              </a:solidFill>
              <a:latin typeface="Calibri"/>
              <a:ea typeface="Calibri"/>
              <a:cs typeface="Calibri"/>
              <a:sym typeface="Calibri"/>
            </a:endParaRPr>
          </a:p>
          <a:p>
            <a:pPr marL="228600" marR="0" lvl="0" indent="-228600" algn="l" rtl="0">
              <a:lnSpc>
                <a:spcPct val="200000"/>
              </a:lnSpc>
              <a:spcBef>
                <a:spcPts val="624"/>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Need for Measurable Awareness:</a:t>
            </a:r>
            <a:r>
              <a:rPr lang="en-US" sz="1600" b="0" i="0" u="none" strike="noStrike" cap="none">
                <a:solidFill>
                  <a:schemeClr val="dk1"/>
                </a:solidFill>
                <a:latin typeface="Times New Roman"/>
                <a:ea typeface="Times New Roman"/>
                <a:cs typeface="Times New Roman"/>
                <a:sym typeface="Times New Roman"/>
              </a:rPr>
              <a:t> Vibration changes can provide measurable evidence that a machine's operating condition has changed.</a:t>
            </a:r>
            <a:endParaRPr sz="1600" b="0" i="0" u="none" strike="noStrike" cap="none">
              <a:solidFill>
                <a:schemeClr val="dk1"/>
              </a:solidFill>
              <a:latin typeface="Calibri"/>
              <a:ea typeface="Calibri"/>
              <a:cs typeface="Calibri"/>
              <a:sym typeface="Calibri"/>
            </a:endParaRPr>
          </a:p>
          <a:p>
            <a:pPr marL="228600" marR="0" lvl="0" indent="-228600" algn="l" rtl="0">
              <a:lnSpc>
                <a:spcPct val="200000"/>
              </a:lnSpc>
              <a:spcBef>
                <a:spcPts val="859"/>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Limits of Manual Observation:</a:t>
            </a:r>
            <a:r>
              <a:rPr lang="en-US" sz="1600" b="0" i="0" u="none" strike="noStrike" cap="none">
                <a:solidFill>
                  <a:schemeClr val="dk1"/>
                </a:solidFill>
                <a:latin typeface="Times New Roman"/>
                <a:ea typeface="Times New Roman"/>
                <a:cs typeface="Times New Roman"/>
                <a:sym typeface="Times New Roman"/>
              </a:rPr>
              <a:t> Small vibration changes may be difficult to judge consistently by sound or touch.</a:t>
            </a:r>
            <a:endParaRPr sz="1600" b="0" i="0" u="none" strike="noStrike" cap="none">
              <a:solidFill>
                <a:schemeClr val="dk1"/>
              </a:solidFill>
              <a:latin typeface="Calibri"/>
              <a:ea typeface="Calibri"/>
              <a:cs typeface="Calibri"/>
              <a:sym typeface="Calibri"/>
            </a:endParaRPr>
          </a:p>
          <a:p>
            <a:pPr marL="228600" marR="0" lvl="0" indent="-228600" algn="l" rtl="0">
              <a:lnSpc>
                <a:spcPct val="200000"/>
              </a:lnSpc>
              <a:spcBef>
                <a:spcPts val="434"/>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Low-Cost Opportunity:</a:t>
            </a:r>
            <a:r>
              <a:rPr lang="en-US" sz="1600" b="0" i="0" u="none" strike="noStrike" cap="none">
                <a:solidFill>
                  <a:schemeClr val="dk1"/>
                </a:solidFill>
                <a:latin typeface="Times New Roman"/>
                <a:ea typeface="Times New Roman"/>
                <a:cs typeface="Times New Roman"/>
                <a:sym typeface="Times New Roman"/>
              </a:rPr>
              <a:t> VibeGuard explores local vibration monitoring using an affordable accelerometer and microcontroller.</a:t>
            </a:r>
            <a:endParaRPr sz="1600" b="0" i="0" u="none" strike="noStrike" cap="none">
              <a:solidFill>
                <a:schemeClr val="dk1"/>
              </a:solidFill>
              <a:latin typeface="Calibri"/>
              <a:ea typeface="Calibri"/>
              <a:cs typeface="Calibri"/>
              <a:sym typeface="Calibri"/>
            </a:endParaRPr>
          </a:p>
        </p:txBody>
      </p:sp>
      <p:sp>
        <p:nvSpPr>
          <p:cNvPr id="174" name="Google Shape;174;p22"/>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75" name="Google Shape;175;p22"/>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76" name="Google Shape;176;p22"/>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10</a:t>
            </a:fld>
            <a:endParaRPr/>
          </a:p>
        </p:txBody>
      </p:sp>
      <p:sp>
        <p:nvSpPr>
          <p:cNvPr id="177" name="Google Shape;177;p22"/>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23"/>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83" name="Google Shape;183;p23"/>
          <p:cNvSpPr txBox="1">
            <a:spLocks noGrp="1"/>
          </p:cNvSpPr>
          <p:nvPr>
            <p:ph type="title"/>
          </p:nvPr>
        </p:nvSpPr>
        <p:spPr>
          <a:xfrm>
            <a:off x="838080" y="154692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Times New Roman"/>
              <a:buNone/>
            </a:pPr>
            <a:r>
              <a:rPr lang="en-US" sz="4000" b="1" u="sng" strike="noStrike">
                <a:solidFill>
                  <a:schemeClr val="dk1"/>
                </a:solidFill>
                <a:latin typeface="Times New Roman"/>
                <a:ea typeface="Times New Roman"/>
                <a:cs typeface="Times New Roman"/>
                <a:sym typeface="Times New Roman"/>
              </a:rPr>
              <a:t>Introduction</a:t>
            </a:r>
            <a:endParaRPr sz="4000" b="0" u="none" strike="noStrike">
              <a:solidFill>
                <a:schemeClr val="dk1"/>
              </a:solidFill>
              <a:latin typeface="Calibri"/>
              <a:ea typeface="Calibri"/>
              <a:cs typeface="Calibri"/>
              <a:sym typeface="Calibri"/>
            </a:endParaRPr>
          </a:p>
        </p:txBody>
      </p:sp>
      <p:sp>
        <p:nvSpPr>
          <p:cNvPr id="184" name="Google Shape;184;p23"/>
          <p:cNvSpPr txBox="1">
            <a:spLocks noGrp="1"/>
          </p:cNvSpPr>
          <p:nvPr>
            <p:ph type="body" idx="1"/>
          </p:nvPr>
        </p:nvSpPr>
        <p:spPr>
          <a:xfrm>
            <a:off x="0" y="2719800"/>
            <a:ext cx="12191100" cy="3415800"/>
          </a:xfrm>
          <a:prstGeom prst="rect">
            <a:avLst/>
          </a:prstGeom>
          <a:noFill/>
          <a:ln>
            <a:noFill/>
          </a:ln>
        </p:spPr>
        <p:txBody>
          <a:bodyPr spcFirstLastPara="1" wrap="square" lIns="91425" tIns="45700" rIns="91425" bIns="45700" anchor="ctr" anchorCtr="0">
            <a:spAutoFit/>
          </a:bodyPr>
          <a:lstStyle/>
          <a:p>
            <a:pPr marL="0" marR="0" lvl="0" indent="0" algn="l" rtl="0">
              <a:lnSpc>
                <a:spcPct val="200000"/>
              </a:lnSpc>
              <a:spcBef>
                <a:spcPts val="0"/>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Project Idea: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VibeGuard</a:t>
            </a:r>
            <a:r>
              <a:rPr lang="en-US" sz="1600" b="0" i="0" u="none" strike="noStrike" cap="none" dirty="0">
                <a:solidFill>
                  <a:schemeClr val="dk1"/>
                </a:solidFill>
                <a:latin typeface="Times New Roman"/>
                <a:ea typeface="Times New Roman"/>
                <a:cs typeface="Times New Roman"/>
                <a:sym typeface="Times New Roman"/>
              </a:rPr>
              <a:t> is a low-cost embedded system for monitoring vibration from a small rotating machine.</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1284"/>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Main Goal:</a:t>
            </a:r>
            <a:r>
              <a:rPr lang="en-US" sz="1600" b="0" i="0" u="none" strike="noStrike" cap="none" dirty="0">
                <a:solidFill>
                  <a:schemeClr val="dk1"/>
                </a:solidFill>
                <a:latin typeface="Times New Roman"/>
                <a:ea typeface="Times New Roman"/>
                <a:cs typeface="Times New Roman"/>
                <a:sym typeface="Times New Roman"/>
              </a:rPr>
              <a:t> Distinguish a documented Normal condition from a controlled Abnormal vibration condition.</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1284"/>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Prototype:</a:t>
            </a:r>
            <a:r>
              <a:rPr lang="en-US" sz="1600" b="0" i="0" u="none" strike="noStrike" cap="none" dirty="0">
                <a:solidFill>
                  <a:schemeClr val="dk1"/>
                </a:solidFill>
                <a:latin typeface="Times New Roman"/>
                <a:ea typeface="Times New Roman"/>
                <a:cs typeface="Times New Roman"/>
                <a:sym typeface="Times New Roman"/>
              </a:rPr>
              <a:t> One rigidly mounted ADXL345-class tri-axis accelerometer and one ESP32 perform local sensing and processing.</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1284"/>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Local Operation:</a:t>
            </a:r>
            <a:r>
              <a:rPr lang="en-US" sz="1600" b="0" i="0" u="none" strike="noStrike" cap="none" dirty="0">
                <a:solidFill>
                  <a:schemeClr val="dk1"/>
                </a:solidFill>
                <a:latin typeface="Times New Roman"/>
                <a:ea typeface="Times New Roman"/>
                <a:cs typeface="Times New Roman"/>
                <a:sym typeface="Times New Roman"/>
              </a:rPr>
              <a:t> RGB indication and USB logging provide the system's local output without cloud dependency.</a:t>
            </a:r>
            <a:endParaRPr sz="1600" b="0" i="0" u="none" strike="noStrike" cap="none" dirty="0">
              <a:solidFill>
                <a:schemeClr val="dk1"/>
              </a:solidFill>
              <a:latin typeface="Calibri"/>
              <a:ea typeface="Calibri"/>
              <a:cs typeface="Calibri"/>
              <a:sym typeface="Calibri"/>
            </a:endParaRPr>
          </a:p>
        </p:txBody>
      </p:sp>
      <p:sp>
        <p:nvSpPr>
          <p:cNvPr id="185" name="Google Shape;185;p23"/>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86" name="Google Shape;186;p23"/>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87" name="Google Shape;187;p23"/>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11</a:t>
            </a:fld>
            <a:endParaRPr/>
          </a:p>
        </p:txBody>
      </p:sp>
      <p:sp>
        <p:nvSpPr>
          <p:cNvPr id="188" name="Google Shape;188;p23"/>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4"/>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94" name="Google Shape;194;p24"/>
          <p:cNvSpPr txBox="1">
            <a:spLocks noGrp="1"/>
          </p:cNvSpPr>
          <p:nvPr>
            <p:ph type="title"/>
          </p:nvPr>
        </p:nvSpPr>
        <p:spPr>
          <a:xfrm>
            <a:off x="923040" y="153288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4000"/>
              <a:buFont typeface="Times New Roman"/>
              <a:buNone/>
            </a:pPr>
            <a:r>
              <a:rPr lang="en-US" sz="4000" b="1" u="sng" strike="noStrike">
                <a:solidFill>
                  <a:srgbClr val="002060"/>
                </a:solidFill>
                <a:latin typeface="Times New Roman"/>
                <a:ea typeface="Times New Roman"/>
                <a:cs typeface="Times New Roman"/>
                <a:sym typeface="Times New Roman"/>
              </a:rPr>
              <a:t>Problem Statement</a:t>
            </a:r>
            <a:endParaRPr sz="4000" b="0" u="none" strike="noStrike">
              <a:solidFill>
                <a:schemeClr val="dk1"/>
              </a:solidFill>
              <a:latin typeface="Calibri"/>
              <a:ea typeface="Calibri"/>
              <a:cs typeface="Calibri"/>
              <a:sym typeface="Calibri"/>
            </a:endParaRPr>
          </a:p>
        </p:txBody>
      </p:sp>
      <p:sp>
        <p:nvSpPr>
          <p:cNvPr id="195" name="Google Shape;195;p24"/>
          <p:cNvSpPr txBox="1">
            <a:spLocks noGrp="1"/>
          </p:cNvSpPr>
          <p:nvPr>
            <p:ph type="body" idx="1"/>
          </p:nvPr>
        </p:nvSpPr>
        <p:spPr>
          <a:xfrm>
            <a:off x="0" y="3232632"/>
            <a:ext cx="12191400" cy="2296800"/>
          </a:xfrm>
          <a:prstGeom prst="rect">
            <a:avLst/>
          </a:prstGeom>
          <a:noFill/>
          <a:ln>
            <a:noFill/>
          </a:ln>
        </p:spPr>
        <p:txBody>
          <a:bodyPr spcFirstLastPara="1" wrap="square" lIns="91425" tIns="45700" rIns="91425" bIns="45700" anchor="ctr" anchorCtr="0">
            <a:spAutoFit/>
          </a:bodyPr>
          <a:lstStyle/>
          <a:p>
            <a:pPr marL="0" marR="0" lvl="0" indent="0" algn="l" rtl="0">
              <a:lnSpc>
                <a:spcPct val="2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Monitoring Cost:</a:t>
            </a:r>
            <a:r>
              <a:rPr lang="en-US" sz="1600" b="0" i="0" u="none" strike="noStrike" cap="none">
                <a:solidFill>
                  <a:schemeClr val="dk1"/>
                </a:solidFill>
                <a:latin typeface="Times New Roman"/>
                <a:ea typeface="Times New Roman"/>
                <a:cs typeface="Times New Roman"/>
                <a:sym typeface="Times New Roman"/>
              </a:rPr>
              <a:t> Commercial continuous vibration monitoring may be too expensive or complex for small machines and educational setups.</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Manual Detection:</a:t>
            </a:r>
            <a:r>
              <a:rPr lang="en-US" sz="1600" b="0" i="0" u="none" strike="noStrike" cap="none">
                <a:solidFill>
                  <a:schemeClr val="dk1"/>
                </a:solidFill>
                <a:latin typeface="Times New Roman"/>
                <a:ea typeface="Times New Roman"/>
                <a:cs typeface="Times New Roman"/>
                <a:sym typeface="Times New Roman"/>
              </a:rPr>
              <a:t> Small vibration changes can be difficult to judge consistently and provide no numerical record.</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Engineering Hypothesis:</a:t>
            </a:r>
            <a:r>
              <a:rPr lang="en-US" sz="1600" b="0" i="0" u="none" strike="noStrike" cap="none">
                <a:solidFill>
                  <a:schemeClr val="dk1"/>
                </a:solidFill>
                <a:latin typeface="Times New Roman"/>
                <a:ea typeface="Times New Roman"/>
                <a:cs typeface="Times New Roman"/>
                <a:sym typeface="Times New Roman"/>
              </a:rPr>
              <a:t> A low-cost embedded system can distinguish a documented Normal condition from a safe controlled Abnormal vibration condition.</a:t>
            </a:r>
            <a:endParaRPr sz="1600" b="0" i="0" u="none" strike="noStrike" cap="none">
              <a:solidFill>
                <a:schemeClr val="dk1"/>
              </a:solidFill>
              <a:latin typeface="Calibri"/>
              <a:ea typeface="Calibri"/>
              <a:cs typeface="Calibri"/>
              <a:sym typeface="Calibri"/>
            </a:endParaRPr>
          </a:p>
        </p:txBody>
      </p:sp>
      <p:sp>
        <p:nvSpPr>
          <p:cNvPr id="196" name="Google Shape;196;p24"/>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97" name="Google Shape;197;p24"/>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98" name="Google Shape;198;p24"/>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12</a:t>
            </a:fld>
            <a:endParaRPr/>
          </a:p>
        </p:txBody>
      </p:sp>
      <p:sp>
        <p:nvSpPr>
          <p:cNvPr id="199" name="Google Shape;199;p24"/>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25"/>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05" name="Google Shape;205;p25"/>
          <p:cNvSpPr txBox="1">
            <a:spLocks noGrp="1"/>
          </p:cNvSpPr>
          <p:nvPr>
            <p:ph type="title"/>
          </p:nvPr>
        </p:nvSpPr>
        <p:spPr>
          <a:xfrm>
            <a:off x="838080" y="148284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4000"/>
              <a:buFont typeface="Times New Roman"/>
              <a:buNone/>
            </a:pPr>
            <a:r>
              <a:rPr lang="en-US" sz="4000" b="1" u="sng" strike="noStrike">
                <a:solidFill>
                  <a:srgbClr val="002060"/>
                </a:solidFill>
                <a:latin typeface="Times New Roman"/>
                <a:ea typeface="Times New Roman"/>
                <a:cs typeface="Times New Roman"/>
                <a:sym typeface="Times New Roman"/>
              </a:rPr>
              <a:t>Proposed Method</a:t>
            </a:r>
            <a:endParaRPr sz="4000" b="0" u="none" strike="noStrike">
              <a:solidFill>
                <a:schemeClr val="dk1"/>
              </a:solidFill>
              <a:latin typeface="Calibri"/>
              <a:ea typeface="Calibri"/>
              <a:cs typeface="Calibri"/>
              <a:sym typeface="Calibri"/>
            </a:endParaRPr>
          </a:p>
        </p:txBody>
      </p:sp>
      <p:sp>
        <p:nvSpPr>
          <p:cNvPr id="206" name="Google Shape;206;p25"/>
          <p:cNvSpPr txBox="1">
            <a:spLocks noGrp="1"/>
          </p:cNvSpPr>
          <p:nvPr>
            <p:ph type="body" idx="1"/>
          </p:nvPr>
        </p:nvSpPr>
        <p:spPr>
          <a:xfrm>
            <a:off x="0" y="2362170"/>
            <a:ext cx="12191100" cy="4176300"/>
          </a:xfrm>
          <a:prstGeom prst="rect">
            <a:avLst/>
          </a:prstGeom>
          <a:noFill/>
          <a:ln>
            <a:noFill/>
          </a:ln>
        </p:spPr>
        <p:txBody>
          <a:bodyPr spcFirstLastPara="1" wrap="square" lIns="91425" tIns="45700" rIns="91425" bIns="45700" anchor="ctr" anchorCtr="0">
            <a:spAutoFit/>
          </a:bodyPr>
          <a:lstStyle/>
          <a:p>
            <a:pPr marL="0" marR="0" lvl="0" indent="0" algn="l" rtl="0">
              <a:lnSpc>
                <a:spcPct val="200000"/>
              </a:lnSpc>
              <a:spcBef>
                <a:spcPts val="0"/>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Sensor:</a:t>
            </a:r>
            <a:r>
              <a:rPr lang="en-US" sz="1600" b="0" i="0" u="none" strike="noStrike" cap="none" dirty="0">
                <a:solidFill>
                  <a:schemeClr val="dk1"/>
                </a:solidFill>
                <a:latin typeface="Times New Roman"/>
                <a:ea typeface="Times New Roman"/>
                <a:cs typeface="Times New Roman"/>
                <a:sym typeface="Times New Roman"/>
              </a:rPr>
              <a:t> One rigidly mounted ADXL345-class tri-axis accelerometer measures vibration.</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Controller:</a:t>
            </a:r>
            <a:r>
              <a:rPr lang="en-US" sz="1600" b="0" i="0" u="none" strike="noStrike" cap="none" dirty="0">
                <a:solidFill>
                  <a:schemeClr val="dk1"/>
                </a:solidFill>
                <a:latin typeface="Times New Roman"/>
                <a:ea typeface="Times New Roman"/>
                <a:cs typeface="Times New Roman"/>
                <a:sym typeface="Times New Roman"/>
              </a:rPr>
              <a:t> ESP32 reads acceleration data through SPI.</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Processing:</a:t>
            </a:r>
            <a:r>
              <a:rPr lang="en-US" sz="1600" b="0" i="0" u="none" strike="noStrike" cap="none" dirty="0">
                <a:solidFill>
                  <a:schemeClr val="dk1"/>
                </a:solidFill>
                <a:latin typeface="Times New Roman"/>
                <a:ea typeface="Times New Roman"/>
                <a:cs typeface="Times New Roman"/>
                <a:sym typeface="Times New Roman"/>
              </a:rPr>
              <a:t> DC/mean removal prepares the vibration signal for analysis.</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Decision:</a:t>
            </a:r>
            <a:r>
              <a:rPr lang="en-US" sz="1600" b="0" i="0" u="none" strike="noStrike" cap="none" dirty="0">
                <a:solidFill>
                  <a:schemeClr val="dk1"/>
                </a:solidFill>
                <a:latin typeface="Times New Roman"/>
                <a:ea typeface="Times New Roman"/>
                <a:cs typeface="Times New Roman"/>
                <a:sym typeface="Times New Roman"/>
              </a:rPr>
              <a:t> RMS + persistence forms the minimum Normal/Abnormal decision method.</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Supporting Analysis:</a:t>
            </a:r>
            <a:r>
              <a:rPr lang="en-US" sz="1600" b="0" i="0" u="none" strike="noStrike" cap="none" dirty="0">
                <a:solidFill>
                  <a:schemeClr val="dk1"/>
                </a:solidFill>
                <a:latin typeface="Times New Roman"/>
                <a:ea typeface="Times New Roman"/>
                <a:cs typeface="Times New Roman"/>
                <a:sym typeface="Times New Roman"/>
              </a:rPr>
              <a:t> Triggered FFT provides supporting frequency-domain information.</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Output:</a:t>
            </a:r>
            <a:r>
              <a:rPr lang="en-US" sz="1600" b="0" i="0" u="none" strike="noStrike" cap="none" dirty="0">
                <a:solidFill>
                  <a:schemeClr val="dk1"/>
                </a:solidFill>
                <a:latin typeface="Times New Roman"/>
                <a:ea typeface="Times New Roman"/>
                <a:cs typeface="Times New Roman"/>
                <a:sym typeface="Times New Roman"/>
              </a:rPr>
              <a:t> RGB state indication and structured USB logging.</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Test Rig:</a:t>
            </a:r>
            <a:r>
              <a:rPr lang="en-US" sz="1600" b="0" i="0" u="none" strike="noStrike" cap="none" dirty="0">
                <a:solidFill>
                  <a:schemeClr val="dk1"/>
                </a:solidFill>
                <a:latin typeface="Times New Roman"/>
                <a:ea typeface="Times New Roman"/>
                <a:cs typeface="Times New Roman"/>
                <a:sym typeface="Times New Roman"/>
              </a:rPr>
              <a:t> A guarded low-voltage motor/fan rig provides controlled Normal and Abnormal conditions.</a:t>
            </a:r>
            <a:endParaRPr sz="1600" b="0" i="0" u="none" strike="noStrike" cap="none" dirty="0">
              <a:solidFill>
                <a:schemeClr val="dk1"/>
              </a:solidFill>
              <a:latin typeface="Calibri"/>
              <a:ea typeface="Calibri"/>
              <a:cs typeface="Calibri"/>
              <a:sym typeface="Calibri"/>
            </a:endParaRPr>
          </a:p>
        </p:txBody>
      </p:sp>
      <p:sp>
        <p:nvSpPr>
          <p:cNvPr id="207" name="Google Shape;207;p25"/>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208" name="Google Shape;208;p25"/>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209" name="Google Shape;209;p25"/>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13</a:t>
            </a:fld>
            <a:endParaRPr/>
          </a:p>
        </p:txBody>
      </p:sp>
      <p:sp>
        <p:nvSpPr>
          <p:cNvPr id="210" name="Google Shape;210;p25"/>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26"/>
          <p:cNvPicPr preferRelativeResize="0"/>
          <p:nvPr/>
        </p:nvPicPr>
        <p:blipFill rotWithShape="1">
          <a:blip r:embed="rId3">
            <a:alphaModFix/>
          </a:blip>
          <a:srcRect/>
          <a:stretch/>
        </p:blipFill>
        <p:spPr>
          <a:xfrm>
            <a:off x="1307880" y="162000"/>
            <a:ext cx="9744841" cy="1608840"/>
          </a:xfrm>
          <a:prstGeom prst="rect">
            <a:avLst/>
          </a:prstGeom>
          <a:noFill/>
          <a:ln>
            <a:noFill/>
          </a:ln>
        </p:spPr>
      </p:pic>
      <p:sp>
        <p:nvSpPr>
          <p:cNvPr id="216" name="Google Shape;216;p26"/>
          <p:cNvSpPr txBox="1">
            <a:spLocks noGrp="1"/>
          </p:cNvSpPr>
          <p:nvPr>
            <p:ph type="title"/>
          </p:nvPr>
        </p:nvSpPr>
        <p:spPr>
          <a:xfrm>
            <a:off x="838080" y="130752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strike="noStrike">
                <a:solidFill>
                  <a:srgbClr val="002060"/>
                </a:solidFill>
                <a:latin typeface="Times New Roman"/>
                <a:ea typeface="Times New Roman"/>
                <a:cs typeface="Times New Roman"/>
                <a:sym typeface="Times New Roman"/>
              </a:rPr>
              <a:t>Basic Block Diagram</a:t>
            </a:r>
            <a:endParaRPr sz="3600" b="0" u="none" strike="noStrike">
              <a:solidFill>
                <a:schemeClr val="dk1"/>
              </a:solidFill>
              <a:latin typeface="Calibri"/>
              <a:ea typeface="Calibri"/>
              <a:cs typeface="Calibri"/>
              <a:sym typeface="Calibri"/>
            </a:endParaRPr>
          </a:p>
        </p:txBody>
      </p:sp>
      <p:sp>
        <p:nvSpPr>
          <p:cNvPr id="217" name="Google Shape;217;p26"/>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pic>
        <p:nvPicPr>
          <p:cNvPr id="218" name="Google Shape;218;p26"/>
          <p:cNvPicPr preferRelativeResize="0"/>
          <p:nvPr/>
        </p:nvPicPr>
        <p:blipFill rotWithShape="1">
          <a:blip r:embed="rId4">
            <a:alphaModFix/>
          </a:blip>
          <a:srcRect t="17776" b="2224"/>
          <a:stretch/>
        </p:blipFill>
        <p:spPr>
          <a:xfrm>
            <a:off x="2286000" y="2286360"/>
            <a:ext cx="7591679" cy="4114441"/>
          </a:xfrm>
          <a:prstGeom prst="rect">
            <a:avLst/>
          </a:prstGeom>
          <a:noFill/>
          <a:ln>
            <a:noFill/>
          </a:ln>
        </p:spPr>
      </p:pic>
      <p:sp>
        <p:nvSpPr>
          <p:cNvPr id="219" name="Google Shape;219;p26"/>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220" name="Google Shape;220;p26"/>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14</a:t>
            </a:fld>
            <a:endParaRPr/>
          </a:p>
        </p:txBody>
      </p:sp>
      <p:sp>
        <p:nvSpPr>
          <p:cNvPr id="221" name="Google Shape;221;p26"/>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27"/>
          <p:cNvPicPr preferRelativeResize="0"/>
          <p:nvPr/>
        </p:nvPicPr>
        <p:blipFill rotWithShape="1">
          <a:blip r:embed="rId3">
            <a:alphaModFix/>
          </a:blip>
          <a:srcRect/>
          <a:stretch/>
        </p:blipFill>
        <p:spPr>
          <a:xfrm>
            <a:off x="806880" y="194100"/>
            <a:ext cx="10578239" cy="1746720"/>
          </a:xfrm>
          <a:prstGeom prst="rect">
            <a:avLst/>
          </a:prstGeom>
          <a:noFill/>
          <a:ln>
            <a:noFill/>
          </a:ln>
        </p:spPr>
      </p:pic>
      <p:sp>
        <p:nvSpPr>
          <p:cNvPr id="227" name="Google Shape;227;p27"/>
          <p:cNvSpPr txBox="1">
            <a:spLocks noGrp="1"/>
          </p:cNvSpPr>
          <p:nvPr>
            <p:ph type="title"/>
          </p:nvPr>
        </p:nvSpPr>
        <p:spPr>
          <a:xfrm>
            <a:off x="996999" y="1600911"/>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a:solidFill>
                  <a:srgbClr val="002060"/>
                </a:solidFill>
                <a:latin typeface="Times New Roman"/>
                <a:ea typeface="Times New Roman"/>
                <a:cs typeface="Times New Roman"/>
                <a:sym typeface="Times New Roman"/>
              </a:rPr>
              <a:t>Detailed </a:t>
            </a:r>
            <a:r>
              <a:rPr lang="en-US" sz="3600" b="1" u="sng" strike="noStrike">
                <a:solidFill>
                  <a:srgbClr val="002060"/>
                </a:solidFill>
                <a:latin typeface="Times New Roman"/>
                <a:ea typeface="Times New Roman"/>
                <a:cs typeface="Times New Roman"/>
                <a:sym typeface="Times New Roman"/>
              </a:rPr>
              <a:t>Block Diagram</a:t>
            </a:r>
            <a:endParaRPr sz="3600" b="0" u="none" strike="noStrike">
              <a:solidFill>
                <a:schemeClr val="dk1"/>
              </a:solidFill>
              <a:latin typeface="Calibri"/>
              <a:ea typeface="Calibri"/>
              <a:cs typeface="Calibri"/>
              <a:sym typeface="Calibri"/>
            </a:endParaRPr>
          </a:p>
        </p:txBody>
      </p:sp>
      <p:pic>
        <p:nvPicPr>
          <p:cNvPr id="228" name="Google Shape;228;p27"/>
          <p:cNvPicPr preferRelativeResize="0"/>
          <p:nvPr/>
        </p:nvPicPr>
        <p:blipFill>
          <a:blip r:embed="rId4">
            <a:alphaModFix/>
          </a:blip>
          <a:stretch>
            <a:fillRect/>
          </a:stretch>
        </p:blipFill>
        <p:spPr>
          <a:xfrm>
            <a:off x="0" y="2925350"/>
            <a:ext cx="12192000" cy="37802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pic>
        <p:nvPicPr>
          <p:cNvPr id="233" name="Google Shape;233;p28"/>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34" name="Google Shape;234;p28"/>
          <p:cNvSpPr txBox="1">
            <a:spLocks noGrp="1"/>
          </p:cNvSpPr>
          <p:nvPr>
            <p:ph type="body" idx="1"/>
          </p:nvPr>
        </p:nvSpPr>
        <p:spPr>
          <a:xfrm>
            <a:off x="891360" y="0"/>
            <a:ext cx="10514100" cy="4349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2060"/>
              </a:buClr>
              <a:buSzPts val="3600"/>
              <a:buFont typeface="Times New Roman"/>
              <a:buNone/>
            </a:pPr>
            <a:r>
              <a:rPr lang="en-US" sz="3600" b="1" i="0" u="sng" strike="noStrike" cap="none">
                <a:solidFill>
                  <a:srgbClr val="002060"/>
                </a:solidFill>
                <a:latin typeface="Times New Roman"/>
                <a:ea typeface="Times New Roman"/>
                <a:cs typeface="Times New Roman"/>
                <a:sym typeface="Times New Roman"/>
              </a:rPr>
              <a:t>Components Required </a:t>
            </a:r>
            <a:endParaRPr sz="3600" b="0" i="0" u="none" strike="noStrike" cap="none">
              <a:solidFill>
                <a:schemeClr val="dk1"/>
              </a:solidFill>
              <a:latin typeface="Calibri"/>
              <a:ea typeface="Calibri"/>
              <a:cs typeface="Calibri"/>
              <a:sym typeface="Calibri"/>
            </a:endParaRPr>
          </a:p>
        </p:txBody>
      </p:sp>
      <p:graphicFrame>
        <p:nvGraphicFramePr>
          <p:cNvPr id="235" name="Google Shape;235;p28"/>
          <p:cNvGraphicFramePr/>
          <p:nvPr/>
        </p:nvGraphicFramePr>
        <p:xfrm>
          <a:off x="0" y="2779784"/>
          <a:ext cx="3000000" cy="3000000"/>
        </p:xfrm>
        <a:graphic>
          <a:graphicData uri="http://schemas.openxmlformats.org/drawingml/2006/table">
            <a:tbl>
              <a:tblPr firstRow="1" bandRow="1">
                <a:noFill/>
                <a:tableStyleId>{35EB49CC-8993-4C5E-BBAA-1E5CC7E3EDA8}</a:tableStyleId>
              </a:tblPr>
              <a:tblGrid>
                <a:gridCol w="2921675">
                  <a:extLst>
                    <a:ext uri="{9D8B030D-6E8A-4147-A177-3AD203B41FA5}">
                      <a16:colId xmlns:a16="http://schemas.microsoft.com/office/drawing/2014/main" val="20000"/>
                    </a:ext>
                  </a:extLst>
                </a:gridCol>
                <a:gridCol w="2921675">
                  <a:extLst>
                    <a:ext uri="{9D8B030D-6E8A-4147-A177-3AD203B41FA5}">
                      <a16:colId xmlns:a16="http://schemas.microsoft.com/office/drawing/2014/main" val="20001"/>
                    </a:ext>
                  </a:extLst>
                </a:gridCol>
              </a:tblGrid>
              <a:tr h="561175">
                <a:tc>
                  <a:txBody>
                    <a:bodyPr/>
                    <a:lstStyle/>
                    <a:p>
                      <a:pPr marL="0" marR="0" lvl="0" indent="0" algn="l" rtl="0">
                        <a:spcBef>
                          <a:spcPts val="0"/>
                        </a:spcBef>
                        <a:spcAft>
                          <a:spcPts val="0"/>
                        </a:spcAft>
                        <a:buNone/>
                      </a:pPr>
                      <a:r>
                        <a:rPr lang="en-US" sz="1800" u="none" strike="noStrike" cap="none"/>
                        <a:t>Component </a:t>
                      </a:r>
                      <a:endParaRPr sz="1800"/>
                    </a:p>
                  </a:txBody>
                  <a:tcPr marL="91450" marR="91450" marT="45725" marB="45725"/>
                </a:tc>
                <a:tc>
                  <a:txBody>
                    <a:bodyPr/>
                    <a:lstStyle/>
                    <a:p>
                      <a:pPr marL="0" marR="0" lvl="0" indent="0" algn="l" rtl="0">
                        <a:spcBef>
                          <a:spcPts val="0"/>
                        </a:spcBef>
                        <a:spcAft>
                          <a:spcPts val="0"/>
                        </a:spcAft>
                        <a:buNone/>
                      </a:pPr>
                      <a:r>
                        <a:rPr lang="en-US" sz="1800"/>
                        <a:t>Purpose</a:t>
                      </a:r>
                      <a:endParaRPr sz="1800"/>
                    </a:p>
                  </a:txBody>
                  <a:tcPr marL="91450" marR="91450" marT="45725" marB="45725"/>
                </a:tc>
                <a:extLst>
                  <a:ext uri="{0D108BD9-81ED-4DB2-BD59-A6C34878D82A}">
                    <a16:rowId xmlns:a16="http://schemas.microsoft.com/office/drawing/2014/main" val="10000"/>
                  </a:ext>
                </a:extLst>
              </a:tr>
              <a:tr h="914400">
                <a:tc>
                  <a:txBody>
                    <a:bodyPr/>
                    <a:lstStyle/>
                    <a:p>
                      <a:pPr marL="0" marR="0" lvl="0" indent="0" algn="l" rtl="0">
                        <a:spcBef>
                          <a:spcPts val="0"/>
                        </a:spcBef>
                        <a:spcAft>
                          <a:spcPts val="0"/>
                        </a:spcAft>
                        <a:buNone/>
                      </a:pPr>
                      <a:r>
                        <a:rPr lang="en-US" sz="1800"/>
                        <a:t>ESP32 development board</a:t>
                      </a:r>
                      <a:endParaRPr sz="1800"/>
                    </a:p>
                  </a:txBody>
                  <a:tcPr marL="91450" marR="91450" marT="45725" marB="45725"/>
                </a:tc>
                <a:tc>
                  <a:txBody>
                    <a:bodyPr/>
                    <a:lstStyle/>
                    <a:p>
                      <a:pPr marL="0" marR="0" lvl="0" indent="0" algn="l" rtl="0">
                        <a:spcBef>
                          <a:spcPts val="0"/>
                        </a:spcBef>
                        <a:spcAft>
                          <a:spcPts val="0"/>
                        </a:spcAft>
                        <a:buNone/>
                      </a:pPr>
                      <a:r>
                        <a:rPr lang="en-US" sz="1800"/>
                        <a:t>Main controller for reading sensor data and processing logic</a:t>
                      </a:r>
                      <a:endParaRPr sz="1800"/>
                    </a:p>
                  </a:txBody>
                  <a:tcPr marL="91450" marR="91450" marT="45725" marB="45725"/>
                </a:tc>
                <a:extLst>
                  <a:ext uri="{0D108BD9-81ED-4DB2-BD59-A6C34878D82A}">
                    <a16:rowId xmlns:a16="http://schemas.microsoft.com/office/drawing/2014/main" val="10001"/>
                  </a:ext>
                </a:extLst>
              </a:tr>
              <a:tr h="561175">
                <a:tc>
                  <a:txBody>
                    <a:bodyPr/>
                    <a:lstStyle/>
                    <a:p>
                      <a:pPr marL="0" marR="0" lvl="0" indent="0" algn="l" rtl="0">
                        <a:spcBef>
                          <a:spcPts val="0"/>
                        </a:spcBef>
                        <a:spcAft>
                          <a:spcPts val="0"/>
                        </a:spcAft>
                        <a:buNone/>
                      </a:pPr>
                      <a:r>
                        <a:rPr lang="en-US" sz="1800"/>
                        <a:t>ADXL345 accelerometer</a:t>
                      </a:r>
                      <a:endParaRPr sz="1800"/>
                    </a:p>
                  </a:txBody>
                  <a:tcPr marL="91450" marR="91450" marT="45725" marB="45725"/>
                </a:tc>
                <a:tc>
                  <a:txBody>
                    <a:bodyPr/>
                    <a:lstStyle/>
                    <a:p>
                      <a:pPr marL="0" marR="0" lvl="0" indent="0" algn="l" rtl="0">
                        <a:spcBef>
                          <a:spcPts val="0"/>
                        </a:spcBef>
                        <a:spcAft>
                          <a:spcPts val="0"/>
                        </a:spcAft>
                        <a:buNone/>
                      </a:pPr>
                      <a:r>
                        <a:rPr lang="en-US" sz="1800"/>
                        <a:t>Measures vibration in 3 axes</a:t>
                      </a:r>
                      <a:endParaRPr sz="1800"/>
                    </a:p>
                  </a:txBody>
                  <a:tcPr marL="91450" marR="91450" marT="45725" marB="45725"/>
                </a:tc>
                <a:extLst>
                  <a:ext uri="{0D108BD9-81ED-4DB2-BD59-A6C34878D82A}">
                    <a16:rowId xmlns:a16="http://schemas.microsoft.com/office/drawing/2014/main" val="10002"/>
                  </a:ext>
                </a:extLst>
              </a:tr>
              <a:tr h="640075">
                <a:tc>
                  <a:txBody>
                    <a:bodyPr/>
                    <a:lstStyle/>
                    <a:p>
                      <a:pPr marL="0" marR="0" lvl="0" indent="0" algn="l" rtl="0">
                        <a:spcBef>
                          <a:spcPts val="0"/>
                        </a:spcBef>
                        <a:spcAft>
                          <a:spcPts val="0"/>
                        </a:spcAft>
                        <a:buNone/>
                      </a:pPr>
                      <a:r>
                        <a:rPr lang="en-US" sz="1800"/>
                        <a:t>RGB LED</a:t>
                      </a:r>
                      <a:endParaRPr sz="1800"/>
                    </a:p>
                  </a:txBody>
                  <a:tcPr marL="91450" marR="91450" marT="45725" marB="45725"/>
                </a:tc>
                <a:tc>
                  <a:txBody>
                    <a:bodyPr/>
                    <a:lstStyle/>
                    <a:p>
                      <a:pPr marL="0" marR="0" lvl="0" indent="0" algn="l" rtl="0">
                        <a:spcBef>
                          <a:spcPts val="0"/>
                        </a:spcBef>
                        <a:spcAft>
                          <a:spcPts val="0"/>
                        </a:spcAft>
                        <a:buNone/>
                      </a:pPr>
                      <a:r>
                        <a:rPr lang="en-US" sz="1800"/>
                        <a:t>Indicates machine condition visually</a:t>
                      </a:r>
                      <a:endParaRPr sz="1800"/>
                    </a:p>
                  </a:txBody>
                  <a:tcPr marL="91450" marR="91450" marT="45725" marB="45725"/>
                </a:tc>
                <a:extLst>
                  <a:ext uri="{0D108BD9-81ED-4DB2-BD59-A6C34878D82A}">
                    <a16:rowId xmlns:a16="http://schemas.microsoft.com/office/drawing/2014/main" val="10003"/>
                  </a:ext>
                </a:extLst>
              </a:tr>
              <a:tr h="640075">
                <a:tc>
                  <a:txBody>
                    <a:bodyPr/>
                    <a:lstStyle/>
                    <a:p>
                      <a:pPr marL="0" marR="0" lvl="0" indent="0" algn="l" rtl="0">
                        <a:spcBef>
                          <a:spcPts val="0"/>
                        </a:spcBef>
                        <a:spcAft>
                          <a:spcPts val="0"/>
                        </a:spcAft>
                        <a:buNone/>
                      </a:pPr>
                      <a:r>
                        <a:rPr lang="en-US" sz="1800"/>
                        <a:t>Resistors</a:t>
                      </a:r>
                      <a:endParaRPr sz="1800"/>
                    </a:p>
                  </a:txBody>
                  <a:tcPr marL="91450" marR="91450" marT="45725" marB="45725"/>
                </a:tc>
                <a:tc>
                  <a:txBody>
                    <a:bodyPr/>
                    <a:lstStyle/>
                    <a:p>
                      <a:pPr marL="0" marR="0" lvl="0" indent="0" algn="l" rtl="0">
                        <a:spcBef>
                          <a:spcPts val="0"/>
                        </a:spcBef>
                        <a:spcAft>
                          <a:spcPts val="0"/>
                        </a:spcAft>
                        <a:buNone/>
                      </a:pPr>
                      <a:r>
                        <a:rPr lang="en-US" sz="1800"/>
                        <a:t>Current limiting for LED connections</a:t>
                      </a:r>
                      <a:endParaRPr sz="1800"/>
                    </a:p>
                  </a:txBody>
                  <a:tcPr marL="91450" marR="91450" marT="45725" marB="45725"/>
                </a:tc>
                <a:extLst>
                  <a:ext uri="{0D108BD9-81ED-4DB2-BD59-A6C34878D82A}">
                    <a16:rowId xmlns:a16="http://schemas.microsoft.com/office/drawing/2014/main" val="10004"/>
                  </a:ext>
                </a:extLst>
              </a:tr>
              <a:tr h="561175">
                <a:tc>
                  <a:txBody>
                    <a:bodyPr/>
                    <a:lstStyle/>
                    <a:p>
                      <a:pPr marL="0" marR="0" lvl="0" indent="0" algn="l" rtl="0">
                        <a:spcBef>
                          <a:spcPts val="0"/>
                        </a:spcBef>
                        <a:spcAft>
                          <a:spcPts val="0"/>
                        </a:spcAft>
                        <a:buNone/>
                      </a:pPr>
                      <a:r>
                        <a:rPr lang="en-US" sz="1800"/>
                        <a:t>Breadboard / PCB</a:t>
                      </a:r>
                      <a:endParaRPr sz="1800"/>
                    </a:p>
                  </a:txBody>
                  <a:tcPr marL="91450" marR="91450" marT="45725" marB="45725"/>
                </a:tc>
                <a:tc>
                  <a:txBody>
                    <a:bodyPr/>
                    <a:lstStyle/>
                    <a:p>
                      <a:pPr marL="0" marR="0" lvl="0" indent="0" algn="l" rtl="0">
                        <a:spcBef>
                          <a:spcPts val="0"/>
                        </a:spcBef>
                        <a:spcAft>
                          <a:spcPts val="0"/>
                        </a:spcAft>
                        <a:buNone/>
                      </a:pPr>
                      <a:r>
                        <a:rPr lang="en-US" sz="1800"/>
                        <a:t>Prototype assembly</a:t>
                      </a:r>
                      <a:endParaRPr sz="1800"/>
                    </a:p>
                  </a:txBody>
                  <a:tcPr marL="91450" marR="91450" marT="45725" marB="45725"/>
                </a:tc>
                <a:extLst>
                  <a:ext uri="{0D108BD9-81ED-4DB2-BD59-A6C34878D82A}">
                    <a16:rowId xmlns:a16="http://schemas.microsoft.com/office/drawing/2014/main" val="10005"/>
                  </a:ext>
                </a:extLst>
              </a:tr>
            </a:tbl>
          </a:graphicData>
        </a:graphic>
      </p:graphicFrame>
      <p:graphicFrame>
        <p:nvGraphicFramePr>
          <p:cNvPr id="236" name="Google Shape;236;p28"/>
          <p:cNvGraphicFramePr/>
          <p:nvPr/>
        </p:nvGraphicFramePr>
        <p:xfrm>
          <a:off x="6246770" y="2779783"/>
          <a:ext cx="3000000" cy="3000000"/>
        </p:xfrm>
        <a:graphic>
          <a:graphicData uri="http://schemas.openxmlformats.org/drawingml/2006/table">
            <a:tbl>
              <a:tblPr firstRow="1" bandRow="1">
                <a:noFill/>
                <a:tableStyleId>{35EB49CC-8993-4C5E-BBAA-1E5CC7E3EDA8}</a:tableStyleId>
              </a:tblPr>
              <a:tblGrid>
                <a:gridCol w="2988675">
                  <a:extLst>
                    <a:ext uri="{9D8B030D-6E8A-4147-A177-3AD203B41FA5}">
                      <a16:colId xmlns:a16="http://schemas.microsoft.com/office/drawing/2014/main" val="20000"/>
                    </a:ext>
                  </a:extLst>
                </a:gridCol>
                <a:gridCol w="2988675">
                  <a:extLst>
                    <a:ext uri="{9D8B030D-6E8A-4147-A177-3AD203B41FA5}">
                      <a16:colId xmlns:a16="http://schemas.microsoft.com/office/drawing/2014/main" val="20001"/>
                    </a:ext>
                  </a:extLst>
                </a:gridCol>
              </a:tblGrid>
              <a:tr h="618275">
                <a:tc>
                  <a:txBody>
                    <a:bodyPr/>
                    <a:lstStyle/>
                    <a:p>
                      <a:pPr marL="0" marR="0" lvl="0" indent="0" algn="l" rtl="0">
                        <a:spcBef>
                          <a:spcPts val="0"/>
                        </a:spcBef>
                        <a:spcAft>
                          <a:spcPts val="0"/>
                        </a:spcAft>
                        <a:buNone/>
                      </a:pPr>
                      <a:r>
                        <a:rPr lang="en-US" sz="1800"/>
                        <a:t>Components </a:t>
                      </a:r>
                      <a:endParaRPr sz="1800"/>
                    </a:p>
                  </a:txBody>
                  <a:tcPr marL="91450" marR="91450" marT="45725" marB="45725"/>
                </a:tc>
                <a:tc>
                  <a:txBody>
                    <a:bodyPr/>
                    <a:lstStyle/>
                    <a:p>
                      <a:pPr marL="0" marR="0" lvl="0" indent="0" algn="l" rtl="0">
                        <a:spcBef>
                          <a:spcPts val="0"/>
                        </a:spcBef>
                        <a:spcAft>
                          <a:spcPts val="0"/>
                        </a:spcAft>
                        <a:buNone/>
                      </a:pPr>
                      <a:r>
                        <a:rPr lang="en-US" sz="1800"/>
                        <a:t>Purpose</a:t>
                      </a:r>
                      <a:endParaRPr sz="1800"/>
                    </a:p>
                  </a:txBody>
                  <a:tcPr marL="91450" marR="91450" marT="45725" marB="45725"/>
                </a:tc>
                <a:extLst>
                  <a:ext uri="{0D108BD9-81ED-4DB2-BD59-A6C34878D82A}">
                    <a16:rowId xmlns:a16="http://schemas.microsoft.com/office/drawing/2014/main" val="10000"/>
                  </a:ext>
                </a:extLst>
              </a:tr>
              <a:tr h="618275">
                <a:tc>
                  <a:txBody>
                    <a:bodyPr/>
                    <a:lstStyle/>
                    <a:p>
                      <a:pPr marL="0" marR="0" lvl="0" indent="0" algn="l" rtl="0">
                        <a:spcBef>
                          <a:spcPts val="0"/>
                        </a:spcBef>
                        <a:spcAft>
                          <a:spcPts val="0"/>
                        </a:spcAft>
                        <a:buNone/>
                      </a:pPr>
                      <a:r>
                        <a:rPr lang="en-US" sz="1800"/>
                        <a:t>Jumper wires</a:t>
                      </a:r>
                      <a:endParaRPr sz="1800"/>
                    </a:p>
                  </a:txBody>
                  <a:tcPr marL="91450" marR="91450" marT="45725" marB="45725"/>
                </a:tc>
                <a:tc>
                  <a:txBody>
                    <a:bodyPr/>
                    <a:lstStyle/>
                    <a:p>
                      <a:pPr marL="0" marR="0" lvl="0" indent="0" algn="l" rtl="0">
                        <a:spcBef>
                          <a:spcPts val="0"/>
                        </a:spcBef>
                        <a:spcAft>
                          <a:spcPts val="0"/>
                        </a:spcAft>
                        <a:buNone/>
                      </a:pPr>
                      <a:r>
                        <a:rPr lang="en-US" sz="1800"/>
                        <a:t>Electrical interconnection</a:t>
                      </a:r>
                      <a:endParaRPr sz="1800"/>
                    </a:p>
                  </a:txBody>
                  <a:tcPr marL="91450" marR="91450" marT="45725" marB="45725"/>
                </a:tc>
                <a:extLst>
                  <a:ext uri="{0D108BD9-81ED-4DB2-BD59-A6C34878D82A}">
                    <a16:rowId xmlns:a16="http://schemas.microsoft.com/office/drawing/2014/main" val="10001"/>
                  </a:ext>
                </a:extLst>
              </a:tr>
              <a:tr h="660375">
                <a:tc>
                  <a:txBody>
                    <a:bodyPr/>
                    <a:lstStyle/>
                    <a:p>
                      <a:pPr marL="0" marR="0" lvl="0" indent="0" algn="l" rtl="0">
                        <a:spcBef>
                          <a:spcPts val="0"/>
                        </a:spcBef>
                        <a:spcAft>
                          <a:spcPts val="0"/>
                        </a:spcAft>
                        <a:buNone/>
                      </a:pPr>
                      <a:r>
                        <a:rPr lang="en-US" sz="1800"/>
                        <a:t>USB cable</a:t>
                      </a:r>
                      <a:endParaRPr sz="1800"/>
                    </a:p>
                  </a:txBody>
                  <a:tcPr marL="91450" marR="91450" marT="45725" marB="45725"/>
                </a:tc>
                <a:tc>
                  <a:txBody>
                    <a:bodyPr/>
                    <a:lstStyle/>
                    <a:p>
                      <a:pPr marL="0" marR="0" lvl="0" indent="0" algn="l" rtl="0">
                        <a:spcBef>
                          <a:spcPts val="0"/>
                        </a:spcBef>
                        <a:spcAft>
                          <a:spcPts val="0"/>
                        </a:spcAft>
                        <a:buNone/>
                      </a:pPr>
                      <a:r>
                        <a:rPr lang="en-US" sz="1800"/>
                        <a:t>Power and serial communication</a:t>
                      </a:r>
                      <a:endParaRPr sz="1800"/>
                    </a:p>
                  </a:txBody>
                  <a:tcPr marL="91450" marR="91450" marT="45725" marB="45725"/>
                </a:tc>
                <a:extLst>
                  <a:ext uri="{0D108BD9-81ED-4DB2-BD59-A6C34878D82A}">
                    <a16:rowId xmlns:a16="http://schemas.microsoft.com/office/drawing/2014/main" val="10002"/>
                  </a:ext>
                </a:extLst>
              </a:tr>
              <a:tr h="660375">
                <a:tc>
                  <a:txBody>
                    <a:bodyPr/>
                    <a:lstStyle/>
                    <a:p>
                      <a:pPr marL="0" marR="0" lvl="0" indent="0" algn="l" rtl="0">
                        <a:spcBef>
                          <a:spcPts val="0"/>
                        </a:spcBef>
                        <a:spcAft>
                          <a:spcPts val="0"/>
                        </a:spcAft>
                        <a:buNone/>
                      </a:pPr>
                      <a:r>
                        <a:rPr lang="en-US" sz="1800"/>
                        <a:t>DC motor / small rotating machine</a:t>
                      </a:r>
                      <a:endParaRPr sz="1800"/>
                    </a:p>
                  </a:txBody>
                  <a:tcPr marL="91450" marR="91450" marT="45725" marB="45725"/>
                </a:tc>
                <a:tc>
                  <a:txBody>
                    <a:bodyPr/>
                    <a:lstStyle/>
                    <a:p>
                      <a:pPr marL="0" marR="0" lvl="0" indent="0" algn="l" rtl="0">
                        <a:spcBef>
                          <a:spcPts val="0"/>
                        </a:spcBef>
                        <a:spcAft>
                          <a:spcPts val="0"/>
                        </a:spcAft>
                        <a:buNone/>
                      </a:pPr>
                      <a:r>
                        <a:rPr lang="en-US" sz="1800"/>
                        <a:t>Vibration source for testing</a:t>
                      </a:r>
                      <a:endParaRPr sz="1800"/>
                    </a:p>
                  </a:txBody>
                  <a:tcPr marL="91450" marR="91450" marT="45725" marB="45725"/>
                </a:tc>
                <a:extLst>
                  <a:ext uri="{0D108BD9-81ED-4DB2-BD59-A6C34878D82A}">
                    <a16:rowId xmlns:a16="http://schemas.microsoft.com/office/drawing/2014/main" val="10003"/>
                  </a:ext>
                </a:extLst>
              </a:tr>
              <a:tr h="660375">
                <a:tc>
                  <a:txBody>
                    <a:bodyPr/>
                    <a:lstStyle/>
                    <a:p>
                      <a:pPr marL="0" marR="0" lvl="0" indent="0" algn="l" rtl="0">
                        <a:spcBef>
                          <a:spcPts val="0"/>
                        </a:spcBef>
                        <a:spcAft>
                          <a:spcPts val="0"/>
                        </a:spcAft>
                        <a:buNone/>
                      </a:pPr>
                      <a:r>
                        <a:rPr lang="en-US" sz="1800"/>
                        <a:t>Mounting base / clamp</a:t>
                      </a:r>
                      <a:endParaRPr sz="1800"/>
                    </a:p>
                  </a:txBody>
                  <a:tcPr marL="91450" marR="91450" marT="45725" marB="45725"/>
                </a:tc>
                <a:tc>
                  <a:txBody>
                    <a:bodyPr/>
                    <a:lstStyle/>
                    <a:p>
                      <a:pPr marL="0" marR="0" lvl="0" indent="0" algn="l" rtl="0">
                        <a:spcBef>
                          <a:spcPts val="0"/>
                        </a:spcBef>
                        <a:spcAft>
                          <a:spcPts val="0"/>
                        </a:spcAft>
                        <a:buNone/>
                      </a:pPr>
                      <a:r>
                        <a:rPr lang="en-US" sz="1800"/>
                        <a:t>Fixing the sensor and test object</a:t>
                      </a:r>
                      <a:endParaRPr sz="1800"/>
                    </a:p>
                  </a:txBody>
                  <a:tcPr marL="91450" marR="91450" marT="45725" marB="45725"/>
                </a:tc>
                <a:extLst>
                  <a:ext uri="{0D108BD9-81ED-4DB2-BD59-A6C34878D82A}">
                    <a16:rowId xmlns:a16="http://schemas.microsoft.com/office/drawing/2014/main" val="10004"/>
                  </a:ext>
                </a:extLst>
              </a:tr>
              <a:tr h="660375">
                <a:tc>
                  <a:txBody>
                    <a:bodyPr/>
                    <a:lstStyle/>
                    <a:p>
                      <a:pPr marL="0" marR="0" lvl="0" indent="0" algn="l" rtl="0">
                        <a:spcBef>
                          <a:spcPts val="0"/>
                        </a:spcBef>
                        <a:spcAft>
                          <a:spcPts val="0"/>
                        </a:spcAft>
                        <a:buNone/>
                      </a:pPr>
                      <a:r>
                        <a:rPr lang="en-US" sz="1800"/>
                        <a:t>Laptop with Arduino IDE / serial monitor</a:t>
                      </a:r>
                      <a:endParaRPr sz="1800"/>
                    </a:p>
                  </a:txBody>
                  <a:tcPr marL="91450" marR="91450" marT="45725" marB="45725"/>
                </a:tc>
                <a:tc>
                  <a:txBody>
                    <a:bodyPr/>
                    <a:lstStyle/>
                    <a:p>
                      <a:pPr marL="0" marR="0" lvl="0" indent="0" algn="l" rtl="0">
                        <a:spcBef>
                          <a:spcPts val="0"/>
                        </a:spcBef>
                        <a:spcAft>
                          <a:spcPts val="0"/>
                        </a:spcAft>
                        <a:buNone/>
                      </a:pPr>
                      <a:r>
                        <a:rPr lang="en-US" sz="1800"/>
                        <a:t>Programming and logging</a:t>
                      </a:r>
                      <a:endParaRPr sz="1800"/>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Shape 240"/>
        <p:cNvGrpSpPr/>
        <p:nvPr/>
      </p:nvGrpSpPr>
      <p:grpSpPr>
        <a:xfrm>
          <a:off x="0" y="0"/>
          <a:ext cx="0" cy="0"/>
          <a:chOff x="0" y="0"/>
          <a:chExt cx="0" cy="0"/>
        </a:xfrm>
      </p:grpSpPr>
      <p:pic>
        <p:nvPicPr>
          <p:cNvPr id="241" name="Google Shape;241;p29"/>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42" name="Google Shape;242;p29"/>
          <p:cNvSpPr txBox="1">
            <a:spLocks noGrp="1"/>
          </p:cNvSpPr>
          <p:nvPr>
            <p:ph type="title"/>
          </p:nvPr>
        </p:nvSpPr>
        <p:spPr>
          <a:xfrm>
            <a:off x="955080" y="1503114"/>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a:solidFill>
                  <a:srgbClr val="002060"/>
                </a:solidFill>
                <a:latin typeface="Times New Roman"/>
                <a:ea typeface="Times New Roman"/>
                <a:cs typeface="Times New Roman"/>
                <a:sym typeface="Times New Roman"/>
              </a:rPr>
              <a:t>Circuit Diagram</a:t>
            </a:r>
            <a:endParaRPr sz="3600" b="0" u="none" strike="noStrike">
              <a:solidFill>
                <a:schemeClr val="dk1"/>
              </a:solidFill>
              <a:latin typeface="Calibri"/>
              <a:ea typeface="Calibri"/>
              <a:cs typeface="Calibri"/>
              <a:sym typeface="Calibri"/>
            </a:endParaRPr>
          </a:p>
        </p:txBody>
      </p:sp>
      <p:pic>
        <p:nvPicPr>
          <p:cNvPr id="299" name="Circuit Diagram Image"/>
          <p:cNvPicPr preferRelativeResize="0"/>
          <p:nvPr/>
        </p:nvPicPr>
        <p:blipFill>
          <a:blip r:embed="rId4">
            <a:alphaModFix/>
          </a:blip>
          <a:stretch>
            <a:fillRect/>
          </a:stretch>
        </p:blipFill>
        <p:spPr>
          <a:xfrm>
            <a:off x="457200" y="1828800"/>
            <a:ext cx="11277600" cy="4648200"/>
          </a:xfrm>
          <a:prstGeom prst="rect">
            <a:avLst/>
          </a:prstGeom>
          <a:noFill/>
          <a:ln>
            <a:noFill/>
          </a:ln>
        </p:spPr>
      </p:pic>
    </p:spTree>
  </p:cSld>
  <p:clrMapOvr>
    <a:masterClrMapping/>
  </p:clrMapOvr>
</p:sld>
</file>

<file path=ppt/slides/slide18.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Shape 246"/>
        <p:cNvGrpSpPr/>
        <p:nvPr/>
      </p:nvGrpSpPr>
      <p:grpSpPr>
        <a:xfrm>
          <a:off x="0" y="0"/>
          <a:ext cx="0" cy="0"/>
          <a:chOff x="0" y="0"/>
          <a:chExt cx="0" cy="0"/>
        </a:xfrm>
      </p:grpSpPr>
      <p:pic>
        <p:nvPicPr>
          <p:cNvPr id="247" name="Google Shape;247;p30"/>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48" name="Google Shape;248;p30"/>
          <p:cNvSpPr txBox="1">
            <a:spLocks noGrp="1"/>
          </p:cNvSpPr>
          <p:nvPr>
            <p:ph type="title"/>
          </p:nvPr>
        </p:nvSpPr>
        <p:spPr>
          <a:xfrm>
            <a:off x="955080" y="1539787"/>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a:solidFill>
                  <a:srgbClr val="002060"/>
                </a:solidFill>
                <a:latin typeface="Times New Roman"/>
                <a:ea typeface="Times New Roman"/>
                <a:cs typeface="Times New Roman"/>
                <a:sym typeface="Times New Roman"/>
              </a:rPr>
              <a:t>W</a:t>
            </a:r>
            <a:r>
              <a:rPr lang="en-US" sz="3600" b="1" u="sng" strike="noStrike">
                <a:solidFill>
                  <a:srgbClr val="002060"/>
                </a:solidFill>
                <a:latin typeface="Times New Roman"/>
                <a:ea typeface="Times New Roman"/>
                <a:cs typeface="Times New Roman"/>
                <a:sym typeface="Times New Roman"/>
              </a:rPr>
              <a:t>ork Done So Far</a:t>
            </a:r>
            <a:endParaRPr sz="3600" b="0" u="none" strike="noStrike">
              <a:solidFill>
                <a:schemeClr val="dk1"/>
              </a:solidFill>
              <a:latin typeface="Calibri"/>
              <a:ea typeface="Calibri"/>
              <a:cs typeface="Calibri"/>
              <a:sym typeface="Calibri"/>
            </a:endParaRPr>
          </a:p>
        </p:txBody>
      </p:sp>
      <p:sp>
        <p:nvSpPr>
          <p:cNvPr id="2" name="TextBox 1">
            <a:extLst>
              <a:ext uri="{FF2B5EF4-FFF2-40B4-BE49-F238E27FC236}">
                <ns3:creationId id="{58D00C5F-D5D0-53B2-4237-DE6964196E4E}"/>
              </a:ext>
            </a:extLst>
          </p:cNvPr>
          <p:cNvSpPr txBox="1"/>
          <p:nvPr/>
        </p:nvSpPr>
        <p:spPr>
          <a:xfrm>
            <a:off x="-1" y="3009889"/>
            <a:ext cx="12192001" cy="2308324"/>
          </a:xfrm>
          <a:prstGeom prst="rect">
            <a:avLst/>
          </a:prstGeom>
          <a:noFill/>
        </p:spPr>
        <p:txBody>
          <a:bodyPr wrap="square" rtlCol="0" anchor="t">
            <a:spAutoFit/>
          </a:bodyPr>
          <a:lstStyle/>
          <a:p>
            <a:pPr marL="285750" indent="-285750" algn="l">
              <a:lnSpc>
                <a:spcPct val="115000"/>
              </a:lnSpc>
              <a:spcBef>
                <a:spcPts val="500"/>
              </a:spcBef>
              <a:buFont typeface="Arial"/>
              <a:buChar char="•"/>
            </a:pPr>
            <a:r>
              <a:rPr lang="en-IN" sz="2000">
                <a:latin typeface="Times New Roman"/>
                <a:cs typeface="Times New Roman"/>
              </a:rPr>
              <a:t>Mathematical vibration formulation &amp; 600 RPM motor unbalance modeling (f0 = 10.0 Hz, F = m·r·ω²).</a:t>
            </a:r>
          </a:p>
          <a:p>
            <a:pPr marL="285750" indent="-285750" algn="l">
              <a:lnSpc>
                <a:spcPct val="115000"/>
              </a:lnSpc>
              <a:spcBef>
                <a:spcPts val="500"/>
              </a:spcBef>
              <a:buFont typeface="Arial"/>
              <a:buChar char="•"/>
            </a:pPr>
            <a:r>
              <a:rPr lang="en-IN" sz="2000">
                <a:latin typeface="Times New Roman"/>
                <a:cs typeface="Times New Roman"/>
              </a:rPr>
              <a:t>Finalized frozen Bill of Materials (BOM) &amp; placed verified hardware orders (Robu.in &amp; Robocraze).</a:t>
            </a:r>
          </a:p>
          <a:p>
            <a:pPr marL="285750" indent="-285750" algn="l">
              <a:lnSpc>
                <a:spcPct val="115000"/>
              </a:lnSpc>
              <a:spcBef>
                <a:spcPts val="500"/>
              </a:spcBef>
              <a:buFont typeface="Arial"/>
              <a:buChar char="•"/>
            </a:pPr>
            <a:r>
              <a:rPr lang="en-IN" sz="2000">
                <a:latin typeface="Times New Roman"/>
                <a:cs typeface="Times New Roman"/>
              </a:rPr>
              <a:t>Developed and unit-tested modular C++ Edge DSP firmware (in-place DC removal, Vector RMS, Radix-2 FFT).</a:t>
            </a:r>
          </a:p>
          <a:p>
            <a:pPr marL="285750" indent="-285750" algn="l">
              <a:lnSpc>
                <a:spcPct val="115000"/>
              </a:lnSpc>
              <a:spcBef>
                <a:spcPts val="500"/>
              </a:spcBef>
              <a:buFont typeface="Arial"/>
              <a:buChar char="•"/>
            </a:pPr>
            <a:r>
              <a:rPr lang="en-IN" sz="2000">
                <a:latin typeface="Times New Roman"/>
                <a:cs typeface="Times New Roman"/>
              </a:rPr>
              <a:t>Built &amp; verified end-to-end Wokwi Hardware-in-the-Loop simulation with custom WebAssembly ADXL345 SPI chip.</a:t>
            </a:r>
          </a:p>
          <a:p>
            <a:pPr marL="285750" indent="-285750" algn="l">
              <a:lnSpc>
                <a:spcPct val="115000"/>
              </a:lnSpc>
              <a:spcBef>
                <a:spcPts val="500"/>
              </a:spcBef>
              <a:buFont typeface="Arial"/>
              <a:buChar char="•"/>
            </a:pPr>
            <a:r>
              <a:rPr lang="en-IN" sz="2000">
                <a:latin typeface="Times New Roman"/>
                <a:cs typeface="Times New Roman"/>
              </a:rPr>
              <a:t>Engineered interactive 3D WebGL Digital Twin with real-time FFT spectrogram and RFC 4180 CSV flight recorder.</a:t>
            </a:r>
          </a:p>
        </p:txBody>
      </p:sp>
    </p:spTree>
  </p:cSld>
  <p:clrMapOvr>
    <a:masterClrMapping/>
  </p:clrMapOvr>
</p:sld>
</file>

<file path=ppt/slides/slide19.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Shape 252"/>
        <p:cNvGrpSpPr/>
        <p:nvPr/>
      </p:nvGrpSpPr>
      <p:grpSpPr>
        <a:xfrm>
          <a:off x="0" y="0"/>
          <a:ext cx="0" cy="0"/>
          <a:chOff x="0" y="0"/>
          <a:chExt cx="0" cy="0"/>
        </a:xfrm>
      </p:grpSpPr>
      <p:pic>
        <p:nvPicPr>
          <p:cNvPr id="253" name="Google Shape;253;p31"/>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54" name="Google Shape;254;p31"/>
          <p:cNvSpPr txBox="1">
            <a:spLocks noGrp="1"/>
          </p:cNvSpPr>
          <p:nvPr>
            <p:ph type="title"/>
          </p:nvPr>
        </p:nvSpPr>
        <p:spPr>
          <a:xfrm>
            <a:off x="955080" y="1490889"/>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a:solidFill>
                  <a:srgbClr val="002060"/>
                </a:solidFill>
                <a:latin typeface="Times New Roman"/>
                <a:ea typeface="Times New Roman"/>
                <a:cs typeface="Times New Roman"/>
                <a:sym typeface="Times New Roman"/>
              </a:rPr>
              <a:t>Work To Be Completed</a:t>
            </a:r>
            <a:endParaRPr sz="3600" b="0" u="none" strike="noStrike">
              <a:solidFill>
                <a:schemeClr val="dk1"/>
              </a:solidFill>
              <a:latin typeface="Calibri"/>
              <a:ea typeface="Calibri"/>
              <a:cs typeface="Calibri"/>
              <a:sym typeface="Calibri"/>
            </a:endParaRPr>
          </a:p>
        </p:txBody>
      </p:sp>
      <p:sp>
        <p:nvSpPr>
          <p:cNvPr id="2" name="TextBox 1">
            <a:extLst>
              <a:ext uri="{FF2B5EF4-FFF2-40B4-BE49-F238E27FC236}">
                <ns3:creationId id="{68AA07B0-9B34-E7DE-B605-CC7E746492CF}"/>
              </a:ext>
            </a:extLst>
          </p:cNvPr>
          <p:cNvSpPr txBox="1"/>
          <p:nvPr/>
        </p:nvSpPr>
        <p:spPr>
          <a:xfrm>
            <a:off x="159861" y="3129989"/>
            <a:ext cx="10114788" cy="3046988"/>
          </a:xfrm>
          <a:prstGeom prst="rect">
            <a:avLst/>
          </a:prstGeom>
          <a:noFill/>
        </p:spPr>
        <p:txBody>
          <a:bodyPr wrap="square" rtlCol="0">
            <a:spAutoFit/>
          </a:bodyPr>
          <a:lstStyle/>
          <a:p>
            <a:pPr marL="285750" indent="-285750" algn="l">
              <a:lnSpc>
                <a:spcPct val="115000"/>
              </a:lnSpc>
              <a:spcBef>
                <a:spcPts val="500"/>
              </a:spcBef>
              <a:buFont typeface="Arial"/>
              <a:buChar char="•"/>
            </a:pPr>
            <a:r>
              <a:rPr lang="en-IN" sz="2000">
                <a:latin typeface="Times New Roman"/>
                <a:cs typeface="Times New Roman"/>
              </a:rPr>
              <a:t>Physical assembly of the 12V N20 motor, L-mounting bracket, and ADXL345 breakout on acrylic baseplate.</a:t>
            </a:r>
          </a:p>
          <a:p>
            <a:pPr marL="285750" indent="-285750" algn="l">
              <a:lnSpc>
                <a:spcPct val="115000"/>
              </a:lnSpc>
              <a:spcBef>
                <a:spcPts val="500"/>
              </a:spcBef>
              <a:buFont typeface="Arial"/>
              <a:buChar char="•"/>
            </a:pPr>
            <a:r>
              <a:rPr lang="en-IN" sz="2000">
                <a:latin typeface="Times New Roman"/>
                <a:cs typeface="Times New Roman"/>
              </a:rPr>
              <a:t>Benchtop baseline sensor calibration under healthy 600 RPM rotation to establish Normal threshold (≤ 0.35g).</a:t>
            </a:r>
          </a:p>
          <a:p>
            <a:pPr marL="285750" indent="-285750" algn="l">
              <a:lnSpc>
                <a:spcPct val="115000"/>
              </a:lnSpc>
              <a:spcBef>
                <a:spcPts val="500"/>
              </a:spcBef>
              <a:buFont typeface="Arial"/>
              <a:buChar char="•"/>
            </a:pPr>
            <a:r>
              <a:rPr lang="en-IN" sz="2000">
                <a:latin typeface="Times New Roman"/>
                <a:cs typeface="Times New Roman"/>
              </a:rPr>
              <a:t>Controlled eccentric mass unbalance fault testing and empirical verification of ISO 10816 state transitions.</a:t>
            </a:r>
          </a:p>
          <a:p>
            <a:pPr marL="285750" indent="-285750" algn="l">
              <a:lnSpc>
                <a:spcPct val="115000"/>
              </a:lnSpc>
              <a:spcBef>
                <a:spcPts val="500"/>
              </a:spcBef>
              <a:buFont typeface="Arial"/>
              <a:buChar char="•"/>
            </a:pPr>
            <a:r>
              <a:rPr lang="en-IN" sz="2000">
                <a:latin typeface="Times New Roman"/>
                <a:cs typeface="Times New Roman"/>
              </a:rPr>
              <a:t>Validation of real-time USB telemetry logging and edge persistence filtering (K-out-of-M window state machine).</a:t>
            </a:r>
          </a:p>
          <a:p>
            <a:pPr marL="285750" indent="-285750" algn="l">
              <a:lnSpc>
                <a:spcPct val="115000"/>
              </a:lnSpc>
              <a:spcBef>
                <a:spcPts val="500"/>
              </a:spcBef>
              <a:buFont typeface="Arial"/>
              <a:buChar char="•"/>
            </a:pPr>
            <a:r>
              <a:rPr lang="en-IN" sz="2000">
                <a:latin typeface="Times New Roman"/>
                <a:cs typeface="Times New Roman"/>
              </a:rPr>
              <a:t>Comprehensive semester project report compilation and final Viva demonstration preparation.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2"/>
          <p:cNvSpPr txBox="1">
            <a:spLocks noGrp="1"/>
          </p:cNvSpPr>
          <p:nvPr>
            <p:ph type="title"/>
          </p:nvPr>
        </p:nvSpPr>
        <p:spPr>
          <a:xfrm>
            <a:off x="838080" y="134388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4000"/>
              <a:buFont typeface="Times New Roman"/>
              <a:buNone/>
            </a:pPr>
            <a:r>
              <a:rPr lang="en-US" sz="4000" b="1" u="sng" strike="noStrike">
                <a:solidFill>
                  <a:srgbClr val="002060"/>
                </a:solidFill>
                <a:latin typeface="Times New Roman"/>
                <a:ea typeface="Times New Roman"/>
                <a:cs typeface="Times New Roman"/>
                <a:sym typeface="Times New Roman"/>
              </a:rPr>
              <a:t>Conclusion </a:t>
            </a:r>
            <a:endParaRPr sz="4000" b="0" u="none" strike="noStrike">
              <a:solidFill>
                <a:schemeClr val="dk1"/>
              </a:solidFill>
              <a:latin typeface="Calibri"/>
              <a:ea typeface="Calibri"/>
              <a:cs typeface="Calibri"/>
              <a:sym typeface="Calibri"/>
            </a:endParaRPr>
          </a:p>
        </p:txBody>
      </p:sp>
      <p:pic>
        <p:nvPicPr>
          <p:cNvPr id="260" name="Google Shape;260;p32"/>
          <p:cNvPicPr preferRelativeResize="0"/>
          <p:nvPr/>
        </p:nvPicPr>
        <p:blipFill rotWithShape="1">
          <a:blip r:embed="rId3">
            <a:alphaModFix/>
          </a:blip>
          <a:srcRect/>
          <a:stretch/>
        </p:blipFill>
        <p:spPr>
          <a:xfrm>
            <a:off x="838080" y="77760"/>
            <a:ext cx="10578239" cy="1746720"/>
          </a:xfrm>
          <a:prstGeom prst="rect">
            <a:avLst/>
          </a:prstGeom>
          <a:noFill/>
          <a:ln>
            <a:noFill/>
          </a:ln>
        </p:spPr>
      </p:pic>
      <p:sp>
        <p:nvSpPr>
          <p:cNvPr id="261" name="Google Shape;261;p32"/>
          <p:cNvSpPr txBox="1">
            <a:spLocks noGrp="1"/>
          </p:cNvSpPr>
          <p:nvPr>
            <p:ph type="body" idx="1"/>
          </p:nvPr>
        </p:nvSpPr>
        <p:spPr>
          <a:xfrm>
            <a:off x="31680" y="1449351"/>
            <a:ext cx="12211800" cy="5497800"/>
          </a:xfrm>
          <a:prstGeom prst="rect">
            <a:avLst/>
          </a:prstGeom>
          <a:noFill/>
          <a:ln>
            <a:noFill/>
          </a:ln>
        </p:spPr>
        <p:txBody>
          <a:bodyPr spcFirstLastPara="1" wrap="square" lIns="91425" tIns="45700" rIns="91425" bIns="45700" anchor="ctr" anchorCtr="0">
            <a:spAutoFit/>
          </a:bodyPr>
          <a:lstStyle/>
          <a:p>
            <a:pPr marL="0" marR="0" lvl="0" indent="101600" algn="l" rtl="0">
              <a:lnSpc>
                <a:spcPct val="2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0" marR="0" lvl="0" indent="101600" algn="l" rtl="0">
              <a:lnSpc>
                <a:spcPct val="200000"/>
              </a:lnSpc>
              <a:spcBef>
                <a:spcPts val="1001"/>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Prototype Proposal:</a:t>
            </a:r>
            <a:r>
              <a:rPr lang="en-US" sz="1600" b="0" i="0" u="none" strike="noStrike" cap="none">
                <a:solidFill>
                  <a:schemeClr val="dk1"/>
                </a:solidFill>
                <a:latin typeface="Times New Roman"/>
                <a:ea typeface="Times New Roman"/>
                <a:cs typeface="Times New Roman"/>
                <a:sym typeface="Times New Roman"/>
              </a:rPr>
              <a:t> VibeGuard uses one ADXL345-class accelerometer and an ESP32 for low-cost vibration monitoring.</a:t>
            </a:r>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Semester Goal:</a:t>
            </a:r>
            <a:r>
              <a:rPr lang="en-US" sz="1600" b="0" i="0" u="none" strike="noStrike" cap="none">
                <a:solidFill>
                  <a:schemeClr val="dk1"/>
                </a:solidFill>
                <a:latin typeface="Times New Roman"/>
                <a:ea typeface="Times New Roman"/>
                <a:cs typeface="Times New Roman"/>
                <a:sym typeface="Times New Roman"/>
              </a:rPr>
              <a:t> Distinguish a documented Normal state from a safe controlled Abnormal vibration state.</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Processing:</a:t>
            </a:r>
            <a:r>
              <a:rPr lang="en-US" sz="1600" b="0" i="0" u="none" strike="noStrike" cap="none">
                <a:solidFill>
                  <a:schemeClr val="dk1"/>
                </a:solidFill>
                <a:latin typeface="Times New Roman"/>
                <a:ea typeface="Times New Roman"/>
                <a:cs typeface="Times New Roman"/>
                <a:sym typeface="Times New Roman"/>
              </a:rPr>
              <a:t> RMS + persistence provides the minimum decision method, supported by triggered FFT.</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Expected Output:</a:t>
            </a:r>
            <a:r>
              <a:rPr lang="en-US" sz="1600" b="0" i="0" u="none" strike="noStrike" cap="none">
                <a:solidFill>
                  <a:schemeClr val="dk1"/>
                </a:solidFill>
                <a:latin typeface="Times New Roman"/>
                <a:ea typeface="Times New Roman"/>
                <a:cs typeface="Times New Roman"/>
                <a:sym typeface="Times New Roman"/>
              </a:rPr>
              <a:t> RGB state indication and structured USB logs.</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Validation:</a:t>
            </a:r>
            <a:r>
              <a:rPr lang="en-US" sz="1600" b="0" i="0" u="none" strike="noStrike" cap="none">
                <a:solidFill>
                  <a:schemeClr val="dk1"/>
                </a:solidFill>
                <a:latin typeface="Times New Roman"/>
                <a:ea typeface="Times New Roman"/>
                <a:cs typeface="Times New Roman"/>
                <a:sym typeface="Times New Roman"/>
              </a:rPr>
              <a:t> The prototype still has to be built and tested; no final accuracy or industrial fault-diagnosis claim is being made yet.</a:t>
            </a:r>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Cost Estimate:</a:t>
            </a:r>
            <a:r>
              <a:rPr lang="en-US" sz="1600" b="0" i="0" u="none" strike="noStrike" cap="none">
                <a:solidFill>
                  <a:schemeClr val="dk1"/>
                </a:solidFill>
                <a:latin typeface="Times New Roman"/>
                <a:ea typeface="Times New Roman"/>
                <a:cs typeface="Times New Roman"/>
                <a:sym typeface="Times New Roman"/>
              </a:rPr>
              <a:t> Preferred budget ≤ ₹3,000; maximum budget ≤ ₹5,000; development period: approximately 3 months; team: 5 students.</a:t>
            </a:r>
            <a:endParaRPr sz="1600" b="0" i="0" u="none" strike="noStrike" cap="none">
              <a:solidFill>
                <a:schemeClr val="dk1"/>
              </a:solidFill>
              <a:latin typeface="Calibri"/>
              <a:ea typeface="Calibri"/>
              <a:cs typeface="Calibri"/>
              <a:sym typeface="Calibri"/>
            </a:endParaRPr>
          </a:p>
          <a:p>
            <a:pPr marL="0" marR="0" lvl="0" indent="101600" algn="l" rtl="0">
              <a:lnSpc>
                <a:spcPct val="200000"/>
              </a:lnSpc>
              <a:spcBef>
                <a:spcPts val="1001"/>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62" name="Google Shape;262;p32"/>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263" name="Google Shape;263;p32"/>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264" name="Google Shape;264;p32"/>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20</a:t>
            </a:fld>
            <a:endParaRPr/>
          </a:p>
        </p:txBody>
      </p:sp>
      <p:sp>
        <p:nvSpPr>
          <p:cNvPr id="265" name="Google Shape;265;p32"/>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74720" y="143424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4000"/>
              <a:buFont typeface="Times New Roman"/>
              <a:buNone/>
            </a:pPr>
            <a:r>
              <a:rPr lang="en-US" sz="4000" b="1" u="sng" strike="noStrike">
                <a:solidFill>
                  <a:srgbClr val="002060"/>
                </a:solidFill>
                <a:latin typeface="Times New Roman"/>
                <a:ea typeface="Times New Roman"/>
                <a:cs typeface="Times New Roman"/>
                <a:sym typeface="Times New Roman"/>
              </a:rPr>
              <a:t>References</a:t>
            </a:r>
            <a:endParaRPr sz="4000" b="0" u="none" strike="noStrike">
              <a:solidFill>
                <a:schemeClr val="dk1"/>
              </a:solidFill>
              <a:latin typeface="Calibri"/>
              <a:ea typeface="Calibri"/>
              <a:cs typeface="Calibri"/>
              <a:sym typeface="Calibri"/>
            </a:endParaRPr>
          </a:p>
        </p:txBody>
      </p:sp>
      <p:pic>
        <p:nvPicPr>
          <p:cNvPr id="271" name="Google Shape;271;p33"/>
          <p:cNvPicPr preferRelativeResize="0"/>
          <p:nvPr/>
        </p:nvPicPr>
        <p:blipFill rotWithShape="1">
          <a:blip r:embed="rId3">
            <a:alphaModFix/>
          </a:blip>
          <a:srcRect/>
          <a:stretch/>
        </p:blipFill>
        <p:spPr>
          <a:xfrm>
            <a:off x="742680" y="194760"/>
            <a:ext cx="10578239" cy="1746720"/>
          </a:xfrm>
          <a:prstGeom prst="rect">
            <a:avLst/>
          </a:prstGeom>
          <a:noFill/>
          <a:ln>
            <a:noFill/>
          </a:ln>
        </p:spPr>
      </p:pic>
      <p:sp>
        <p:nvSpPr>
          <p:cNvPr id="272" name="Google Shape;272;p33"/>
          <p:cNvSpPr txBox="1">
            <a:spLocks noGrp="1"/>
          </p:cNvSpPr>
          <p:nvPr>
            <p:ph type="body" idx="1"/>
          </p:nvPr>
        </p:nvSpPr>
        <p:spPr>
          <a:xfrm>
            <a:off x="99359" y="2824920"/>
            <a:ext cx="12191100" cy="2776800"/>
          </a:xfrm>
          <a:prstGeom prst="rect">
            <a:avLst/>
          </a:prstGeom>
          <a:noFill/>
          <a:ln>
            <a:noFill/>
          </a:ln>
        </p:spPr>
        <p:txBody>
          <a:bodyPr spcFirstLastPara="1" wrap="square" lIns="91425" tIns="45700" rIns="91425" bIns="45700" anchor="ctr" anchorCtr="0">
            <a:spAutoFit/>
          </a:bodyPr>
          <a:lstStyle/>
          <a:p>
            <a:pPr marL="0" indent="0">
              <a:lnSpc>
                <a:spcPct val="115000"/>
              </a:lnSpc>
              <a:spcBef>
                <a:spcPts val="500"/>
              </a:spcBef>
              <a:buNone/>
            </a:pPr>
            <a:r>
              <a:rPr lang="en-IN" sz="1600">
                <a:latin typeface="Times New Roman"/>
                <a:cs typeface="Times New Roman"/>
              </a:rPr>
              <a:t>1. ISO 10816-1: Mechanical vibration — Evaluation of machine vibration by measurements on non-rotating parts, ISO Standard.</a:t>
            </a:r>
          </a:p>
          <a:p>
            <a:pPr marL="0" indent="0">
              <a:lnSpc>
                <a:spcPct val="115000"/>
              </a:lnSpc>
              <a:spcBef>
                <a:spcPts val="500"/>
              </a:spcBef>
              <a:buNone/>
            </a:pPr>
            <a:r>
              <a:rPr lang="en-IN" sz="1600">
                <a:latin typeface="Times New Roman"/>
                <a:cs typeface="Times New Roman"/>
              </a:rPr>
              <a:t>2. Analog Devices: ADXL345 3-Axis, ±2g/±4g/±8g/±16g Digital Accelerometer Datasheet, Rev. E, 2015.</a:t>
            </a:r>
          </a:p>
          <a:p>
            <a:pPr marL="0" indent="0">
              <a:lnSpc>
                <a:spcPct val="115000"/>
              </a:lnSpc>
              <a:spcBef>
                <a:spcPts val="500"/>
              </a:spcBef>
              <a:buNone/>
            </a:pPr>
            <a:r>
              <a:rPr lang="en-IN" sz="1600">
                <a:latin typeface="Times New Roman"/>
                <a:cs typeface="Times New Roman"/>
              </a:rPr>
              <a:t>3. Espressif Systems: ESP32 Series Technical Reference Manual &amp; Datasheet, v4.3, 2023.</a:t>
            </a:r>
          </a:p>
          <a:p>
            <a:pPr marL="0" indent="0">
              <a:lnSpc>
                <a:spcPct val="115000"/>
              </a:lnSpc>
              <a:spcBef>
                <a:spcPts val="500"/>
              </a:spcBef>
              <a:buNone/>
            </a:pPr>
            <a:r>
              <a:rPr lang="en-IN" sz="1600">
                <a:latin typeface="Times New Roman"/>
                <a:cs typeface="Times New Roman"/>
              </a:rPr>
              <a:t>4. Cooley, J. W., &amp; Tukey, J. W.: "An algorithm for the machine calculation of complex Fourier series", Math. Comput., 1965.</a:t>
            </a:r>
          </a:p>
          <a:p>
            <a:pPr marL="0" indent="0">
              <a:lnSpc>
                <a:spcPct val="115000"/>
              </a:lnSpc>
              <a:spcBef>
                <a:spcPts val="500"/>
              </a:spcBef>
              <a:buNone/>
            </a:pPr>
            <a:r>
              <a:rPr lang="en-IN" sz="1600">
                <a:latin typeface="Times New Roman"/>
                <a:cs typeface="Times New Roman"/>
              </a:rPr>
              <a:t>5. Randall, R. B.: Vibration-based Condition Monitoring: Industrial, Automotive and Aerospace Applications, Wiley, 2011.</a:t>
            </a:r>
          </a:p>
        </p:txBody>
      </p:sp>
      <p:sp>
        <p:nvSpPr>
          <p:cNvPr id="273" name="Google Shape;273;p33"/>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274" name="Google Shape;274;p33"/>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275" name="Google Shape;275;p33"/>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21</a:t>
            </a:fld>
            <a:endParaRPr/>
          </a:p>
        </p:txBody>
      </p:sp>
      <p:sp>
        <p:nvSpPr>
          <p:cNvPr id="276" name="Google Shape;276;p33"/>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21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Detailed Block Diagram</vt:lpstr>
      <vt:lpstr>PowerPoint Presentation</vt:lpstr>
      <vt:lpstr>Circuit Diagram</vt:lpstr>
      <vt:lpstr>Work Done So Far</vt:lpstr>
      <vt:lpstr>Work To Be Completed</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skullcrusher 91</cp:lastModifiedBy>
  <cp:revision>3</cp:revision>
  <dcterms:modified xsi:type="dcterms:W3CDTF">2026-09-02T16:20:52Z</dcterms:modified>
</cp:coreProperties>
</file>