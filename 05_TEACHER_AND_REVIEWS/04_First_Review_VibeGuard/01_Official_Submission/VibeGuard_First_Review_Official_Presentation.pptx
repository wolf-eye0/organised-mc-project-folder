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12192000" cy="685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4160" cy="43498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 name="PlaceHolder 3"/>
          <p:cNvSpPr>
            <a:spLocks noGrp="1"/>
          </p:cNvSpPr>
          <p:nvPr>
            <p:ph type="dt" idx="1"/>
          </p:nvPr>
        </p:nvSpPr>
        <p:spPr>
          <a:xfrm>
            <a:off x="914400" y="640080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C2391B0A-E403-4876-B35D-D5D2D9679E3A}"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760" y="1956240"/>
            <a:ext cx="5810400" cy="262764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8" name="PlaceHolder 2"/>
          <p:cNvSpPr>
            <a:spLocks noGrp="1"/>
          </p:cNvSpPr>
          <p:nvPr>
            <p:ph type="body"/>
          </p:nvPr>
        </p:nvSpPr>
        <p:spPr>
          <a:xfrm rot="5400000">
            <a:off x="1799640" y="-596160"/>
            <a:ext cx="5810400" cy="773280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9" name="PlaceHolder 3"/>
          <p:cNvSpPr>
            <a:spLocks noGrp="1"/>
          </p:cNvSpPr>
          <p:nvPr>
            <p:ph type="dt" idx="4"/>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D0387EA-02A9-4E01-A5E6-B90CA9A7F005}"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lvl1pPr indent="0" algn="l">
              <a:buNone/>
              <a:defRPr lang="en-US" sz="6000" b="0" u="none" strike="noStrike">
                <a:solidFill>
                  <a:srgbClr val="000000"/>
                </a:solidFill>
                <a:effectLst/>
                <a:uFillTx/>
                <a:latin typeface="Arial"/>
              </a:defRPr>
            </a:lvl1pPr>
          </a:lstStyle>
          <a:p>
            <a:pPr indent="0" algn="l">
              <a:buNone/>
            </a:pPr>
            <a:r>
              <a:rPr lang="en-US" sz="6000" b="0" u="none" strike="noStrike">
                <a:solidFill>
                  <a:srgbClr val="000000"/>
                </a:solidFill>
                <a:effectLst/>
                <a:uFillTx/>
                <a:latin typeface="Arial"/>
              </a:rPr>
              <a:t>Click to </a:t>
            </a:r>
            <a:r>
              <a:rPr lang="en-US" sz="6000" b="0" u="none" strike="noStrike">
                <a:solidFill>
                  <a:srgbClr val="000000"/>
                </a:solidFill>
                <a:effectLst/>
                <a:uFillTx/>
                <a:latin typeface="Arial"/>
              </a:rPr>
              <a:t>edit the </a:t>
            </a:r>
            <a:r>
              <a:rPr lang="en-US" sz="6000" b="0" u="none" strike="noStrike">
                <a:solidFill>
                  <a:srgbClr val="000000"/>
                </a:solidFill>
                <a:effectLst/>
                <a:uFillTx/>
                <a:latin typeface="Arial"/>
              </a:rPr>
              <a:t>title text </a:t>
            </a:r>
            <a:r>
              <a:rPr lang="en-US" sz="6000" b="0" u="none" strike="noStrike">
                <a:solidFill>
                  <a:srgbClr val="000000"/>
                </a:solidFill>
                <a:effectLst/>
                <a:uFillTx/>
                <a:latin typeface="Arial"/>
              </a:rPr>
              <a:t>format</a:t>
            </a:r>
            <a:endParaRPr lang="en-US" sz="6000" b="0" u="none" strike="noStrike">
              <a:solidFill>
                <a:srgbClr val="000000"/>
              </a:solidFill>
              <a:effectLst/>
              <a:uFillTx/>
              <a:latin typeface="Arial"/>
            </a:endParaRPr>
          </a:p>
        </p:txBody>
      </p:sp>
      <p:sp>
        <p:nvSpPr>
          <p:cNvPr id="13" name="PlaceHolder 2"/>
          <p:cNvSpPr>
            <a:spLocks noGrp="1"/>
          </p:cNvSpPr>
          <p:nvPr>
            <p:ph type="body"/>
          </p:nvPr>
        </p:nvSpPr>
        <p:spPr>
          <a:xfrm>
            <a:off x="831960" y="4589640"/>
            <a:ext cx="10514160" cy="14986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4" name="PlaceHolder 3"/>
          <p:cNvSpPr>
            <a:spLocks noGrp="1"/>
          </p:cNvSpPr>
          <p:nvPr>
            <p:ph type="dt" idx="7"/>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4BCFF06-3D0A-4491-A5EC-29F03768D59E}"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18" name="PlaceHolder 2"/>
          <p:cNvSpPr>
            <a:spLocks noGrp="1"/>
          </p:cNvSpPr>
          <p:nvPr>
            <p:ph type="body"/>
          </p:nvPr>
        </p:nvSpPr>
        <p:spPr>
          <a:xfrm>
            <a:off x="838080" y="1825560"/>
            <a:ext cx="5180040" cy="43498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9" name="PlaceHolder 3"/>
          <p:cNvSpPr>
            <a:spLocks noGrp="1"/>
          </p:cNvSpPr>
          <p:nvPr>
            <p:ph type="body"/>
          </p:nvPr>
        </p:nvSpPr>
        <p:spPr>
          <a:xfrm>
            <a:off x="6172200" y="1825560"/>
            <a:ext cx="5180040" cy="43498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0" name="PlaceHolder 4"/>
          <p:cNvSpPr>
            <a:spLocks noGrp="1"/>
          </p:cNvSpPr>
          <p:nvPr>
            <p:ph type="dt" idx="10"/>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AB508A1-68BF-4A26-91CE-83D1487865A0}"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24" name="PlaceHolder 2"/>
          <p:cNvSpPr>
            <a:spLocks noGrp="1"/>
          </p:cNvSpPr>
          <p:nvPr>
            <p:ph type="body"/>
          </p:nvPr>
        </p:nvSpPr>
        <p:spPr>
          <a:xfrm>
            <a:off x="839880" y="1681200"/>
            <a:ext cx="5156280" cy="822600"/>
          </a:xfrm>
          <a:prstGeom prst="rect">
            <a:avLst/>
          </a:prstGeom>
          <a:noFill/>
          <a:ln w="0">
            <a:noFill/>
          </a:ln>
        </p:spPr>
        <p:txBody>
          <a:bodyPr lIns="91440" tIns="45720" rIns="91440" bIns="45720" anchor="b">
            <a:noAutofit/>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25" name="PlaceHolder 3"/>
          <p:cNvSpPr>
            <a:spLocks noGrp="1"/>
          </p:cNvSpPr>
          <p:nvPr>
            <p:ph type="body"/>
          </p:nvPr>
        </p:nvSpPr>
        <p:spPr>
          <a:xfrm>
            <a:off x="839880" y="2505240"/>
            <a:ext cx="5156280" cy="36831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6" name="PlaceHolder 4"/>
          <p:cNvSpPr>
            <a:spLocks noGrp="1"/>
          </p:cNvSpPr>
          <p:nvPr>
            <p:ph type="body"/>
          </p:nvPr>
        </p:nvSpPr>
        <p:spPr>
          <a:xfrm>
            <a:off x="6172200" y="1681200"/>
            <a:ext cx="5181840" cy="822600"/>
          </a:xfrm>
          <a:prstGeom prst="rect">
            <a:avLst/>
          </a:prstGeom>
          <a:noFill/>
          <a:ln w="0">
            <a:noFill/>
          </a:ln>
        </p:spPr>
        <p:txBody>
          <a:bodyPr lIns="91440" tIns="45720" rIns="91440" bIns="45720" anchor="b">
            <a:noAutofit/>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27" name="PlaceHolder 5"/>
          <p:cNvSpPr>
            <a:spLocks noGrp="1"/>
          </p:cNvSpPr>
          <p:nvPr>
            <p:ph type="body"/>
          </p:nvPr>
        </p:nvSpPr>
        <p:spPr>
          <a:xfrm>
            <a:off x="6172200" y="2505240"/>
            <a:ext cx="5181840" cy="36831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8" name="PlaceHolder 6"/>
          <p:cNvSpPr>
            <a:spLocks noGrp="1"/>
          </p:cNvSpPr>
          <p:nvPr>
            <p:ph type="dt" idx="13"/>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9" name="PlaceHolder 7"/>
          <p:cNvSpPr>
            <a:spLocks noGrp="1"/>
          </p:cNvSpPr>
          <p:nvPr>
            <p:ph type="ftr" idx="14"/>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AA04A051-AA35-40DB-800B-D585437DB846}"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32" name="PlaceHolder 2"/>
          <p:cNvSpPr>
            <a:spLocks noGrp="1"/>
          </p:cNvSpPr>
          <p:nvPr>
            <p:ph type="dt" idx="16"/>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1C0A214-8828-41CB-BE30-C0F2F81F5BF6}"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6" name="PlaceHolder 2"/>
          <p:cNvSpPr>
            <a:spLocks noGrp="1"/>
          </p:cNvSpPr>
          <p:nvPr>
            <p:ph type="ftr" idx="20"/>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AF96751-1A6A-4044-9E1A-FF72A0A67F40}"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a:t>
            </a:r>
            <a:r>
              <a:rPr lang="en-US" sz="3200" b="0" u="none" strike="noStrike">
                <a:solidFill>
                  <a:srgbClr val="000000"/>
                </a:solidFill>
                <a:effectLst/>
                <a:uFillTx/>
                <a:latin typeface="Arial"/>
              </a:rPr>
              <a:t>title text format</a:t>
            </a:r>
            <a:endParaRPr lang="en-US" sz="3200" b="0" u="none" strike="noStrike">
              <a:solidFill>
                <a:srgbClr val="000000"/>
              </a:solidFill>
              <a:effectLst/>
              <a:uFillTx/>
              <a:latin typeface="Arial"/>
            </a:endParaRPr>
          </a:p>
        </p:txBody>
      </p:sp>
      <p:sp>
        <p:nvSpPr>
          <p:cNvPr id="39" name="PlaceHolder 2"/>
          <p:cNvSpPr>
            <a:spLocks noGrp="1"/>
          </p:cNvSpPr>
          <p:nvPr>
            <p:ph type="body"/>
          </p:nvPr>
        </p:nvSpPr>
        <p:spPr>
          <a:xfrm>
            <a:off x="5183280" y="987480"/>
            <a:ext cx="6170760" cy="487224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914400" lvl="1" indent="-40644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371600" lvl="2" indent="-38088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828800" lvl="3" indent="-35568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286000" lvl="4" indent="-3556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0"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41" name="PlaceHolder 4"/>
          <p:cNvSpPr>
            <a:spLocks noGrp="1"/>
          </p:cNvSpPr>
          <p:nvPr>
            <p:ph type="dt" idx="22"/>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2" name="PlaceHolder 5"/>
          <p:cNvSpPr>
            <a:spLocks noGrp="1"/>
          </p:cNvSpPr>
          <p:nvPr>
            <p:ph type="ftr" idx="23"/>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19D73040-5DEC-4787-8FC2-7B9FB887D69A}"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45" name="PlaceHolder 2"/>
          <p:cNvSpPr>
            <a:spLocks noGrp="1"/>
          </p:cNvSpPr>
          <p:nvPr>
            <p:ph type="body"/>
          </p:nvPr>
        </p:nvSpPr>
        <p:spPr>
          <a:xfrm>
            <a:off x="5183280" y="987480"/>
            <a:ext cx="6170760" cy="4872240"/>
          </a:xfrm>
          <a:prstGeom prst="rect">
            <a:avLst/>
          </a:prstGeom>
          <a:no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371600" lvl="2" indent="-32004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828800" lvl="3" indent="-38088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286000" lvl="4" indent="-32004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743200" lvl="5" indent="-32004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200400" lvl="6" indent="-32004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6"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47" name="PlaceHolder 4"/>
          <p:cNvSpPr>
            <a:spLocks noGrp="1"/>
          </p:cNvSpPr>
          <p:nvPr>
            <p:ph type="dt" idx="25"/>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C1A39E0-3274-4418-948D-79086F05609A}"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2560" cy="2386080"/>
          </a:xfrm>
          <a:prstGeom prst="rect">
            <a:avLst/>
          </a:prstGeom>
          <a:noFill/>
          <a:ln w="0">
            <a:noFill/>
          </a:ln>
        </p:spPr>
        <p:txBody>
          <a:bodyPr lIns="91440" tIns="45720" rIns="91440" bIns="45720" anchor="b">
            <a:noAutofit/>
          </a:bodyPr>
          <a:lstStyle>
            <a:lvl1pPr indent="0" algn="l">
              <a:buNone/>
              <a:defRPr lang="en-US" sz="6000" b="0" u="none" strike="noStrike">
                <a:solidFill>
                  <a:srgbClr val="000000"/>
                </a:solidFill>
                <a:effectLst/>
                <a:uFillTx/>
                <a:latin typeface="Arial"/>
              </a:defRPr>
            </a:lvl1pPr>
          </a:lstStyle>
          <a:p>
            <a:pPr indent="0" algn="l">
              <a:buNone/>
            </a:pPr>
            <a:r>
              <a:rPr lang="en-US" sz="6000" b="0" u="none" strike="noStrike">
                <a:solidFill>
                  <a:srgbClr val="000000"/>
                </a:solidFill>
                <a:effectLst/>
                <a:uFillTx/>
                <a:latin typeface="Arial"/>
              </a:rPr>
              <a:t>Click to </a:t>
            </a:r>
            <a:r>
              <a:rPr lang="en-US" sz="6000" b="0" u="none" strike="noStrike">
                <a:solidFill>
                  <a:srgbClr val="000000"/>
                </a:solidFill>
                <a:effectLst/>
                <a:uFillTx/>
                <a:latin typeface="Arial"/>
              </a:rPr>
              <a:t>edit the </a:t>
            </a:r>
            <a:r>
              <a:rPr lang="en-US" sz="6000" b="0" u="none" strike="noStrike">
                <a:solidFill>
                  <a:srgbClr val="000000"/>
                </a:solidFill>
                <a:effectLst/>
                <a:uFillTx/>
                <a:latin typeface="Arial"/>
              </a:rPr>
              <a:t>title text </a:t>
            </a:r>
            <a:r>
              <a:rPr lang="en-US" sz="6000" b="0" u="none" strike="noStrike">
                <a:solidFill>
                  <a:srgbClr val="000000"/>
                </a:solidFill>
                <a:effectLst/>
                <a:uFillTx/>
                <a:latin typeface="Arial"/>
              </a:rPr>
              <a:t>format</a:t>
            </a:r>
            <a:endParaRPr lang="en-US" sz="6000" b="0" u="none" strike="noStrike">
              <a:solidFill>
                <a:srgbClr val="000000"/>
              </a:solidFill>
              <a:effectLst/>
              <a:uFillTx/>
              <a:latin typeface="Arial"/>
            </a:endParaRPr>
          </a:p>
        </p:txBody>
      </p:sp>
      <p:sp>
        <p:nvSpPr>
          <p:cNvPr id="51" name="PlaceHolder 2"/>
          <p:cNvSpPr>
            <a:spLocks noGrp="1"/>
          </p:cNvSpPr>
          <p:nvPr>
            <p:ph type="dt" idx="28"/>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2" name="PlaceHolder 3"/>
          <p:cNvSpPr>
            <a:spLocks noGrp="1"/>
          </p:cNvSpPr>
          <p:nvPr>
            <p:ph type="ftr" idx="29"/>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4"/>
          <p:cNvSpPr>
            <a:spLocks noGrp="1"/>
          </p:cNvSpPr>
          <p:nvPr>
            <p:ph type="sldNum" idx="3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B55CB7CC-F0AF-4B63-B43A-234E2395BCC1}"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5" name="PlaceHolder 2"/>
          <p:cNvSpPr>
            <a:spLocks noGrp="1"/>
          </p:cNvSpPr>
          <p:nvPr>
            <p:ph type="body"/>
          </p:nvPr>
        </p:nvSpPr>
        <p:spPr>
          <a:xfrm rot="5400000">
            <a:off x="3920400" y="-1256400"/>
            <a:ext cx="4349880" cy="105141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56" name="PlaceHolder 3"/>
          <p:cNvSpPr>
            <a:spLocks noGrp="1"/>
          </p:cNvSpPr>
          <p:nvPr>
            <p:ph type="dt" idx="31"/>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7" name="PlaceHolder 4"/>
          <p:cNvSpPr>
            <a:spLocks noGrp="1"/>
          </p:cNvSpPr>
          <p:nvPr>
            <p:ph type="ftr" idx="32"/>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 name="PlaceHolder 5"/>
          <p:cNvSpPr>
            <a:spLocks noGrp="1"/>
          </p:cNvSpPr>
          <p:nvPr>
            <p:ph type="sldNum" idx="33"/>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4A4A50F-31F1-4629-BD63-33C7EAA97CAF}"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jecc.etlab.in/teacher/viewsubject/93460551045?sub_id=1916076829214&amp;sem_id=116225560662" TargetMode="External"/><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Google Shape;78;p13"/>
          <p:cNvPicPr/>
          <p:nvPr/>
        </p:nvPicPr>
        <p:blipFill>
          <a:blip r:embed="rId1"/>
          <a:stretch/>
        </p:blipFill>
        <p:spPr>
          <a:xfrm>
            <a:off x="891360" y="243000"/>
            <a:ext cx="10577880" cy="1746360"/>
          </a:xfrm>
          <a:prstGeom prst="rect">
            <a:avLst/>
          </a:prstGeom>
          <a:noFill/>
          <a:ln w="0">
            <a:noFill/>
          </a:ln>
        </p:spPr>
      </p:pic>
      <p:sp>
        <p:nvSpPr>
          <p:cNvPr id="60" name="Google Shape;79;p13"/>
          <p:cNvSpPr/>
          <p:nvPr/>
        </p:nvSpPr>
        <p:spPr>
          <a:xfrm>
            <a:off x="1845000" y="2239200"/>
            <a:ext cx="9721440" cy="4617360"/>
          </a:xfrm>
          <a:prstGeom prst="rect">
            <a:avLst/>
          </a:prstGeom>
          <a:noFill/>
          <a:ln w="0">
            <a:noFill/>
          </a:ln>
        </p:spPr>
        <p:style>
          <a:lnRef idx="0"/>
          <a:fillRef idx="0"/>
          <a:effectRef idx="0"/>
          <a:fontRef idx="minor"/>
        </p:style>
        <p:txBody>
          <a:bodyPr lIns="0" tIns="0" rIns="0" bIns="0" anchor="t">
            <a:noAutofit/>
          </a:bodyPr>
          <a:p>
            <a:pPr marL="114480" algn="ctr">
              <a:lnSpc>
                <a:spcPct val="90000"/>
              </a:lnSpc>
              <a:tabLst>
                <a:tab pos="0" algn="l"/>
              </a:tabLst>
            </a:pPr>
            <a:endParaRPr lang="en-US" sz="5400" b="0" u="none" strike="noStrike">
              <a:solidFill>
                <a:srgbClr val="000000"/>
              </a:solidFill>
              <a:effectLst/>
              <a:uFillTx/>
              <a:latin typeface="Arial"/>
            </a:endParaRPr>
          </a:p>
          <a:p>
            <a:pPr>
              <a:lnSpc>
                <a:spcPct val="90000"/>
              </a:lnSpc>
              <a:spcBef>
                <a:spcPts val="1001"/>
              </a:spcBef>
              <a:tabLst>
                <a:tab pos="0" algn="l"/>
              </a:tabLst>
            </a:pPr>
            <a:r>
              <a:rPr lang="en-US" sz="4000" b="1" u="sng" strike="noStrike">
                <a:solidFill>
                  <a:schemeClr val="hlink"/>
                </a:solidFill>
                <a:effectLst/>
                <a:uFillTx/>
                <a:latin typeface="Helvetica Neue"/>
                <a:ea typeface="Helvetica Neue"/>
                <a:hlinkClick r:id="rId2"/>
              </a:rPr>
              <a:t>PBCST504 – MICROCONTROLLERS</a:t>
            </a:r>
            <a:endParaRPr lang="en-US" sz="4000" b="0" u="none" strike="noStrike">
              <a:solidFill>
                <a:srgbClr val="000000"/>
              </a:solidFill>
              <a:effectLst/>
              <a:uFillTx/>
              <a:latin typeface="Arial"/>
            </a:endParaRPr>
          </a:p>
          <a:p>
            <a:pPr algn="ctr">
              <a:lnSpc>
                <a:spcPct val="90000"/>
              </a:lnSpc>
              <a:spcBef>
                <a:spcPts val="1001"/>
              </a:spcBef>
              <a:tabLst>
                <a:tab pos="0" algn="l"/>
              </a:tabLst>
            </a:pPr>
            <a:r>
              <a:rPr lang="en-US" sz="4000" b="1" u="none" strike="noStrike">
                <a:solidFill>
                  <a:srgbClr val="C55A11"/>
                </a:solidFill>
                <a:effectLst/>
                <a:uFillTx/>
                <a:latin typeface="Helvetica Neue"/>
                <a:ea typeface="Helvetica Neue"/>
              </a:rPr>
              <a:t>MICRO PROJECT</a:t>
            </a:r>
            <a:endParaRPr lang="en-US" sz="4000" b="0" u="none" strike="noStrike">
              <a:solidFill>
                <a:srgbClr val="000000"/>
              </a:solidFill>
              <a:effectLst/>
              <a:uFillTx/>
              <a:latin typeface="Arial"/>
            </a:endParaRPr>
          </a:p>
          <a:p>
            <a:pPr marL="114480" algn="ctr">
              <a:lnSpc>
                <a:spcPct val="90000"/>
              </a:lnSpc>
              <a:spcBef>
                <a:spcPts val="1001"/>
              </a:spcBef>
              <a:tabLst>
                <a:tab pos="0" algn="l"/>
              </a:tabLst>
            </a:pPr>
            <a:endParaRPr lang="en-US" sz="5400" b="0" u="none" strike="noStrike">
              <a:solidFill>
                <a:srgbClr val="000000"/>
              </a:solidFill>
              <a:effectLst/>
              <a:uFillTx/>
              <a:latin typeface="Arial"/>
            </a:endParaRPr>
          </a:p>
          <a:p>
            <a:pPr marL="114480" algn="ctr">
              <a:lnSpc>
                <a:spcPct val="90000"/>
              </a:lnSpc>
              <a:spcBef>
                <a:spcPts val="1001"/>
              </a:spcBef>
              <a:tabLst>
                <a:tab pos="0" algn="l"/>
              </a:tabLst>
            </a:pPr>
            <a:r>
              <a:rPr lang="en-US" sz="4800" b="1" u="none" strike="noStrike">
                <a:solidFill>
                  <a:srgbClr val="7030A0"/>
                </a:solidFill>
                <a:effectLst/>
                <a:uFillTx/>
                <a:latin typeface="Times New Roman"/>
                <a:ea typeface="Times New Roman"/>
              </a:rPr>
              <a:t>First Review</a:t>
            </a:r>
            <a:endParaRPr lang="en-US" sz="4800" b="0" u="none" strike="noStrike">
              <a:solidFill>
                <a:srgbClr val="000000"/>
              </a:solidFill>
              <a:effectLst/>
              <a:uFillTx/>
              <a:latin typeface="Arial"/>
            </a:endParaRPr>
          </a:p>
        </p:txBody>
      </p:sp>
      <p:sp>
        <p:nvSpPr>
          <p:cNvPr id="61" name="Google Shape;80;p13"/>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62" name="PlaceHolder 1"/>
          <p:cNvSpPr>
            <a:spLocks noGrp="1"/>
          </p:cNvSpPr>
          <p:nvPr>
            <p:ph type="ftr" idx="34"/>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63" name="PlaceHolder 2"/>
          <p:cNvSpPr>
            <a:spLocks noGrp="1"/>
          </p:cNvSpPr>
          <p:nvPr>
            <p:ph type="sldNum" idx="35"/>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AA6ACD6-3509-4D70-A3AA-E25DCF530D5E}"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
        <p:nvSpPr>
          <p:cNvPr id="64" name="PlaceHolder 3"/>
          <p:cNvSpPr>
            <a:spLocks noGrp="1"/>
          </p:cNvSpPr>
          <p:nvPr>
            <p:ph type="dt" idx="36"/>
          </p:nvPr>
        </p:nvSpPr>
        <p:spPr>
          <a:xfrm>
            <a:off x="838080" y="6356520"/>
            <a:ext cx="2741760" cy="3636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200" b="0" u="none" strike="noStrike">
                <a:solidFill>
                  <a:srgbClr val="888888"/>
                </a:solidFill>
                <a:effectLst/>
                <a:uFillTx/>
                <a:latin typeface="Calibri"/>
                <a:ea typeface="Calibri"/>
              </a:defRPr>
            </a:lvl1pPr>
          </a:lstStyle>
          <a:p>
            <a:pPr indent="0" algn="l">
              <a:lnSpc>
                <a:spcPct val="100000"/>
              </a:lnSpc>
              <a:buNone/>
              <a:tabLst>
                <a:tab pos="0" algn="l"/>
              </a:tabLst>
            </a:pPr>
            <a:r>
              <a:rPr lang="en-US" sz="1200" b="0" u="none" strike="noStrike">
                <a:solidFill>
                  <a:srgbClr val="888888"/>
                </a:solidFill>
                <a:effectLst/>
                <a:uFillTx/>
                <a:latin typeface="Calibri"/>
                <a:ea typeface="Calibri"/>
              </a:rPr>
              <a:t>9/3/2026</a:t>
            </a:r>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Google Shape;88;p14"/>
          <p:cNvPicPr/>
          <p:nvPr/>
        </p:nvPicPr>
        <p:blipFill>
          <a:blip r:embed="rId1"/>
          <a:stretch/>
        </p:blipFill>
        <p:spPr>
          <a:xfrm>
            <a:off x="891360" y="243000"/>
            <a:ext cx="10577880" cy="1746360"/>
          </a:xfrm>
          <a:prstGeom prst="rect">
            <a:avLst/>
          </a:prstGeom>
          <a:noFill/>
          <a:ln w="0">
            <a:noFill/>
          </a:ln>
        </p:spPr>
      </p:pic>
      <p:sp>
        <p:nvSpPr>
          <p:cNvPr id="66" name="Google Shape;89;p14"/>
          <p:cNvSpPr/>
          <p:nvPr/>
        </p:nvSpPr>
        <p:spPr>
          <a:xfrm>
            <a:off x="1907640" y="1722960"/>
            <a:ext cx="8837640" cy="4617360"/>
          </a:xfrm>
          <a:prstGeom prst="rect">
            <a:avLst/>
          </a:prstGeom>
          <a:noFill/>
          <a:ln w="0">
            <a:noFill/>
          </a:ln>
        </p:spPr>
        <p:style>
          <a:lnRef idx="0"/>
          <a:fillRef idx="0"/>
          <a:effectRef idx="0"/>
          <a:fontRef idx="minor"/>
        </p:style>
        <p:txBody>
          <a:bodyPr lIns="0" tIns="0" rIns="0" bIns="0" anchor="t">
            <a:noAutofit/>
          </a:bodyPr>
          <a:p>
            <a:pPr marL="114480" algn="just">
              <a:lnSpc>
                <a:spcPct val="90000"/>
              </a:lnSpc>
              <a:tabLst>
                <a:tab pos="0" algn="l"/>
              </a:tabLst>
            </a:pPr>
            <a:endParaRPr lang="en-US" sz="2800" b="0" u="none" strike="noStrike">
              <a:solidFill>
                <a:srgbClr val="000000"/>
              </a:solidFill>
              <a:effectLst/>
              <a:uFillTx/>
              <a:latin typeface="Arial"/>
            </a:endParaRPr>
          </a:p>
          <a:p>
            <a:pPr marL="114480" algn="just">
              <a:lnSpc>
                <a:spcPct val="90000"/>
              </a:lnSpc>
              <a:spcBef>
                <a:spcPts val="1001"/>
              </a:spcBef>
              <a:tabLst>
                <a:tab pos="0" algn="l"/>
              </a:tabLst>
            </a:pPr>
            <a:r>
              <a:rPr lang="en-US" sz="2800" b="1" u="none" strike="noStrike">
                <a:solidFill>
                  <a:srgbClr val="0070C0"/>
                </a:solidFill>
                <a:effectLst/>
                <a:uFillTx/>
                <a:latin typeface="Times New Roman"/>
                <a:ea typeface="Times New Roman"/>
              </a:rPr>
              <a:t>Title:- VibeGuard: Low-Cost Embedded Vibration Monitoring System</a:t>
            </a:r>
            <a:endParaRPr lang="en-US" sz="2800" b="0" u="none" strike="noStrike">
              <a:solidFill>
                <a:srgbClr val="000000"/>
              </a:solidFill>
              <a:effectLst/>
              <a:uFillTx/>
              <a:latin typeface="Arial"/>
            </a:endParaRPr>
          </a:p>
        </p:txBody>
      </p:sp>
      <p:sp>
        <p:nvSpPr>
          <p:cNvPr id="67" name="Google Shape;90;p14"/>
          <p:cNvSpPr/>
          <p:nvPr/>
        </p:nvSpPr>
        <p:spPr>
          <a:xfrm>
            <a:off x="170640" y="3221640"/>
            <a:ext cx="4947120" cy="3825000"/>
          </a:xfrm>
          <a:prstGeom prst="rect">
            <a:avLst/>
          </a:prstGeom>
          <a:noFill/>
          <a:ln w="0">
            <a:noFill/>
          </a:ln>
        </p:spPr>
        <p:style>
          <a:lnRef idx="0"/>
          <a:fillRef idx="0"/>
          <a:effectRef idx="0"/>
          <a:fontRef idx="minor"/>
        </p:style>
        <p:txBody>
          <a:bodyPr lIns="0" tIns="0" rIns="0" bIns="0" anchor="t">
            <a:noAutofit/>
          </a:bodyPr>
          <a:p>
            <a:pPr marL="114480">
              <a:lnSpc>
                <a:spcPct val="90000"/>
              </a:lnSpc>
              <a:tabLst>
                <a:tab pos="0" algn="l"/>
              </a:tabLst>
            </a:pPr>
            <a:r>
              <a:rPr lang="en-US" sz="2800" b="0" u="none" strike="noStrike">
                <a:solidFill>
                  <a:srgbClr val="00B050"/>
                </a:solidFill>
                <a:effectLst/>
                <a:uFillTx/>
                <a:latin typeface="Times New Roman"/>
                <a:ea typeface="Times New Roman"/>
              </a:rPr>
              <a:t>Group No: Group 8</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C00000"/>
                </a:solidFill>
                <a:effectLst/>
                <a:uFillTx/>
                <a:latin typeface="Times New Roman"/>
                <a:ea typeface="Times New Roman"/>
              </a:rPr>
              <a:t>Members:</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Amith Krishna Das – JEC24CC016</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Archa Pramod – JEC24CC023</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Nihad P C – JEC24CC044</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Sreehari K – JEC24CC055</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Sreeprada K S – JEC24CC056</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C00000"/>
                </a:solidFill>
                <a:effectLst/>
                <a:uFillTx/>
                <a:latin typeface="Times New Roman"/>
                <a:ea typeface="Times New Roman"/>
              </a:rPr>
              <a:t>       </a:t>
            </a:r>
            <a:endParaRPr lang="en-US" sz="2800" b="0" u="none" strike="noStrike">
              <a:solidFill>
                <a:srgbClr val="000000"/>
              </a:solidFill>
              <a:effectLst/>
              <a:uFillTx/>
              <a:latin typeface="Arial"/>
            </a:endParaRPr>
          </a:p>
          <a:p>
            <a:pPr marL="11448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68" name="Google Shape;91;p14"/>
          <p:cNvSpPr/>
          <p:nvPr/>
        </p:nvSpPr>
        <p:spPr>
          <a:xfrm>
            <a:off x="8153280" y="4363920"/>
            <a:ext cx="4014000" cy="1322280"/>
          </a:xfrm>
          <a:prstGeom prst="rect">
            <a:avLst/>
          </a:prstGeom>
          <a:noFill/>
          <a:ln w="0">
            <a:noFill/>
          </a:ln>
        </p:spPr>
        <p:style>
          <a:lnRef idx="0"/>
          <a:fillRef idx="0"/>
          <a:effectRef idx="0"/>
          <a:fontRef idx="minor"/>
        </p:style>
        <p:txBody>
          <a:bodyPr lIns="0" tIns="0" rIns="0" bIns="0" anchor="t">
            <a:noAutofit/>
          </a:bodyPr>
          <a:p>
            <a:pPr marL="114480">
              <a:lnSpc>
                <a:spcPct val="90000"/>
              </a:lnSpc>
              <a:tabLst>
                <a:tab pos="0" algn="l"/>
              </a:tabLst>
            </a:pPr>
            <a:r>
              <a:rPr lang="en-US" sz="2800" b="1" u="none" strike="noStrike">
                <a:solidFill>
                  <a:srgbClr val="171616"/>
                </a:solidFill>
                <a:effectLst/>
                <a:uFillTx/>
                <a:latin typeface="Times New Roman"/>
                <a:ea typeface="Times New Roman"/>
              </a:rPr>
              <a:t>Project </a:t>
            </a:r>
            <a:r>
              <a:rPr lang="en-US" sz="2800" b="1" u="none" strike="noStrike">
                <a:solidFill>
                  <a:srgbClr val="171616"/>
                </a:solidFill>
                <a:effectLst/>
                <a:uFillTx/>
                <a:latin typeface="Times New Roman"/>
                <a:ea typeface="Times New Roman"/>
              </a:rPr>
              <a:t>Coordinator:</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171616"/>
                </a:solidFill>
                <a:effectLst/>
                <a:uFillTx/>
                <a:latin typeface="Times New Roman"/>
                <a:ea typeface="Times New Roman"/>
              </a:rPr>
              <a:t>Ms. Sagna L T</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171616"/>
                </a:solidFill>
                <a:effectLst/>
                <a:uFillTx/>
                <a:latin typeface="Times New Roman"/>
                <a:ea typeface="Times New Roman"/>
              </a:rPr>
              <a:t>Asst. Prof. </a:t>
            </a:r>
            <a:r>
              <a:rPr lang="en-US" sz="2800" b="0" u="none" strike="noStrike">
                <a:solidFill>
                  <a:srgbClr val="171616"/>
                </a:solidFill>
                <a:effectLst/>
                <a:uFillTx/>
                <a:latin typeface="Times New Roman"/>
                <a:ea typeface="Times New Roman"/>
              </a:rPr>
              <a:t>CSE(CY)</a:t>
            </a:r>
            <a:endParaRPr lang="en-US" sz="2800" b="0" u="none" strike="noStrike">
              <a:solidFill>
                <a:srgbClr val="000000"/>
              </a:solidFill>
              <a:effectLst/>
              <a:uFillTx/>
              <a:latin typeface="Arial"/>
            </a:endParaRPr>
          </a:p>
          <a:p>
            <a:pPr marL="11448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69" name="Google Shape;92;p14"/>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a:t>
            </a:r>
            <a:r>
              <a:rPr lang="en-US" sz="1200" b="0" u="none" strike="noStrike">
                <a:solidFill>
                  <a:srgbClr val="7F7F7F"/>
                </a:solidFill>
                <a:effectLst/>
                <a:uFillTx/>
                <a:latin typeface="Calibri"/>
                <a:ea typeface="Calibri"/>
              </a:rPr>
              <a:t>Vibration Monitoring System</a:t>
            </a:r>
            <a:endParaRPr lang="en-US" sz="1200" b="0" u="none" strike="noStrike">
              <a:solidFill>
                <a:srgbClr val="000000"/>
              </a:solidFill>
              <a:effectLst/>
              <a:uFillTx/>
              <a:latin typeface="Arial"/>
            </a:endParaRPr>
          </a:p>
        </p:txBody>
      </p:sp>
      <p:sp>
        <p:nvSpPr>
          <p:cNvPr id="70" name="PlaceHolder 1"/>
          <p:cNvSpPr>
            <a:spLocks noGrp="1"/>
          </p:cNvSpPr>
          <p:nvPr>
            <p:ph type="ftr" idx="3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71" name="PlaceHolder 2"/>
          <p:cNvSpPr>
            <a:spLocks noGrp="1"/>
          </p:cNvSpPr>
          <p:nvPr>
            <p:ph type="sldNum" idx="3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E82026F-8B8C-4650-B4AF-1EBD720DE89B}"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p>
            <a:fld id="{0CE56559-5220-4898-AB5E-5160FBE59981}" type="datetime1">
              <a:rPr lang="en-US"/>
              <a:t>09/03/26</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Google Shape;100;p15"/>
          <p:cNvPicPr/>
          <p:nvPr/>
        </p:nvPicPr>
        <p:blipFill>
          <a:blip r:embed="rId1"/>
          <a:stretch/>
        </p:blipFill>
        <p:spPr>
          <a:xfrm>
            <a:off x="891360" y="243000"/>
            <a:ext cx="10577880" cy="1746360"/>
          </a:xfrm>
          <a:prstGeom prst="rect">
            <a:avLst/>
          </a:prstGeom>
          <a:noFill/>
          <a:ln w="0">
            <a:noFill/>
          </a:ln>
        </p:spPr>
      </p:pic>
      <p:sp>
        <p:nvSpPr>
          <p:cNvPr id="73" name="Google Shape;101;p15"/>
          <p:cNvSpPr/>
          <p:nvPr/>
        </p:nvSpPr>
        <p:spPr>
          <a:xfrm>
            <a:off x="785880" y="1990800"/>
            <a:ext cx="11031840" cy="4692240"/>
          </a:xfrm>
          <a:prstGeom prst="rect">
            <a:avLst/>
          </a:prstGeom>
          <a:noFill/>
          <a:ln w="0">
            <a:noFill/>
          </a:ln>
        </p:spPr>
        <p:style>
          <a:lnRef idx="0"/>
          <a:fillRef idx="0"/>
          <a:effectRef idx="0"/>
          <a:fontRef idx="minor"/>
        </p:style>
        <p:txBody>
          <a:bodyPr lIns="0" tIns="0" rIns="0" bIns="0" anchor="t">
            <a:noAutofit/>
          </a:bodyPr>
          <a:p>
            <a:pPr algn="ctr">
              <a:lnSpc>
                <a:spcPct val="90000"/>
              </a:lnSpc>
              <a:tabLst>
                <a:tab pos="0" algn="l"/>
              </a:tabLst>
            </a:pPr>
            <a:r>
              <a:rPr lang="en-US" sz="2800" b="1" u="none" strike="noStrike">
                <a:solidFill>
                  <a:schemeClr val="dk1"/>
                </a:solidFill>
                <a:effectLst/>
                <a:uFillTx/>
                <a:latin typeface="Times New Roman"/>
                <a:ea typeface="Times New Roman"/>
              </a:rPr>
              <a:t>DEPARTMENT OF COMPUTER SCIENCE &amp; ENGINEERING </a:t>
            </a:r>
            <a:endParaRPr lang="en-US" sz="2800" b="0" u="none" strike="noStrike">
              <a:solidFill>
                <a:srgbClr val="000000"/>
              </a:solidFill>
              <a:effectLst/>
              <a:uFillTx/>
              <a:latin typeface="Arial"/>
            </a:endParaRPr>
          </a:p>
          <a:p>
            <a:pPr algn="ctr">
              <a:lnSpc>
                <a:spcPct val="90000"/>
              </a:lnSpc>
              <a:spcBef>
                <a:spcPts val="1001"/>
              </a:spcBef>
              <a:tabLst>
                <a:tab pos="0" algn="l"/>
              </a:tabLst>
            </a:pPr>
            <a:r>
              <a:rPr lang="en-US" sz="2800" b="1" u="none" strike="noStrike">
                <a:solidFill>
                  <a:schemeClr val="dk1"/>
                </a:solidFill>
                <a:effectLst/>
                <a:uFillTx/>
                <a:latin typeface="Times New Roman"/>
                <a:ea typeface="Times New Roman"/>
              </a:rPr>
              <a:t>(Cyber Security)</a:t>
            </a:r>
            <a:endParaRPr lang="en-US" sz="2800" b="0" u="none" strike="noStrike">
              <a:solidFill>
                <a:srgbClr val="000000"/>
              </a:solidFill>
              <a:effectLst/>
              <a:uFillTx/>
              <a:latin typeface="Arial"/>
            </a:endParaRPr>
          </a:p>
          <a:p>
            <a:pPr algn="ctr">
              <a:lnSpc>
                <a:spcPct val="90000"/>
              </a:lnSpc>
              <a:spcBef>
                <a:spcPts val="1001"/>
              </a:spcBef>
              <a:tabLst>
                <a:tab pos="0" algn="l"/>
              </a:tabLst>
            </a:pPr>
            <a:r>
              <a:rPr lang="en-US" sz="2800" b="1" u="none" strike="noStrike">
                <a:solidFill>
                  <a:schemeClr val="dk1"/>
                </a:solidFill>
                <a:effectLst/>
                <a:uFillTx/>
                <a:latin typeface="Calibri"/>
                <a:ea typeface="Calibri"/>
              </a:rPr>
              <a:t> </a:t>
            </a:r>
            <a:r>
              <a:rPr lang="en-US" sz="2100" b="1" u="none" strike="noStrike">
                <a:solidFill>
                  <a:schemeClr val="dk1"/>
                </a:solidFill>
                <a:effectLst/>
                <a:uFillTx/>
                <a:latin typeface="Times New Roman"/>
                <a:ea typeface="Times New Roman"/>
              </a:rPr>
              <a:t>Vision of the Department</a:t>
            </a:r>
            <a:endParaRPr lang="en-US" sz="2100" b="0" u="none" strike="noStrike">
              <a:solidFill>
                <a:srgbClr val="000000"/>
              </a:solidFill>
              <a:effectLst/>
              <a:uFillTx/>
              <a:latin typeface="Arial"/>
            </a:endParaRPr>
          </a:p>
          <a:p>
            <a:pPr algn="ctr">
              <a:lnSpc>
                <a:spcPct val="150000"/>
              </a:lnSpc>
              <a:spcBef>
                <a:spcPts val="1001"/>
              </a:spcBef>
              <a:tabLst>
                <a:tab pos="0" algn="l"/>
              </a:tabLst>
            </a:pPr>
            <a:r>
              <a:rPr lang="en-US" sz="2000" b="0" u="none" strike="noStrike">
                <a:solidFill>
                  <a:srgbClr val="000000"/>
                </a:solidFill>
                <a:effectLst/>
                <a:uFillTx/>
                <a:latin typeface="Times New Roman"/>
                <a:ea typeface="Times New Roman"/>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US" sz="2000" b="0" u="none" strike="noStrike">
              <a:solidFill>
                <a:srgbClr val="000000"/>
              </a:solidFill>
              <a:effectLst/>
              <a:uFillTx/>
              <a:latin typeface="Arial"/>
            </a:endParaRPr>
          </a:p>
          <a:p>
            <a:pPr algn="ctr">
              <a:lnSpc>
                <a:spcPct val="90000"/>
              </a:lnSpc>
              <a:spcBef>
                <a:spcPts val="1001"/>
              </a:spcBef>
              <a:tabLst>
                <a:tab pos="0" algn="l"/>
              </a:tabLst>
            </a:pPr>
            <a:endParaRPr lang="en-US" sz="2100" b="0" u="none" strike="noStrike">
              <a:solidFill>
                <a:srgbClr val="000000"/>
              </a:solidFill>
              <a:effectLst/>
              <a:uFillTx/>
              <a:latin typeface="Arial"/>
            </a:endParaRPr>
          </a:p>
          <a:p>
            <a:pPr>
              <a:lnSpc>
                <a:spcPct val="90000"/>
              </a:lnSpc>
              <a:spcBef>
                <a:spcPts val="1001"/>
              </a:spcBef>
              <a:tabLst>
                <a:tab pos="0" algn="l"/>
              </a:tabLst>
            </a:pPr>
            <a:endParaRPr lang="en-US" sz="2100" b="0" u="none" strike="noStrike">
              <a:solidFill>
                <a:srgbClr val="000000"/>
              </a:solidFill>
              <a:effectLst/>
              <a:uFillTx/>
              <a:latin typeface="Arial"/>
            </a:endParaRPr>
          </a:p>
          <a:p>
            <a:pPr>
              <a:lnSpc>
                <a:spcPct val="90000"/>
              </a:lnSpc>
              <a:spcBef>
                <a:spcPts val="1001"/>
              </a:spcBef>
              <a:tabLst>
                <a:tab pos="0" algn="l"/>
              </a:tabLst>
            </a:pPr>
            <a:endParaRPr lang="en-US" sz="1700" b="0" u="none" strike="noStrike">
              <a:solidFill>
                <a:srgbClr val="000000"/>
              </a:solidFill>
              <a:effectLst/>
              <a:uFillTx/>
              <a:latin typeface="Arial"/>
            </a:endParaRPr>
          </a:p>
          <a:p>
            <a:pPr>
              <a:lnSpc>
                <a:spcPct val="90000"/>
              </a:lnSpc>
              <a:spcBef>
                <a:spcPts val="1001"/>
              </a:spcBef>
              <a:tabLst>
                <a:tab pos="0" algn="l"/>
              </a:tabLst>
            </a:pPr>
            <a:endParaRPr lang="en-US" sz="1300" b="0" u="none" strike="noStrike">
              <a:solidFill>
                <a:srgbClr val="000000"/>
              </a:solidFill>
              <a:effectLst/>
              <a:uFillTx/>
              <a:latin typeface="Arial"/>
            </a:endParaRPr>
          </a:p>
          <a:p>
            <a:pPr>
              <a:lnSpc>
                <a:spcPct val="90000"/>
              </a:lnSpc>
              <a:spcBef>
                <a:spcPts val="1001"/>
              </a:spcBef>
              <a:tabLst>
                <a:tab pos="0" algn="l"/>
              </a:tabLst>
            </a:pPr>
            <a:endParaRPr lang="en-US" sz="600" b="0" u="none" strike="noStrike">
              <a:solidFill>
                <a:srgbClr val="000000"/>
              </a:solidFill>
              <a:effectLst/>
              <a:uFillTx/>
              <a:latin typeface="Arial"/>
            </a:endParaRPr>
          </a:p>
        </p:txBody>
      </p:sp>
      <p:sp>
        <p:nvSpPr>
          <p:cNvPr id="74" name="Google Shape;102;p15"/>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75" name="PlaceHolder 1"/>
          <p:cNvSpPr>
            <a:spLocks noGrp="1"/>
          </p:cNvSpPr>
          <p:nvPr>
            <p:ph type="ftr" idx="3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76" name="PlaceHolder 2"/>
          <p:cNvSpPr>
            <a:spLocks noGrp="1"/>
          </p:cNvSpPr>
          <p:nvPr>
            <p:ph type="sldNum" idx="4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241EDFE-96A7-4814-B683-2B03A47A2141}"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p>
            <a:fld id="{51DBD984-28B6-443A-868E-482DB3CD48AD}" type="datetime1">
              <a:rPr lang="en-US"/>
              <a:t>09/03/26</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p>
            <a:pPr indent="0" algn="l">
              <a:lnSpc>
                <a:spcPct val="90000"/>
              </a:lnSpc>
              <a:buNone/>
              <a:tabLst>
                <a:tab pos="0" algn="l"/>
              </a:tabLst>
            </a:pPr>
            <a:r>
              <a:rPr lang="en-US" sz="100" b="1" u="none" strike="noStrike">
                <a:solidFill>
                  <a:schemeClr val="dk1"/>
                </a:solidFill>
                <a:effectLst/>
                <a:uFillTx/>
                <a:latin typeface="Calibri"/>
                <a:ea typeface="Calibri"/>
              </a:rPr>
              <a:t>.</a:t>
            </a:r>
            <a:endParaRPr lang="en-US" sz="100" b="0" u="none" strike="noStrike">
              <a:solidFill>
                <a:srgbClr val="000000"/>
              </a:solidFill>
              <a:effectLst/>
              <a:uFillTx/>
              <a:latin typeface="Arial"/>
            </a:endParaRPr>
          </a:p>
        </p:txBody>
      </p:sp>
      <p:sp>
        <p:nvSpPr>
          <p:cNvPr id="78" name="PlaceHolder 2"/>
          <p:cNvSpPr>
            <a:spLocks noGrp="1"/>
          </p:cNvSpPr>
          <p:nvPr>
            <p:ph/>
          </p:nvPr>
        </p:nvSpPr>
        <p:spPr>
          <a:xfrm>
            <a:off x="838080" y="2220120"/>
            <a:ext cx="10514160" cy="4349880"/>
          </a:xfrm>
          <a:prstGeom prst="rect">
            <a:avLst/>
          </a:prstGeom>
          <a:noFill/>
          <a:ln w="0">
            <a:noFill/>
          </a:ln>
        </p:spPr>
        <p:txBody>
          <a:bodyPr lIns="91440" tIns="45720" rIns="91440" bIns="45720" anchor="t">
            <a:normAutofit lnSpcReduction="9999"/>
          </a:bodyPr>
          <a:p>
            <a:pPr indent="0" algn="ctr">
              <a:lnSpc>
                <a:spcPct val="90000"/>
              </a:lnSpc>
              <a:buNone/>
              <a:tabLst>
                <a:tab pos="0" algn="l"/>
              </a:tabLst>
            </a:pPr>
            <a:r>
              <a:rPr lang="en-US" sz="2800" b="1" u="none" strike="noStrike">
                <a:solidFill>
                  <a:schemeClr val="dk1"/>
                </a:solidFill>
                <a:effectLst/>
                <a:uFillTx/>
                <a:latin typeface="Times New Roman"/>
                <a:ea typeface="Times New Roman"/>
              </a:rPr>
              <a:t>DEPARTMENT OF COMPUTER SCIENCE &amp; ENGINEERING </a:t>
            </a:r>
            <a:endParaRPr lang="en-US" sz="2800" b="0" u="none" strike="noStrike">
              <a:solidFill>
                <a:srgbClr val="000000"/>
              </a:solidFill>
              <a:effectLst/>
              <a:uFillTx/>
              <a:latin typeface="Arial"/>
            </a:endParaRPr>
          </a:p>
          <a:p>
            <a:pPr indent="0" algn="ctr">
              <a:lnSpc>
                <a:spcPct val="90000"/>
              </a:lnSpc>
              <a:spcBef>
                <a:spcPts val="1001"/>
              </a:spcBef>
              <a:buNone/>
              <a:tabLst>
                <a:tab pos="0" algn="l"/>
              </a:tabLst>
            </a:pPr>
            <a:r>
              <a:rPr lang="en-US" sz="2800" b="1" u="none" strike="noStrike">
                <a:solidFill>
                  <a:schemeClr val="dk1"/>
                </a:solidFill>
                <a:effectLst/>
                <a:uFillTx/>
                <a:latin typeface="Times New Roman"/>
                <a:ea typeface="Times New Roman"/>
              </a:rPr>
              <a:t>(Cyber Security)</a:t>
            </a:r>
            <a:endParaRPr lang="en-US" sz="2800" b="0" u="none" strike="noStrike">
              <a:solidFill>
                <a:srgbClr val="000000"/>
              </a:solidFill>
              <a:effectLst/>
              <a:uFillTx/>
              <a:latin typeface="Arial"/>
            </a:endParaRPr>
          </a:p>
          <a:p>
            <a:pPr indent="0" algn="ctr">
              <a:lnSpc>
                <a:spcPct val="90000"/>
              </a:lnSpc>
              <a:spcBef>
                <a:spcPts val="1001"/>
              </a:spcBef>
              <a:buNone/>
              <a:tabLst>
                <a:tab pos="0" algn="l"/>
              </a:tabLst>
            </a:pPr>
            <a:r>
              <a:rPr lang="en-US" sz="2800" b="1" u="sng" strike="noStrike">
                <a:solidFill>
                  <a:schemeClr val="dk1"/>
                </a:solidFill>
                <a:effectLst/>
                <a:uFillTx/>
                <a:latin typeface="Calibri"/>
                <a:ea typeface="Calibri"/>
              </a:rPr>
              <a:t> </a:t>
            </a:r>
            <a:r>
              <a:rPr lang="en-US" sz="2800" b="1" u="sng" strike="noStrike">
                <a:solidFill>
                  <a:schemeClr val="dk1"/>
                </a:solidFill>
                <a:effectLst/>
                <a:uFillTx/>
                <a:latin typeface="Times New Roman"/>
                <a:ea typeface="Times New Roman"/>
              </a:rPr>
              <a:t>Mission of the Department</a:t>
            </a:r>
            <a:endParaRPr lang="en-US" sz="2800" b="0" u="none" strike="noStrike">
              <a:solidFill>
                <a:srgbClr val="000000"/>
              </a:solidFill>
              <a:effectLst/>
              <a:uFillTx/>
              <a:latin typeface="Arial"/>
            </a:endParaRPr>
          </a:p>
          <a:p>
            <a:pPr marL="228600" indent="-228600" algn="just">
              <a:lnSpc>
                <a:spcPct val="90000"/>
              </a:lnSpc>
              <a:spcBef>
                <a:spcPts val="1125"/>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M1: Excellence in Education</a:t>
            </a:r>
            <a:r>
              <a:rPr lang="en-US" sz="1800" b="1" u="none" strike="noStrike">
                <a:solidFill>
                  <a:schemeClr val="dk1"/>
                </a:solidFill>
                <a:effectLst/>
                <a:uFillTx/>
                <a:latin typeface="Arial"/>
                <a:ea typeface="Arial"/>
              </a:rPr>
              <a:t> : </a:t>
            </a:r>
            <a:r>
              <a:rPr lang="en-US" sz="1800" b="0" u="none" strike="noStrike">
                <a:solidFill>
                  <a:srgbClr val="000000"/>
                </a:solidFill>
                <a:effectLst/>
                <a:uFillTx/>
                <a:latin typeface="Times New Roman"/>
                <a:ea typeface="Times New Roman"/>
              </a:rPr>
              <a:t>To provide outcome-based and industry-oriented education by integrating core computer science principles with advanced cybersecurity technologies and practices.</a:t>
            </a:r>
            <a:endParaRPr lang="en-US" sz="1800" b="0" u="none" strike="noStrike">
              <a:solidFill>
                <a:srgbClr val="000000"/>
              </a:solidFill>
              <a:effectLst/>
              <a:uFillTx/>
              <a:latin typeface="Arial"/>
            </a:endParaRPr>
          </a:p>
          <a:p>
            <a:pPr marL="228600" indent="-228600" algn="just">
              <a:lnSpc>
                <a:spcPct val="90000"/>
              </a:lnSpc>
              <a:spcBef>
                <a:spcPts val="2251"/>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M2: Ethics and Professional Responsibility : </a:t>
            </a:r>
            <a:r>
              <a:rPr lang="en-US" sz="1800" b="0" u="none" strike="noStrike">
                <a:solidFill>
                  <a:srgbClr val="000000"/>
                </a:solidFill>
                <a:effectLst/>
                <a:uFillTx/>
                <a:latin typeface="Times New Roman"/>
                <a:ea typeface="Times New Roman"/>
              </a:rPr>
              <a:t>To cultivate ethical values, integrity, social responsibility, and secure computing practices for protecting digital assets and strengthening cyber trust.</a:t>
            </a:r>
            <a:endParaRPr lang="en-US" sz="1800" b="0" u="none" strike="noStrike">
              <a:solidFill>
                <a:srgbClr val="000000"/>
              </a:solidFill>
              <a:effectLst/>
              <a:uFillTx/>
              <a:latin typeface="Arial"/>
            </a:endParaRPr>
          </a:p>
          <a:p>
            <a:pPr marL="228600" indent="-228600" algn="just">
              <a:lnSpc>
                <a:spcPct val="90000"/>
              </a:lnSpc>
              <a:spcBef>
                <a:spcPts val="2251"/>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M3: Research, Innovation, and Entrepreneurship : </a:t>
            </a:r>
            <a:r>
              <a:rPr lang="en-US" sz="1800" b="0" u="none" strike="noStrike">
                <a:solidFill>
                  <a:srgbClr val="000000"/>
                </a:solidFill>
                <a:effectLst/>
                <a:uFillTx/>
                <a:latin typeface="Times New Roman"/>
                <a:ea typeface="Times New Roman"/>
              </a:rPr>
              <a:t>To promote research, innovation, and entrepreneurial thinking for developing sustainable solutions to emerging cybersecurity challenges.</a:t>
            </a:r>
            <a:endParaRPr lang="en-US" sz="1800" b="0" u="none" strike="noStrike">
              <a:solidFill>
                <a:srgbClr val="000000"/>
              </a:solidFill>
              <a:effectLst/>
              <a:uFillTx/>
              <a:latin typeface="Arial"/>
            </a:endParaRPr>
          </a:p>
          <a:p>
            <a:pPr marL="228600" indent="-228600" algn="just">
              <a:lnSpc>
                <a:spcPct val="90000"/>
              </a:lnSpc>
              <a:spcBef>
                <a:spcPts val="2324"/>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M4: Holistic and Global Development : </a:t>
            </a:r>
            <a:r>
              <a:rPr lang="en-US" sz="1800" b="0" u="none" strike="noStrike">
                <a:solidFill>
                  <a:srgbClr val="000000"/>
                </a:solidFill>
                <a:effectLst/>
                <a:uFillTx/>
                <a:latin typeface="Times New Roman"/>
                <a:ea typeface="Times New Roman"/>
              </a:rPr>
              <a:t>To enhance leadership, teamwork, lifelong learning, and global competence through industry collaboration, interdisciplinary activities, and community engagement.</a:t>
            </a:r>
            <a:endParaRPr lang="en-US" sz="1800" b="0" u="none" strike="noStrike">
              <a:solidFill>
                <a:srgbClr val="000000"/>
              </a:solidFill>
              <a:effectLst/>
              <a:uFillTx/>
              <a:latin typeface="Arial"/>
            </a:endParaRPr>
          </a:p>
          <a:p>
            <a:pPr indent="0" algn="ctr">
              <a:lnSpc>
                <a:spcPct val="90000"/>
              </a:lnSpc>
              <a:spcBef>
                <a:spcPts val="2200"/>
              </a:spcBef>
              <a:buNone/>
              <a:tabLst>
                <a:tab pos="0" algn="l"/>
              </a:tabLst>
            </a:pPr>
            <a:endParaRPr lang="en-US" sz="2800" b="0" u="none" strike="noStrike">
              <a:solidFill>
                <a:srgbClr val="000000"/>
              </a:solidFill>
              <a:effectLst/>
              <a:uFillTx/>
              <a:latin typeface="Arial"/>
            </a:endParaRPr>
          </a:p>
        </p:txBody>
      </p:sp>
      <p:pic>
        <p:nvPicPr>
          <p:cNvPr id="79" name="Google Shape;112;p16"/>
          <p:cNvPicPr/>
          <p:nvPr/>
        </p:nvPicPr>
        <p:blipFill>
          <a:blip r:embed="rId1"/>
          <a:stretch/>
        </p:blipFill>
        <p:spPr>
          <a:xfrm>
            <a:off x="1045440" y="365040"/>
            <a:ext cx="10577880" cy="1746360"/>
          </a:xfrm>
          <a:prstGeom prst="rect">
            <a:avLst/>
          </a:prstGeom>
          <a:noFill/>
          <a:ln w="0">
            <a:noFill/>
          </a:ln>
        </p:spPr>
      </p:pic>
      <p:sp>
        <p:nvSpPr>
          <p:cNvPr id="80" name="Google Shape;113;p16"/>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81" name="PlaceHolder 3"/>
          <p:cNvSpPr>
            <a:spLocks noGrp="1"/>
          </p:cNvSpPr>
          <p:nvPr>
            <p:ph type="ftr" idx="4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82" name="PlaceHolder 4"/>
          <p:cNvSpPr>
            <a:spLocks noGrp="1"/>
          </p:cNvSpPr>
          <p:nvPr>
            <p:ph type="sldNum" idx="4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4ABA1FC-D13F-401F-A4D5-6D2AE89264DC}"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C305750B-8F69-4951-9131-6771134FB3F2}" type="datetime1">
              <a:rPr lang="en-US"/>
              <a:t>09/03/26</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Google Shape;121;p17"/>
          <p:cNvPicPr/>
          <p:nvPr/>
        </p:nvPicPr>
        <p:blipFill>
          <a:blip r:embed="rId1"/>
          <a:stretch/>
        </p:blipFill>
        <p:spPr>
          <a:xfrm>
            <a:off x="891360" y="243000"/>
            <a:ext cx="10577880" cy="1746360"/>
          </a:xfrm>
          <a:prstGeom prst="rect">
            <a:avLst/>
          </a:prstGeom>
          <a:noFill/>
          <a:ln w="0">
            <a:noFill/>
          </a:ln>
        </p:spPr>
      </p:pic>
      <p:sp>
        <p:nvSpPr>
          <p:cNvPr id="84" name="Google Shape;122;p17"/>
          <p:cNvSpPr/>
          <p:nvPr/>
        </p:nvSpPr>
        <p:spPr>
          <a:xfrm>
            <a:off x="576000" y="2268720"/>
            <a:ext cx="11208600" cy="4009320"/>
          </a:xfrm>
          <a:prstGeom prst="rect">
            <a:avLst/>
          </a:prstGeom>
          <a:noFill/>
          <a:ln w="0">
            <a:noFill/>
          </a:ln>
        </p:spPr>
        <p:style>
          <a:lnRef idx="0"/>
          <a:fillRef idx="0"/>
          <a:effectRef idx="0"/>
          <a:fontRef idx="minor"/>
        </p:style>
        <p:txBody>
          <a:bodyPr lIns="0" tIns="0" rIns="0" bIns="0" anchor="t">
            <a:noAutofit/>
          </a:bodyPr>
          <a:p>
            <a:pPr algn="ctr">
              <a:lnSpc>
                <a:spcPct val="90000"/>
              </a:lnSpc>
              <a:tabLst>
                <a:tab pos="0" algn="l"/>
              </a:tabLst>
            </a:pPr>
            <a:r>
              <a:rPr lang="en-US" sz="2800" b="1" u="sng" strike="noStrike">
                <a:solidFill>
                  <a:schemeClr val="dk1"/>
                </a:solidFill>
                <a:effectLst/>
                <a:uFillTx/>
                <a:latin typeface="Times New Roman"/>
                <a:ea typeface="Times New Roman"/>
              </a:rPr>
              <a:t>Programme Educational Objectives (PEOs)</a:t>
            </a:r>
            <a:endParaRPr lang="en-US" sz="2800" b="0" u="none" strike="noStrike">
              <a:solidFill>
                <a:srgbClr val="000000"/>
              </a:solidFill>
              <a:effectLst/>
              <a:uFillTx/>
              <a:latin typeface="Arial"/>
            </a:endParaRPr>
          </a:p>
          <a:p>
            <a:pPr marL="228600" indent="-228600">
              <a:lnSpc>
                <a:spcPct val="90000"/>
              </a:lnSpc>
              <a:spcBef>
                <a:spcPts val="1199"/>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PEO 1:</a:t>
            </a:r>
            <a:r>
              <a:rPr lang="en-US" sz="1800" b="1" u="none" strike="noStrike">
                <a:solidFill>
                  <a:schemeClr val="dk1"/>
                </a:solidFill>
                <a:effectLst/>
                <a:uFillTx/>
                <a:latin typeface="Arial"/>
                <a:ea typeface="Arial"/>
              </a:rPr>
              <a:t> </a:t>
            </a:r>
            <a:r>
              <a:rPr lang="en-US" sz="1800" b="0" u="none" strike="noStrike">
                <a:solidFill>
                  <a:srgbClr val="000000"/>
                </a:solidFill>
                <a:effectLst/>
                <a:uFillTx/>
                <a:latin typeface="Times New Roman"/>
                <a:ea typeface="Times New Roman"/>
              </a:rPr>
              <a:t>Graduates will apply strong foundations in computer science and cybersecurity to design, develop, and manage secure and reliable computing systems for industry and society.</a:t>
            </a:r>
            <a:endParaRPr lang="en-US" sz="1800" b="0" u="none" strike="noStrike">
              <a:solidFill>
                <a:srgbClr val="000000"/>
              </a:solidFill>
              <a:effectLst/>
              <a:uFillTx/>
              <a:latin typeface="Arial"/>
            </a:endParaRPr>
          </a:p>
          <a:p>
            <a:pPr marL="228600" indent="-228600">
              <a:lnSpc>
                <a:spcPct val="9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PEO 2:</a:t>
            </a:r>
            <a:r>
              <a:rPr lang="en-US" sz="1800" b="1" u="none" strike="noStrike">
                <a:solidFill>
                  <a:schemeClr val="dk1"/>
                </a:solidFill>
                <a:effectLst/>
                <a:uFillTx/>
                <a:latin typeface="Arial"/>
                <a:ea typeface="Arial"/>
              </a:rPr>
              <a:t> </a:t>
            </a:r>
            <a:r>
              <a:rPr lang="en-US" sz="1800" b="0" u="none" strike="noStrike">
                <a:solidFill>
                  <a:schemeClr val="dk1"/>
                </a:solidFill>
                <a:effectLst/>
                <a:uFillTx/>
                <a:latin typeface="Times New Roman"/>
                <a:ea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lang="en-US" sz="1800" b="0" u="none" strike="noStrike">
              <a:solidFill>
                <a:srgbClr val="000000"/>
              </a:solidFill>
              <a:effectLst/>
              <a:uFillTx/>
              <a:latin typeface="Arial"/>
            </a:endParaRPr>
          </a:p>
          <a:p>
            <a:pPr marL="228600" indent="-228600">
              <a:lnSpc>
                <a:spcPct val="9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PEO 3:</a:t>
            </a:r>
            <a:r>
              <a:rPr lang="en-US" sz="1800" b="1" u="none" strike="noStrike">
                <a:solidFill>
                  <a:schemeClr val="dk1"/>
                </a:solidFill>
                <a:effectLst/>
                <a:uFillTx/>
                <a:latin typeface="Arial"/>
                <a:ea typeface="Arial"/>
              </a:rPr>
              <a:t> </a:t>
            </a:r>
            <a:r>
              <a:rPr lang="en-US" sz="1800" b="0" u="none" strike="noStrike">
                <a:solidFill>
                  <a:srgbClr val="000000"/>
                </a:solidFill>
                <a:effectLst/>
                <a:uFillTx/>
                <a:latin typeface="Times New Roman"/>
                <a:ea typeface="Times New Roman"/>
              </a:rPr>
              <a:t>Graduates will demonstrate ethical responsibility, leadership, teamwork, and effective communication while adapting to evolving global technological environments through lifelong learning.</a:t>
            </a:r>
            <a:endParaRPr lang="en-US" sz="1800" b="0" u="none" strike="noStrike">
              <a:solidFill>
                <a:srgbClr val="000000"/>
              </a:solidFill>
              <a:effectLst/>
              <a:uFillTx/>
              <a:latin typeface="Arial"/>
            </a:endParaRPr>
          </a:p>
          <a:p>
            <a:pPr>
              <a:lnSpc>
                <a:spcPct val="90000"/>
              </a:lnSpc>
              <a:spcBef>
                <a:spcPts val="2200"/>
              </a:spcBef>
              <a:tabLst>
                <a:tab pos="0" algn="l"/>
              </a:tabLst>
            </a:pPr>
            <a:endParaRPr lang="en-US" sz="1800" b="0" u="none" strike="noStrike">
              <a:solidFill>
                <a:srgbClr val="000000"/>
              </a:solidFill>
              <a:effectLst/>
              <a:uFillTx/>
              <a:latin typeface="Arial"/>
            </a:endParaRPr>
          </a:p>
        </p:txBody>
      </p:sp>
      <p:sp>
        <p:nvSpPr>
          <p:cNvPr id="85" name="Google Shape;123;p17"/>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86" name="PlaceHolder 1"/>
          <p:cNvSpPr>
            <a:spLocks noGrp="1"/>
          </p:cNvSpPr>
          <p:nvPr>
            <p:ph type="ftr" idx="4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87" name="PlaceHolder 2"/>
          <p:cNvSpPr>
            <a:spLocks noGrp="1"/>
          </p:cNvSpPr>
          <p:nvPr>
            <p:ph type="sldNum" idx="4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1390C18-A9CC-4EC2-A11E-F8726866534B}"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p>
            <a:fld id="{832EEE6A-2586-4749-98BE-C4E83A592BFF}" type="datetime1">
              <a:rPr lang="en-US"/>
              <a:t>09/03/26</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Google Shape;131;p18"/>
          <p:cNvPicPr/>
          <p:nvPr/>
        </p:nvPicPr>
        <p:blipFill>
          <a:blip r:embed="rId1"/>
          <a:stretch/>
        </p:blipFill>
        <p:spPr>
          <a:xfrm>
            <a:off x="891360" y="243000"/>
            <a:ext cx="10577880" cy="1746360"/>
          </a:xfrm>
          <a:prstGeom prst="rect">
            <a:avLst/>
          </a:prstGeom>
          <a:noFill/>
          <a:ln w="0">
            <a:noFill/>
          </a:ln>
        </p:spPr>
      </p:pic>
      <p:sp>
        <p:nvSpPr>
          <p:cNvPr id="89" name="Google Shape;132;p18"/>
          <p:cNvSpPr/>
          <p:nvPr/>
        </p:nvSpPr>
        <p:spPr>
          <a:xfrm>
            <a:off x="393480" y="1990800"/>
            <a:ext cx="11249280" cy="4363920"/>
          </a:xfrm>
          <a:prstGeom prst="rect">
            <a:avLst/>
          </a:prstGeom>
          <a:noFill/>
          <a:ln w="0">
            <a:noFill/>
          </a:ln>
        </p:spPr>
        <p:style>
          <a:lnRef idx="0"/>
          <a:fillRef idx="0"/>
          <a:effectRef idx="0"/>
          <a:fontRef idx="minor"/>
        </p:style>
        <p:txBody>
          <a:bodyPr lIns="0" tIns="0" rIns="0" bIns="0" anchor="t">
            <a:noAutofit/>
          </a:bodyPr>
          <a:p>
            <a:pPr algn="ctr">
              <a:lnSpc>
                <a:spcPct val="113000"/>
              </a:lnSpc>
              <a:tabLst>
                <a:tab pos="0" algn="l"/>
              </a:tabLst>
            </a:pPr>
            <a:r>
              <a:rPr lang="en-US" sz="2800" b="1" u="sng" strike="noStrike">
                <a:solidFill>
                  <a:schemeClr val="dk1"/>
                </a:solidFill>
                <a:effectLst/>
                <a:uFillTx/>
                <a:latin typeface="Times New Roman"/>
                <a:ea typeface="Times New Roman"/>
              </a:rPr>
              <a:t>Programme Outcomes</a:t>
            </a:r>
            <a:endParaRPr lang="en-US" sz="2800" b="0" u="none" strike="noStrike">
              <a:solidFill>
                <a:srgbClr val="000000"/>
              </a:solidFill>
              <a:effectLst/>
              <a:uFillTx/>
              <a:latin typeface="Arial"/>
            </a:endParaRPr>
          </a:p>
          <a:p>
            <a:pPr>
              <a:lnSpc>
                <a:spcPct val="113000"/>
              </a:lnSpc>
              <a:tabLst>
                <a:tab pos="0" algn="l"/>
              </a:tabLst>
            </a:pPr>
            <a:r>
              <a:rPr lang="en-US" sz="1400" b="0" u="none" strike="noStrike">
                <a:solidFill>
                  <a:schemeClr val="dk1"/>
                </a:solidFill>
                <a:effectLst/>
                <a:uFillTx/>
                <a:latin typeface="Times New Roman"/>
                <a:ea typeface="Times New Roman"/>
              </a:rPr>
              <a:t>    Engineering Graduates will be able to:</a:t>
            </a:r>
            <a:endParaRPr lang="en-US" sz="1400" b="0" u="none" strike="noStrike">
              <a:solidFill>
                <a:srgbClr val="000000"/>
              </a:solidFill>
              <a:effectLst/>
              <a:uFillTx/>
              <a:latin typeface="Arial"/>
            </a:endParaRPr>
          </a:p>
          <a:p>
            <a:pPr marL="457200" algn="just">
              <a:lnSpc>
                <a:spcPct val="113000"/>
              </a:lnSpc>
              <a:tabLst>
                <a:tab pos="0" algn="l"/>
              </a:tabLst>
            </a:pPr>
            <a:r>
              <a:rPr lang="en-US" sz="1500" b="0" u="none" strike="noStrike">
                <a:solidFill>
                  <a:schemeClr val="dk1"/>
                </a:solidFill>
                <a:effectLst/>
                <a:uFillTx/>
                <a:latin typeface="Times New Roman"/>
                <a:ea typeface="Times New Roman"/>
              </a:rPr>
              <a:t>1. </a:t>
            </a:r>
            <a:r>
              <a:rPr lang="en-US" sz="1500" b="1" u="none" strike="noStrike">
                <a:solidFill>
                  <a:schemeClr val="dk1"/>
                </a:solidFill>
                <a:effectLst/>
                <a:uFillTx/>
                <a:latin typeface="Times New Roman"/>
                <a:ea typeface="Times New Roman"/>
              </a:rPr>
              <a:t>Engineering knowledge:</a:t>
            </a:r>
            <a:r>
              <a:rPr lang="en-US" sz="1500" b="0" u="none" strike="noStrike">
                <a:solidFill>
                  <a:schemeClr val="dk1"/>
                </a:solidFill>
                <a:effectLst/>
                <a:uFillTx/>
                <a:latin typeface="Times New Roman"/>
                <a:ea typeface="Times New Roman"/>
              </a:rPr>
              <a:t> Apply the knowledge of mathematics, science, engineering fundamentals, and an engineering specialization to the solution of complex engineering problems.</a:t>
            </a:r>
            <a:endParaRPr lang="en-US" sz="1500" b="0" u="none" strike="noStrike">
              <a:solidFill>
                <a:srgbClr val="000000"/>
              </a:solidFill>
              <a:effectLst/>
              <a:uFillTx/>
              <a:latin typeface="Arial"/>
            </a:endParaRPr>
          </a:p>
          <a:p>
            <a:pPr marL="457200" algn="just">
              <a:lnSpc>
                <a:spcPct val="113000"/>
              </a:lnSpc>
              <a:tabLst>
                <a:tab pos="0" algn="l"/>
              </a:tabLst>
            </a:pPr>
            <a:br>
              <a:rPr sz="1500"/>
            </a:br>
            <a:r>
              <a:rPr lang="en-US" sz="1500" b="0" u="none" strike="noStrike">
                <a:solidFill>
                  <a:schemeClr val="dk1"/>
                </a:solidFill>
                <a:effectLst/>
                <a:uFillTx/>
                <a:latin typeface="Times New Roman"/>
                <a:ea typeface="Times New Roman"/>
              </a:rPr>
              <a:t>2. </a:t>
            </a:r>
            <a:r>
              <a:rPr lang="en-US" sz="1500" b="1" u="none" strike="noStrike">
                <a:solidFill>
                  <a:schemeClr val="dk1"/>
                </a:solidFill>
                <a:effectLst/>
                <a:uFillTx/>
                <a:latin typeface="Times New Roman"/>
                <a:ea typeface="Times New Roman"/>
              </a:rPr>
              <a:t>Problem analysis:</a:t>
            </a:r>
            <a:r>
              <a:rPr lang="en-US" sz="1500" b="0" u="none" strike="noStrike">
                <a:solidFill>
                  <a:schemeClr val="dk1"/>
                </a:solidFill>
                <a:effectLst/>
                <a:uFillTx/>
                <a:latin typeface="Times New Roman"/>
                <a:ea typeface="Times New Roman"/>
              </a:rPr>
              <a:t> Identify, formulate, review research literature, and analyze complex engineering problems reaching substantiated conclusions using first principles of mathematics, natural sciences, and engineering sciences.</a:t>
            </a:r>
            <a:endParaRPr lang="en-US" sz="1500" b="0" u="none" strike="noStrike">
              <a:solidFill>
                <a:srgbClr val="000000"/>
              </a:solidFill>
              <a:effectLst/>
              <a:uFillTx/>
              <a:latin typeface="Arial"/>
            </a:endParaRPr>
          </a:p>
          <a:p>
            <a:pPr marL="457200" algn="just">
              <a:lnSpc>
                <a:spcPct val="113000"/>
              </a:lnSpc>
              <a:tabLst>
                <a:tab pos="0" algn="l"/>
              </a:tabLst>
            </a:pPr>
            <a:br>
              <a:rPr sz="1500"/>
            </a:br>
            <a:r>
              <a:rPr lang="en-US" sz="1500" b="0" u="none" strike="noStrike">
                <a:solidFill>
                  <a:schemeClr val="dk1"/>
                </a:solidFill>
                <a:effectLst/>
                <a:uFillTx/>
                <a:latin typeface="Times New Roman"/>
                <a:ea typeface="Times New Roman"/>
              </a:rPr>
              <a:t>3. </a:t>
            </a:r>
            <a:r>
              <a:rPr lang="en-US" sz="1500" b="1" u="none" strike="noStrike">
                <a:solidFill>
                  <a:schemeClr val="dk1"/>
                </a:solidFill>
                <a:effectLst/>
                <a:uFillTx/>
                <a:latin typeface="Times New Roman"/>
                <a:ea typeface="Times New Roman"/>
              </a:rPr>
              <a:t>Design/development of solutions:</a:t>
            </a:r>
            <a:r>
              <a:rPr lang="en-US" sz="1500" b="0" u="none" strike="noStrike">
                <a:solidFill>
                  <a:schemeClr val="dk1"/>
                </a:solidFill>
                <a:effectLst/>
                <a:uFillTx/>
                <a:latin typeface="Times New Roman"/>
                <a:ea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lang="en-US" sz="1500" b="0" u="none" strike="noStrike">
              <a:solidFill>
                <a:srgbClr val="000000"/>
              </a:solidFill>
              <a:effectLst/>
              <a:uFillTx/>
              <a:latin typeface="Arial"/>
            </a:endParaRPr>
          </a:p>
          <a:p>
            <a:pPr marL="457200" algn="just">
              <a:lnSpc>
                <a:spcPct val="113000"/>
              </a:lnSpc>
              <a:tabLst>
                <a:tab pos="0" algn="l"/>
              </a:tabLst>
            </a:pPr>
            <a:br>
              <a:rPr sz="1500"/>
            </a:br>
            <a:r>
              <a:rPr lang="en-US" sz="1500" b="0" u="none" strike="noStrike">
                <a:solidFill>
                  <a:schemeClr val="dk1"/>
                </a:solidFill>
                <a:effectLst/>
                <a:uFillTx/>
                <a:latin typeface="Times New Roman"/>
                <a:ea typeface="Times New Roman"/>
              </a:rPr>
              <a:t>4. </a:t>
            </a:r>
            <a:r>
              <a:rPr lang="en-US" sz="1500" b="1" u="none" strike="noStrike">
                <a:solidFill>
                  <a:schemeClr val="dk1"/>
                </a:solidFill>
                <a:effectLst/>
                <a:uFillTx/>
                <a:latin typeface="Times New Roman"/>
                <a:ea typeface="Times New Roman"/>
              </a:rPr>
              <a:t>Conduct investigations of complex problems:</a:t>
            </a:r>
            <a:r>
              <a:rPr lang="en-US" sz="1500" b="0" u="none" strike="noStrike">
                <a:solidFill>
                  <a:schemeClr val="dk1"/>
                </a:solidFill>
                <a:effectLst/>
                <a:uFillTx/>
                <a:latin typeface="Times New Roman"/>
                <a:ea typeface="Times New Roman"/>
              </a:rPr>
              <a:t> Use research-based knowledge and research methods including design of experiments, analysis and interpretation of data, and synthesis of the information to provide valid conclusions.</a:t>
            </a:r>
            <a:endParaRPr lang="en-US" sz="1500" b="0" u="none" strike="noStrike">
              <a:solidFill>
                <a:srgbClr val="000000"/>
              </a:solidFill>
              <a:effectLst/>
              <a:uFillTx/>
              <a:latin typeface="Arial"/>
            </a:endParaRPr>
          </a:p>
          <a:p>
            <a:pPr marL="457200" algn="just">
              <a:lnSpc>
                <a:spcPct val="113000"/>
              </a:lnSpc>
              <a:tabLst>
                <a:tab pos="0" algn="l"/>
              </a:tabLst>
            </a:pPr>
            <a:r>
              <a:rPr lang="en-US" sz="1500" b="0" u="none" strike="noStrike">
                <a:solidFill>
                  <a:schemeClr val="dk1"/>
                </a:solidFill>
                <a:effectLst/>
                <a:uFillTx/>
                <a:latin typeface="Times New Roman"/>
                <a:ea typeface="Times New Roman"/>
              </a:rPr>
              <a:t>5. </a:t>
            </a:r>
            <a:r>
              <a:rPr lang="en-US" sz="1500" b="1" u="none" strike="noStrike">
                <a:solidFill>
                  <a:schemeClr val="dk1"/>
                </a:solidFill>
                <a:effectLst/>
                <a:uFillTx/>
                <a:latin typeface="Times New Roman"/>
                <a:ea typeface="Times New Roman"/>
              </a:rPr>
              <a:t>Modern tool usage:</a:t>
            </a:r>
            <a:r>
              <a:rPr lang="en-US" sz="1500" b="0" u="none" strike="noStrike">
                <a:solidFill>
                  <a:schemeClr val="dk1"/>
                </a:solidFill>
                <a:effectLst/>
                <a:uFillTx/>
                <a:latin typeface="Times New Roman"/>
                <a:ea typeface="Times New Roman"/>
              </a:rPr>
              <a:t> Create, select, and apply appropriate techniques, resources, and modern engineering and IT tools including prediction and modeling to complex engineering activities with an understanding of the limitations.</a:t>
            </a:r>
            <a:endParaRPr lang="en-US" sz="1500" b="0" u="none" strike="noStrike">
              <a:solidFill>
                <a:srgbClr val="000000"/>
              </a:solidFill>
              <a:effectLst/>
              <a:uFillTx/>
              <a:latin typeface="Arial"/>
            </a:endParaRPr>
          </a:p>
          <a:p>
            <a:pPr>
              <a:lnSpc>
                <a:spcPct val="90000"/>
              </a:lnSpc>
              <a:spcBef>
                <a:spcPts val="1001"/>
              </a:spcBef>
              <a:tabLst>
                <a:tab pos="0" algn="l"/>
              </a:tabLst>
            </a:pPr>
            <a:endParaRPr lang="en-US" sz="3100" b="0" u="none" strike="noStrike">
              <a:solidFill>
                <a:srgbClr val="000000"/>
              </a:solidFill>
              <a:effectLst/>
              <a:uFillTx/>
              <a:latin typeface="Arial"/>
            </a:endParaRPr>
          </a:p>
        </p:txBody>
      </p:sp>
      <p:sp>
        <p:nvSpPr>
          <p:cNvPr id="90" name="Google Shape;133;p18"/>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91" name="PlaceHolder 1"/>
          <p:cNvSpPr>
            <a:spLocks noGrp="1"/>
          </p:cNvSpPr>
          <p:nvPr>
            <p:ph type="ftr" idx="4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92" name="PlaceHolder 2"/>
          <p:cNvSpPr>
            <a:spLocks noGrp="1"/>
          </p:cNvSpPr>
          <p:nvPr>
            <p:ph type="sldNum" idx="4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7E5B4D5-1363-48BD-A1FE-84704E3FB800}"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p>
            <a:fld id="{6AA36EAC-BDDC-4BB2-8B84-BD4505A86A71}" type="datetime1">
              <a:rPr lang="en-US"/>
              <a:t>09/03/26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Google Shape;141;p19"/>
          <p:cNvPicPr/>
          <p:nvPr/>
        </p:nvPicPr>
        <p:blipFill>
          <a:blip r:embed="rId1"/>
          <a:stretch/>
        </p:blipFill>
        <p:spPr>
          <a:xfrm>
            <a:off x="891360" y="243000"/>
            <a:ext cx="10577880" cy="1746360"/>
          </a:xfrm>
          <a:prstGeom prst="rect">
            <a:avLst/>
          </a:prstGeom>
          <a:noFill/>
          <a:ln w="0">
            <a:noFill/>
          </a:ln>
        </p:spPr>
      </p:pic>
      <p:sp>
        <p:nvSpPr>
          <p:cNvPr id="94" name="Google Shape;142;p19"/>
          <p:cNvSpPr/>
          <p:nvPr/>
        </p:nvSpPr>
        <p:spPr>
          <a:xfrm>
            <a:off x="140760" y="1766880"/>
            <a:ext cx="11908800" cy="4587840"/>
          </a:xfrm>
          <a:prstGeom prst="rect">
            <a:avLst/>
          </a:prstGeom>
          <a:noFill/>
          <a:ln w="0">
            <a:noFill/>
          </a:ln>
        </p:spPr>
        <p:style>
          <a:lnRef idx="0"/>
          <a:fillRef idx="0"/>
          <a:effectRef idx="0"/>
          <a:fontRef idx="minor"/>
        </p:style>
        <p:txBody>
          <a:bodyPr lIns="0" tIns="0" rIns="0" bIns="0" anchor="t">
            <a:noAutofit/>
          </a:bodyPr>
          <a:p>
            <a:pPr marL="274320" algn="just">
              <a:lnSpc>
                <a:spcPct val="113000"/>
              </a:lnSpc>
              <a:tabLst>
                <a:tab pos="0" algn="l"/>
              </a:tabLst>
            </a:pPr>
            <a:br>
              <a:rPr sz="1200"/>
            </a:br>
            <a:r>
              <a:rPr lang="en-US" sz="1400" b="0" u="none" strike="noStrike">
                <a:solidFill>
                  <a:schemeClr val="dk1"/>
                </a:solidFill>
                <a:effectLst/>
                <a:uFillTx/>
                <a:latin typeface="Times New Roman"/>
                <a:ea typeface="Times New Roman"/>
              </a:rPr>
              <a:t>6. </a:t>
            </a:r>
            <a:r>
              <a:rPr lang="en-US" sz="1400" b="1" u="none" strike="noStrike">
                <a:solidFill>
                  <a:schemeClr val="dk1"/>
                </a:solidFill>
                <a:effectLst/>
                <a:uFillTx/>
                <a:latin typeface="Times New Roman"/>
                <a:ea typeface="Times New Roman"/>
              </a:rPr>
              <a:t>The engineer and society:</a:t>
            </a:r>
            <a:r>
              <a:rPr lang="en-US" sz="1400" b="0" u="none" strike="noStrike">
                <a:solidFill>
                  <a:schemeClr val="dk1"/>
                </a:solidFill>
                <a:effectLst/>
                <a:uFillTx/>
                <a:latin typeface="Times New Roman"/>
                <a:ea typeface="Times New Roman"/>
              </a:rPr>
              <a:t> Apply reasoning informed by the contextual knowledge to assess societal, health, safety, legal and cultural issues and the consequent responsibilities relevant to the professional engineering practice.</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7. </a:t>
            </a:r>
            <a:r>
              <a:rPr lang="en-US" sz="1400" b="1" u="none" strike="noStrike">
                <a:solidFill>
                  <a:schemeClr val="dk1"/>
                </a:solidFill>
                <a:effectLst/>
                <a:uFillTx/>
                <a:latin typeface="Times New Roman"/>
                <a:ea typeface="Times New Roman"/>
              </a:rPr>
              <a:t>Environment and sustainability:</a:t>
            </a:r>
            <a:r>
              <a:rPr lang="en-US" sz="1400" b="0" u="none" strike="noStrike">
                <a:solidFill>
                  <a:schemeClr val="dk1"/>
                </a:solidFill>
                <a:effectLst/>
                <a:uFillTx/>
                <a:latin typeface="Times New Roman"/>
                <a:ea typeface="Times New Roman"/>
              </a:rPr>
              <a:t> Understand the impact of the professional engineering solutions in societal and environmental contexts, and demonstrate the knowledge of, and need for sustainable development.</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8. </a:t>
            </a:r>
            <a:r>
              <a:rPr lang="en-US" sz="1400" b="1" u="none" strike="noStrike">
                <a:solidFill>
                  <a:schemeClr val="dk1"/>
                </a:solidFill>
                <a:effectLst/>
                <a:uFillTx/>
                <a:latin typeface="Times New Roman"/>
                <a:ea typeface="Times New Roman"/>
              </a:rPr>
              <a:t>Ethics:</a:t>
            </a:r>
            <a:r>
              <a:rPr lang="en-US" sz="1400" b="0" u="none" strike="noStrike">
                <a:solidFill>
                  <a:schemeClr val="dk1"/>
                </a:solidFill>
                <a:effectLst/>
                <a:uFillTx/>
                <a:latin typeface="Times New Roman"/>
                <a:ea typeface="Times New Roman"/>
              </a:rPr>
              <a:t> Apply ethical principles and commit to professional ethics and responsibilities and norms of the engineering practice.</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9. </a:t>
            </a:r>
            <a:r>
              <a:rPr lang="en-US" sz="1400" b="1" u="none" strike="noStrike">
                <a:solidFill>
                  <a:schemeClr val="dk1"/>
                </a:solidFill>
                <a:effectLst/>
                <a:uFillTx/>
                <a:latin typeface="Times New Roman"/>
                <a:ea typeface="Times New Roman"/>
              </a:rPr>
              <a:t>Individual and team work:</a:t>
            </a:r>
            <a:r>
              <a:rPr lang="en-US" sz="1400" b="0" u="none" strike="noStrike">
                <a:solidFill>
                  <a:schemeClr val="dk1"/>
                </a:solidFill>
                <a:effectLst/>
                <a:uFillTx/>
                <a:latin typeface="Times New Roman"/>
                <a:ea typeface="Times New Roman"/>
              </a:rPr>
              <a:t> Function effectively as an individual, and as a member or leader in diverse teams, and in multidisciplinary settings.</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10. </a:t>
            </a:r>
            <a:r>
              <a:rPr lang="en-US" sz="1400" b="1" u="none" strike="noStrike">
                <a:solidFill>
                  <a:schemeClr val="dk1"/>
                </a:solidFill>
                <a:effectLst/>
                <a:uFillTx/>
                <a:latin typeface="Times New Roman"/>
                <a:ea typeface="Times New Roman"/>
              </a:rPr>
              <a:t>Communication:</a:t>
            </a:r>
            <a:r>
              <a:rPr lang="en-US" sz="1400" b="0" u="none" strike="noStrike">
                <a:solidFill>
                  <a:schemeClr val="dk1"/>
                </a:solidFill>
                <a:effectLst/>
                <a:uFillTx/>
                <a:latin typeface="Times New Roman"/>
                <a:ea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11. </a:t>
            </a:r>
            <a:r>
              <a:rPr lang="en-US" sz="1400" b="1" u="none" strike="noStrike">
                <a:solidFill>
                  <a:schemeClr val="dk1"/>
                </a:solidFill>
                <a:effectLst/>
                <a:uFillTx/>
                <a:latin typeface="Times New Roman"/>
                <a:ea typeface="Times New Roman"/>
              </a:rPr>
              <a:t>Project management and finance:</a:t>
            </a:r>
            <a:r>
              <a:rPr lang="en-US" sz="1400" b="0" u="none" strike="noStrike">
                <a:solidFill>
                  <a:schemeClr val="dk1"/>
                </a:solidFill>
                <a:effectLst/>
                <a:uFillTx/>
                <a:latin typeface="Times New Roman"/>
                <a:ea typeface="Times New Roman"/>
              </a:rPr>
              <a:t> Demonstrate knowledge and understanding of the engineering and management principles and apply these to one’s own work, as a member and leader in a team, to manage projects and in multidisciplinary environments.</a:t>
            </a:r>
            <a:br>
              <a:rPr sz="1400"/>
            </a:br>
            <a:r>
              <a:rPr lang="en-US" sz="1400" b="0" u="none" strike="noStrike">
                <a:solidFill>
                  <a:schemeClr val="dk1"/>
                </a:solidFill>
                <a:effectLst/>
                <a:uFillTx/>
                <a:latin typeface="Times New Roman"/>
                <a:ea typeface="Times New Roman"/>
              </a:rPr>
              <a:t>12. </a:t>
            </a:r>
            <a:r>
              <a:rPr lang="en-US" sz="1400" b="1" u="none" strike="noStrike">
                <a:solidFill>
                  <a:schemeClr val="dk1"/>
                </a:solidFill>
                <a:effectLst/>
                <a:uFillTx/>
                <a:latin typeface="Times New Roman"/>
                <a:ea typeface="Times New Roman"/>
              </a:rPr>
              <a:t>Life-long learning:</a:t>
            </a:r>
            <a:r>
              <a:rPr lang="en-US" sz="1400" b="0" u="none" strike="noStrike">
                <a:solidFill>
                  <a:schemeClr val="dk1"/>
                </a:solidFill>
                <a:effectLst/>
                <a:uFillTx/>
                <a:latin typeface="Times New Roman"/>
                <a:ea typeface="Times New Roman"/>
              </a:rPr>
              <a:t> Recognize the need for, and have the preparation and ability to engage in independent and life-long learning in the broadest context of technological change</a:t>
            </a:r>
            <a:r>
              <a:rPr lang="en-US" sz="1300" b="0" u="none" strike="noStrike">
                <a:solidFill>
                  <a:schemeClr val="dk1"/>
                </a:solidFill>
                <a:effectLst/>
                <a:uFillTx/>
                <a:latin typeface="Times New Roman"/>
                <a:ea typeface="Times New Roman"/>
              </a:rPr>
              <a:t>.</a:t>
            </a:r>
            <a:endParaRPr lang="en-US" sz="1300" b="0" u="none" strike="noStrike">
              <a:solidFill>
                <a:srgbClr val="000000"/>
              </a:solidFill>
              <a:effectLst/>
              <a:uFillTx/>
              <a:latin typeface="Arial"/>
            </a:endParaRPr>
          </a:p>
          <a:p>
            <a:pPr marL="274320" algn="just">
              <a:lnSpc>
                <a:spcPct val="113000"/>
              </a:lnSpc>
              <a:tabLst>
                <a:tab pos="0" algn="l"/>
              </a:tabLst>
            </a:pPr>
            <a:endParaRPr lang="en-US" sz="1300" b="0" u="none" strike="noStrike">
              <a:solidFill>
                <a:srgbClr val="000000"/>
              </a:solidFill>
              <a:effectLst/>
              <a:uFillTx/>
              <a:latin typeface="Arial"/>
            </a:endParaRPr>
          </a:p>
          <a:p>
            <a:pPr marL="27432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95" name="Google Shape;143;p19"/>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96" name="PlaceHolder 1"/>
          <p:cNvSpPr>
            <a:spLocks noGrp="1"/>
          </p:cNvSpPr>
          <p:nvPr>
            <p:ph type="ftr" idx="4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97" name="PlaceHolder 2"/>
          <p:cNvSpPr>
            <a:spLocks noGrp="1"/>
          </p:cNvSpPr>
          <p:nvPr>
            <p:ph type="sldNum" idx="4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CA6DDBFF-2F3E-408C-9567-37614295CDA2}"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p>
            <a:fld id="{FADD0A2B-B807-45C0-8CC9-CCE0F2336776}" type="datetime1">
              <a:rPr lang="en-US"/>
              <a:t>09/03/26</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Google Shape;151;p20"/>
          <p:cNvPicPr/>
          <p:nvPr/>
        </p:nvPicPr>
        <p:blipFill>
          <a:blip r:embed="rId1"/>
          <a:stretch/>
        </p:blipFill>
        <p:spPr>
          <a:xfrm>
            <a:off x="891360" y="243000"/>
            <a:ext cx="10577880" cy="1746360"/>
          </a:xfrm>
          <a:prstGeom prst="rect">
            <a:avLst/>
          </a:prstGeom>
          <a:noFill/>
          <a:ln w="0">
            <a:noFill/>
          </a:ln>
        </p:spPr>
      </p:pic>
      <p:sp>
        <p:nvSpPr>
          <p:cNvPr id="99" name="Google Shape;152;p20"/>
          <p:cNvSpPr/>
          <p:nvPr/>
        </p:nvSpPr>
        <p:spPr>
          <a:xfrm>
            <a:off x="603360" y="2291760"/>
            <a:ext cx="11155320" cy="4046760"/>
          </a:xfrm>
          <a:prstGeom prst="rect">
            <a:avLst/>
          </a:prstGeom>
          <a:noFill/>
          <a:ln w="0">
            <a:noFill/>
          </a:ln>
        </p:spPr>
        <p:style>
          <a:lnRef idx="0"/>
          <a:fillRef idx="0"/>
          <a:effectRef idx="0"/>
          <a:fontRef idx="minor"/>
        </p:style>
        <p:txBody>
          <a:bodyPr lIns="0" tIns="0" rIns="0" bIns="0" anchor="t">
            <a:noAutofit/>
          </a:bodyPr>
          <a:p>
            <a:pPr algn="ctr">
              <a:lnSpc>
                <a:spcPct val="113000"/>
              </a:lnSpc>
              <a:tabLst>
                <a:tab pos="0" algn="l"/>
              </a:tabLst>
            </a:pPr>
            <a:r>
              <a:rPr lang="en-US" sz="2800" b="1" u="sng" strike="noStrike">
                <a:solidFill>
                  <a:schemeClr val="dk1"/>
                </a:solidFill>
                <a:effectLst/>
                <a:uFillTx/>
                <a:latin typeface="Times New Roman"/>
                <a:ea typeface="Times New Roman"/>
              </a:rPr>
              <a:t>Programme Specific Outcomes (PSOs)</a:t>
            </a:r>
            <a:endParaRPr lang="en-US" sz="2800" b="0" u="none" strike="noStrike">
              <a:solidFill>
                <a:srgbClr val="000000"/>
              </a:solidFill>
              <a:effectLst/>
              <a:uFillTx/>
              <a:latin typeface="Arial"/>
            </a:endParaRPr>
          </a:p>
          <a:p>
            <a:pPr algn="ctr">
              <a:lnSpc>
                <a:spcPct val="113000"/>
              </a:lnSpc>
              <a:tabLst>
                <a:tab pos="0" algn="l"/>
              </a:tabLst>
            </a:pPr>
            <a:endParaRPr lang="en-US" sz="1800" b="0" u="none" strike="noStrike">
              <a:solidFill>
                <a:srgbClr val="000000"/>
              </a:solidFill>
              <a:effectLst/>
              <a:uFillTx/>
              <a:latin typeface="Arial"/>
            </a:endParaRPr>
          </a:p>
          <a:p>
            <a:pPr algn="just">
              <a:lnSpc>
                <a:spcPct val="113000"/>
              </a:lnSpc>
              <a:tabLst>
                <a:tab pos="0" algn="l"/>
              </a:tabLst>
            </a:pPr>
            <a:r>
              <a:rPr lang="en-US" sz="1800" b="0" u="none" strike="noStrike">
                <a:solidFill>
                  <a:schemeClr val="dk1"/>
                </a:solidFill>
                <a:effectLst/>
                <a:uFillTx/>
                <a:latin typeface="Times New Roman"/>
                <a:ea typeface="Times New Roman"/>
              </a:rPr>
              <a:t> On the completion of Computer Science &amp; Engineering program, the students will possess:</a:t>
            </a:r>
            <a:endParaRPr lang="en-US" sz="1800" b="0" u="none" strike="noStrike">
              <a:solidFill>
                <a:srgbClr val="000000"/>
              </a:solidFill>
              <a:effectLst/>
              <a:uFillTx/>
              <a:latin typeface="Arial"/>
            </a:endParaRPr>
          </a:p>
          <a:p>
            <a:pPr marL="228600" indent="-228600" algn="just">
              <a:lnSpc>
                <a:spcPct val="150000"/>
              </a:lnSpc>
              <a:spcBef>
                <a:spcPts val="1199"/>
              </a:spcBef>
              <a:buClr>
                <a:srgbClr val="000000"/>
              </a:buClr>
              <a:buFont typeface="Arial"/>
              <a:buChar char="•"/>
              <a:tabLst>
                <a:tab pos="0" algn="l"/>
              </a:tabLst>
            </a:pPr>
            <a:r>
              <a:rPr lang="en-US" sz="1800" b="0" u="none" strike="noStrike">
                <a:solidFill>
                  <a:schemeClr val="dk1"/>
                </a:solidFill>
                <a:effectLst/>
                <a:uFillTx/>
                <a:latin typeface="Times New Roman"/>
                <a:ea typeface="Times New Roman"/>
              </a:rPr>
              <a:t> </a:t>
            </a:r>
            <a:r>
              <a:rPr lang="en-US" sz="1800" b="1" u="none" strike="noStrike">
                <a:solidFill>
                  <a:schemeClr val="dk1"/>
                </a:solidFill>
                <a:effectLst/>
                <a:uFillTx/>
                <a:latin typeface="Times New Roman"/>
                <a:ea typeface="Times New Roman"/>
              </a:rPr>
              <a:t>PSO 1</a:t>
            </a:r>
            <a:r>
              <a:rPr lang="en-US" sz="1800" b="0" u="none" strike="noStrike">
                <a:solidFill>
                  <a:schemeClr val="dk1"/>
                </a:solidFill>
                <a:effectLst/>
                <a:uFillTx/>
                <a:latin typeface="Times New Roman"/>
                <a:ea typeface="Times New Roman"/>
              </a:rPr>
              <a:t>: Apply cyber security principles to mitigate cyber risk and analyze security requirements of an organization.</a:t>
            </a:r>
            <a:endParaRPr lang="en-US" sz="1800" b="0" u="none" strike="noStrike">
              <a:solidFill>
                <a:srgbClr val="000000"/>
              </a:solidFill>
              <a:effectLst/>
              <a:uFillTx/>
              <a:latin typeface="Arial"/>
            </a:endParaRPr>
          </a:p>
          <a:p>
            <a:pPr marL="228600" indent="-228600" algn="just">
              <a:lnSpc>
                <a:spcPct val="15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PSO 2</a:t>
            </a:r>
            <a:r>
              <a:rPr lang="en-US" sz="1800" b="0" u="none" strike="noStrike">
                <a:solidFill>
                  <a:schemeClr val="dk1"/>
                </a:solidFill>
                <a:effectLst/>
                <a:uFillTx/>
                <a:latin typeface="Times New Roman"/>
                <a:ea typeface="Times New Roman"/>
              </a:rPr>
              <a:t>: Develop and deploy secure software and infrastructure using modern tools and industry standards. </a:t>
            </a:r>
            <a:endParaRPr lang="en-US" sz="1800" b="0" u="none" strike="noStrike">
              <a:solidFill>
                <a:srgbClr val="000000"/>
              </a:solidFill>
              <a:effectLst/>
              <a:uFillTx/>
              <a:latin typeface="Arial"/>
            </a:endParaRPr>
          </a:p>
          <a:p>
            <a:pPr marL="228600" indent="-228600" algn="just">
              <a:lnSpc>
                <a:spcPct val="15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PSO 3</a:t>
            </a:r>
            <a:r>
              <a:rPr lang="en-US" sz="1800" b="0" u="none" strike="noStrike">
                <a:solidFill>
                  <a:schemeClr val="dk1"/>
                </a:solidFill>
                <a:effectLst/>
                <a:uFillTx/>
                <a:latin typeface="Times New Roman"/>
                <a:ea typeface="Times New Roman"/>
              </a:rPr>
              <a:t>: Uphold ethical, legal, and societal responsibilities while protecting privacy, data, and digital assets.</a:t>
            </a:r>
            <a:endParaRPr lang="en-US" sz="1800" b="0" u="none" strike="noStrike">
              <a:solidFill>
                <a:srgbClr val="000000"/>
              </a:solidFill>
              <a:effectLst/>
              <a:uFillTx/>
              <a:latin typeface="Arial"/>
            </a:endParaRPr>
          </a:p>
          <a:p>
            <a:pPr algn="just">
              <a:lnSpc>
                <a:spcPct val="113000"/>
              </a:lnSpc>
              <a:spcBef>
                <a:spcPts val="1199"/>
              </a:spcBef>
              <a:tabLst>
                <a:tab pos="0" algn="l"/>
              </a:tabLst>
            </a:pPr>
            <a:endParaRPr lang="en-US" sz="1600" b="0" u="none" strike="noStrike">
              <a:solidFill>
                <a:srgbClr val="000000"/>
              </a:solidFill>
              <a:effectLst/>
              <a:uFillTx/>
              <a:latin typeface="Arial"/>
            </a:endParaRPr>
          </a:p>
          <a:p>
            <a:pPr>
              <a:lnSpc>
                <a:spcPct val="90000"/>
              </a:lnSpc>
              <a:spcBef>
                <a:spcPts val="1001"/>
              </a:spcBef>
              <a:tabLst>
                <a:tab pos="0" algn="l"/>
              </a:tabLst>
            </a:pPr>
            <a:endParaRPr lang="en-US" sz="3200" b="0" u="none" strike="noStrike">
              <a:solidFill>
                <a:srgbClr val="000000"/>
              </a:solidFill>
              <a:effectLst/>
              <a:uFillTx/>
              <a:latin typeface="Arial"/>
            </a:endParaRPr>
          </a:p>
        </p:txBody>
      </p:sp>
      <p:sp>
        <p:nvSpPr>
          <p:cNvPr id="100" name="Google Shape;153;p20"/>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01" name="PlaceHolder 1"/>
          <p:cNvSpPr>
            <a:spLocks noGrp="1"/>
          </p:cNvSpPr>
          <p:nvPr>
            <p:ph type="ftr" idx="4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02" name="PlaceHolder 2"/>
          <p:cNvSpPr>
            <a:spLocks noGrp="1"/>
          </p:cNvSpPr>
          <p:nvPr>
            <p:ph type="sldNum" idx="5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18152E5-5096-49B8-B347-BCBC10FBFA63}"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p>
            <a:fld id="{CEB0C8FB-CAAB-4F76-9317-A375B61F68A3}" type="datetime1">
              <a:rPr lang="en-US"/>
              <a:t>09/03/26</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Google Shape;161;p21"/>
          <p:cNvPicPr/>
          <p:nvPr/>
        </p:nvPicPr>
        <p:blipFill>
          <a:blip r:embed="rId1"/>
          <a:stretch/>
        </p:blipFill>
        <p:spPr>
          <a:xfrm>
            <a:off x="891360" y="243000"/>
            <a:ext cx="10577880" cy="1746360"/>
          </a:xfrm>
          <a:prstGeom prst="rect">
            <a:avLst/>
          </a:prstGeom>
          <a:noFill/>
          <a:ln w="0">
            <a:noFill/>
          </a:ln>
        </p:spPr>
      </p:pic>
      <p:sp>
        <p:nvSpPr>
          <p:cNvPr id="104" name="Google Shape;162;p21"/>
          <p:cNvSpPr/>
          <p:nvPr/>
        </p:nvSpPr>
        <p:spPr>
          <a:xfrm>
            <a:off x="1319400" y="1990800"/>
            <a:ext cx="9559080" cy="47674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US" sz="4000" b="1" u="sng" strike="noStrike">
                <a:solidFill>
                  <a:schemeClr val="dk1"/>
                </a:solidFill>
                <a:effectLst/>
                <a:uFillTx/>
                <a:latin typeface="Times New Roman"/>
                <a:ea typeface="Times New Roman"/>
              </a:rPr>
              <a:t>CONTENTS</a:t>
            </a:r>
            <a:endParaRPr lang="en-US" sz="4000" b="0" u="none" strike="noStrike">
              <a:solidFill>
                <a:srgbClr val="000000"/>
              </a:solidFill>
              <a:effectLst/>
              <a:uFillTx/>
              <a:latin typeface="Arial"/>
            </a:endParaRPr>
          </a:p>
          <a:p>
            <a:pPr>
              <a:lnSpc>
                <a:spcPct val="100000"/>
              </a:lnSpc>
              <a:tabLst>
                <a:tab pos="0" algn="l"/>
              </a:tabLst>
            </a:pPr>
            <a:endParaRPr lang="en-US" sz="20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Motivation</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Introduction</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Problem Statement</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Proposed Method </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Basic Block Diagram</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endParaRPr lang="en-US" sz="2400" b="0" u="none" strike="noStrike">
              <a:solidFill>
                <a:srgbClr val="000000"/>
              </a:solidFill>
              <a:effectLst/>
              <a:uFillTx/>
              <a:latin typeface="Arial"/>
            </a:endParaRPr>
          </a:p>
        </p:txBody>
      </p:sp>
      <p:sp>
        <p:nvSpPr>
          <p:cNvPr id="105" name="Google Shape;163;p21"/>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06" name="PlaceHolder 1"/>
          <p:cNvSpPr>
            <a:spLocks noGrp="1"/>
          </p:cNvSpPr>
          <p:nvPr>
            <p:ph type="ftr" idx="5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07" name="PlaceHolder 2"/>
          <p:cNvSpPr>
            <a:spLocks noGrp="1"/>
          </p:cNvSpPr>
          <p:nvPr>
            <p:ph type="sldNum" idx="5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1D51CC8-B4D3-4232-AF53-6BCBD1021B2C}"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108" name=""/>
          <p:cNvSpPr txBox="1"/>
          <p:nvPr/>
        </p:nvSpPr>
        <p:spPr>
          <a:xfrm>
            <a:off x="6629400" y="2971800"/>
            <a:ext cx="4114800" cy="3498120"/>
          </a:xfrm>
          <a:prstGeom prst="rect">
            <a:avLst/>
          </a:prstGeom>
          <a:noFill/>
          <a:ln w="0">
            <a:noFill/>
          </a:ln>
        </p:spPr>
        <p:txBody>
          <a:bodyPr lIns="90000" tIns="45000" rIns="90000" bIns="45000" anchor="t">
            <a:spAutoFit/>
          </a:bodyPr>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Detailed Block Diagram</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Components Required</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Circuit Diagram</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Work Done So Far</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Work To Be Completed</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Conclusion</a:t>
            </a:r>
            <a:endParaRPr lang="en-US" sz="2400" b="0" u="none" strike="noStrike">
              <a:solidFill>
                <a:srgbClr val="000000"/>
              </a:solidFill>
              <a:effectLst/>
              <a:uFillTx/>
              <a:latin typeface="Arial"/>
            </a:endParaRPr>
          </a:p>
        </p:txBody>
      </p:sp>
      <p:sp>
        <p:nvSpPr>
          <p:cNvPr id="4" name="PlaceHolder 3"/>
          <p:cNvSpPr>
            <a:spLocks noGrp="1"/>
          </p:cNvSpPr>
          <p:nvPr>
            <p:ph type="dt" idx="1"/>
          </p:nvPr>
        </p:nvSpPr>
        <p:spPr/>
        <p:txBody>
          <a:bodyPr/>
          <a:p>
            <a:fld id="{96FD8E91-B175-46DC-A713-6E4FCB9BAC52}" type="datetime1">
              <a:rPr lang="en-US"/>
              <a:t>09/03/26</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Google Shape;171;p22"/>
          <p:cNvPicPr/>
          <p:nvPr/>
        </p:nvPicPr>
        <p:blipFill>
          <a:blip r:embed="rId1"/>
          <a:stretch/>
        </p:blipFill>
        <p:spPr>
          <a:xfrm>
            <a:off x="891360" y="243000"/>
            <a:ext cx="10577880" cy="1746360"/>
          </a:xfrm>
          <a:prstGeom prst="rect">
            <a:avLst/>
          </a:prstGeom>
          <a:noFill/>
          <a:ln w="0">
            <a:noFill/>
          </a:ln>
        </p:spPr>
      </p:pic>
      <p:sp>
        <p:nvSpPr>
          <p:cNvPr id="110" name="PlaceHolder 1"/>
          <p:cNvSpPr>
            <a:spLocks noGrp="1"/>
          </p:cNvSpPr>
          <p:nvPr>
            <p:ph type="title"/>
          </p:nvPr>
        </p:nvSpPr>
        <p:spPr>
          <a:xfrm>
            <a:off x="838080" y="1559880"/>
            <a:ext cx="10514160" cy="1324080"/>
          </a:xfrm>
          <a:prstGeom prst="rect">
            <a:avLst/>
          </a:prstGeom>
          <a:noFill/>
          <a:ln w="0">
            <a:noFill/>
          </a:ln>
        </p:spPr>
        <p:txBody>
          <a:bodyPr lIns="91440" tIns="45720" rIns="91440" bIns="45720" anchor="ctr">
            <a:normAutofit/>
          </a:bodyPr>
          <a:p>
            <a:pPr indent="0" algn="ctr">
              <a:lnSpc>
                <a:spcPct val="90000"/>
              </a:lnSpc>
              <a:buNone/>
              <a:tabLst>
                <a:tab pos="0" algn="l"/>
              </a:tabLst>
            </a:pPr>
            <a:r>
              <a:rPr lang="en-US" sz="4000" b="1" u="sng" strike="noStrike">
                <a:solidFill>
                  <a:schemeClr val="dk1"/>
                </a:solidFill>
                <a:effectLst/>
                <a:uFillTx/>
                <a:latin typeface="Times New Roman"/>
                <a:ea typeface="Times New Roman"/>
              </a:rPr>
              <a:t>Motivation</a:t>
            </a:r>
            <a:endParaRPr lang="en-US" sz="4000" b="0" u="none" strike="noStrike">
              <a:solidFill>
                <a:srgbClr val="000000"/>
              </a:solidFill>
              <a:effectLst/>
              <a:uFillTx/>
              <a:latin typeface="Arial"/>
            </a:endParaRPr>
          </a:p>
        </p:txBody>
      </p:sp>
      <p:sp>
        <p:nvSpPr>
          <p:cNvPr id="111" name="PlaceHolder 2"/>
          <p:cNvSpPr>
            <a:spLocks noGrp="1"/>
          </p:cNvSpPr>
          <p:nvPr>
            <p:ph/>
          </p:nvPr>
        </p:nvSpPr>
        <p:spPr>
          <a:xfrm>
            <a:off x="0" y="2539080"/>
            <a:ext cx="12190680" cy="3567240"/>
          </a:xfrm>
          <a:prstGeom prst="rect">
            <a:avLst/>
          </a:prstGeom>
          <a:noFill/>
          <a:ln w="0">
            <a:noFill/>
          </a:ln>
        </p:spPr>
        <p:txBody>
          <a:bodyPr lIns="91440" tIns="45720" rIns="91440" bIns="45720" anchor="t">
            <a:spAutoFit/>
          </a:bodyPr>
          <a:p>
            <a:pPr marL="228600" indent="-228600" algn="l">
              <a:lnSpc>
                <a:spcPct val="200000"/>
              </a:lnSpc>
              <a:buClr>
                <a:srgbClr val="000000"/>
              </a:buClr>
              <a:buFont typeface="Arial"/>
              <a:buChar char="•"/>
            </a:pPr>
            <a:r>
              <a:rPr lang="en-US" sz="1600" b="1" u="none" strike="noStrike">
                <a:solidFill>
                  <a:schemeClr val="dk1"/>
                </a:solidFill>
                <a:effectLst/>
                <a:uFillTx/>
                <a:latin typeface="Times New Roman"/>
                <a:ea typeface="Times New Roman"/>
              </a:rPr>
              <a:t>Cost &amp; Accessibility:</a:t>
            </a:r>
            <a:r>
              <a:rPr lang="en-US" sz="1600" b="0" u="none" strike="noStrike">
                <a:solidFill>
                  <a:schemeClr val="dk1"/>
                </a:solidFill>
                <a:effectLst/>
                <a:uFillTx/>
                <a:latin typeface="Times New Roman"/>
                <a:ea typeface="Times New Roman"/>
              </a:rPr>
              <a:t> Commercial vibration-monitoring systems can be expensive for small machines, labs and low-cost setups.</a:t>
            </a:r>
            <a:endParaRPr lang="en-US" sz="1600" b="0" u="none" strike="noStrike">
              <a:solidFill>
                <a:srgbClr val="000000"/>
              </a:solidFill>
              <a:effectLst/>
              <a:uFillTx/>
              <a:latin typeface="Arial"/>
            </a:endParaRPr>
          </a:p>
          <a:p>
            <a:pPr marL="228600" indent="-228600" algn="l">
              <a:lnSpc>
                <a:spcPct val="200000"/>
              </a:lnSpc>
              <a:spcBef>
                <a:spcPts val="624"/>
              </a:spcBef>
              <a:buClr>
                <a:srgbClr val="000000"/>
              </a:buClr>
              <a:buFont typeface="Arial"/>
              <a:buChar char="•"/>
            </a:pPr>
            <a:r>
              <a:rPr lang="en-US" sz="1600" b="1" u="none" strike="noStrike">
                <a:solidFill>
                  <a:schemeClr val="dk1"/>
                </a:solidFill>
                <a:effectLst/>
                <a:uFillTx/>
                <a:latin typeface="Times New Roman"/>
                <a:ea typeface="Times New Roman"/>
              </a:rPr>
              <a:t>Need for Measurable Awareness:</a:t>
            </a:r>
            <a:r>
              <a:rPr lang="en-US" sz="1600" b="0" u="none" strike="noStrike">
                <a:solidFill>
                  <a:schemeClr val="dk1"/>
                </a:solidFill>
                <a:effectLst/>
                <a:uFillTx/>
                <a:latin typeface="Times New Roman"/>
                <a:ea typeface="Times New Roman"/>
              </a:rPr>
              <a:t> Vibration changes can provide measurable evidence that a machine's operating condition has changed.</a:t>
            </a:r>
            <a:endParaRPr lang="en-US" sz="1600" b="0" u="none" strike="noStrike">
              <a:solidFill>
                <a:srgbClr val="000000"/>
              </a:solidFill>
              <a:effectLst/>
              <a:uFillTx/>
              <a:latin typeface="Arial"/>
            </a:endParaRPr>
          </a:p>
          <a:p>
            <a:pPr marL="228600" indent="-228600" algn="l">
              <a:lnSpc>
                <a:spcPct val="200000"/>
              </a:lnSpc>
              <a:spcBef>
                <a:spcPts val="859"/>
              </a:spcBef>
              <a:buClr>
                <a:srgbClr val="000000"/>
              </a:buClr>
              <a:buFont typeface="Arial"/>
              <a:buChar char="•"/>
            </a:pPr>
            <a:r>
              <a:rPr lang="en-US" sz="1600" b="1" u="none" strike="noStrike">
                <a:solidFill>
                  <a:schemeClr val="dk1"/>
                </a:solidFill>
                <a:effectLst/>
                <a:uFillTx/>
                <a:latin typeface="Times New Roman"/>
                <a:ea typeface="Times New Roman"/>
              </a:rPr>
              <a:t>Limits of Manual Observation:</a:t>
            </a:r>
            <a:r>
              <a:rPr lang="en-US" sz="1600" b="0" u="none" strike="noStrike">
                <a:solidFill>
                  <a:schemeClr val="dk1"/>
                </a:solidFill>
                <a:effectLst/>
                <a:uFillTx/>
                <a:latin typeface="Times New Roman"/>
                <a:ea typeface="Times New Roman"/>
              </a:rPr>
              <a:t> Small vibration changes may be difficult to judge consistently by sound or touch.</a:t>
            </a:r>
            <a:endParaRPr lang="en-US" sz="1600" b="0" u="none" strike="noStrike">
              <a:solidFill>
                <a:srgbClr val="000000"/>
              </a:solidFill>
              <a:effectLst/>
              <a:uFillTx/>
              <a:latin typeface="Arial"/>
            </a:endParaRPr>
          </a:p>
          <a:p>
            <a:pPr marL="228600" indent="-228600" algn="l">
              <a:lnSpc>
                <a:spcPct val="200000"/>
              </a:lnSpc>
              <a:spcBef>
                <a:spcPts val="434"/>
              </a:spcBef>
              <a:buClr>
                <a:srgbClr val="000000"/>
              </a:buClr>
              <a:buFont typeface="Arial"/>
              <a:buChar char="•"/>
            </a:pPr>
            <a:r>
              <a:rPr lang="en-US" sz="1600" b="1" u="none" strike="noStrike">
                <a:solidFill>
                  <a:schemeClr val="dk1"/>
                </a:solidFill>
                <a:effectLst/>
                <a:uFillTx/>
                <a:latin typeface="Times New Roman"/>
                <a:ea typeface="Times New Roman"/>
              </a:rPr>
              <a:t>Low-Cost Opportunity:</a:t>
            </a:r>
            <a:r>
              <a:rPr lang="en-US" sz="1600" b="0" u="none" strike="noStrike">
                <a:solidFill>
                  <a:schemeClr val="dk1"/>
                </a:solidFill>
                <a:effectLst/>
                <a:uFillTx/>
                <a:latin typeface="Times New Roman"/>
                <a:ea typeface="Times New Roman"/>
              </a:rPr>
              <a:t> VibeGuard explores local vibration monitoring using an affordable accelerometer and microcontroller.</a:t>
            </a:r>
            <a:endParaRPr lang="en-US" sz="1600" b="0" u="none" strike="noStrike">
              <a:solidFill>
                <a:srgbClr val="000000"/>
              </a:solidFill>
              <a:effectLst/>
              <a:uFillTx/>
              <a:latin typeface="Arial"/>
            </a:endParaRPr>
          </a:p>
        </p:txBody>
      </p:sp>
      <p:sp>
        <p:nvSpPr>
          <p:cNvPr id="112" name="Google Shape;174;p22"/>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13" name="PlaceHolder 3"/>
          <p:cNvSpPr>
            <a:spLocks noGrp="1"/>
          </p:cNvSpPr>
          <p:nvPr>
            <p:ph type="ftr" idx="5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14" name="PlaceHolder 4"/>
          <p:cNvSpPr>
            <a:spLocks noGrp="1"/>
          </p:cNvSpPr>
          <p:nvPr>
            <p:ph type="sldNum" idx="5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20A11F71-3829-4C2D-8ACC-396AA17D6D74}"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90F19AB8-9E47-469E-BD83-A7C8DA99D78F}" type="datetime1">
              <a:rPr lang="en-US"/>
              <a:t>09/03/26</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 name="Google Shape;182;p23"/>
          <p:cNvPicPr/>
          <p:nvPr/>
        </p:nvPicPr>
        <p:blipFill>
          <a:blip r:embed="rId1"/>
          <a:stretch/>
        </p:blipFill>
        <p:spPr>
          <a:xfrm>
            <a:off x="891360" y="243000"/>
            <a:ext cx="10577880" cy="1746360"/>
          </a:xfrm>
          <a:prstGeom prst="rect">
            <a:avLst/>
          </a:prstGeom>
          <a:noFill/>
          <a:ln w="0">
            <a:noFill/>
          </a:ln>
        </p:spPr>
      </p:pic>
      <p:sp>
        <p:nvSpPr>
          <p:cNvPr id="116" name="PlaceHolder 1"/>
          <p:cNvSpPr>
            <a:spLocks noGrp="1"/>
          </p:cNvSpPr>
          <p:nvPr>
            <p:ph type="title"/>
          </p:nvPr>
        </p:nvSpPr>
        <p:spPr>
          <a:xfrm>
            <a:off x="838080" y="1546920"/>
            <a:ext cx="10514160" cy="1324080"/>
          </a:xfrm>
          <a:prstGeom prst="rect">
            <a:avLst/>
          </a:prstGeom>
          <a:noFill/>
          <a:ln w="0">
            <a:noFill/>
          </a:ln>
        </p:spPr>
        <p:txBody>
          <a:bodyPr lIns="91440" tIns="45720" rIns="91440" bIns="45720" anchor="ctr">
            <a:noAutofit/>
          </a:bodyPr>
          <a:p>
            <a:pPr indent="0" algn="ctr">
              <a:lnSpc>
                <a:spcPct val="90000"/>
              </a:lnSpc>
              <a:buNone/>
              <a:tabLst>
                <a:tab pos="0" algn="l"/>
              </a:tabLst>
            </a:pPr>
            <a:r>
              <a:rPr lang="en-US" sz="4000" b="1" u="sng" strike="noStrike">
                <a:solidFill>
                  <a:schemeClr val="dk1"/>
                </a:solidFill>
                <a:effectLst/>
                <a:uFillTx/>
                <a:latin typeface="Times New Roman"/>
                <a:ea typeface="Times New Roman"/>
              </a:rPr>
              <a:t>Introduction</a:t>
            </a:r>
            <a:endParaRPr lang="en-US" sz="4000" b="0" u="none" strike="noStrike">
              <a:solidFill>
                <a:srgbClr val="000000"/>
              </a:solidFill>
              <a:effectLst/>
              <a:uFillTx/>
              <a:latin typeface="Arial"/>
            </a:endParaRPr>
          </a:p>
        </p:txBody>
      </p:sp>
      <p:sp>
        <p:nvSpPr>
          <p:cNvPr id="117" name="PlaceHolder 2"/>
          <p:cNvSpPr>
            <a:spLocks noGrp="1"/>
          </p:cNvSpPr>
          <p:nvPr>
            <p:ph/>
          </p:nvPr>
        </p:nvSpPr>
        <p:spPr>
          <a:xfrm>
            <a:off x="0" y="2764440"/>
            <a:ext cx="12190680" cy="3325680"/>
          </a:xfrm>
          <a:prstGeom prst="rect">
            <a:avLst/>
          </a:prstGeom>
          <a:noFill/>
          <a:ln w="0">
            <a:noFill/>
          </a:ln>
        </p:spPr>
        <p:txBody>
          <a:bodyPr lIns="91440" tIns="45720" rIns="91440" bIns="45720" anchor="ctr">
            <a:spAutoFit/>
          </a:bodyPr>
          <a:p>
            <a:pPr algn="l">
              <a:lnSpc>
                <a:spcPct val="200000"/>
              </a:lnSpc>
              <a:buClr>
                <a:srgbClr val="000000"/>
              </a:buClr>
              <a:buFont typeface="Arial"/>
              <a:buChar char="•"/>
            </a:pPr>
            <a:r>
              <a:rPr lang="en-US" sz="1600" b="1" u="none" strike="noStrike">
                <a:solidFill>
                  <a:schemeClr val="dk1"/>
                </a:solidFill>
                <a:effectLst/>
                <a:uFillTx/>
                <a:latin typeface="Times New Roman"/>
                <a:ea typeface="Times New Roman"/>
              </a:rPr>
              <a:t>Project Idea:</a:t>
            </a:r>
            <a:r>
              <a:rPr lang="en-US" sz="1600" b="0" u="none" strike="noStrike">
                <a:solidFill>
                  <a:schemeClr val="dk1"/>
                </a:solidFill>
                <a:effectLst/>
                <a:uFillTx/>
                <a:latin typeface="Times New Roman"/>
                <a:ea typeface="Times New Roman"/>
              </a:rPr>
              <a:t> VibeGuard is a low-cost embedded system for monitoring vibration from a small rotating machine.</a:t>
            </a:r>
            <a:endParaRPr lang="en-US" sz="1600" b="0" u="none" strike="noStrike">
              <a:solidFill>
                <a:srgbClr val="000000"/>
              </a:solidFill>
              <a:effectLst/>
              <a:uFillTx/>
              <a:latin typeface="Arial"/>
            </a:endParaRPr>
          </a:p>
          <a:p>
            <a:pPr algn="l">
              <a:lnSpc>
                <a:spcPct val="200000"/>
              </a:lnSpc>
              <a:spcBef>
                <a:spcPts val="1284"/>
              </a:spcBef>
              <a:buClr>
                <a:srgbClr val="000000"/>
              </a:buClr>
              <a:buFont typeface="Arial"/>
              <a:buChar char="•"/>
            </a:pPr>
            <a:r>
              <a:rPr lang="en-US" sz="1600" b="1" u="none" strike="noStrike">
                <a:solidFill>
                  <a:schemeClr val="dk1"/>
                </a:solidFill>
                <a:effectLst/>
                <a:uFillTx/>
                <a:latin typeface="Times New Roman"/>
                <a:ea typeface="Times New Roman"/>
              </a:rPr>
              <a:t>Main Goal:</a:t>
            </a:r>
            <a:r>
              <a:rPr lang="en-US" sz="1600" b="0" u="none" strike="noStrike">
                <a:solidFill>
                  <a:schemeClr val="dk1"/>
                </a:solidFill>
                <a:effectLst/>
                <a:uFillTx/>
                <a:latin typeface="Times New Roman"/>
                <a:ea typeface="Times New Roman"/>
              </a:rPr>
              <a:t> Distinguish a documented Normal condition from a controlled Abnormal vibration condition.</a:t>
            </a:r>
            <a:endParaRPr lang="en-US" sz="1600" b="0" u="none" strike="noStrike">
              <a:solidFill>
                <a:srgbClr val="000000"/>
              </a:solidFill>
              <a:effectLst/>
              <a:uFillTx/>
              <a:latin typeface="Arial"/>
            </a:endParaRPr>
          </a:p>
          <a:p>
            <a:pPr algn="l">
              <a:lnSpc>
                <a:spcPct val="200000"/>
              </a:lnSpc>
              <a:spcBef>
                <a:spcPts val="1284"/>
              </a:spcBef>
              <a:buClr>
                <a:srgbClr val="000000"/>
              </a:buClr>
              <a:buFont typeface="Arial"/>
              <a:buChar char="•"/>
            </a:pPr>
            <a:r>
              <a:rPr lang="en-US" sz="1600" b="1" u="none" strike="noStrike">
                <a:solidFill>
                  <a:schemeClr val="dk1"/>
                </a:solidFill>
                <a:effectLst/>
                <a:uFillTx/>
                <a:latin typeface="Times New Roman"/>
                <a:ea typeface="Times New Roman"/>
              </a:rPr>
              <a:t>Prototype:</a:t>
            </a:r>
            <a:r>
              <a:rPr lang="en-US" sz="1600" b="0" u="none" strike="noStrike">
                <a:solidFill>
                  <a:schemeClr val="dk1"/>
                </a:solidFill>
                <a:effectLst/>
                <a:uFillTx/>
                <a:latin typeface="Times New Roman"/>
                <a:ea typeface="Times New Roman"/>
              </a:rPr>
              <a:t> One rigidly mounted ADXL345-class tri-axis accelerometer and one ESP32 perform local sensing and processing.</a:t>
            </a:r>
            <a:endParaRPr lang="en-US" sz="1600" b="0" u="none" strike="noStrike">
              <a:solidFill>
                <a:srgbClr val="000000"/>
              </a:solidFill>
              <a:effectLst/>
              <a:uFillTx/>
              <a:latin typeface="Arial"/>
            </a:endParaRPr>
          </a:p>
          <a:p>
            <a:pPr algn="l">
              <a:lnSpc>
                <a:spcPct val="200000"/>
              </a:lnSpc>
              <a:spcBef>
                <a:spcPts val="1284"/>
              </a:spcBef>
              <a:buClr>
                <a:srgbClr val="000000"/>
              </a:buClr>
              <a:buFont typeface="Arial"/>
              <a:buChar char="•"/>
            </a:pPr>
            <a:r>
              <a:rPr lang="en-US" sz="1600" b="1" u="none" strike="noStrike">
                <a:solidFill>
                  <a:schemeClr val="dk1"/>
                </a:solidFill>
                <a:effectLst/>
                <a:uFillTx/>
                <a:latin typeface="Times New Roman"/>
                <a:ea typeface="Times New Roman"/>
              </a:rPr>
              <a:t>Local Operation:</a:t>
            </a:r>
            <a:r>
              <a:rPr lang="en-US" sz="1600" b="0" u="none" strike="noStrike">
                <a:solidFill>
                  <a:schemeClr val="dk1"/>
                </a:solidFill>
                <a:effectLst/>
                <a:uFillTx/>
                <a:latin typeface="Times New Roman"/>
                <a:ea typeface="Times New Roman"/>
              </a:rPr>
              <a:t> RGB indication and USB logging provide the system's local output without cloud dependency.</a:t>
            </a:r>
            <a:endParaRPr lang="en-US" sz="1600" b="0" u="none" strike="noStrike">
              <a:solidFill>
                <a:srgbClr val="000000"/>
              </a:solidFill>
              <a:effectLst/>
              <a:uFillTx/>
              <a:latin typeface="Arial"/>
            </a:endParaRPr>
          </a:p>
        </p:txBody>
      </p:sp>
      <p:sp>
        <p:nvSpPr>
          <p:cNvPr id="118" name="Google Shape;185;p23"/>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19" name="PlaceHolder 3"/>
          <p:cNvSpPr>
            <a:spLocks noGrp="1"/>
          </p:cNvSpPr>
          <p:nvPr>
            <p:ph type="ftr" idx="5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20" name="PlaceHolder 4"/>
          <p:cNvSpPr>
            <a:spLocks noGrp="1"/>
          </p:cNvSpPr>
          <p:nvPr>
            <p:ph type="sldNum" idx="5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4375F02-24DB-4169-B58E-A3F58A92865B}"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AB191A22-6E93-4839-8DE7-A2AD38C0BC33}" type="datetime1">
              <a:rPr lang="en-US"/>
              <a:t>09/03/26</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1" name="Google Shape;193;p24"/>
          <p:cNvPicPr/>
          <p:nvPr/>
        </p:nvPicPr>
        <p:blipFill>
          <a:blip r:embed="rId1"/>
          <a:stretch/>
        </p:blipFill>
        <p:spPr>
          <a:xfrm>
            <a:off x="891360" y="243000"/>
            <a:ext cx="10577880" cy="1746360"/>
          </a:xfrm>
          <a:prstGeom prst="rect">
            <a:avLst/>
          </a:prstGeom>
          <a:noFill/>
          <a:ln w="0">
            <a:noFill/>
          </a:ln>
        </p:spPr>
      </p:pic>
      <p:sp>
        <p:nvSpPr>
          <p:cNvPr id="122" name="PlaceHolder 1"/>
          <p:cNvSpPr>
            <a:spLocks noGrp="1"/>
          </p:cNvSpPr>
          <p:nvPr>
            <p:ph type="title"/>
          </p:nvPr>
        </p:nvSpPr>
        <p:spPr>
          <a:xfrm>
            <a:off x="923040" y="153288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4000" b="1" u="sng" strike="noStrike">
                <a:solidFill>
                  <a:srgbClr val="002060"/>
                </a:solidFill>
                <a:effectLst/>
                <a:uFillTx/>
                <a:latin typeface="Times New Roman"/>
                <a:ea typeface="Times New Roman"/>
              </a:rPr>
              <a:t>Problem Statement</a:t>
            </a:r>
            <a:endParaRPr lang="en-US" sz="4000" b="0" u="none" strike="noStrike">
              <a:solidFill>
                <a:srgbClr val="000000"/>
              </a:solidFill>
              <a:effectLst/>
              <a:uFillTx/>
              <a:latin typeface="Arial"/>
            </a:endParaRPr>
          </a:p>
        </p:txBody>
      </p:sp>
      <p:sp>
        <p:nvSpPr>
          <p:cNvPr id="123" name="PlaceHolder 2"/>
          <p:cNvSpPr>
            <a:spLocks noGrp="1"/>
          </p:cNvSpPr>
          <p:nvPr>
            <p:ph/>
          </p:nvPr>
        </p:nvSpPr>
        <p:spPr>
          <a:xfrm>
            <a:off x="0" y="3277440"/>
            <a:ext cx="12191040" cy="2206800"/>
          </a:xfrm>
          <a:prstGeom prst="rect">
            <a:avLst/>
          </a:prstGeom>
          <a:noFill/>
          <a:ln w="0">
            <a:noFill/>
          </a:ln>
        </p:spPr>
        <p:txBody>
          <a:bodyPr lIns="91440" tIns="45720" rIns="91440" bIns="45720" anchor="ctr">
            <a:spAutoFit/>
          </a:bodyPr>
          <a:p>
            <a:pPr algn="l">
              <a:lnSpc>
                <a:spcPct val="200000"/>
              </a:lnSpc>
              <a:buClr>
                <a:srgbClr val="000000"/>
              </a:buClr>
              <a:buFont typeface="Arial"/>
              <a:buChar char="•"/>
            </a:pPr>
            <a:r>
              <a:rPr lang="en-US" sz="1600" b="1" u="none" strike="noStrike">
                <a:solidFill>
                  <a:schemeClr val="dk1"/>
                </a:solidFill>
                <a:effectLst/>
                <a:uFillTx/>
                <a:latin typeface="Times New Roman"/>
                <a:ea typeface="Times New Roman"/>
              </a:rPr>
              <a:t>Monitoring Cost:</a:t>
            </a:r>
            <a:r>
              <a:rPr lang="en-US" sz="1600" b="0" u="none" strike="noStrike">
                <a:solidFill>
                  <a:schemeClr val="dk1"/>
                </a:solidFill>
                <a:effectLst/>
                <a:uFillTx/>
                <a:latin typeface="Times New Roman"/>
                <a:ea typeface="Times New Roman"/>
              </a:rPr>
              <a:t> Commercial continuous vibration monitoring may be too expensive or complex for small machines and educational setups.</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pPr>
            <a:r>
              <a:rPr lang="en-US" sz="1600" b="1" u="none" strike="noStrike">
                <a:solidFill>
                  <a:schemeClr val="dk1"/>
                </a:solidFill>
                <a:effectLst/>
                <a:uFillTx/>
                <a:latin typeface="Times New Roman"/>
                <a:ea typeface="Times New Roman"/>
              </a:rPr>
              <a:t>Manual Detection:</a:t>
            </a:r>
            <a:r>
              <a:rPr lang="en-US" sz="1600" b="0" u="none" strike="noStrike">
                <a:solidFill>
                  <a:schemeClr val="dk1"/>
                </a:solidFill>
                <a:effectLst/>
                <a:uFillTx/>
                <a:latin typeface="Times New Roman"/>
                <a:ea typeface="Times New Roman"/>
              </a:rPr>
              <a:t> Small vibration changes can be difficult to judge consistently and provide no numerical record.</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pPr>
            <a:r>
              <a:rPr lang="en-US" sz="1600" b="1" u="none" strike="noStrike">
                <a:solidFill>
                  <a:schemeClr val="dk1"/>
                </a:solidFill>
                <a:effectLst/>
                <a:uFillTx/>
                <a:latin typeface="Times New Roman"/>
                <a:ea typeface="Times New Roman"/>
              </a:rPr>
              <a:t>Engineering Hypothesis:</a:t>
            </a:r>
            <a:r>
              <a:rPr lang="en-US" sz="1600" b="0" u="none" strike="noStrike">
                <a:solidFill>
                  <a:schemeClr val="dk1"/>
                </a:solidFill>
                <a:effectLst/>
                <a:uFillTx/>
                <a:latin typeface="Times New Roman"/>
                <a:ea typeface="Times New Roman"/>
              </a:rPr>
              <a:t> A low-cost embedded system can distinguish a documented Normal condition from a safe controlled Abnormal vibration condition.</a:t>
            </a:r>
            <a:endParaRPr lang="en-US" sz="1600" b="0" u="none" strike="noStrike">
              <a:solidFill>
                <a:srgbClr val="000000"/>
              </a:solidFill>
              <a:effectLst/>
              <a:uFillTx/>
              <a:latin typeface="Arial"/>
            </a:endParaRPr>
          </a:p>
        </p:txBody>
      </p:sp>
      <p:sp>
        <p:nvSpPr>
          <p:cNvPr id="124" name="Google Shape;196;p24"/>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25" name="PlaceHolder 3"/>
          <p:cNvSpPr>
            <a:spLocks noGrp="1"/>
          </p:cNvSpPr>
          <p:nvPr>
            <p:ph type="ftr" idx="5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26" name="PlaceHolder 4"/>
          <p:cNvSpPr>
            <a:spLocks noGrp="1"/>
          </p:cNvSpPr>
          <p:nvPr>
            <p:ph type="sldNum" idx="5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561B751-4282-416C-879B-941650F081EC}"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3FA6F417-5B71-4DC0-B6D9-5E484B16DDE4}" type="datetime1">
              <a:rPr lang="en-US"/>
              <a:t>09/03/26</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Google Shape;204;p25"/>
          <p:cNvPicPr/>
          <p:nvPr/>
        </p:nvPicPr>
        <p:blipFill>
          <a:blip r:embed="rId1"/>
          <a:stretch/>
        </p:blipFill>
        <p:spPr>
          <a:xfrm>
            <a:off x="891360" y="243000"/>
            <a:ext cx="10577880" cy="1746360"/>
          </a:xfrm>
          <a:prstGeom prst="rect">
            <a:avLst/>
          </a:prstGeom>
          <a:noFill/>
          <a:ln w="0">
            <a:noFill/>
          </a:ln>
        </p:spPr>
      </p:pic>
      <p:sp>
        <p:nvSpPr>
          <p:cNvPr id="128" name="PlaceHolder 1"/>
          <p:cNvSpPr>
            <a:spLocks noGrp="1"/>
          </p:cNvSpPr>
          <p:nvPr>
            <p:ph type="title"/>
          </p:nvPr>
        </p:nvSpPr>
        <p:spPr>
          <a:xfrm>
            <a:off x="838080" y="148284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4000" b="1" u="sng" strike="noStrike">
                <a:solidFill>
                  <a:srgbClr val="002060"/>
                </a:solidFill>
                <a:effectLst/>
                <a:uFillTx/>
                <a:latin typeface="Times New Roman"/>
                <a:ea typeface="Times New Roman"/>
              </a:rPr>
              <a:t>Proposed Method</a:t>
            </a:r>
            <a:endParaRPr lang="en-US" sz="4000" b="0" u="none" strike="noStrike">
              <a:solidFill>
                <a:srgbClr val="000000"/>
              </a:solidFill>
              <a:effectLst/>
              <a:uFillTx/>
              <a:latin typeface="Arial"/>
            </a:endParaRPr>
          </a:p>
        </p:txBody>
      </p:sp>
      <p:sp>
        <p:nvSpPr>
          <p:cNvPr id="129" name="PlaceHolder 2"/>
          <p:cNvSpPr>
            <a:spLocks noGrp="1"/>
          </p:cNvSpPr>
          <p:nvPr>
            <p:ph/>
          </p:nvPr>
        </p:nvSpPr>
        <p:spPr>
          <a:xfrm>
            <a:off x="0" y="2407320"/>
            <a:ext cx="12190680" cy="4086000"/>
          </a:xfrm>
          <a:prstGeom prst="rect">
            <a:avLst/>
          </a:prstGeom>
          <a:noFill/>
          <a:ln w="0">
            <a:noFill/>
          </a:ln>
        </p:spPr>
        <p:txBody>
          <a:bodyPr lIns="91440" tIns="45720" rIns="91440" bIns="45720" anchor="ctr">
            <a:spAutoFit/>
          </a:bodyPr>
          <a:p>
            <a:pPr algn="l">
              <a:lnSpc>
                <a:spcPct val="200000"/>
              </a:lnSpc>
              <a:buClr>
                <a:srgbClr val="000000"/>
              </a:buClr>
              <a:buFont typeface="Arial"/>
              <a:buChar char="•"/>
            </a:pPr>
            <a:r>
              <a:rPr lang="en-US" sz="1600" b="1" u="none" strike="noStrike">
                <a:solidFill>
                  <a:schemeClr val="dk1"/>
                </a:solidFill>
                <a:effectLst/>
                <a:uFillTx/>
                <a:latin typeface="Times New Roman"/>
                <a:ea typeface="Times New Roman"/>
              </a:rPr>
              <a:t>Sensor:</a:t>
            </a:r>
            <a:r>
              <a:rPr lang="en-US" sz="1600" b="0" u="none" strike="noStrike">
                <a:solidFill>
                  <a:schemeClr val="dk1"/>
                </a:solidFill>
                <a:effectLst/>
                <a:uFillTx/>
                <a:latin typeface="Times New Roman"/>
                <a:ea typeface="Times New Roman"/>
              </a:rPr>
              <a:t> One rigidly mounted ADXL345-class tri-axis accelerometer measures vibration.</a:t>
            </a:r>
            <a:endParaRPr lang="en-US" sz="1600" b="0" u="none" strike="noStrike">
              <a:solidFill>
                <a:srgbClr val="000000"/>
              </a:solidFill>
              <a:effectLst/>
              <a:uFillTx/>
              <a:latin typeface="Arial"/>
            </a:endParaRPr>
          </a:p>
          <a:p>
            <a:pPr algn="l">
              <a:lnSpc>
                <a:spcPct val="200000"/>
              </a:lnSpc>
              <a:spcBef>
                <a:spcPts val="717"/>
              </a:spcBef>
              <a:buClr>
                <a:srgbClr val="000000"/>
              </a:buClr>
              <a:buFont typeface="Arial"/>
              <a:buChar char="•"/>
            </a:pPr>
            <a:r>
              <a:rPr lang="en-US" sz="1600" b="1" u="none" strike="noStrike">
                <a:solidFill>
                  <a:schemeClr val="dk1"/>
                </a:solidFill>
                <a:effectLst/>
                <a:uFillTx/>
                <a:latin typeface="Times New Roman"/>
                <a:ea typeface="Times New Roman"/>
              </a:rPr>
              <a:t>Controller:</a:t>
            </a:r>
            <a:r>
              <a:rPr lang="en-US" sz="1600" b="0" u="none" strike="noStrike">
                <a:solidFill>
                  <a:schemeClr val="dk1"/>
                </a:solidFill>
                <a:effectLst/>
                <a:uFillTx/>
                <a:latin typeface="Times New Roman"/>
                <a:ea typeface="Times New Roman"/>
              </a:rPr>
              <a:t> ESP32 reads acceleration data through SPI.</a:t>
            </a:r>
            <a:endParaRPr lang="en-US" sz="1600" b="0" u="none" strike="noStrike">
              <a:solidFill>
                <a:srgbClr val="000000"/>
              </a:solidFill>
              <a:effectLst/>
              <a:uFillTx/>
              <a:latin typeface="Arial"/>
            </a:endParaRPr>
          </a:p>
          <a:p>
            <a:pPr algn="l">
              <a:lnSpc>
                <a:spcPct val="200000"/>
              </a:lnSpc>
              <a:spcBef>
                <a:spcPts val="717"/>
              </a:spcBef>
              <a:buClr>
                <a:srgbClr val="000000"/>
              </a:buClr>
              <a:buFont typeface="Arial"/>
              <a:buChar char="•"/>
            </a:pPr>
            <a:r>
              <a:rPr lang="en-US" sz="1600" b="1" u="none" strike="noStrike">
                <a:solidFill>
                  <a:schemeClr val="dk1"/>
                </a:solidFill>
                <a:effectLst/>
                <a:uFillTx/>
                <a:latin typeface="Times New Roman"/>
                <a:ea typeface="Times New Roman"/>
              </a:rPr>
              <a:t>Processing:</a:t>
            </a:r>
            <a:r>
              <a:rPr lang="en-US" sz="1600" b="0" u="none" strike="noStrike">
                <a:solidFill>
                  <a:schemeClr val="dk1"/>
                </a:solidFill>
                <a:effectLst/>
                <a:uFillTx/>
                <a:latin typeface="Times New Roman"/>
                <a:ea typeface="Times New Roman"/>
              </a:rPr>
              <a:t> DC/mean removal prepares the vibration signal for analysis.</a:t>
            </a:r>
            <a:endParaRPr lang="en-US" sz="1600" b="0" u="none" strike="noStrike">
              <a:solidFill>
                <a:srgbClr val="000000"/>
              </a:solidFill>
              <a:effectLst/>
              <a:uFillTx/>
              <a:latin typeface="Arial"/>
            </a:endParaRPr>
          </a:p>
          <a:p>
            <a:pPr algn="l">
              <a:lnSpc>
                <a:spcPct val="200000"/>
              </a:lnSpc>
              <a:spcBef>
                <a:spcPts val="717"/>
              </a:spcBef>
              <a:buClr>
                <a:srgbClr val="000000"/>
              </a:buClr>
              <a:buFont typeface="Arial"/>
              <a:buChar char="•"/>
            </a:pPr>
            <a:r>
              <a:rPr lang="en-US" sz="1600" b="1" u="none" strike="noStrike">
                <a:solidFill>
                  <a:schemeClr val="dk1"/>
                </a:solidFill>
                <a:effectLst/>
                <a:uFillTx/>
                <a:latin typeface="Times New Roman"/>
                <a:ea typeface="Times New Roman"/>
              </a:rPr>
              <a:t>Decision:</a:t>
            </a:r>
            <a:r>
              <a:rPr lang="en-US" sz="1600" b="0" u="none" strike="noStrike">
                <a:solidFill>
                  <a:schemeClr val="dk1"/>
                </a:solidFill>
                <a:effectLst/>
                <a:uFillTx/>
                <a:latin typeface="Times New Roman"/>
                <a:ea typeface="Times New Roman"/>
              </a:rPr>
              <a:t> RMS + persistence forms the minimum Normal/Abnormal decision method.</a:t>
            </a:r>
            <a:endParaRPr lang="en-US" sz="1600" b="0" u="none" strike="noStrike">
              <a:solidFill>
                <a:srgbClr val="000000"/>
              </a:solidFill>
              <a:effectLst/>
              <a:uFillTx/>
              <a:latin typeface="Arial"/>
            </a:endParaRPr>
          </a:p>
          <a:p>
            <a:pPr algn="l">
              <a:lnSpc>
                <a:spcPct val="200000"/>
              </a:lnSpc>
              <a:spcBef>
                <a:spcPts val="717"/>
              </a:spcBef>
              <a:buClr>
                <a:srgbClr val="000000"/>
              </a:buClr>
              <a:buFont typeface="Arial"/>
              <a:buChar char="•"/>
            </a:pPr>
            <a:r>
              <a:rPr lang="en-US" sz="1600" b="1" u="none" strike="noStrike">
                <a:solidFill>
                  <a:schemeClr val="dk1"/>
                </a:solidFill>
                <a:effectLst/>
                <a:uFillTx/>
                <a:latin typeface="Times New Roman"/>
                <a:ea typeface="Times New Roman"/>
              </a:rPr>
              <a:t>Supporting Analysis:</a:t>
            </a:r>
            <a:r>
              <a:rPr lang="en-US" sz="1600" b="0" u="none" strike="noStrike">
                <a:solidFill>
                  <a:schemeClr val="dk1"/>
                </a:solidFill>
                <a:effectLst/>
                <a:uFillTx/>
                <a:latin typeface="Times New Roman"/>
                <a:ea typeface="Times New Roman"/>
              </a:rPr>
              <a:t> Triggered FFT provides supporting frequency-domain information.</a:t>
            </a:r>
            <a:endParaRPr lang="en-US" sz="1600" b="0" u="none" strike="noStrike">
              <a:solidFill>
                <a:srgbClr val="000000"/>
              </a:solidFill>
              <a:effectLst/>
              <a:uFillTx/>
              <a:latin typeface="Arial"/>
            </a:endParaRPr>
          </a:p>
          <a:p>
            <a:pPr algn="l">
              <a:lnSpc>
                <a:spcPct val="200000"/>
              </a:lnSpc>
              <a:spcBef>
                <a:spcPts val="717"/>
              </a:spcBef>
              <a:buClr>
                <a:srgbClr val="000000"/>
              </a:buClr>
              <a:buFont typeface="Arial"/>
              <a:buChar char="•"/>
            </a:pPr>
            <a:r>
              <a:rPr lang="en-US" sz="1600" b="1" u="none" strike="noStrike">
                <a:solidFill>
                  <a:schemeClr val="dk1"/>
                </a:solidFill>
                <a:effectLst/>
                <a:uFillTx/>
                <a:latin typeface="Times New Roman"/>
                <a:ea typeface="Times New Roman"/>
              </a:rPr>
              <a:t>Output:</a:t>
            </a:r>
            <a:r>
              <a:rPr lang="en-US" sz="1600" b="0" u="none" strike="noStrike">
                <a:solidFill>
                  <a:schemeClr val="dk1"/>
                </a:solidFill>
                <a:effectLst/>
                <a:uFillTx/>
                <a:latin typeface="Times New Roman"/>
                <a:ea typeface="Times New Roman"/>
              </a:rPr>
              <a:t> RGB state indication and structured USB logging.</a:t>
            </a:r>
            <a:endParaRPr lang="en-US" sz="1600" b="0" u="none" strike="noStrike">
              <a:solidFill>
                <a:srgbClr val="000000"/>
              </a:solidFill>
              <a:effectLst/>
              <a:uFillTx/>
              <a:latin typeface="Arial"/>
            </a:endParaRPr>
          </a:p>
          <a:p>
            <a:pPr algn="l">
              <a:lnSpc>
                <a:spcPct val="200000"/>
              </a:lnSpc>
              <a:spcBef>
                <a:spcPts val="717"/>
              </a:spcBef>
              <a:buClr>
                <a:srgbClr val="000000"/>
              </a:buClr>
              <a:buFont typeface="Arial"/>
              <a:buChar char="•"/>
            </a:pPr>
            <a:r>
              <a:rPr lang="en-US" sz="1600" b="1" u="none" strike="noStrike">
                <a:solidFill>
                  <a:schemeClr val="dk1"/>
                </a:solidFill>
                <a:effectLst/>
                <a:uFillTx/>
                <a:latin typeface="Times New Roman"/>
                <a:ea typeface="Times New Roman"/>
              </a:rPr>
              <a:t>Test Rig:</a:t>
            </a:r>
            <a:r>
              <a:rPr lang="en-US" sz="1600" b="0" u="none" strike="noStrike">
                <a:solidFill>
                  <a:schemeClr val="dk1"/>
                </a:solidFill>
                <a:effectLst/>
                <a:uFillTx/>
                <a:latin typeface="Times New Roman"/>
                <a:ea typeface="Times New Roman"/>
              </a:rPr>
              <a:t> A guarded low-voltage motor/fan rig provides controlled Normal and Abnormal conditions.</a:t>
            </a:r>
            <a:endParaRPr lang="en-US" sz="1600" b="0" u="none" strike="noStrike">
              <a:solidFill>
                <a:srgbClr val="000000"/>
              </a:solidFill>
              <a:effectLst/>
              <a:uFillTx/>
              <a:latin typeface="Arial"/>
            </a:endParaRPr>
          </a:p>
        </p:txBody>
      </p:sp>
      <p:sp>
        <p:nvSpPr>
          <p:cNvPr id="130" name="Google Shape;207;p25"/>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31" name="PlaceHolder 3"/>
          <p:cNvSpPr>
            <a:spLocks noGrp="1"/>
          </p:cNvSpPr>
          <p:nvPr>
            <p:ph type="ftr" idx="5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32" name="PlaceHolder 4"/>
          <p:cNvSpPr>
            <a:spLocks noGrp="1"/>
          </p:cNvSpPr>
          <p:nvPr>
            <p:ph type="sldNum" idx="6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66A0CF0-B77C-469B-B984-9C1914A74734}"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D6D6D0D6-CE3B-48E9-BEDA-C4637E7F030F}" type="datetime1">
              <a:rPr lang="en-US"/>
              <a:t>09/03/26</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3" name="Google Shape;215;p26"/>
          <p:cNvPicPr/>
          <p:nvPr/>
        </p:nvPicPr>
        <p:blipFill>
          <a:blip r:embed="rId1"/>
          <a:stretch/>
        </p:blipFill>
        <p:spPr>
          <a:xfrm>
            <a:off x="1307880" y="162000"/>
            <a:ext cx="9744480" cy="1608480"/>
          </a:xfrm>
          <a:prstGeom prst="rect">
            <a:avLst/>
          </a:prstGeom>
          <a:noFill/>
          <a:ln w="0">
            <a:noFill/>
          </a:ln>
        </p:spPr>
      </p:pic>
      <p:sp>
        <p:nvSpPr>
          <p:cNvPr id="134" name="PlaceHolder 1"/>
          <p:cNvSpPr>
            <a:spLocks noGrp="1"/>
          </p:cNvSpPr>
          <p:nvPr>
            <p:ph type="title"/>
          </p:nvPr>
        </p:nvSpPr>
        <p:spPr>
          <a:xfrm>
            <a:off x="838080" y="130752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3600" b="1" u="sng" strike="noStrike">
                <a:solidFill>
                  <a:srgbClr val="002060"/>
                </a:solidFill>
                <a:effectLst/>
                <a:uFillTx/>
                <a:latin typeface="Times New Roman"/>
                <a:ea typeface="Times New Roman"/>
              </a:rPr>
              <a:t>Basic Block Diagram</a:t>
            </a:r>
            <a:endParaRPr lang="en-US" sz="3600" b="0" u="none" strike="noStrike">
              <a:solidFill>
                <a:srgbClr val="000000"/>
              </a:solidFill>
              <a:effectLst/>
              <a:uFillTx/>
              <a:latin typeface="Arial"/>
            </a:endParaRPr>
          </a:p>
        </p:txBody>
      </p:sp>
      <p:sp>
        <p:nvSpPr>
          <p:cNvPr id="135" name="Google Shape;217;p26"/>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pic>
        <p:nvPicPr>
          <p:cNvPr id="136" name="Google Shape;218;p26"/>
          <p:cNvPicPr/>
          <p:nvPr/>
        </p:nvPicPr>
        <p:blipFill>
          <a:blip r:embed="rId2"/>
          <a:srcRect l="0" t="17773" r="0" b="2224"/>
          <a:stretch/>
        </p:blipFill>
        <p:spPr>
          <a:xfrm>
            <a:off x="2286000" y="2286360"/>
            <a:ext cx="7591320" cy="4114080"/>
          </a:xfrm>
          <a:prstGeom prst="rect">
            <a:avLst/>
          </a:prstGeom>
          <a:noFill/>
          <a:ln w="0">
            <a:noFill/>
          </a:ln>
        </p:spPr>
      </p:pic>
      <p:sp>
        <p:nvSpPr>
          <p:cNvPr id="137" name="PlaceHolder 2"/>
          <p:cNvSpPr>
            <a:spLocks noGrp="1"/>
          </p:cNvSpPr>
          <p:nvPr>
            <p:ph type="ftr" idx="6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38" name="PlaceHolder 3"/>
          <p:cNvSpPr>
            <a:spLocks noGrp="1"/>
          </p:cNvSpPr>
          <p:nvPr>
            <p:ph type="sldNum" idx="6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709DDDC-0F77-4892-B435-82541BBEC8BB}"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p>
            <a:fld id="{AB9ED0DD-ACCC-411D-A0E5-1FD3BA0F004E}" type="datetime1">
              <a:rPr lang="en-US"/>
              <a:t>09/03/26</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9" name="Google Shape;226;p27"/>
          <p:cNvPicPr/>
          <p:nvPr/>
        </p:nvPicPr>
        <p:blipFill>
          <a:blip r:embed="rId1"/>
          <a:stretch/>
        </p:blipFill>
        <p:spPr>
          <a:xfrm>
            <a:off x="806760" y="194040"/>
            <a:ext cx="10577880" cy="1746360"/>
          </a:xfrm>
          <a:prstGeom prst="rect">
            <a:avLst/>
          </a:prstGeom>
          <a:noFill/>
          <a:ln w="0">
            <a:noFill/>
          </a:ln>
        </p:spPr>
      </p:pic>
      <p:sp>
        <p:nvSpPr>
          <p:cNvPr id="140" name="PlaceHolder 1"/>
          <p:cNvSpPr>
            <a:spLocks noGrp="1"/>
          </p:cNvSpPr>
          <p:nvPr>
            <p:ph type="title"/>
          </p:nvPr>
        </p:nvSpPr>
        <p:spPr>
          <a:xfrm>
            <a:off x="996840" y="160092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3600" b="1" u="sng" strike="noStrike">
                <a:solidFill>
                  <a:srgbClr val="002060"/>
                </a:solidFill>
                <a:effectLst/>
                <a:uFillTx/>
                <a:latin typeface="Times New Roman"/>
                <a:ea typeface="Times New Roman"/>
              </a:rPr>
              <a:t>Detailed Block Diagram</a:t>
            </a:r>
            <a:endParaRPr lang="en-US" sz="3600" b="0" u="none" strike="noStrike">
              <a:solidFill>
                <a:srgbClr val="000000"/>
              </a:solidFill>
              <a:effectLst/>
              <a:uFillTx/>
              <a:latin typeface="Arial"/>
            </a:endParaRPr>
          </a:p>
        </p:txBody>
      </p:sp>
      <p:pic>
        <p:nvPicPr>
          <p:cNvPr id="141" name="Google Shape;228;p27"/>
          <p:cNvPicPr/>
          <p:nvPr/>
        </p:nvPicPr>
        <p:blipFill>
          <a:blip r:embed="rId2"/>
          <a:stretch/>
        </p:blipFill>
        <p:spPr>
          <a:xfrm>
            <a:off x="0" y="1900080"/>
            <a:ext cx="12191760" cy="4299480"/>
          </a:xfrm>
          <a:prstGeom prst="rect">
            <a:avLst/>
          </a:prstGeom>
          <a:noFill/>
          <a:ln w="0">
            <a:noFill/>
          </a:ln>
        </p:spPr>
      </p:pic>
      <p:sp>
        <p:nvSpPr>
          <p:cNvPr id="142" name="Header Topic"/>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43" name="PlaceHolder 2"/>
          <p:cNvSpPr>
            <a:spLocks noGrp="1"/>
          </p:cNvSpPr>
          <p:nvPr>
            <p:ph type="ftr" idx="6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44" name="PlaceHolder 3"/>
          <p:cNvSpPr>
            <a:spLocks noGrp="1"/>
          </p:cNvSpPr>
          <p:nvPr>
            <p:ph type="sldNum" idx="6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74E8EE58-0C7D-4AC9-98C5-E2D92BDF7DAC}" type="slidenum">
              <a:rPr lang="en-US" sz="1200" b="0" u="none" strike="noStrike">
                <a:solidFill>
                  <a:srgbClr val="7F7F7F"/>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p>
            <a:fld id="{682D62FB-31D1-4242-A27A-DF3A667A87D2}" type="datetime1">
              <a:rPr lang="en-US"/>
              <a:t>09/03/26</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5" name="Google Shape;233;p28"/>
          <p:cNvPicPr/>
          <p:nvPr/>
        </p:nvPicPr>
        <p:blipFill>
          <a:blip r:embed="rId1"/>
          <a:stretch/>
        </p:blipFill>
        <p:spPr>
          <a:xfrm>
            <a:off x="891360" y="243000"/>
            <a:ext cx="10577880" cy="1746360"/>
          </a:xfrm>
          <a:prstGeom prst="rect">
            <a:avLst/>
          </a:prstGeom>
          <a:noFill/>
          <a:ln w="0">
            <a:noFill/>
          </a:ln>
        </p:spPr>
      </p:pic>
      <p:sp>
        <p:nvSpPr>
          <p:cNvPr id="146" name="PlaceHolder 1"/>
          <p:cNvSpPr>
            <a:spLocks noGrp="1"/>
          </p:cNvSpPr>
          <p:nvPr>
            <p:ph/>
          </p:nvPr>
        </p:nvSpPr>
        <p:spPr>
          <a:xfrm>
            <a:off x="891360" y="0"/>
            <a:ext cx="10513800" cy="434952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3600" b="1" u="sng" strike="noStrike">
                <a:solidFill>
                  <a:srgbClr val="002060"/>
                </a:solidFill>
                <a:effectLst/>
                <a:uFillTx/>
                <a:latin typeface="Times New Roman"/>
                <a:ea typeface="Times New Roman"/>
              </a:rPr>
              <a:t>Components Required </a:t>
            </a:r>
            <a:endParaRPr lang="en-US" sz="3600" b="0" u="none" strike="noStrike">
              <a:solidFill>
                <a:srgbClr val="000000"/>
              </a:solidFill>
              <a:effectLst/>
              <a:uFillTx/>
              <a:latin typeface="Arial"/>
            </a:endParaRPr>
          </a:p>
        </p:txBody>
      </p:sp>
      <p:graphicFrame>
        <p:nvGraphicFramePr>
          <p:cNvPr id="147" name="Google Shape;235;p28"/>
          <p:cNvGraphicFramePr/>
          <p:nvPr/>
        </p:nvGraphicFramePr>
        <p:xfrm>
          <a:off x="0" y="2779920"/>
          <a:ext cx="5842440" cy="3957480"/>
        </p:xfrm>
        <a:graphic>
          <a:graphicData uri="http://schemas.openxmlformats.org/drawingml/2006/table">
            <a:tbl>
              <a:tblPr/>
              <a:tblGrid>
                <a:gridCol w="2921400"/>
                <a:gridCol w="2921400"/>
              </a:tblGrid>
              <a:tr h="560880">
                <a:tc>
                  <a:txBody>
                    <a:bodyPr anchor="t">
                      <a:noAutofit/>
                    </a:bodyPr>
                    <a:p>
                      <a:pPr>
                        <a:lnSpc>
                          <a:spcPct val="100000"/>
                        </a:lnSpc>
                        <a:tabLst>
                          <a:tab pos="0" algn="l"/>
                        </a:tabLst>
                      </a:pPr>
                      <a:r>
                        <a:rPr lang="en-US" sz="1800" b="1" u="none" strike="noStrike">
                          <a:solidFill>
                            <a:schemeClr val="lt1"/>
                          </a:solidFill>
                          <a:effectLst/>
                          <a:uFillTx/>
                          <a:latin typeface="Arial"/>
                          <a:ea typeface="Arial"/>
                        </a:rPr>
                        <a:t>Component </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nSpc>
                          <a:spcPct val="100000"/>
                        </a:lnSpc>
                        <a:tabLst>
                          <a:tab pos="0" algn="l"/>
                        </a:tabLst>
                      </a:pPr>
                      <a:r>
                        <a:rPr lang="en-US" sz="1800" b="1" u="none" strike="noStrike">
                          <a:solidFill>
                            <a:schemeClr val="lt1"/>
                          </a:solidFill>
                          <a:effectLst/>
                          <a:uFillTx/>
                          <a:latin typeface="Arial"/>
                          <a:ea typeface="Arial"/>
                        </a:rPr>
                        <a:t>Purpose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1440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ESP32 development board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Main controller for reading sensor data and processing logic</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r>
              <a:tr h="56088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ADXL345 accelerometer</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Measures vibration in 3 axes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r>
              <a:tr h="63972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RGB LED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Indicates machine condition visually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r>
              <a:tr h="63972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Resistors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Current limiting for LED connections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r>
              <a:tr h="56088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Breadboard / PCB</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Prototype assembly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r>
            </a:tbl>
          </a:graphicData>
        </a:graphic>
      </p:graphicFrame>
      <p:graphicFrame>
        <p:nvGraphicFramePr>
          <p:cNvPr id="148" name="Google Shape;236;p28"/>
          <p:cNvGraphicFramePr/>
          <p:nvPr/>
        </p:nvGraphicFramePr>
        <p:xfrm>
          <a:off x="6246720" y="2779920"/>
          <a:ext cx="5977080" cy="3877560"/>
        </p:xfrm>
        <a:graphic>
          <a:graphicData uri="http://schemas.openxmlformats.org/drawingml/2006/table">
            <a:tbl>
              <a:tblPr/>
              <a:tblGrid>
                <a:gridCol w="2988360"/>
                <a:gridCol w="2988360"/>
              </a:tblGrid>
              <a:tr h="618120">
                <a:tc>
                  <a:txBody>
                    <a:bodyPr anchor="t">
                      <a:noAutofit/>
                    </a:bodyPr>
                    <a:p>
                      <a:pPr>
                        <a:lnSpc>
                          <a:spcPct val="100000"/>
                        </a:lnSpc>
                        <a:tabLst>
                          <a:tab pos="0" algn="l"/>
                        </a:tabLst>
                      </a:pPr>
                      <a:r>
                        <a:rPr lang="en-US" sz="1800" b="1" u="none" strike="noStrike">
                          <a:solidFill>
                            <a:schemeClr val="lt1"/>
                          </a:solidFill>
                          <a:effectLst/>
                          <a:uFillTx/>
                          <a:latin typeface="Arial"/>
                          <a:ea typeface="Arial"/>
                        </a:rPr>
                        <a:t>Components </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nSpc>
                          <a:spcPct val="100000"/>
                        </a:lnSpc>
                        <a:tabLst>
                          <a:tab pos="0" algn="l"/>
                        </a:tabLst>
                      </a:pPr>
                      <a:r>
                        <a:rPr lang="en-US" sz="1800" b="1" u="none" strike="noStrike">
                          <a:solidFill>
                            <a:schemeClr val="lt1"/>
                          </a:solidFill>
                          <a:effectLst/>
                          <a:uFillTx/>
                          <a:latin typeface="Arial"/>
                          <a:ea typeface="Arial"/>
                        </a:rPr>
                        <a:t>Purpose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61812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Jumper wires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Electrical interconnection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r>
              <a:tr h="66024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USB cable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Power and serial communication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r>
              <a:tr h="66024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DC motor / small rotating machine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Vibration source for testing</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r>
              <a:tr h="66024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Mounting base / clamp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Fixing the sensor and test object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r>
              <a:tr h="660240">
                <a:tc>
                  <a:txBody>
                    <a:bodyPr anchor="t">
                      <a:noAutofit/>
                    </a:bodyPr>
                    <a:p>
                      <a:pPr>
                        <a:lnSpc>
                          <a:spcPct val="100000"/>
                        </a:lnSpc>
                        <a:tabLst>
                          <a:tab pos="0" algn="l"/>
                        </a:tabLst>
                      </a:pPr>
                      <a:r>
                        <a:rPr lang="en-US" sz="1800" b="0" u="none" strike="noStrike">
                          <a:solidFill>
                            <a:schemeClr val="dk1"/>
                          </a:solidFill>
                          <a:effectLst/>
                          <a:uFillTx/>
                          <a:latin typeface="Arial"/>
                          <a:ea typeface="Arial"/>
                        </a:rPr>
                        <a:t>Laptop with Arduino IDE / serial monitor</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r>
                        <a:rPr lang="en-US" sz="1800" b="0" u="none" strike="noStrike">
                          <a:solidFill>
                            <a:schemeClr val="dk1"/>
                          </a:solidFill>
                          <a:effectLst/>
                          <a:uFillTx/>
                          <a:latin typeface="Arial"/>
                          <a:ea typeface="Arial"/>
                        </a:rPr>
                        <a:t>Programming and logging</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r>
            </a:tbl>
          </a:graphicData>
        </a:graphic>
      </p:graphicFrame>
      <p:sp>
        <p:nvSpPr>
          <p:cNvPr id="149" name="Header Topic"/>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50" name="PlaceHolder 2"/>
          <p:cNvSpPr>
            <a:spLocks noGrp="1"/>
          </p:cNvSpPr>
          <p:nvPr>
            <p:ph type="ftr" idx="6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51" name="PlaceHolder 3"/>
          <p:cNvSpPr>
            <a:spLocks noGrp="1"/>
          </p:cNvSpPr>
          <p:nvPr>
            <p:ph type="sldNum" idx="6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8D18CC0F-BA5C-4E96-BA6D-432B4953B1F6}" type="slidenum">
              <a:rPr lang="en-US" sz="1200" b="0" u="none" strike="noStrike">
                <a:solidFill>
                  <a:srgbClr val="7F7F7F"/>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p>
            <a:fld id="{64953534-554B-4C55-92FA-29FCFF23A172}" type="datetime1">
              <a:rPr lang="en-US"/>
              <a:t>09/03/26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2" name="Google Shape;241;p29"/>
          <p:cNvPicPr/>
          <p:nvPr/>
        </p:nvPicPr>
        <p:blipFill>
          <a:blip r:embed="rId1"/>
          <a:stretch/>
        </p:blipFill>
        <p:spPr>
          <a:xfrm>
            <a:off x="891360" y="243000"/>
            <a:ext cx="10577880" cy="1746360"/>
          </a:xfrm>
          <a:prstGeom prst="rect">
            <a:avLst/>
          </a:prstGeom>
          <a:noFill/>
          <a:ln w="0">
            <a:noFill/>
          </a:ln>
        </p:spPr>
      </p:pic>
      <p:sp>
        <p:nvSpPr>
          <p:cNvPr id="153" name="PlaceHolder 1"/>
          <p:cNvSpPr>
            <a:spLocks noGrp="1"/>
          </p:cNvSpPr>
          <p:nvPr>
            <p:ph type="title"/>
          </p:nvPr>
        </p:nvSpPr>
        <p:spPr>
          <a:xfrm>
            <a:off x="955080" y="150300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3600" b="1" u="sng" strike="noStrike">
                <a:solidFill>
                  <a:srgbClr val="002060"/>
                </a:solidFill>
                <a:effectLst/>
                <a:uFillTx/>
                <a:latin typeface="Times New Roman"/>
                <a:ea typeface="Times New Roman"/>
              </a:rPr>
              <a:t>Circuit Diagram</a:t>
            </a:r>
            <a:endParaRPr lang="en-US" sz="3600" b="0" u="none" strike="noStrike">
              <a:solidFill>
                <a:srgbClr val="000000"/>
              </a:solidFill>
              <a:effectLst/>
              <a:uFillTx/>
              <a:latin typeface="Arial"/>
            </a:endParaRPr>
          </a:p>
        </p:txBody>
      </p:sp>
      <p:pic>
        <p:nvPicPr>
          <p:cNvPr id="154" name="Circuit Diagram Image"/>
          <p:cNvPicPr/>
          <p:nvPr/>
        </p:nvPicPr>
        <p:blipFill>
          <a:blip r:embed="rId2"/>
          <a:stretch/>
        </p:blipFill>
        <p:spPr>
          <a:xfrm>
            <a:off x="457200" y="1828800"/>
            <a:ext cx="11277360" cy="4647960"/>
          </a:xfrm>
          <a:prstGeom prst="rect">
            <a:avLst/>
          </a:prstGeom>
          <a:noFill/>
          <a:ln w="0">
            <a:noFill/>
          </a:ln>
        </p:spPr>
      </p:pic>
      <p:sp>
        <p:nvSpPr>
          <p:cNvPr id="155" name="Header Topic"/>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56" name="PlaceHolder 2"/>
          <p:cNvSpPr>
            <a:spLocks noGrp="1"/>
          </p:cNvSpPr>
          <p:nvPr>
            <p:ph type="ftr" idx="6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57" name="PlaceHolder 3"/>
          <p:cNvSpPr>
            <a:spLocks noGrp="1"/>
          </p:cNvSpPr>
          <p:nvPr>
            <p:ph type="sldNum" idx="6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879E42C9-89E4-49A1-AE85-186A562B7D60}" type="slidenum">
              <a:rPr lang="en-US" sz="1200" b="0" u="none" strike="noStrike">
                <a:solidFill>
                  <a:srgbClr val="7F7F7F"/>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p>
            <a:fld id="{2B41C6D7-54C3-470D-90EB-5F27A30BD6B7}" type="datetime1">
              <a:rPr lang="en-US"/>
              <a:t>09/03/26</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8" name="Google Shape;247;p30"/>
          <p:cNvPicPr/>
          <p:nvPr/>
        </p:nvPicPr>
        <p:blipFill>
          <a:blip r:embed="rId1"/>
          <a:stretch/>
        </p:blipFill>
        <p:spPr>
          <a:xfrm>
            <a:off x="891360" y="243000"/>
            <a:ext cx="10577880" cy="1746360"/>
          </a:xfrm>
          <a:prstGeom prst="rect">
            <a:avLst/>
          </a:prstGeom>
          <a:noFill/>
          <a:ln w="0">
            <a:noFill/>
          </a:ln>
        </p:spPr>
      </p:pic>
      <p:sp>
        <p:nvSpPr>
          <p:cNvPr id="159" name="PlaceHolder 1"/>
          <p:cNvSpPr>
            <a:spLocks noGrp="1"/>
          </p:cNvSpPr>
          <p:nvPr>
            <p:ph type="title"/>
          </p:nvPr>
        </p:nvSpPr>
        <p:spPr>
          <a:xfrm>
            <a:off x="955080" y="153972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3600" b="1" u="sng" strike="noStrike">
                <a:solidFill>
                  <a:srgbClr val="002060"/>
                </a:solidFill>
                <a:effectLst/>
                <a:uFillTx/>
                <a:latin typeface="Times New Roman"/>
                <a:ea typeface="Times New Roman"/>
              </a:rPr>
              <a:t>Work Done So Far</a:t>
            </a:r>
            <a:endParaRPr lang="en-US" sz="3600" b="0" u="none" strike="noStrike">
              <a:solidFill>
                <a:srgbClr val="000000"/>
              </a:solidFill>
              <a:effectLst/>
              <a:uFillTx/>
              <a:latin typeface="Arial"/>
            </a:endParaRPr>
          </a:p>
        </p:txBody>
      </p:sp>
      <p:sp>
        <p:nvSpPr>
          <p:cNvPr id="160" name="TextBox 1"/>
          <p:cNvSpPr/>
          <p:nvPr/>
        </p:nvSpPr>
        <p:spPr>
          <a:xfrm>
            <a:off x="0" y="3009960"/>
            <a:ext cx="12191760" cy="230796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Mathematical vibration formulation &amp; 600 RPM motor unbalance modeling (f0 = 10.0 Hz, F = m·r·ω²).</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Finalized frozen Bill of Materials (BOM) &amp; placed verified hardware orders (Robu.in &amp; Robocraze).</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Developed and unit-tested modular C++ Edge DSP firmware (in-place DC removal, Vector RMS, Radix-2 FFT).</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Built &amp; verified end-to-end Wokwi Hardware-in-the-Loop simulation with custom WebAssembly ADXL345 SPI chip.</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Engineered interactive 3D WebGL Digital Twin with real-time FFT spectrogram and RFC 4180 CSV flight recorder.</a:t>
            </a:r>
            <a:endParaRPr lang="en-US" sz="2000" b="0" u="none" strike="noStrike">
              <a:solidFill>
                <a:srgbClr val="000000"/>
              </a:solidFill>
              <a:effectLst/>
              <a:uFillTx/>
              <a:latin typeface="Arial"/>
            </a:endParaRPr>
          </a:p>
        </p:txBody>
      </p:sp>
      <p:sp>
        <p:nvSpPr>
          <p:cNvPr id="161" name="Header Topic"/>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62" name="PlaceHolder 2"/>
          <p:cNvSpPr>
            <a:spLocks noGrp="1"/>
          </p:cNvSpPr>
          <p:nvPr>
            <p:ph type="ftr" idx="6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63" name="PlaceHolder 3"/>
          <p:cNvSpPr>
            <a:spLocks noGrp="1"/>
          </p:cNvSpPr>
          <p:nvPr>
            <p:ph type="sldNum" idx="7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2299CDE1-904A-4055-A93C-9573E7929E5B}" type="slidenum">
              <a:rPr lang="en-US" sz="1200" b="0" u="none" strike="noStrike">
                <a:solidFill>
                  <a:srgbClr val="7F7F7F"/>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p>
            <a:fld id="{1BCE9A2C-7F08-47D8-A68E-4B29D63A0EA6}" type="datetime1">
              <a:rPr lang="en-US"/>
              <a:t>09/03/26</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Google Shape;253;p31"/>
          <p:cNvPicPr/>
          <p:nvPr/>
        </p:nvPicPr>
        <p:blipFill>
          <a:blip r:embed="rId1"/>
          <a:stretch/>
        </p:blipFill>
        <p:spPr>
          <a:xfrm>
            <a:off x="891360" y="243000"/>
            <a:ext cx="10577880" cy="1746360"/>
          </a:xfrm>
          <a:prstGeom prst="rect">
            <a:avLst/>
          </a:prstGeom>
          <a:noFill/>
          <a:ln w="0">
            <a:noFill/>
          </a:ln>
        </p:spPr>
      </p:pic>
      <p:sp>
        <p:nvSpPr>
          <p:cNvPr id="165" name="PlaceHolder 1"/>
          <p:cNvSpPr>
            <a:spLocks noGrp="1"/>
          </p:cNvSpPr>
          <p:nvPr>
            <p:ph type="title"/>
          </p:nvPr>
        </p:nvSpPr>
        <p:spPr>
          <a:xfrm>
            <a:off x="955080" y="149076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3600" b="1" u="sng" strike="noStrike">
                <a:solidFill>
                  <a:srgbClr val="002060"/>
                </a:solidFill>
                <a:effectLst/>
                <a:uFillTx/>
                <a:latin typeface="Times New Roman"/>
                <a:ea typeface="Times New Roman"/>
              </a:rPr>
              <a:t>Work To Be Completed</a:t>
            </a:r>
            <a:endParaRPr lang="en-US" sz="3600" b="0" u="none" strike="noStrike">
              <a:solidFill>
                <a:srgbClr val="000000"/>
              </a:solidFill>
              <a:effectLst/>
              <a:uFillTx/>
              <a:latin typeface="Arial"/>
            </a:endParaRPr>
          </a:p>
        </p:txBody>
      </p:sp>
      <p:sp>
        <p:nvSpPr>
          <p:cNvPr id="166" name="TextBox 1"/>
          <p:cNvSpPr/>
          <p:nvPr/>
        </p:nvSpPr>
        <p:spPr>
          <a:xfrm>
            <a:off x="159840" y="3129840"/>
            <a:ext cx="10114560" cy="304668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Physical assembly of the 12V N20 motor, L-mounting bracket, and ADXL345 breakout on acrylic baseplate.</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Benchtop baseline sensor calibration under healthy 600 RPM rotation to establish Normal threshold (≤ 0.35g).</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Controlled eccentric mass unbalance fault testing and empirical verification of ISO 10816 state transitions.</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Validation of real-time USB telemetry logging and edge persistence filtering (K-out-of-M window state machine).</a:t>
            </a:r>
            <a:endParaRPr lang="en-US" sz="2000" b="0" u="none" strike="noStrike">
              <a:solidFill>
                <a:srgbClr val="000000"/>
              </a:solidFill>
              <a:effectLst/>
              <a:uFillTx/>
              <a:latin typeface="Arial"/>
            </a:endParaRPr>
          </a:p>
          <a:p>
            <a:pPr marL="285840" indent="-285840">
              <a:lnSpc>
                <a:spcPct val="115000"/>
              </a:lnSpc>
              <a:spcBef>
                <a:spcPts val="499"/>
              </a:spcBef>
              <a:buClr>
                <a:srgbClr val="000000"/>
              </a:buClr>
              <a:buFont typeface="Arial"/>
              <a:buChar char="•"/>
            </a:pPr>
            <a:r>
              <a:rPr lang="en-IN" sz="2000" b="0" u="none" strike="noStrike">
                <a:solidFill>
                  <a:srgbClr val="000000"/>
                </a:solidFill>
                <a:effectLst/>
                <a:uFillTx/>
                <a:latin typeface="Times New Roman"/>
                <a:ea typeface="Arial"/>
              </a:rPr>
              <a:t>Comprehensive semester project report compilation and final Viva demonstration preparation.</a:t>
            </a:r>
            <a:endParaRPr lang="en-US" sz="2000" b="0" u="none" strike="noStrike">
              <a:solidFill>
                <a:srgbClr val="000000"/>
              </a:solidFill>
              <a:effectLst/>
              <a:uFillTx/>
              <a:latin typeface="Arial"/>
            </a:endParaRPr>
          </a:p>
        </p:txBody>
      </p:sp>
      <p:sp>
        <p:nvSpPr>
          <p:cNvPr id="167" name="Header Topic"/>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68" name="PlaceHolder 2"/>
          <p:cNvSpPr>
            <a:spLocks noGrp="1"/>
          </p:cNvSpPr>
          <p:nvPr>
            <p:ph type="ftr" idx="7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69" name="PlaceHolder 3"/>
          <p:cNvSpPr>
            <a:spLocks noGrp="1"/>
          </p:cNvSpPr>
          <p:nvPr>
            <p:ph type="sldNum" idx="7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D0D9EF92-E89A-4A6B-9749-100BDCC96963}" type="slidenum">
              <a:rPr lang="en-US" sz="1200" b="0" u="none" strike="noStrike">
                <a:solidFill>
                  <a:srgbClr val="7F7F7F"/>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p>
            <a:fld id="{5450F113-0449-4E12-BB97-21C10BA550CB}" type="datetime1">
              <a:rPr lang="en-US"/>
              <a:t>09/03/26</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134388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4000" b="1" u="sng" strike="noStrike">
                <a:solidFill>
                  <a:srgbClr val="002060"/>
                </a:solidFill>
                <a:effectLst/>
                <a:uFillTx/>
                <a:latin typeface="Times New Roman"/>
                <a:ea typeface="Times New Roman"/>
              </a:rPr>
              <a:t>Conclusion </a:t>
            </a:r>
            <a:endParaRPr lang="en-US" sz="4000" b="0" u="none" strike="noStrike">
              <a:solidFill>
                <a:srgbClr val="000000"/>
              </a:solidFill>
              <a:effectLst/>
              <a:uFillTx/>
              <a:latin typeface="Arial"/>
            </a:endParaRPr>
          </a:p>
        </p:txBody>
      </p:sp>
      <p:pic>
        <p:nvPicPr>
          <p:cNvPr id="171" name="Google Shape;260;p32"/>
          <p:cNvPicPr/>
          <p:nvPr/>
        </p:nvPicPr>
        <p:blipFill>
          <a:blip r:embed="rId1"/>
          <a:stretch/>
        </p:blipFill>
        <p:spPr>
          <a:xfrm>
            <a:off x="838080" y="77760"/>
            <a:ext cx="10577880" cy="1746360"/>
          </a:xfrm>
          <a:prstGeom prst="rect">
            <a:avLst/>
          </a:prstGeom>
          <a:noFill/>
          <a:ln w="0">
            <a:noFill/>
          </a:ln>
        </p:spPr>
      </p:pic>
      <p:sp>
        <p:nvSpPr>
          <p:cNvPr id="172" name="PlaceHolder 2"/>
          <p:cNvSpPr>
            <a:spLocks noGrp="1"/>
          </p:cNvSpPr>
          <p:nvPr>
            <p:ph/>
          </p:nvPr>
        </p:nvSpPr>
        <p:spPr>
          <a:xfrm>
            <a:off x="31680" y="1494360"/>
            <a:ext cx="12211560" cy="5407560"/>
          </a:xfrm>
          <a:prstGeom prst="rect">
            <a:avLst/>
          </a:prstGeom>
          <a:noFill/>
          <a:ln w="0">
            <a:noFill/>
          </a:ln>
        </p:spPr>
        <p:txBody>
          <a:bodyPr lIns="91440" tIns="45720" rIns="91440" bIns="45720" anchor="ctr">
            <a:spAutoFit/>
          </a:bodyPr>
          <a:p>
            <a:pPr indent="0" algn="l">
              <a:lnSpc>
                <a:spcPct val="200000"/>
              </a:lnSpc>
              <a:buNone/>
              <a:tabLst>
                <a:tab pos="0" algn="l"/>
              </a:tabLst>
            </a:pPr>
            <a:endParaRPr lang="en-US" sz="1600" b="0" u="none" strike="noStrike">
              <a:solidFill>
                <a:srgbClr val="000000"/>
              </a:solidFill>
              <a:effectLst/>
              <a:uFillTx/>
              <a:latin typeface="Arial"/>
            </a:endParaRPr>
          </a:p>
          <a:p>
            <a:pPr indent="0" algn="l">
              <a:lnSpc>
                <a:spcPct val="200000"/>
              </a:lnSpc>
              <a:spcBef>
                <a:spcPts val="1001"/>
              </a:spcBef>
              <a:buNone/>
              <a:tabLst>
                <a:tab pos="0" algn="l"/>
              </a:tabLst>
            </a:pP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tabLst>
                <a:tab pos="0" algn="l"/>
              </a:tabLst>
            </a:pPr>
            <a:r>
              <a:rPr lang="en-US" sz="1600" b="1" u="none" strike="noStrike">
                <a:solidFill>
                  <a:schemeClr val="dk1"/>
                </a:solidFill>
                <a:effectLst/>
                <a:uFillTx/>
                <a:latin typeface="Times New Roman"/>
                <a:ea typeface="Times New Roman"/>
              </a:rPr>
              <a:t>Prototype Proposal:</a:t>
            </a:r>
            <a:r>
              <a:rPr lang="en-US" sz="1600" b="0" u="none" strike="noStrike">
                <a:solidFill>
                  <a:schemeClr val="dk1"/>
                </a:solidFill>
                <a:effectLst/>
                <a:uFillTx/>
                <a:latin typeface="Times New Roman"/>
                <a:ea typeface="Times New Roman"/>
              </a:rPr>
              <a:t> VibeGuard uses one ADXL345-class accelerometer and an ESP32 for low-cost vibration monitoring.</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tabLst>
                <a:tab pos="0" algn="l"/>
              </a:tabLst>
            </a:pPr>
            <a:r>
              <a:rPr lang="en-US" sz="1600" b="1" u="none" strike="noStrike">
                <a:solidFill>
                  <a:schemeClr val="dk1"/>
                </a:solidFill>
                <a:effectLst/>
                <a:uFillTx/>
                <a:latin typeface="Times New Roman"/>
                <a:ea typeface="Times New Roman"/>
              </a:rPr>
              <a:t>Semester Goal:</a:t>
            </a:r>
            <a:r>
              <a:rPr lang="en-US" sz="1600" b="0" u="none" strike="noStrike">
                <a:solidFill>
                  <a:schemeClr val="dk1"/>
                </a:solidFill>
                <a:effectLst/>
                <a:uFillTx/>
                <a:latin typeface="Times New Roman"/>
                <a:ea typeface="Times New Roman"/>
              </a:rPr>
              <a:t> Distinguish a documented Normal state from a safe controlled Abnormal vibration state.</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tabLst>
                <a:tab pos="0" algn="l"/>
              </a:tabLst>
            </a:pPr>
            <a:r>
              <a:rPr lang="en-US" sz="1600" b="1" u="none" strike="noStrike">
                <a:solidFill>
                  <a:schemeClr val="dk1"/>
                </a:solidFill>
                <a:effectLst/>
                <a:uFillTx/>
                <a:latin typeface="Times New Roman"/>
                <a:ea typeface="Times New Roman"/>
              </a:rPr>
              <a:t>Processing:</a:t>
            </a:r>
            <a:r>
              <a:rPr lang="en-US" sz="1600" b="0" u="none" strike="noStrike">
                <a:solidFill>
                  <a:schemeClr val="dk1"/>
                </a:solidFill>
                <a:effectLst/>
                <a:uFillTx/>
                <a:latin typeface="Times New Roman"/>
                <a:ea typeface="Times New Roman"/>
              </a:rPr>
              <a:t> RMS + persistence provides the minimum decision method, supported by triggered FFT.</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tabLst>
                <a:tab pos="0" algn="l"/>
              </a:tabLst>
            </a:pPr>
            <a:r>
              <a:rPr lang="en-US" sz="1600" b="1" u="none" strike="noStrike">
                <a:solidFill>
                  <a:schemeClr val="dk1"/>
                </a:solidFill>
                <a:effectLst/>
                <a:uFillTx/>
                <a:latin typeface="Times New Roman"/>
                <a:ea typeface="Times New Roman"/>
              </a:rPr>
              <a:t>Expected Output:</a:t>
            </a:r>
            <a:r>
              <a:rPr lang="en-US" sz="1600" b="0" u="none" strike="noStrike">
                <a:solidFill>
                  <a:schemeClr val="dk1"/>
                </a:solidFill>
                <a:effectLst/>
                <a:uFillTx/>
                <a:latin typeface="Times New Roman"/>
                <a:ea typeface="Times New Roman"/>
              </a:rPr>
              <a:t> RGB state indication and structured USB logs.</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tabLst>
                <a:tab pos="0" algn="l"/>
              </a:tabLst>
            </a:pPr>
            <a:r>
              <a:rPr lang="en-US" sz="1600" b="1" u="none" strike="noStrike">
                <a:solidFill>
                  <a:schemeClr val="dk1"/>
                </a:solidFill>
                <a:effectLst/>
                <a:uFillTx/>
                <a:latin typeface="Times New Roman"/>
                <a:ea typeface="Times New Roman"/>
              </a:rPr>
              <a:t>Validation:</a:t>
            </a:r>
            <a:r>
              <a:rPr lang="en-US" sz="1600" b="0" u="none" strike="noStrike">
                <a:solidFill>
                  <a:schemeClr val="dk1"/>
                </a:solidFill>
                <a:effectLst/>
                <a:uFillTx/>
                <a:latin typeface="Times New Roman"/>
                <a:ea typeface="Times New Roman"/>
              </a:rPr>
              <a:t> The prototype still has to be built and tested; no final accuracy or industrial fault-diagnosis claim is being made yet.</a:t>
            </a:r>
            <a:endParaRPr lang="en-US" sz="1600" b="0" u="none" strike="noStrike">
              <a:solidFill>
                <a:srgbClr val="000000"/>
              </a:solidFill>
              <a:effectLst/>
              <a:uFillTx/>
              <a:latin typeface="Arial"/>
            </a:endParaRPr>
          </a:p>
          <a:p>
            <a:pPr algn="l">
              <a:lnSpc>
                <a:spcPct val="200000"/>
              </a:lnSpc>
              <a:spcBef>
                <a:spcPts val="1001"/>
              </a:spcBef>
              <a:buClr>
                <a:srgbClr val="000000"/>
              </a:buClr>
              <a:buFont typeface="Arial"/>
              <a:buChar char="•"/>
              <a:tabLst>
                <a:tab pos="0" algn="l"/>
              </a:tabLst>
            </a:pPr>
            <a:r>
              <a:rPr lang="en-US" sz="1600" b="1" u="none" strike="noStrike">
                <a:solidFill>
                  <a:schemeClr val="dk1"/>
                </a:solidFill>
                <a:effectLst/>
                <a:uFillTx/>
                <a:latin typeface="Times New Roman"/>
                <a:ea typeface="Times New Roman"/>
              </a:rPr>
              <a:t>Cost Estimate:</a:t>
            </a:r>
            <a:r>
              <a:rPr lang="en-US" sz="1600" b="0" u="none" strike="noStrike">
                <a:solidFill>
                  <a:schemeClr val="dk1"/>
                </a:solidFill>
                <a:effectLst/>
                <a:uFillTx/>
                <a:latin typeface="Times New Roman"/>
                <a:ea typeface="Times New Roman"/>
              </a:rPr>
              <a:t> Preferred budget ≤ ₹3,000; maximum budget ≤ ₹5,000; development period: approximately 3 months; team: 5 students.</a:t>
            </a:r>
            <a:endParaRPr lang="en-US" sz="1600" b="0" u="none" strike="noStrike">
              <a:solidFill>
                <a:srgbClr val="000000"/>
              </a:solidFill>
              <a:effectLst/>
              <a:uFillTx/>
              <a:latin typeface="Arial"/>
            </a:endParaRPr>
          </a:p>
          <a:p>
            <a:pPr indent="0" algn="l">
              <a:lnSpc>
                <a:spcPct val="200000"/>
              </a:lnSpc>
              <a:spcBef>
                <a:spcPts val="1001"/>
              </a:spcBef>
              <a:buNone/>
              <a:tabLst>
                <a:tab pos="0" algn="l"/>
              </a:tabLst>
            </a:pPr>
            <a:endParaRPr lang="en-US" sz="1600" b="0" u="none" strike="noStrike">
              <a:solidFill>
                <a:srgbClr val="000000"/>
              </a:solidFill>
              <a:effectLst/>
              <a:uFillTx/>
              <a:latin typeface="Arial"/>
            </a:endParaRPr>
          </a:p>
        </p:txBody>
      </p:sp>
      <p:sp>
        <p:nvSpPr>
          <p:cNvPr id="173" name="Google Shape;262;p32"/>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74" name="PlaceHolder 3"/>
          <p:cNvSpPr>
            <a:spLocks noGrp="1"/>
          </p:cNvSpPr>
          <p:nvPr>
            <p:ph type="ftr" idx="7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75" name="PlaceHolder 4"/>
          <p:cNvSpPr>
            <a:spLocks noGrp="1"/>
          </p:cNvSpPr>
          <p:nvPr>
            <p:ph type="sldNum" idx="7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CE9B536-7D60-41A0-B6E0-5947C02C1A7B}"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C19DE7A4-C1E0-4FA6-9E87-AD8F758EDADB}" type="datetime1">
              <a:rPr lang="en-US"/>
              <a:t>09/03/26</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74720" y="1434240"/>
            <a:ext cx="10514160" cy="1324080"/>
          </a:xfrm>
          <a:prstGeom prst="rect">
            <a:avLst/>
          </a:prstGeom>
          <a:noFill/>
          <a:ln w="0">
            <a:noFill/>
          </a:ln>
        </p:spPr>
        <p:txBody>
          <a:bodyPr lIns="91440" tIns="45720" rIns="91440" bIns="45720" anchor="ctr">
            <a:noAutofit/>
          </a:bodyPr>
          <a:p>
            <a:pPr indent="0" algn="ctr">
              <a:lnSpc>
                <a:spcPct val="100000"/>
              </a:lnSpc>
              <a:buNone/>
              <a:tabLst>
                <a:tab pos="0" algn="l"/>
              </a:tabLst>
            </a:pPr>
            <a:r>
              <a:rPr lang="en-US" sz="4000" b="1" u="sng" strike="noStrike">
                <a:solidFill>
                  <a:srgbClr val="002060"/>
                </a:solidFill>
                <a:effectLst/>
                <a:uFillTx/>
                <a:latin typeface="Times New Roman"/>
                <a:ea typeface="Times New Roman"/>
              </a:rPr>
              <a:t>References</a:t>
            </a:r>
            <a:endParaRPr lang="en-US" sz="4000" b="0" u="none" strike="noStrike">
              <a:solidFill>
                <a:srgbClr val="000000"/>
              </a:solidFill>
              <a:effectLst/>
              <a:uFillTx/>
              <a:latin typeface="Arial"/>
            </a:endParaRPr>
          </a:p>
        </p:txBody>
      </p:sp>
      <p:pic>
        <p:nvPicPr>
          <p:cNvPr id="177" name="Google Shape;271;p33"/>
          <p:cNvPicPr/>
          <p:nvPr/>
        </p:nvPicPr>
        <p:blipFill>
          <a:blip r:embed="rId1"/>
          <a:stretch/>
        </p:blipFill>
        <p:spPr>
          <a:xfrm>
            <a:off x="742680" y="194760"/>
            <a:ext cx="10577880" cy="1746360"/>
          </a:xfrm>
          <a:prstGeom prst="rect">
            <a:avLst/>
          </a:prstGeom>
          <a:noFill/>
          <a:ln w="0">
            <a:noFill/>
          </a:ln>
        </p:spPr>
      </p:pic>
      <p:sp>
        <p:nvSpPr>
          <p:cNvPr id="178" name="PlaceHolder 2"/>
          <p:cNvSpPr>
            <a:spLocks noGrp="1"/>
          </p:cNvSpPr>
          <p:nvPr>
            <p:ph/>
          </p:nvPr>
        </p:nvSpPr>
        <p:spPr>
          <a:xfrm>
            <a:off x="99360" y="2869560"/>
            <a:ext cx="12190680" cy="2686680"/>
          </a:xfrm>
          <a:prstGeom prst="rect">
            <a:avLst/>
          </a:prstGeom>
          <a:noFill/>
          <a:ln w="0">
            <a:noFill/>
          </a:ln>
        </p:spPr>
        <p:txBody>
          <a:bodyPr lIns="91440" tIns="45720" rIns="91440" bIns="45720" anchor="ctr">
            <a:spAutoFit/>
          </a:bodyPr>
          <a:p>
            <a:pPr indent="0" algn="l">
              <a:lnSpc>
                <a:spcPct val="115000"/>
              </a:lnSpc>
              <a:spcBef>
                <a:spcPts val="499"/>
              </a:spcBef>
              <a:buNone/>
              <a:tabLst>
                <a:tab pos="0" algn="l"/>
              </a:tabLst>
            </a:pPr>
            <a:r>
              <a:rPr lang="en-IN" sz="1600" b="0" u="none" strike="noStrike">
                <a:solidFill>
                  <a:schemeClr val="dk1"/>
                </a:solidFill>
                <a:effectLst/>
                <a:uFillTx/>
                <a:latin typeface="Times New Roman"/>
                <a:ea typeface="Calibri"/>
              </a:rPr>
              <a:t>1. ISO 10816-1: Mechanical vibration — Evaluation of machine vibration by measurements on non-rotating parts, ISO Standard.</a:t>
            </a:r>
            <a:endParaRPr lang="en-US" sz="1600" b="0" u="none" strike="noStrike">
              <a:solidFill>
                <a:srgbClr val="000000"/>
              </a:solidFill>
              <a:effectLst/>
              <a:uFillTx/>
              <a:latin typeface="Arial"/>
            </a:endParaRPr>
          </a:p>
          <a:p>
            <a:pPr indent="0" algn="l">
              <a:lnSpc>
                <a:spcPct val="115000"/>
              </a:lnSpc>
              <a:spcBef>
                <a:spcPts val="499"/>
              </a:spcBef>
              <a:buNone/>
              <a:tabLst>
                <a:tab pos="0" algn="l"/>
              </a:tabLst>
            </a:pPr>
            <a:r>
              <a:rPr lang="en-IN" sz="1600" b="0" u="none" strike="noStrike">
                <a:solidFill>
                  <a:schemeClr val="dk1"/>
                </a:solidFill>
                <a:effectLst/>
                <a:uFillTx/>
                <a:latin typeface="Times New Roman"/>
                <a:ea typeface="Calibri"/>
              </a:rPr>
              <a:t>2. Analog Devices: ADXL345 3-Axis, ±2g/±4g/±8g/±16g Digital Accelerometer Datasheet, Rev. E, 2015.</a:t>
            </a:r>
            <a:endParaRPr lang="en-US" sz="1600" b="0" u="none" strike="noStrike">
              <a:solidFill>
                <a:srgbClr val="000000"/>
              </a:solidFill>
              <a:effectLst/>
              <a:uFillTx/>
              <a:latin typeface="Arial"/>
            </a:endParaRPr>
          </a:p>
          <a:p>
            <a:pPr indent="0" algn="l">
              <a:lnSpc>
                <a:spcPct val="115000"/>
              </a:lnSpc>
              <a:spcBef>
                <a:spcPts val="499"/>
              </a:spcBef>
              <a:buNone/>
              <a:tabLst>
                <a:tab pos="0" algn="l"/>
              </a:tabLst>
            </a:pPr>
            <a:r>
              <a:rPr lang="en-IN" sz="1600" b="0" u="none" strike="noStrike">
                <a:solidFill>
                  <a:schemeClr val="dk1"/>
                </a:solidFill>
                <a:effectLst/>
                <a:uFillTx/>
                <a:latin typeface="Times New Roman"/>
                <a:ea typeface="Calibri"/>
              </a:rPr>
              <a:t>3. Espressif Systems: ESP32 Series Technical Reference Manual &amp; Datasheet, v4.3, 2023.</a:t>
            </a:r>
            <a:endParaRPr lang="en-US" sz="1600" b="0" u="none" strike="noStrike">
              <a:solidFill>
                <a:srgbClr val="000000"/>
              </a:solidFill>
              <a:effectLst/>
              <a:uFillTx/>
              <a:latin typeface="Arial"/>
            </a:endParaRPr>
          </a:p>
          <a:p>
            <a:pPr indent="0" algn="l">
              <a:lnSpc>
                <a:spcPct val="115000"/>
              </a:lnSpc>
              <a:spcBef>
                <a:spcPts val="499"/>
              </a:spcBef>
              <a:buNone/>
              <a:tabLst>
                <a:tab pos="0" algn="l"/>
              </a:tabLst>
            </a:pPr>
            <a:r>
              <a:rPr lang="en-IN" sz="1600" b="0" u="none" strike="noStrike">
                <a:solidFill>
                  <a:schemeClr val="dk1"/>
                </a:solidFill>
                <a:effectLst/>
                <a:uFillTx/>
                <a:latin typeface="Times New Roman"/>
                <a:ea typeface="Calibri"/>
              </a:rPr>
              <a:t>4. Cooley, J. W., &amp; Tukey, J. W.: "An algorithm for the machine calculation of complex Fourier series", Math. Comput., 1965.</a:t>
            </a:r>
            <a:endParaRPr lang="en-US" sz="1600" b="0" u="none" strike="noStrike">
              <a:solidFill>
                <a:srgbClr val="000000"/>
              </a:solidFill>
              <a:effectLst/>
              <a:uFillTx/>
              <a:latin typeface="Arial"/>
            </a:endParaRPr>
          </a:p>
          <a:p>
            <a:pPr indent="0" algn="l">
              <a:lnSpc>
                <a:spcPct val="115000"/>
              </a:lnSpc>
              <a:spcBef>
                <a:spcPts val="499"/>
              </a:spcBef>
              <a:buNone/>
              <a:tabLst>
                <a:tab pos="0" algn="l"/>
              </a:tabLst>
            </a:pPr>
            <a:r>
              <a:rPr lang="en-IN" sz="1600" b="0" u="none" strike="noStrike">
                <a:solidFill>
                  <a:schemeClr val="dk1"/>
                </a:solidFill>
                <a:effectLst/>
                <a:uFillTx/>
                <a:latin typeface="Times New Roman"/>
                <a:ea typeface="Calibri"/>
              </a:rPr>
              <a:t>5. Randall, R. B.: Vibration-based Condition Monitoring: Industrial, Automotive and Aerospace Applications, Wiley, 2011.</a:t>
            </a:r>
            <a:endParaRPr lang="en-US" sz="1600" b="0" u="none" strike="noStrike">
              <a:solidFill>
                <a:srgbClr val="000000"/>
              </a:solidFill>
              <a:effectLst/>
              <a:uFillTx/>
              <a:latin typeface="Arial"/>
            </a:endParaRPr>
          </a:p>
        </p:txBody>
      </p:sp>
      <p:sp>
        <p:nvSpPr>
          <p:cNvPr id="179" name="Google Shape;273;p33"/>
          <p:cNvSpPr/>
          <p:nvPr/>
        </p:nvSpPr>
        <p:spPr>
          <a:xfrm>
            <a:off x="4038480" y="-1800"/>
            <a:ext cx="5857920" cy="275400"/>
          </a:xfrm>
          <a:prstGeom prst="rect">
            <a:avLst/>
          </a:prstGeom>
          <a:noFill/>
          <a:ln w="0">
            <a:noFill/>
          </a:ln>
        </p:spPr>
        <p:style>
          <a:lnRef idx="0"/>
          <a:fillRef idx="0"/>
          <a:effectRef idx="0"/>
          <a:fontRef idx="minor"/>
        </p:style>
        <p:txBody>
          <a:bodyPr lIns="90000" tIns="45000" rIns="90000" bIns="45000" anchor="t">
            <a:noAutofit/>
          </a:bodyPr>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80" name="PlaceHolder 3"/>
          <p:cNvSpPr>
            <a:spLocks noGrp="1"/>
          </p:cNvSpPr>
          <p:nvPr>
            <p:ph type="ftr" idx="7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81" name="PlaceHolder 4"/>
          <p:cNvSpPr>
            <a:spLocks noGrp="1"/>
          </p:cNvSpPr>
          <p:nvPr>
            <p:ph type="sldNum" idx="7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095FB221-4E6F-4E80-B9E2-A1A0C0963C29}"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p>
            <a:fld id="{91F3AF54-EFB5-4FC3-8B98-CFA843AD1E9F}" type="datetime1">
              <a:rPr lang="en-US"/>
              <a:t>09/03/26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LibreOffice/26.2.4.2$Linux_X86_64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2026-09-03T04:29:32Z</dcterms:modified>
  <cp:revision>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Widescreen</vt:lpwstr>
  </property>
  <property fmtid="{D5CDD505-2E9C-101B-9397-08002B2CF9AE}" pid="4" name="Slides">
    <vt:i4>21</vt:i4>
  </property>
</Properties>
</file>