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CD96706-E1FA-485B-A486-A08AC89FA494}">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handoutMaster" Target="handoutMasters/handout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517973-84D7-7691-EEAB-F5B67A2BD7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Topic: Affordable Refreshable Single-Cell Braille Display</a:t>
            </a:r>
          </a:p>
        </p:txBody>
      </p:sp>
      <p:sp>
        <p:nvSpPr>
          <p:cNvPr id="3" name="Date Placeholder 2">
            <a:extLst>
              <a:ext uri="{FF2B5EF4-FFF2-40B4-BE49-F238E27FC236}">
                <a16:creationId xmlns:a16="http://schemas.microsoft.com/office/drawing/2014/main" id="{B650F4DE-1D45-03FB-FBF8-1B79001EF6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3F0526-C7FF-4D57-B4C9-BAE4E50CA993}" type="datetime1">
              <a:rPr lang="en-IN" smtClean="0"/>
              <a:t>30-07-2026</a:t>
            </a:fld>
            <a:endParaRPr lang="en-IN"/>
          </a:p>
        </p:txBody>
      </p:sp>
      <p:sp>
        <p:nvSpPr>
          <p:cNvPr id="4" name="Footer Placeholder 3">
            <a:extLst>
              <a:ext uri="{FF2B5EF4-FFF2-40B4-BE49-F238E27FC236}">
                <a16:creationId xmlns:a16="http://schemas.microsoft.com/office/drawing/2014/main" id="{3BA0B6D1-2A62-FBC3-68A7-7708701A1A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C064DD9-FF4F-752F-014B-CBE4871AEE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F5585-F0D5-4A87-84B0-92A31CB8F52D}" type="slidenum">
              <a:rPr lang="en-IN" smtClean="0"/>
              <a:t>‹#›</a:t>
            </a:fld>
            <a:endParaRPr lang="en-IN"/>
          </a:p>
        </p:txBody>
      </p:sp>
    </p:spTree>
    <p:extLst>
      <p:ext uri="{BB962C8B-B14F-4D97-AF65-F5344CB8AC3E}">
        <p14:creationId xmlns:p14="http://schemas.microsoft.com/office/powerpoint/2010/main" val="11855294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Topic: Affordable Refreshable Single-Cell Braille Display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3F558-326A-4389-8A5E-55945C748209}" type="datetime1">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59520-3BB1-481D-9D58-45751114CB1D}" type="slidenum">
              <a:rPr lang="en-IN" smtClean="0"/>
              <a:t>‹#›</a:t>
            </a:fld>
            <a:endParaRPr lang="en-IN"/>
          </a:p>
        </p:txBody>
      </p:sp>
    </p:spTree>
    <p:extLst>
      <p:ext uri="{BB962C8B-B14F-4D97-AF65-F5344CB8AC3E}">
        <p14:creationId xmlns:p14="http://schemas.microsoft.com/office/powerpoint/2010/main" val="2826218321"/>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959520-3BB1-481D-9D58-45751114CB1D}" type="slidenum">
              <a:rPr lang="en-IN" smtClean="0"/>
              <a:t>2</a:t>
            </a:fld>
            <a:endParaRPr lang="en-IN"/>
          </a:p>
        </p:txBody>
      </p:sp>
      <p:sp>
        <p:nvSpPr>
          <p:cNvPr id="5" name="Header Placeholder 4">
            <a:extLst>
              <a:ext uri="{FF2B5EF4-FFF2-40B4-BE49-F238E27FC236}">
                <a16:creationId xmlns:a16="http://schemas.microsoft.com/office/drawing/2014/main" id="{F586EBD8-AA5A-6EAD-4862-C505C393E4E8}"/>
              </a:ext>
            </a:extLst>
          </p:cNvPr>
          <p:cNvSpPr>
            <a:spLocks noGrp="1"/>
          </p:cNvSpPr>
          <p:nvPr>
            <p:ph type="hdr" sz="quarter"/>
          </p:nvPr>
        </p:nvSpPr>
        <p:spPr/>
        <p:txBody>
          <a:bodyPr/>
          <a:lstStyle/>
          <a:p>
            <a:r>
              <a:rPr lang="en-IN"/>
              <a:t>Topic: Affordable Refreshable Single-Cell Braille Display</a:t>
            </a:r>
          </a:p>
        </p:txBody>
      </p:sp>
      <p:sp>
        <p:nvSpPr>
          <p:cNvPr id="6" name="Date Placeholder 5">
            <a:extLst>
              <a:ext uri="{FF2B5EF4-FFF2-40B4-BE49-F238E27FC236}">
                <a16:creationId xmlns:a16="http://schemas.microsoft.com/office/drawing/2014/main" id="{A67C7CAB-E16F-79A4-4D1A-A33FE23C987D}"/>
              </a:ext>
            </a:extLst>
          </p:cNvPr>
          <p:cNvSpPr>
            <a:spLocks noGrp="1"/>
          </p:cNvSpPr>
          <p:nvPr>
            <p:ph type="dt" idx="1"/>
          </p:nvPr>
        </p:nvSpPr>
        <p:spPr/>
        <p:txBody>
          <a:bodyPr/>
          <a:lstStyle/>
          <a:p>
            <a:fld id="{408C9DEE-D3E1-41E8-A385-750A04E5A8C1}" type="datetime1">
              <a:rPr lang="en-IN" smtClean="0"/>
              <a:t>29-07-2026</a:t>
            </a:fld>
            <a:endParaRPr lang="en-IN"/>
          </a:p>
        </p:txBody>
      </p:sp>
    </p:spTree>
    <p:extLst>
      <p:ext uri="{BB962C8B-B14F-4D97-AF65-F5344CB8AC3E}">
        <p14:creationId xmlns:p14="http://schemas.microsoft.com/office/powerpoint/2010/main" val="285007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0320868-4ACC-453F-8BA1-0806BB512CA9}"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197192-58A8-47CB-9904-C1CC428218C3}"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4DA7AD-0627-47E5-8BE3-A11D9F6471D2}"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8F7622-43D7-4ADE-A095-17CB52FAC1C7}"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4D72C87-838B-4A61-B2BC-4E0916965C35}" type="datetime1">
              <a:rPr lang="en-IN" smtClean="0"/>
              <a:t>29-07-2026</a:t>
            </a:fld>
            <a:endParaRPr lang="en-IN"/>
          </a:p>
        </p:txBody>
      </p:sp>
      <p:sp>
        <p:nvSpPr>
          <p:cNvPr id="8" name="Footer Placeholder 7"/>
          <p:cNvSpPr>
            <a:spLocks noGrp="1"/>
          </p:cNvSpPr>
          <p:nvPr>
            <p:ph type="ftr" sz="quarter" idx="11"/>
          </p:nvPr>
        </p:nvSpPr>
        <p:spPr/>
        <p:txBody>
          <a:bodyPr/>
          <a:lstStyle/>
          <a:p>
            <a:r>
              <a:rPr lang="en-IN"/>
              <a:t>DEPT OF CSE ( CY )</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027BAE4-250D-4D2F-A095-8579010F73FB}" type="datetime1">
              <a:rPr lang="en-IN" smtClean="0"/>
              <a:t>29-07-2026</a:t>
            </a:fld>
            <a:endParaRPr lang="en-IN"/>
          </a:p>
        </p:txBody>
      </p:sp>
      <p:sp>
        <p:nvSpPr>
          <p:cNvPr id="4" name="Footer Placeholder 3"/>
          <p:cNvSpPr>
            <a:spLocks noGrp="1"/>
          </p:cNvSpPr>
          <p:nvPr>
            <p:ph type="ftr" sz="quarter" idx="11"/>
          </p:nvPr>
        </p:nvSpPr>
        <p:spPr/>
        <p:txBody>
          <a:bodyPr/>
          <a:lstStyle/>
          <a:p>
            <a:r>
              <a:rPr lang="en-IN"/>
              <a:t>DEPT OF CSE ( CY )</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36E724-B9FA-473A-9066-81D0F226CF98}" type="datetime1">
              <a:rPr lang="en-IN" smtClean="0"/>
              <a:t>29-07-2026</a:t>
            </a:fld>
            <a:endParaRPr lang="en-IN"/>
          </a:p>
        </p:txBody>
      </p:sp>
      <p:sp>
        <p:nvSpPr>
          <p:cNvPr id="3" name="Footer Placeholder 2"/>
          <p:cNvSpPr>
            <a:spLocks noGrp="1"/>
          </p:cNvSpPr>
          <p:nvPr>
            <p:ph type="ftr" sz="quarter" idx="11"/>
          </p:nvPr>
        </p:nvSpPr>
        <p:spPr/>
        <p:txBody>
          <a:bodyPr/>
          <a:lstStyle/>
          <a:p>
            <a:r>
              <a:rPr lang="en-IN"/>
              <a:t>DEPT OF CSE ( CY )</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6E4669-2634-4F75-A240-636274CA1FC6}"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5E7699-965A-4677-8AEC-59FB1164AFEC}"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9322D4-A136-410A-8FB3-0747F75550AE}"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48345C-DB21-4227-851F-F42DA21B209A}"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32E88A-0F64-45A6-B6D8-6142D1C29649}" type="datetime1">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 ( CY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2" name="Date Placeholder 1">
            <a:extLst>
              <a:ext uri="{FF2B5EF4-FFF2-40B4-BE49-F238E27FC236}">
                <a16:creationId xmlns:a16="http://schemas.microsoft.com/office/drawing/2014/main" id="{52ED35B1-3D93-20C5-544D-3693E79DC3B5}"/>
              </a:ext>
            </a:extLst>
          </p:cNvPr>
          <p:cNvSpPr>
            <a:spLocks noGrp="1"/>
          </p:cNvSpPr>
          <p:nvPr>
            <p:ph type="dt" sz="half" idx="10"/>
          </p:nvPr>
        </p:nvSpPr>
        <p:spPr/>
        <p:txBody>
          <a:bodyPr/>
          <a:lstStyle/>
          <a:p>
            <a:fld id="{C755BDC8-8334-4F27-9B0C-03E78A5C3341}" type="datetime1">
              <a:rPr lang="en-IN" smtClean="0"/>
              <a:t>29-07-2026</a:t>
            </a:fld>
            <a:endParaRPr lang="en-IN"/>
          </a:p>
        </p:txBody>
      </p:sp>
      <p:sp>
        <p:nvSpPr>
          <p:cNvPr id="3" name="Footer Placeholder 2">
            <a:extLst>
              <a:ext uri="{FF2B5EF4-FFF2-40B4-BE49-F238E27FC236}">
                <a16:creationId xmlns:a16="http://schemas.microsoft.com/office/drawing/2014/main" id="{328806A6-B1D0-4226-9147-033EF6F2B4DD}"/>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11FA1221-FC52-4BEF-7868-34C0DC8DAE8B}"/>
              </a:ext>
            </a:extLst>
          </p:cNvPr>
          <p:cNvSpPr>
            <a:spLocks noGrp="1"/>
          </p:cNvSpPr>
          <p:nvPr>
            <p:ph type="sldNum" sz="quarter" idx="12"/>
          </p:nvPr>
        </p:nvSpPr>
        <p:spPr/>
        <p:txBody>
          <a:bodyPr/>
          <a:lstStyle/>
          <a:p>
            <a:fld id="{7C33CCD4-7228-4506-A3A6-5A9074B2CE31}" type="slidenum">
              <a:rPr lang="en-IN" smtClean="0"/>
              <a:t>1</a:t>
            </a:fld>
            <a:endParaRPr lang="en-IN"/>
          </a:p>
        </p:txBody>
      </p:sp>
      <p:sp>
        <p:nvSpPr>
          <p:cNvPr id="5" name="TextBox 9">
            <a:extLst>
              <a:ext uri="{FF2B5EF4-FFF2-40B4-BE49-F238E27FC236}">
                <a16:creationId xmlns:a16="http://schemas.microsoft.com/office/drawing/2014/main" id="{3AB792BC-A01A-14C8-9264-F41D456BD881}"/>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907591" y="1723059"/>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r>
              <a:rPr lang="en-US" b="1" dirty="0" err="1">
                <a:solidFill>
                  <a:srgbClr val="0070C0"/>
                </a:solidFill>
                <a:latin typeface="Times New Roman"/>
                <a:ea typeface="Times New Roman"/>
                <a:cs typeface="Times New Roman"/>
              </a:rPr>
              <a:t>OpenBraille</a:t>
            </a:r>
            <a:r>
              <a:rPr lang="en-US" b="1" dirty="0">
                <a:solidFill>
                  <a:srgbClr val="0070C0"/>
                </a:solidFill>
                <a:latin typeface="Times New Roman"/>
                <a:ea typeface="Times New Roman"/>
                <a:cs typeface="Times New Roman"/>
              </a:rPr>
              <a:t>: Affordable Refreshable Single-Cell Braille Display</a:t>
            </a:r>
            <a:endParaRPr lang="en-US" dirty="0">
              <a:solidFill>
                <a:srgbClr val="0070C0"/>
              </a:solidFill>
            </a:endParaRPr>
          </a:p>
        </p:txBody>
      </p:sp>
      <p:sp>
        <p:nvSpPr>
          <p:cNvPr id="8" name="Google Shape;187;p1"/>
          <p:cNvSpPr txBox="1">
            <a:spLocks/>
          </p:cNvSpPr>
          <p:nvPr/>
        </p:nvSpPr>
        <p:spPr bwMode="auto">
          <a:xfrm>
            <a:off x="170707" y="3221659"/>
            <a:ext cx="4948707" cy="3826564"/>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Group 8</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Amith Krishna Das – JEC24CC016</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Archa Pramod – JEC24CC22</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Nihad P C – JEC24CC044</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Sreehari K – JEC24CC055</a:t>
            </a:r>
          </a:p>
          <a:p>
            <a:pPr marL="114300" indent="0">
              <a:buSzPts val="1800"/>
              <a:buNone/>
              <a:defRPr/>
            </a:pPr>
            <a:r>
              <a:rPr lang="en-US" sz="1800" dirty="0">
                <a:solidFill>
                  <a:srgbClr val="C00000"/>
                </a:solidFill>
                <a:latin typeface="Times New Roman" panose="02020603050405020304" pitchFamily="18" charset="0"/>
                <a:cs typeface="Times New Roman" panose="02020603050405020304" pitchFamily="18" charset="0"/>
              </a:rPr>
              <a:t> </a:t>
            </a:r>
            <a:r>
              <a:rPr lang="en-US" sz="1800" dirty="0" err="1">
                <a:solidFill>
                  <a:srgbClr val="C00000"/>
                </a:solidFill>
                <a:latin typeface="Times New Roman" panose="02020603050405020304" pitchFamily="18" charset="0"/>
                <a:cs typeface="Times New Roman" panose="02020603050405020304" pitchFamily="18" charset="0"/>
              </a:rPr>
              <a:t>Sreeprada</a:t>
            </a:r>
            <a:r>
              <a:rPr lang="en-US" sz="1800" dirty="0">
                <a:solidFill>
                  <a:srgbClr val="C00000"/>
                </a:solidFill>
                <a:latin typeface="Times New Roman" panose="02020603050405020304" pitchFamily="18" charset="0"/>
                <a:cs typeface="Times New Roman" panose="02020603050405020304" pitchFamily="18" charset="0"/>
              </a:rPr>
              <a:t> K S – JEC24CC056</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153400" y="4363775"/>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Date Placeholder 1">
            <a:extLst>
              <a:ext uri="{FF2B5EF4-FFF2-40B4-BE49-F238E27FC236}">
                <a16:creationId xmlns:a16="http://schemas.microsoft.com/office/drawing/2014/main" id="{A2842690-9E2F-DB55-55AE-5C4F1643213C}"/>
              </a:ext>
            </a:extLst>
          </p:cNvPr>
          <p:cNvSpPr>
            <a:spLocks noGrp="1"/>
          </p:cNvSpPr>
          <p:nvPr>
            <p:ph type="dt" sz="half" idx="10"/>
          </p:nvPr>
        </p:nvSpPr>
        <p:spPr/>
        <p:txBody>
          <a:bodyPr/>
          <a:lstStyle/>
          <a:p>
            <a:fld id="{40E340CE-53D8-436A-A9F8-CBF0E8A33AD7}" type="datetime1">
              <a:rPr lang="en-IN" smtClean="0"/>
              <a:t>29-07-2026</a:t>
            </a:fld>
            <a:endParaRPr lang="en-IN"/>
          </a:p>
        </p:txBody>
      </p:sp>
      <p:sp>
        <p:nvSpPr>
          <p:cNvPr id="3" name="Footer Placeholder 2">
            <a:extLst>
              <a:ext uri="{FF2B5EF4-FFF2-40B4-BE49-F238E27FC236}">
                <a16:creationId xmlns:a16="http://schemas.microsoft.com/office/drawing/2014/main" id="{FD0190F3-3084-F4FD-508C-98616FB8C6CE}"/>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90B94586-5358-F379-FC19-BB6632DB446C}"/>
              </a:ext>
            </a:extLst>
          </p:cNvPr>
          <p:cNvSpPr>
            <a:spLocks noGrp="1"/>
          </p:cNvSpPr>
          <p:nvPr>
            <p:ph type="sldNum" sz="quarter" idx="12"/>
          </p:nvPr>
        </p:nvSpPr>
        <p:spPr/>
        <p:txBody>
          <a:bodyPr/>
          <a:lstStyle/>
          <a:p>
            <a:fld id="{7C33CCD4-7228-4506-A3A6-5A9074B2CE31}" type="slidenum">
              <a:rPr lang="en-IN" smtClean="0"/>
              <a:t>2</a:t>
            </a:fld>
            <a:endParaRPr lang="en-IN"/>
          </a:p>
        </p:txBody>
      </p:sp>
      <p:sp>
        <p:nvSpPr>
          <p:cNvPr id="5" name="TextBox 9">
            <a:extLst>
              <a:ext uri="{FF2B5EF4-FFF2-40B4-BE49-F238E27FC236}">
                <a16:creationId xmlns:a16="http://schemas.microsoft.com/office/drawing/2014/main" id="{15B3F3B3-C96D-92C8-B8B6-13CFBC0EA7A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5CA61C5A-777F-0022-5663-60129BFB925C}"/>
              </a:ext>
            </a:extLst>
          </p:cNvPr>
          <p:cNvSpPr>
            <a:spLocks noGrp="1"/>
          </p:cNvSpPr>
          <p:nvPr>
            <p:ph type="dt" sz="half" idx="10"/>
          </p:nvPr>
        </p:nvSpPr>
        <p:spPr/>
        <p:txBody>
          <a:bodyPr/>
          <a:lstStyle/>
          <a:p>
            <a:fld id="{E69CD237-C6A8-4214-9BEC-FF44FA889976}" type="datetime1">
              <a:rPr lang="en-IN" smtClean="0"/>
              <a:t>29-07-2026</a:t>
            </a:fld>
            <a:endParaRPr lang="en-IN"/>
          </a:p>
        </p:txBody>
      </p:sp>
      <p:sp>
        <p:nvSpPr>
          <p:cNvPr id="3" name="Footer Placeholder 2">
            <a:extLst>
              <a:ext uri="{FF2B5EF4-FFF2-40B4-BE49-F238E27FC236}">
                <a16:creationId xmlns:a16="http://schemas.microsoft.com/office/drawing/2014/main" id="{12E43546-1913-E2CA-A6C9-15C5FB95F0FE}"/>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9989FB71-7F4F-656D-DBCF-94D53B666484}"/>
              </a:ext>
            </a:extLst>
          </p:cNvPr>
          <p:cNvSpPr>
            <a:spLocks noGrp="1"/>
          </p:cNvSpPr>
          <p:nvPr>
            <p:ph type="sldNum" sz="quarter" idx="12"/>
          </p:nvPr>
        </p:nvSpPr>
        <p:spPr/>
        <p:txBody>
          <a:bodyPr/>
          <a:lstStyle/>
          <a:p>
            <a:fld id="{7C33CCD4-7228-4506-A3A6-5A9074B2CE31}" type="slidenum">
              <a:rPr lang="en-IN" smtClean="0"/>
              <a:t>3</a:t>
            </a:fld>
            <a:endParaRPr lang="en-IN"/>
          </a:p>
        </p:txBody>
      </p:sp>
      <p:sp>
        <p:nvSpPr>
          <p:cNvPr id="5" name="TextBox 9">
            <a:extLst>
              <a:ext uri="{FF2B5EF4-FFF2-40B4-BE49-F238E27FC236}">
                <a16:creationId xmlns:a16="http://schemas.microsoft.com/office/drawing/2014/main" id="{1376B5C2-53C2-899D-A9FC-782DA5A536D3}"/>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normAutofit/>
          </a:bodyPr>
          <a:lstStyle/>
          <a:p>
            <a:r>
              <a:rPr lang="en-US" sz="100" b="1" dirty="0"/>
              <a:t>.</a:t>
            </a:r>
            <a:endParaRPr lang="en-IN" sz="100"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Date Placeholder 4">
            <a:extLst>
              <a:ext uri="{FF2B5EF4-FFF2-40B4-BE49-F238E27FC236}">
                <a16:creationId xmlns:a16="http://schemas.microsoft.com/office/drawing/2014/main" id="{7128C6E4-B15B-9924-2F18-D199FDB504C2}"/>
              </a:ext>
            </a:extLst>
          </p:cNvPr>
          <p:cNvSpPr>
            <a:spLocks noGrp="1"/>
          </p:cNvSpPr>
          <p:nvPr>
            <p:ph type="dt" sz="half" idx="10"/>
          </p:nvPr>
        </p:nvSpPr>
        <p:spPr/>
        <p:txBody>
          <a:bodyPr/>
          <a:lstStyle/>
          <a:p>
            <a:fld id="{C8DB5465-321E-4643-BA15-F944BD5825C6}" type="datetime1">
              <a:rPr lang="en-IN" smtClean="0"/>
              <a:t>29-07-2026</a:t>
            </a:fld>
            <a:endParaRPr lang="en-IN"/>
          </a:p>
        </p:txBody>
      </p:sp>
      <p:sp>
        <p:nvSpPr>
          <p:cNvPr id="6" name="Footer Placeholder 5">
            <a:extLst>
              <a:ext uri="{FF2B5EF4-FFF2-40B4-BE49-F238E27FC236}">
                <a16:creationId xmlns:a16="http://schemas.microsoft.com/office/drawing/2014/main" id="{DF57FEA8-131A-48A4-1D0E-FEC976B35242}"/>
              </a:ext>
            </a:extLst>
          </p:cNvPr>
          <p:cNvSpPr>
            <a:spLocks noGrp="1"/>
          </p:cNvSpPr>
          <p:nvPr>
            <p:ph type="ftr" sz="quarter" idx="11"/>
          </p:nvPr>
        </p:nvSpPr>
        <p:spPr/>
        <p:txBody>
          <a:bodyPr/>
          <a:lstStyle/>
          <a:p>
            <a:r>
              <a:rPr lang="en-IN"/>
              <a:t>DEPT OF CSE ( CY )</a:t>
            </a:r>
          </a:p>
        </p:txBody>
      </p:sp>
      <p:sp>
        <p:nvSpPr>
          <p:cNvPr id="7" name="Slide Number Placeholder 6">
            <a:extLst>
              <a:ext uri="{FF2B5EF4-FFF2-40B4-BE49-F238E27FC236}">
                <a16:creationId xmlns:a16="http://schemas.microsoft.com/office/drawing/2014/main" id="{6FD1FC75-746D-34FD-6F9E-515D09BD79FD}"/>
              </a:ext>
            </a:extLst>
          </p:cNvPr>
          <p:cNvSpPr>
            <a:spLocks noGrp="1"/>
          </p:cNvSpPr>
          <p:nvPr>
            <p:ph type="sldNum" sz="quarter" idx="12"/>
          </p:nvPr>
        </p:nvSpPr>
        <p:spPr/>
        <p:txBody>
          <a:bodyPr/>
          <a:lstStyle/>
          <a:p>
            <a:fld id="{7C33CCD4-7228-4506-A3A6-5A9074B2CE31}" type="slidenum">
              <a:rPr lang="en-IN" smtClean="0"/>
              <a:t>4</a:t>
            </a:fld>
            <a:endParaRPr lang="en-IN"/>
          </a:p>
        </p:txBody>
      </p:sp>
      <p:sp>
        <p:nvSpPr>
          <p:cNvPr id="8" name="TextBox 9">
            <a:extLst>
              <a:ext uri="{FF2B5EF4-FFF2-40B4-BE49-F238E27FC236}">
                <a16:creationId xmlns:a16="http://schemas.microsoft.com/office/drawing/2014/main" id="{64313EB9-34D7-147D-7511-F9F60074B711}"/>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043F6DAD-3853-8AFE-B660-FEA08D4B8E9C}"/>
              </a:ext>
            </a:extLst>
          </p:cNvPr>
          <p:cNvSpPr>
            <a:spLocks noGrp="1"/>
          </p:cNvSpPr>
          <p:nvPr>
            <p:ph type="dt" sz="half" idx="10"/>
          </p:nvPr>
        </p:nvSpPr>
        <p:spPr/>
        <p:txBody>
          <a:bodyPr/>
          <a:lstStyle/>
          <a:p>
            <a:fld id="{EE66B0A9-7399-4607-883A-E6B07803A2C3}" type="datetime1">
              <a:rPr lang="en-IN" smtClean="0"/>
              <a:t>29-07-2026</a:t>
            </a:fld>
            <a:endParaRPr lang="en-IN"/>
          </a:p>
        </p:txBody>
      </p:sp>
      <p:sp>
        <p:nvSpPr>
          <p:cNvPr id="3" name="Footer Placeholder 2">
            <a:extLst>
              <a:ext uri="{FF2B5EF4-FFF2-40B4-BE49-F238E27FC236}">
                <a16:creationId xmlns:a16="http://schemas.microsoft.com/office/drawing/2014/main" id="{ECD7DCA7-7D79-EDE6-740A-512B19D1D262}"/>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FD12EA95-A790-9CC0-0F55-5D0D549E3AF9}"/>
              </a:ext>
            </a:extLst>
          </p:cNvPr>
          <p:cNvSpPr>
            <a:spLocks noGrp="1"/>
          </p:cNvSpPr>
          <p:nvPr>
            <p:ph type="sldNum" sz="quarter" idx="12"/>
          </p:nvPr>
        </p:nvSpPr>
        <p:spPr/>
        <p:txBody>
          <a:bodyPr/>
          <a:lstStyle/>
          <a:p>
            <a:fld id="{7C33CCD4-7228-4506-A3A6-5A9074B2CE31}" type="slidenum">
              <a:rPr lang="en-IN" smtClean="0"/>
              <a:t>5</a:t>
            </a:fld>
            <a:endParaRPr lang="en-IN"/>
          </a:p>
        </p:txBody>
      </p:sp>
      <p:sp>
        <p:nvSpPr>
          <p:cNvPr id="7" name="TextBox 9">
            <a:extLst>
              <a:ext uri="{FF2B5EF4-FFF2-40B4-BE49-F238E27FC236}">
                <a16:creationId xmlns:a16="http://schemas.microsoft.com/office/drawing/2014/main" id="{D604FBDF-632A-B3A3-E89D-BF9D5C6516B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5"/>
            <a:ext cx="11250593" cy="43655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2" name="Date Placeholder 1">
            <a:extLst>
              <a:ext uri="{FF2B5EF4-FFF2-40B4-BE49-F238E27FC236}">
                <a16:creationId xmlns:a16="http://schemas.microsoft.com/office/drawing/2014/main" id="{3496B7B1-9D7E-D34A-F83A-AA362451BD68}"/>
              </a:ext>
            </a:extLst>
          </p:cNvPr>
          <p:cNvSpPr>
            <a:spLocks noGrp="1"/>
          </p:cNvSpPr>
          <p:nvPr>
            <p:ph type="dt" sz="half" idx="10"/>
          </p:nvPr>
        </p:nvSpPr>
        <p:spPr/>
        <p:txBody>
          <a:bodyPr/>
          <a:lstStyle/>
          <a:p>
            <a:fld id="{79697D3E-6B6C-4B33-9A71-99AE9A945F72}" type="datetime1">
              <a:rPr lang="en-IN" smtClean="0"/>
              <a:t>29-07-2026</a:t>
            </a:fld>
            <a:endParaRPr lang="en-IN"/>
          </a:p>
        </p:txBody>
      </p:sp>
      <p:sp>
        <p:nvSpPr>
          <p:cNvPr id="3" name="Footer Placeholder 2">
            <a:extLst>
              <a:ext uri="{FF2B5EF4-FFF2-40B4-BE49-F238E27FC236}">
                <a16:creationId xmlns:a16="http://schemas.microsoft.com/office/drawing/2014/main" id="{46EBE75F-46B3-0D33-CF6C-4CD976187B93}"/>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B01493F0-3A93-FC25-B164-7FCEBA7346E1}"/>
              </a:ext>
            </a:extLst>
          </p:cNvPr>
          <p:cNvSpPr>
            <a:spLocks noGrp="1"/>
          </p:cNvSpPr>
          <p:nvPr>
            <p:ph type="sldNum" sz="quarter" idx="12"/>
          </p:nvPr>
        </p:nvSpPr>
        <p:spPr/>
        <p:txBody>
          <a:bodyPr/>
          <a:lstStyle/>
          <a:p>
            <a:fld id="{7C33CCD4-7228-4506-A3A6-5A9074B2CE31}" type="slidenum">
              <a:rPr lang="en-IN" smtClean="0"/>
              <a:t>6</a:t>
            </a:fld>
            <a:endParaRPr lang="en-IN"/>
          </a:p>
        </p:txBody>
      </p:sp>
      <p:sp>
        <p:nvSpPr>
          <p:cNvPr id="7" name="TextBox 9">
            <a:extLst>
              <a:ext uri="{FF2B5EF4-FFF2-40B4-BE49-F238E27FC236}">
                <a16:creationId xmlns:a16="http://schemas.microsoft.com/office/drawing/2014/main" id="{422F9423-6AF3-B225-EEC3-A25789049886}"/>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140825" y="176698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2" name="Date Placeholder 1">
            <a:extLst>
              <a:ext uri="{FF2B5EF4-FFF2-40B4-BE49-F238E27FC236}">
                <a16:creationId xmlns:a16="http://schemas.microsoft.com/office/drawing/2014/main" id="{39143EE6-DE64-45B2-C344-2B092D8252BC}"/>
              </a:ext>
            </a:extLst>
          </p:cNvPr>
          <p:cNvSpPr>
            <a:spLocks noGrp="1"/>
          </p:cNvSpPr>
          <p:nvPr>
            <p:ph type="dt" sz="half" idx="10"/>
          </p:nvPr>
        </p:nvSpPr>
        <p:spPr/>
        <p:txBody>
          <a:bodyPr/>
          <a:lstStyle/>
          <a:p>
            <a:fld id="{8CB5F15D-00EF-462D-B977-FB645C6F4E08}" type="datetime1">
              <a:rPr lang="en-IN" smtClean="0"/>
              <a:t>29-07-2026</a:t>
            </a:fld>
            <a:endParaRPr lang="en-IN"/>
          </a:p>
        </p:txBody>
      </p:sp>
      <p:sp>
        <p:nvSpPr>
          <p:cNvPr id="3" name="Footer Placeholder 2">
            <a:extLst>
              <a:ext uri="{FF2B5EF4-FFF2-40B4-BE49-F238E27FC236}">
                <a16:creationId xmlns:a16="http://schemas.microsoft.com/office/drawing/2014/main" id="{A6BA3E53-807E-442C-E2B3-2797DE6CE5A8}"/>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29C1881C-0828-2F2F-D963-F8BF9DF94E3D}"/>
              </a:ext>
            </a:extLst>
          </p:cNvPr>
          <p:cNvSpPr>
            <a:spLocks noGrp="1"/>
          </p:cNvSpPr>
          <p:nvPr>
            <p:ph type="sldNum" sz="quarter" idx="12"/>
          </p:nvPr>
        </p:nvSpPr>
        <p:spPr/>
        <p:txBody>
          <a:bodyPr/>
          <a:lstStyle/>
          <a:p>
            <a:fld id="{7C33CCD4-7228-4506-A3A6-5A9074B2CE31}" type="slidenum">
              <a:rPr lang="en-IN" smtClean="0"/>
              <a:t>7</a:t>
            </a:fld>
            <a:endParaRPr lang="en-IN"/>
          </a:p>
        </p:txBody>
      </p:sp>
      <p:sp>
        <p:nvSpPr>
          <p:cNvPr id="7" name="TextBox 9">
            <a:extLst>
              <a:ext uri="{FF2B5EF4-FFF2-40B4-BE49-F238E27FC236}">
                <a16:creationId xmlns:a16="http://schemas.microsoft.com/office/drawing/2014/main" id="{B4AFF073-D9E4-69E3-EFA2-EC194DA44D3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2" name="Date Placeholder 1">
            <a:extLst>
              <a:ext uri="{FF2B5EF4-FFF2-40B4-BE49-F238E27FC236}">
                <a16:creationId xmlns:a16="http://schemas.microsoft.com/office/drawing/2014/main" id="{19F5C13D-11D8-DB45-0AD6-4E97F23884FE}"/>
              </a:ext>
            </a:extLst>
          </p:cNvPr>
          <p:cNvSpPr>
            <a:spLocks noGrp="1"/>
          </p:cNvSpPr>
          <p:nvPr>
            <p:ph type="dt" sz="half" idx="10"/>
          </p:nvPr>
        </p:nvSpPr>
        <p:spPr/>
        <p:txBody>
          <a:bodyPr/>
          <a:lstStyle/>
          <a:p>
            <a:fld id="{01548ECC-03F1-47ED-85D4-9079604B3F8A}" type="datetime1">
              <a:rPr lang="en-IN" smtClean="0"/>
              <a:t>29-07-2026</a:t>
            </a:fld>
            <a:endParaRPr lang="en-IN"/>
          </a:p>
        </p:txBody>
      </p:sp>
      <p:sp>
        <p:nvSpPr>
          <p:cNvPr id="3" name="Footer Placeholder 2">
            <a:extLst>
              <a:ext uri="{FF2B5EF4-FFF2-40B4-BE49-F238E27FC236}">
                <a16:creationId xmlns:a16="http://schemas.microsoft.com/office/drawing/2014/main" id="{34421F56-2E54-6E4A-05DC-5E711A333B53}"/>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FE6B0963-F8C2-A404-A546-137A58D62C61}"/>
              </a:ext>
            </a:extLst>
          </p:cNvPr>
          <p:cNvSpPr>
            <a:spLocks noGrp="1"/>
          </p:cNvSpPr>
          <p:nvPr>
            <p:ph type="sldNum" sz="quarter" idx="12"/>
          </p:nvPr>
        </p:nvSpPr>
        <p:spPr/>
        <p:txBody>
          <a:bodyPr/>
          <a:lstStyle/>
          <a:p>
            <a:fld id="{7C33CCD4-7228-4506-A3A6-5A9074B2CE31}" type="slidenum">
              <a:rPr lang="en-IN" smtClean="0"/>
              <a:t>8</a:t>
            </a:fld>
            <a:endParaRPr lang="en-IN"/>
          </a:p>
        </p:txBody>
      </p:sp>
      <p:sp>
        <p:nvSpPr>
          <p:cNvPr id="7" name="TextBox 9">
            <a:extLst>
              <a:ext uri="{FF2B5EF4-FFF2-40B4-BE49-F238E27FC236}">
                <a16:creationId xmlns:a16="http://schemas.microsoft.com/office/drawing/2014/main" id="{423F3C73-EBD0-C5EB-6842-4373134A0098}"/>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2" name="Date Placeholder 1">
            <a:extLst>
              <a:ext uri="{FF2B5EF4-FFF2-40B4-BE49-F238E27FC236}">
                <a16:creationId xmlns:a16="http://schemas.microsoft.com/office/drawing/2014/main" id="{E2FC9015-48DD-5A45-430F-DA721C55A158}"/>
              </a:ext>
            </a:extLst>
          </p:cNvPr>
          <p:cNvSpPr>
            <a:spLocks noGrp="1"/>
          </p:cNvSpPr>
          <p:nvPr>
            <p:ph type="dt" sz="half" idx="10"/>
          </p:nvPr>
        </p:nvSpPr>
        <p:spPr/>
        <p:txBody>
          <a:bodyPr/>
          <a:lstStyle/>
          <a:p>
            <a:fld id="{6617656D-16DF-4B63-A686-6E412410285D}" type="datetime1">
              <a:rPr lang="en-IN" smtClean="0"/>
              <a:t>29-07-2026</a:t>
            </a:fld>
            <a:endParaRPr lang="en-IN"/>
          </a:p>
        </p:txBody>
      </p:sp>
      <p:sp>
        <p:nvSpPr>
          <p:cNvPr id="3" name="Footer Placeholder 2">
            <a:extLst>
              <a:ext uri="{FF2B5EF4-FFF2-40B4-BE49-F238E27FC236}">
                <a16:creationId xmlns:a16="http://schemas.microsoft.com/office/drawing/2014/main" id="{A3E0B3CA-FF3D-3B16-0B5F-5AC1EC2AECA6}"/>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E84049BE-900C-B4C2-8B0A-0608BC33E121}"/>
              </a:ext>
            </a:extLst>
          </p:cNvPr>
          <p:cNvSpPr>
            <a:spLocks noGrp="1"/>
          </p:cNvSpPr>
          <p:nvPr>
            <p:ph type="sldNum" sz="quarter" idx="12"/>
          </p:nvPr>
        </p:nvSpPr>
        <p:spPr/>
        <p:txBody>
          <a:bodyPr/>
          <a:lstStyle/>
          <a:p>
            <a:fld id="{7C33CCD4-7228-4506-A3A6-5A9074B2CE31}" type="slidenum">
              <a:rPr lang="en-IN" smtClean="0"/>
              <a:t>9</a:t>
            </a:fld>
            <a:endParaRPr lang="en-IN"/>
          </a:p>
        </p:txBody>
      </p:sp>
      <p:sp>
        <p:nvSpPr>
          <p:cNvPr id="7" name="TextBox 9">
            <a:extLst>
              <a:ext uri="{FF2B5EF4-FFF2-40B4-BE49-F238E27FC236}">
                <a16:creationId xmlns:a16="http://schemas.microsoft.com/office/drawing/2014/main" id="{3F804161-DAB5-F400-CD3C-CE665777F539}"/>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59913"/>
            <a:ext cx="10515600" cy="1325563"/>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11" name="Rectangle 6">
            <a:extLst>
              <a:ext uri="{FF2B5EF4-FFF2-40B4-BE49-F238E27FC236}">
                <a16:creationId xmlns:a16="http://schemas.microsoft.com/office/drawing/2014/main" id="{433F5CBD-695C-594D-7B95-39AA75B69C57}"/>
              </a:ext>
            </a:extLst>
          </p:cNvPr>
          <p:cNvSpPr>
            <a:spLocks noGrp="1" noChangeArrowheads="1"/>
          </p:cNvSpPr>
          <p:nvPr>
            <p:ph idx="1"/>
          </p:nvPr>
        </p:nvSpPr>
        <p:spPr bwMode="auto">
          <a:xfrm>
            <a:off x="0" y="2958566"/>
            <a:ext cx="1219200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Barrier: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Refreshable Braille displays are still expensive because each dot needs careful movement and special hardware.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Beyond Audio: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Audio screen readers are helpful, but Braille is better for reading, spelling,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maths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structured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device cost makes it hard for schools, libraries and small institutions to provide refreshable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Trial: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tests whether cheaper embedded parts can give a refreshable tactile interface.</a:t>
            </a:r>
          </a:p>
        </p:txBody>
      </p:sp>
      <p:sp>
        <p:nvSpPr>
          <p:cNvPr id="12" name="Date Placeholder 11">
            <a:extLst>
              <a:ext uri="{FF2B5EF4-FFF2-40B4-BE49-F238E27FC236}">
                <a16:creationId xmlns:a16="http://schemas.microsoft.com/office/drawing/2014/main" id="{DC5C91FA-59F7-46AA-2F33-88D099373907}"/>
              </a:ext>
            </a:extLst>
          </p:cNvPr>
          <p:cNvSpPr>
            <a:spLocks noGrp="1"/>
          </p:cNvSpPr>
          <p:nvPr>
            <p:ph type="dt" sz="half" idx="10"/>
          </p:nvPr>
        </p:nvSpPr>
        <p:spPr/>
        <p:txBody>
          <a:bodyPr/>
          <a:lstStyle/>
          <a:p>
            <a:fld id="{AB0DAF7E-8C43-48CD-9F02-5D57C2BF012F}" type="datetime1">
              <a:rPr lang="en-IN" smtClean="0"/>
              <a:t>29-07-2026</a:t>
            </a:fld>
            <a:endParaRPr lang="en-IN"/>
          </a:p>
        </p:txBody>
      </p:sp>
      <p:sp>
        <p:nvSpPr>
          <p:cNvPr id="13" name="Footer Placeholder 12">
            <a:extLst>
              <a:ext uri="{FF2B5EF4-FFF2-40B4-BE49-F238E27FC236}">
                <a16:creationId xmlns:a16="http://schemas.microsoft.com/office/drawing/2014/main" id="{F55D405F-C184-B5B9-1163-D17A0D0577C5}"/>
              </a:ext>
            </a:extLst>
          </p:cNvPr>
          <p:cNvSpPr>
            <a:spLocks noGrp="1"/>
          </p:cNvSpPr>
          <p:nvPr>
            <p:ph type="ftr" sz="quarter" idx="11"/>
          </p:nvPr>
        </p:nvSpPr>
        <p:spPr/>
        <p:txBody>
          <a:bodyPr/>
          <a:lstStyle/>
          <a:p>
            <a:r>
              <a:rPr lang="en-IN"/>
              <a:t>DEPT OF CSE ( CY )</a:t>
            </a:r>
          </a:p>
        </p:txBody>
      </p:sp>
      <p:sp>
        <p:nvSpPr>
          <p:cNvPr id="14" name="Slide Number Placeholder 13">
            <a:extLst>
              <a:ext uri="{FF2B5EF4-FFF2-40B4-BE49-F238E27FC236}">
                <a16:creationId xmlns:a16="http://schemas.microsoft.com/office/drawing/2014/main" id="{17363F95-D5AB-5F0B-C414-B6C84E03B2F3}"/>
              </a:ext>
            </a:extLst>
          </p:cNvPr>
          <p:cNvSpPr>
            <a:spLocks noGrp="1"/>
          </p:cNvSpPr>
          <p:nvPr>
            <p:ph type="sldNum" sz="quarter" idx="12"/>
          </p:nvPr>
        </p:nvSpPr>
        <p:spPr/>
        <p:txBody>
          <a:bodyPr/>
          <a:lstStyle/>
          <a:p>
            <a:fld id="{7C33CCD4-7228-4506-A3A6-5A9074B2CE31}" type="slidenum">
              <a:rPr lang="en-IN" smtClean="0"/>
              <a:t>10</a:t>
            </a:fld>
            <a:endParaRPr lang="en-IN"/>
          </a:p>
        </p:txBody>
      </p:sp>
      <p:sp>
        <p:nvSpPr>
          <p:cNvPr id="15" name="TextBox 9">
            <a:extLst>
              <a:ext uri="{FF2B5EF4-FFF2-40B4-BE49-F238E27FC236}">
                <a16:creationId xmlns:a16="http://schemas.microsoft.com/office/drawing/2014/main" id="{FFD87B1D-AE77-5BAF-3E3B-4BF8D6D672C9}"/>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46812"/>
            <a:ext cx="10515600" cy="1325563"/>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5" name="Rectangle 2">
            <a:extLst>
              <a:ext uri="{FF2B5EF4-FFF2-40B4-BE49-F238E27FC236}">
                <a16:creationId xmlns:a16="http://schemas.microsoft.com/office/drawing/2014/main" id="{6FC8EBE4-8969-3623-52AA-B2F62836CAF1}"/>
              </a:ext>
            </a:extLst>
          </p:cNvPr>
          <p:cNvSpPr>
            <a:spLocks noGrp="1" noChangeArrowheads="1"/>
          </p:cNvSpPr>
          <p:nvPr>
            <p:ph idx="1"/>
          </p:nvPr>
        </p:nvSpPr>
        <p:spPr bwMode="auto">
          <a:xfrm>
            <a:off x="0" y="3089756"/>
            <a:ext cx="121919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Idea: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embedded assistive system that looks at lower-cost ways to move Braille dots.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Goal: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 if affordable electro‑mechanical parts can create refreshable tactile Braille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Scope: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semester work focuses on one six‑dot Braille cell.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Macro Scale Choice: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cell is made larger on purpose to make FDM 3D printing easier and reduce dimension issues.</a:t>
            </a:r>
          </a:p>
        </p:txBody>
      </p:sp>
      <p:sp>
        <p:nvSpPr>
          <p:cNvPr id="7" name="Date Placeholder 6">
            <a:extLst>
              <a:ext uri="{FF2B5EF4-FFF2-40B4-BE49-F238E27FC236}">
                <a16:creationId xmlns:a16="http://schemas.microsoft.com/office/drawing/2014/main" id="{538D0B94-7707-1AC9-A70B-DB6F48ED8CD3}"/>
              </a:ext>
            </a:extLst>
          </p:cNvPr>
          <p:cNvSpPr>
            <a:spLocks noGrp="1"/>
          </p:cNvSpPr>
          <p:nvPr>
            <p:ph type="dt" sz="half" idx="10"/>
          </p:nvPr>
        </p:nvSpPr>
        <p:spPr/>
        <p:txBody>
          <a:bodyPr/>
          <a:lstStyle/>
          <a:p>
            <a:fld id="{C6BC4875-F733-4844-AC94-5E629DC112AB}" type="datetime1">
              <a:rPr lang="en-IN" smtClean="0"/>
              <a:t>29-07-2026</a:t>
            </a:fld>
            <a:endParaRPr lang="en-IN"/>
          </a:p>
        </p:txBody>
      </p:sp>
      <p:sp>
        <p:nvSpPr>
          <p:cNvPr id="8" name="Footer Placeholder 7">
            <a:extLst>
              <a:ext uri="{FF2B5EF4-FFF2-40B4-BE49-F238E27FC236}">
                <a16:creationId xmlns:a16="http://schemas.microsoft.com/office/drawing/2014/main" id="{D82F4631-3664-51A6-BCCB-8C1A6D6E29D2}"/>
              </a:ext>
            </a:extLst>
          </p:cNvPr>
          <p:cNvSpPr>
            <a:spLocks noGrp="1"/>
          </p:cNvSpPr>
          <p:nvPr>
            <p:ph type="ftr" sz="quarter" idx="11"/>
          </p:nvPr>
        </p:nvSpPr>
        <p:spPr/>
        <p:txBody>
          <a:bodyPr/>
          <a:lstStyle/>
          <a:p>
            <a:r>
              <a:rPr lang="en-IN"/>
              <a:t>DEPT OF CSE ( CY )</a:t>
            </a:r>
          </a:p>
        </p:txBody>
      </p:sp>
      <p:sp>
        <p:nvSpPr>
          <p:cNvPr id="9" name="Slide Number Placeholder 8">
            <a:extLst>
              <a:ext uri="{FF2B5EF4-FFF2-40B4-BE49-F238E27FC236}">
                <a16:creationId xmlns:a16="http://schemas.microsoft.com/office/drawing/2014/main" id="{CE0FBD26-58D9-F350-7717-27C88E8A5152}"/>
              </a:ext>
            </a:extLst>
          </p:cNvPr>
          <p:cNvSpPr>
            <a:spLocks noGrp="1"/>
          </p:cNvSpPr>
          <p:nvPr>
            <p:ph type="sldNum" sz="quarter" idx="12"/>
          </p:nvPr>
        </p:nvSpPr>
        <p:spPr/>
        <p:txBody>
          <a:bodyPr/>
          <a:lstStyle/>
          <a:p>
            <a:fld id="{7C33CCD4-7228-4506-A3A6-5A9074B2CE31}" type="slidenum">
              <a:rPr lang="en-IN" smtClean="0"/>
              <a:t>11</a:t>
            </a:fld>
            <a:endParaRPr lang="en-IN"/>
          </a:p>
        </p:txBody>
      </p:sp>
      <p:sp>
        <p:nvSpPr>
          <p:cNvPr id="10" name="TextBox 9">
            <a:extLst>
              <a:ext uri="{FF2B5EF4-FFF2-40B4-BE49-F238E27FC236}">
                <a16:creationId xmlns:a16="http://schemas.microsoft.com/office/drawing/2014/main" id="{AD7333C1-545F-2E05-10D0-82F5E594A80A}"/>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923081" y="1532743"/>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2F5C17A-00E1-E055-CE76-FA73461C5156}"/>
              </a:ext>
            </a:extLst>
          </p:cNvPr>
          <p:cNvSpPr>
            <a:spLocks noGrp="1" noChangeArrowheads="1"/>
          </p:cNvSpPr>
          <p:nvPr>
            <p:ph idx="1"/>
          </p:nvPr>
        </p:nvSpPr>
        <p:spPr bwMode="auto">
          <a:xfrm>
            <a:off x="0" y="2858306"/>
            <a:ext cx="1219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Expensive Systems: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refreshable Braille devices use costly actuators and precise manufacturing.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Small-Scale Issues: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 Braille sizes cause alignment, friction and jamming problems when made with low‑cost FDM printing.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Hypothesis: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cheaper actuation method might replace piezoelectric actuators while still giving usable tactile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Limits: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Prefer budget ≤ ₹3,000; maximum budget ≤ ₹5,000; about two months of work; five‑member student team.</a:t>
            </a:r>
          </a:p>
        </p:txBody>
      </p:sp>
      <p:sp>
        <p:nvSpPr>
          <p:cNvPr id="4" name="Date Placeholder 3">
            <a:extLst>
              <a:ext uri="{FF2B5EF4-FFF2-40B4-BE49-F238E27FC236}">
                <a16:creationId xmlns:a16="http://schemas.microsoft.com/office/drawing/2014/main" id="{280994B8-DD7C-97E3-824A-159AB76D0F81}"/>
              </a:ext>
            </a:extLst>
          </p:cNvPr>
          <p:cNvSpPr>
            <a:spLocks noGrp="1"/>
          </p:cNvSpPr>
          <p:nvPr>
            <p:ph type="dt" sz="half" idx="10"/>
          </p:nvPr>
        </p:nvSpPr>
        <p:spPr/>
        <p:txBody>
          <a:bodyPr/>
          <a:lstStyle/>
          <a:p>
            <a:fld id="{9B21DCF6-F344-4A73-A73D-FB95939D202B}" type="datetime1">
              <a:rPr lang="en-IN" smtClean="0"/>
              <a:t>29-07-2026</a:t>
            </a:fld>
            <a:endParaRPr lang="en-IN"/>
          </a:p>
        </p:txBody>
      </p:sp>
      <p:sp>
        <p:nvSpPr>
          <p:cNvPr id="7" name="Footer Placeholder 6">
            <a:extLst>
              <a:ext uri="{FF2B5EF4-FFF2-40B4-BE49-F238E27FC236}">
                <a16:creationId xmlns:a16="http://schemas.microsoft.com/office/drawing/2014/main" id="{623694D6-EF66-3798-B148-196D53805B24}"/>
              </a:ext>
            </a:extLst>
          </p:cNvPr>
          <p:cNvSpPr>
            <a:spLocks noGrp="1"/>
          </p:cNvSpPr>
          <p:nvPr>
            <p:ph type="ftr" sz="quarter" idx="11"/>
          </p:nvPr>
        </p:nvSpPr>
        <p:spPr/>
        <p:txBody>
          <a:bodyPr/>
          <a:lstStyle/>
          <a:p>
            <a:r>
              <a:rPr lang="en-IN"/>
              <a:t>DEPT OF CSE ( CY )</a:t>
            </a:r>
          </a:p>
        </p:txBody>
      </p:sp>
      <p:sp>
        <p:nvSpPr>
          <p:cNvPr id="8" name="Slide Number Placeholder 7">
            <a:extLst>
              <a:ext uri="{FF2B5EF4-FFF2-40B4-BE49-F238E27FC236}">
                <a16:creationId xmlns:a16="http://schemas.microsoft.com/office/drawing/2014/main" id="{B647349E-EE9A-937C-C25B-A666B0DABC18}"/>
              </a:ext>
            </a:extLst>
          </p:cNvPr>
          <p:cNvSpPr>
            <a:spLocks noGrp="1"/>
          </p:cNvSpPr>
          <p:nvPr>
            <p:ph type="sldNum" sz="quarter" idx="12"/>
          </p:nvPr>
        </p:nvSpPr>
        <p:spPr/>
        <p:txBody>
          <a:bodyPr/>
          <a:lstStyle/>
          <a:p>
            <a:fld id="{7C33CCD4-7228-4506-A3A6-5A9074B2CE31}" type="slidenum">
              <a:rPr lang="en-IN" smtClean="0"/>
              <a:t>12</a:t>
            </a:fld>
            <a:endParaRPr lang="en-IN"/>
          </a:p>
        </p:txBody>
      </p:sp>
      <p:sp>
        <p:nvSpPr>
          <p:cNvPr id="9" name="TextBox 9">
            <a:extLst>
              <a:ext uri="{FF2B5EF4-FFF2-40B4-BE49-F238E27FC236}">
                <a16:creationId xmlns:a16="http://schemas.microsoft.com/office/drawing/2014/main" id="{17A0F4A4-05C0-1BB8-7FBE-B18AA30BC875}"/>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199" y="1482725"/>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143740F-DA51-B39A-3238-8388B63C8A95}"/>
              </a:ext>
            </a:extLst>
          </p:cNvPr>
          <p:cNvSpPr>
            <a:spLocks noGrp="1" noChangeArrowheads="1"/>
          </p:cNvSpPr>
          <p:nvPr>
            <p:ph idx="1"/>
          </p:nvPr>
        </p:nvSpPr>
        <p:spPr bwMode="auto">
          <a:xfrm>
            <a:off x="0" y="2928650"/>
            <a:ext cx="1219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Drive: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Six SG90‑class micro servos move eccentric cams.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Dot Movement: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cam turns servo rotation into up‑and‑down motion of one tactile pin.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Controller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ESP32‑WROOM‑32 board creates six separate servo control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Setup: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Servos run from an external 5 V line with a shared ground to the ESP32 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1,000 µF capacitor is planned on the servo power line to help smooth voltage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Mechanics Build: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frame and cam parts are made using college FDM printers and easily available components.</a:t>
            </a:r>
          </a:p>
        </p:txBody>
      </p:sp>
      <p:sp>
        <p:nvSpPr>
          <p:cNvPr id="5" name="Date Placeholder 4">
            <a:extLst>
              <a:ext uri="{FF2B5EF4-FFF2-40B4-BE49-F238E27FC236}">
                <a16:creationId xmlns:a16="http://schemas.microsoft.com/office/drawing/2014/main" id="{3AF84576-3B0D-4460-C8CC-98B67E6C071F}"/>
              </a:ext>
            </a:extLst>
          </p:cNvPr>
          <p:cNvSpPr>
            <a:spLocks noGrp="1"/>
          </p:cNvSpPr>
          <p:nvPr>
            <p:ph type="dt" sz="half" idx="10"/>
          </p:nvPr>
        </p:nvSpPr>
        <p:spPr/>
        <p:txBody>
          <a:bodyPr/>
          <a:lstStyle/>
          <a:p>
            <a:fld id="{0337E3C8-DA77-4781-97C4-F427D52CD84D}" type="datetime1">
              <a:rPr lang="en-IN" smtClean="0"/>
              <a:t>29-07-2026</a:t>
            </a:fld>
            <a:endParaRPr lang="en-IN"/>
          </a:p>
        </p:txBody>
      </p:sp>
      <p:sp>
        <p:nvSpPr>
          <p:cNvPr id="7" name="Footer Placeholder 6">
            <a:extLst>
              <a:ext uri="{FF2B5EF4-FFF2-40B4-BE49-F238E27FC236}">
                <a16:creationId xmlns:a16="http://schemas.microsoft.com/office/drawing/2014/main" id="{8B959C4B-B6BB-6AEA-20A3-48FBDB14334F}"/>
              </a:ext>
            </a:extLst>
          </p:cNvPr>
          <p:cNvSpPr>
            <a:spLocks noGrp="1"/>
          </p:cNvSpPr>
          <p:nvPr>
            <p:ph type="ftr" sz="quarter" idx="11"/>
          </p:nvPr>
        </p:nvSpPr>
        <p:spPr/>
        <p:txBody>
          <a:bodyPr/>
          <a:lstStyle/>
          <a:p>
            <a:r>
              <a:rPr lang="en-IN"/>
              <a:t>DEPT OF CSE ( CY )</a:t>
            </a:r>
          </a:p>
        </p:txBody>
      </p:sp>
      <p:sp>
        <p:nvSpPr>
          <p:cNvPr id="8" name="Slide Number Placeholder 7">
            <a:extLst>
              <a:ext uri="{FF2B5EF4-FFF2-40B4-BE49-F238E27FC236}">
                <a16:creationId xmlns:a16="http://schemas.microsoft.com/office/drawing/2014/main" id="{10C108EC-7238-2497-3FFD-5472F80501F9}"/>
              </a:ext>
            </a:extLst>
          </p:cNvPr>
          <p:cNvSpPr>
            <a:spLocks noGrp="1"/>
          </p:cNvSpPr>
          <p:nvPr>
            <p:ph type="sldNum" sz="quarter" idx="12"/>
          </p:nvPr>
        </p:nvSpPr>
        <p:spPr/>
        <p:txBody>
          <a:bodyPr/>
          <a:lstStyle/>
          <a:p>
            <a:fld id="{7C33CCD4-7228-4506-A3A6-5A9074B2CE31}" type="slidenum">
              <a:rPr lang="en-IN" smtClean="0"/>
              <a:t>13</a:t>
            </a:fld>
            <a:endParaRPr lang="en-IN"/>
          </a:p>
        </p:txBody>
      </p:sp>
      <p:sp>
        <p:nvSpPr>
          <p:cNvPr id="9" name="TextBox 9">
            <a:extLst>
              <a:ext uri="{FF2B5EF4-FFF2-40B4-BE49-F238E27FC236}">
                <a16:creationId xmlns:a16="http://schemas.microsoft.com/office/drawing/2014/main" id="{0D8C07B2-E747-5F20-FE74-227748FC7A67}"/>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838200" y="1307660"/>
            <a:ext cx="10515600" cy="1325563"/>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7" name="Content Placeholder 6">
            <a:extLst>
              <a:ext uri="{FF2B5EF4-FFF2-40B4-BE49-F238E27FC236}">
                <a16:creationId xmlns:a16="http://schemas.microsoft.com/office/drawing/2014/main" id="{6A058313-FCED-C0A5-482B-4EC614511B8D}"/>
              </a:ext>
            </a:extLst>
          </p:cNvPr>
          <p:cNvPicPr>
            <a:picLocks noGrp="1" noChangeAspect="1"/>
          </p:cNvPicPr>
          <p:nvPr>
            <p:ph idx="1"/>
          </p:nvPr>
        </p:nvPicPr>
        <p:blipFill>
          <a:blip r:embed="rId3"/>
          <a:srcRect t="28578" b="8211"/>
          <a:stretch>
            <a:fillRect/>
          </a:stretch>
        </p:blipFill>
        <p:spPr bwMode="auto">
          <a:xfrm>
            <a:off x="1628572" y="2459934"/>
            <a:ext cx="8934855" cy="3896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a:extLst>
              <a:ext uri="{FF2B5EF4-FFF2-40B4-BE49-F238E27FC236}">
                <a16:creationId xmlns:a16="http://schemas.microsoft.com/office/drawing/2014/main" id="{225C2825-A782-7EB9-4532-C021BF502285}"/>
              </a:ext>
            </a:extLst>
          </p:cNvPr>
          <p:cNvSpPr>
            <a:spLocks noGrp="1"/>
          </p:cNvSpPr>
          <p:nvPr>
            <p:ph type="dt" sz="half" idx="10"/>
          </p:nvPr>
        </p:nvSpPr>
        <p:spPr/>
        <p:txBody>
          <a:bodyPr/>
          <a:lstStyle/>
          <a:p>
            <a:fld id="{DD6793FB-6102-4B24-869C-00C7BC1CE1AE}" type="datetime1">
              <a:rPr lang="en-IN" smtClean="0"/>
              <a:t>29-07-2026</a:t>
            </a:fld>
            <a:endParaRPr lang="en-IN"/>
          </a:p>
        </p:txBody>
      </p:sp>
      <p:sp>
        <p:nvSpPr>
          <p:cNvPr id="4" name="Footer Placeholder 3">
            <a:extLst>
              <a:ext uri="{FF2B5EF4-FFF2-40B4-BE49-F238E27FC236}">
                <a16:creationId xmlns:a16="http://schemas.microsoft.com/office/drawing/2014/main" id="{6E0C861E-0993-BD6B-9E48-997365E14506}"/>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2B14610C-6903-3B5F-414C-3EED600C51AE}"/>
              </a:ext>
            </a:extLst>
          </p:cNvPr>
          <p:cNvSpPr>
            <a:spLocks noGrp="1"/>
          </p:cNvSpPr>
          <p:nvPr>
            <p:ph type="sldNum" sz="quarter" idx="12"/>
          </p:nvPr>
        </p:nvSpPr>
        <p:spPr/>
        <p:txBody>
          <a:bodyPr/>
          <a:lstStyle/>
          <a:p>
            <a:fld id="{7C33CCD4-7228-4506-A3A6-5A9074B2CE31}" type="slidenum">
              <a:rPr lang="en-IN" smtClean="0"/>
              <a:t>14</a:t>
            </a:fld>
            <a:endParaRPr lang="en-IN"/>
          </a:p>
        </p:txBody>
      </p:sp>
      <p:sp>
        <p:nvSpPr>
          <p:cNvPr id="8" name="TextBox 9">
            <a:extLst>
              <a:ext uri="{FF2B5EF4-FFF2-40B4-BE49-F238E27FC236}">
                <a16:creationId xmlns:a16="http://schemas.microsoft.com/office/drawing/2014/main" id="{F06F48E7-4134-6AD3-4E4A-87B1D9BADB54}"/>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838200" y="1343819"/>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77924"/>
            <a:ext cx="10579260" cy="1747701"/>
          </a:xfrm>
          <a:prstGeom prst="rect">
            <a:avLst/>
          </a:prstGeom>
        </p:spPr>
      </p:pic>
      <p:sp>
        <p:nvSpPr>
          <p:cNvPr id="5" name="Rectangle 2">
            <a:extLst>
              <a:ext uri="{FF2B5EF4-FFF2-40B4-BE49-F238E27FC236}">
                <a16:creationId xmlns:a16="http://schemas.microsoft.com/office/drawing/2014/main" id="{1B165B66-EE96-65B5-7E9D-A8966C62DD8F}"/>
              </a:ext>
            </a:extLst>
          </p:cNvPr>
          <p:cNvSpPr>
            <a:spLocks noGrp="1" noChangeArrowheads="1"/>
          </p:cNvSpPr>
          <p:nvPr>
            <p:ph idx="1"/>
          </p:nvPr>
        </p:nvSpPr>
        <p:spPr bwMode="auto">
          <a:xfrm>
            <a:off x="31830" y="2295793"/>
            <a:ext cx="12192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Proposal: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suggests a macro‑scaled single‑cell refreshable Braille prototype using ESP32‑controlled servo‑cam actuation.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Remaining Checks: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 cell larger helps with FDM tolerances, but friction, alignment, feel of the dots and repeatability still need testing.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Estimate: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estimated BOM is in the range ₹2,060–₹2,850, depending on part prices and design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Plan: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 will start with one dot, then move step‑by‑step to the full six‑dot cell after basic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Steps: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experiments, the project may explore multi‑cell designs and possible IP options.</a:t>
            </a:r>
          </a:p>
        </p:txBody>
      </p:sp>
      <p:sp>
        <p:nvSpPr>
          <p:cNvPr id="6" name="Date Placeholder 5">
            <a:extLst>
              <a:ext uri="{FF2B5EF4-FFF2-40B4-BE49-F238E27FC236}">
                <a16:creationId xmlns:a16="http://schemas.microsoft.com/office/drawing/2014/main" id="{7875C4A7-5D92-3B6C-092E-00DDCC57A98C}"/>
              </a:ext>
            </a:extLst>
          </p:cNvPr>
          <p:cNvSpPr>
            <a:spLocks noGrp="1"/>
          </p:cNvSpPr>
          <p:nvPr>
            <p:ph type="dt" sz="half" idx="10"/>
          </p:nvPr>
        </p:nvSpPr>
        <p:spPr/>
        <p:txBody>
          <a:bodyPr/>
          <a:lstStyle/>
          <a:p>
            <a:fld id="{D799D079-91E2-4FCE-B474-9875EAD8F04E}" type="datetime1">
              <a:rPr lang="en-IN" smtClean="0"/>
              <a:t>29-07-2026</a:t>
            </a:fld>
            <a:endParaRPr lang="en-IN"/>
          </a:p>
        </p:txBody>
      </p:sp>
      <p:sp>
        <p:nvSpPr>
          <p:cNvPr id="7" name="Footer Placeholder 6">
            <a:extLst>
              <a:ext uri="{FF2B5EF4-FFF2-40B4-BE49-F238E27FC236}">
                <a16:creationId xmlns:a16="http://schemas.microsoft.com/office/drawing/2014/main" id="{BF36802C-9225-2303-969A-44EAFBCAA747}"/>
              </a:ext>
            </a:extLst>
          </p:cNvPr>
          <p:cNvSpPr>
            <a:spLocks noGrp="1"/>
          </p:cNvSpPr>
          <p:nvPr>
            <p:ph type="ftr" sz="quarter" idx="11"/>
          </p:nvPr>
        </p:nvSpPr>
        <p:spPr/>
        <p:txBody>
          <a:bodyPr/>
          <a:lstStyle/>
          <a:p>
            <a:r>
              <a:rPr lang="en-IN"/>
              <a:t>DEPT OF CSE ( CY )</a:t>
            </a:r>
          </a:p>
        </p:txBody>
      </p:sp>
      <p:sp>
        <p:nvSpPr>
          <p:cNvPr id="9" name="Slide Number Placeholder 8">
            <a:extLst>
              <a:ext uri="{FF2B5EF4-FFF2-40B4-BE49-F238E27FC236}">
                <a16:creationId xmlns:a16="http://schemas.microsoft.com/office/drawing/2014/main" id="{85EEA805-58F5-0366-BFD6-4E113190F695}"/>
              </a:ext>
            </a:extLst>
          </p:cNvPr>
          <p:cNvSpPr>
            <a:spLocks noGrp="1"/>
          </p:cNvSpPr>
          <p:nvPr>
            <p:ph type="sldNum" sz="quarter" idx="12"/>
          </p:nvPr>
        </p:nvSpPr>
        <p:spPr/>
        <p:txBody>
          <a:bodyPr/>
          <a:lstStyle/>
          <a:p>
            <a:fld id="{7C33CCD4-7228-4506-A3A6-5A9074B2CE31}" type="slidenum">
              <a:rPr lang="en-IN" smtClean="0"/>
              <a:t>15</a:t>
            </a:fld>
            <a:endParaRPr lang="en-IN"/>
          </a:p>
        </p:txBody>
      </p:sp>
      <p:sp>
        <p:nvSpPr>
          <p:cNvPr id="10" name="TextBox 9">
            <a:extLst>
              <a:ext uri="{FF2B5EF4-FFF2-40B4-BE49-F238E27FC236}">
                <a16:creationId xmlns:a16="http://schemas.microsoft.com/office/drawing/2014/main" id="{11F4AC57-08A7-B277-A8FB-3E6557BB7D43}"/>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774540" y="1434270"/>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710" y="194629"/>
            <a:ext cx="10579260" cy="1747701"/>
          </a:xfrm>
          <a:prstGeom prst="rect">
            <a:avLst/>
          </a:prstGeom>
        </p:spPr>
      </p:pic>
      <p:sp>
        <p:nvSpPr>
          <p:cNvPr id="5" name="Rectangle 1">
            <a:extLst>
              <a:ext uri="{FF2B5EF4-FFF2-40B4-BE49-F238E27FC236}">
                <a16:creationId xmlns:a16="http://schemas.microsoft.com/office/drawing/2014/main" id="{52470D60-C481-ED3C-71E3-1C5D83CEC636}"/>
              </a:ext>
            </a:extLst>
          </p:cNvPr>
          <p:cNvSpPr>
            <a:spLocks noGrp="1" noChangeArrowheads="1"/>
          </p:cNvSpPr>
          <p:nvPr>
            <p:ph idx="1"/>
          </p:nvPr>
        </p:nvSpPr>
        <p:spPr bwMode="auto">
          <a:xfrm>
            <a:off x="99393" y="2690518"/>
            <a:ext cx="12191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1. ISO 17049:2013,   Accessible design — Application of Braille on signage,   equipment and appliances.</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2.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ESP32-WROOM-32 Datasheet, Version 3.6.</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3.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ESP32-DevKitC V4 User Guide.</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4. </a:t>
            </a:r>
            <a:r>
              <a:rPr lang="en-US" altLang="en-US" sz="2400" dirty="0" err="1">
                <a:latin typeface="Times New Roman" panose="02020603050405020304" pitchFamily="18" charset="0"/>
                <a:cs typeface="Times New Roman" panose="02020603050405020304" pitchFamily="18" charset="0"/>
              </a:rPr>
              <a:t>TowerPro</a:t>
            </a:r>
            <a:r>
              <a:rPr lang="en-US" altLang="en-US" sz="2400" dirty="0">
                <a:latin typeface="Times New Roman" panose="02020603050405020304" pitchFamily="18" charset="0"/>
                <a:cs typeface="Times New Roman" panose="02020603050405020304" pitchFamily="18" charset="0"/>
              </a:rPr>
              <a:t>,   SG90 Analog Micro Servo — Official Product Specifications.</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5. Engineering_Design_Review.md,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OpenBraille</a:t>
            </a:r>
            <a:r>
              <a:rPr lang="en-US" altLang="en-US" sz="2400" dirty="0">
                <a:latin typeface="Times New Roman" panose="02020603050405020304" pitchFamily="18" charset="0"/>
                <a:cs typeface="Times New Roman" panose="02020603050405020304" pitchFamily="18" charset="0"/>
              </a:rPr>
              <a:t> section, July 2026.</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6. Project_mC_Decision_Register_v1.2.md,   PDR-001, PDR-002 and PDR-015 to PDR-022.</a:t>
            </a:r>
          </a:p>
          <a:p>
            <a:pPr marL="0" lvl="0" indent="0" eaLnBrk="0" fontAlgn="base" hangingPunct="0">
              <a:lnSpc>
                <a:spcPct val="10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7. Phase3C_OpenBraille_Architecture_Report_Final.md,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July 2026.</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2B9F3AB-3738-F2D8-A44F-286C8C2CDC8B}"/>
              </a:ext>
            </a:extLst>
          </p:cNvPr>
          <p:cNvSpPr>
            <a:spLocks noGrp="1"/>
          </p:cNvSpPr>
          <p:nvPr>
            <p:ph type="dt" sz="half" idx="10"/>
          </p:nvPr>
        </p:nvSpPr>
        <p:spPr/>
        <p:txBody>
          <a:bodyPr/>
          <a:lstStyle/>
          <a:p>
            <a:fld id="{9AA036E5-29A3-41A1-8786-98798C51A273}" type="datetime1">
              <a:rPr lang="en-IN" smtClean="0"/>
              <a:t>29-07-2026</a:t>
            </a:fld>
            <a:endParaRPr lang="en-IN"/>
          </a:p>
        </p:txBody>
      </p:sp>
      <p:sp>
        <p:nvSpPr>
          <p:cNvPr id="6" name="Footer Placeholder 5">
            <a:extLst>
              <a:ext uri="{FF2B5EF4-FFF2-40B4-BE49-F238E27FC236}">
                <a16:creationId xmlns:a16="http://schemas.microsoft.com/office/drawing/2014/main" id="{E469B921-5C37-08ED-2101-58DD075E8674}"/>
              </a:ext>
            </a:extLst>
          </p:cNvPr>
          <p:cNvSpPr>
            <a:spLocks noGrp="1"/>
          </p:cNvSpPr>
          <p:nvPr>
            <p:ph type="ftr" sz="quarter" idx="11"/>
          </p:nvPr>
        </p:nvSpPr>
        <p:spPr/>
        <p:txBody>
          <a:bodyPr/>
          <a:lstStyle/>
          <a:p>
            <a:r>
              <a:rPr lang="en-IN"/>
              <a:t>DEPT OF CSE ( CY )</a:t>
            </a:r>
          </a:p>
        </p:txBody>
      </p:sp>
      <p:sp>
        <p:nvSpPr>
          <p:cNvPr id="7" name="Slide Number Placeholder 6">
            <a:extLst>
              <a:ext uri="{FF2B5EF4-FFF2-40B4-BE49-F238E27FC236}">
                <a16:creationId xmlns:a16="http://schemas.microsoft.com/office/drawing/2014/main" id="{7F9F17DA-0878-E25D-B612-013D994A581E}"/>
              </a:ext>
            </a:extLst>
          </p:cNvPr>
          <p:cNvSpPr>
            <a:spLocks noGrp="1"/>
          </p:cNvSpPr>
          <p:nvPr>
            <p:ph type="sldNum" sz="quarter" idx="12"/>
          </p:nvPr>
        </p:nvSpPr>
        <p:spPr/>
        <p:txBody>
          <a:bodyPr/>
          <a:lstStyle/>
          <a:p>
            <a:fld id="{7C33CCD4-7228-4506-A3A6-5A9074B2CE31}" type="slidenum">
              <a:rPr lang="en-IN" smtClean="0"/>
              <a:t>16</a:t>
            </a:fld>
            <a:endParaRPr lang="en-IN"/>
          </a:p>
        </p:txBody>
      </p:sp>
      <p:sp>
        <p:nvSpPr>
          <p:cNvPr id="8" name="TextBox 9">
            <a:extLst>
              <a:ext uri="{FF2B5EF4-FFF2-40B4-BE49-F238E27FC236}">
                <a16:creationId xmlns:a16="http://schemas.microsoft.com/office/drawing/2014/main" id="{27EC11CF-9A1A-DA53-AF55-4CFFDD6F7B14}"/>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1739</Words>
  <Application>Microsoft Office PowerPoint</Application>
  <PresentationFormat>Widescreen</PresentationFormat>
  <Paragraphs>170</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Sreeni Srizz</cp:lastModifiedBy>
  <cp:revision>5</cp:revision>
  <dcterms:modified xsi:type="dcterms:W3CDTF">2026-07-29T18:37:39Z</dcterms:modified>
</cp:coreProperties>
</file>