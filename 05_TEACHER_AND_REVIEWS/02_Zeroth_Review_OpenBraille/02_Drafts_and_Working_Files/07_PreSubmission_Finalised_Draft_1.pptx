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8"/>
  </p:notesMasterIdLst>
  <p:handoutMasterIdLst>
    <p:handoutMasterId r:id="rId19"/>
  </p:handout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9144000"/>
  <p:defaultTextStyle>
    <a:defPPr lvl="0">
      <a:defRPr lang="en-US"/>
    </a:defPPr>
    <a:lvl1pPr marL="0" lvl="0" algn="l" defTabSz="914400" rtl="0" eaLnBrk="1" latinLnBrk="0" hangingPunct="1">
      <a:defRPr sz="1800" kern="1200">
        <a:solidFill>
          <a:schemeClr val="tx1"/>
        </a:solidFill>
        <a:latin typeface="+mn-lt"/>
        <a:ea typeface="+mn-ea"/>
        <a:cs typeface="+mn-cs"/>
      </a:defRPr>
    </a:lvl1pPr>
    <a:lvl2pPr marL="457200" lvl="1" algn="l" defTabSz="914400" rtl="0" eaLnBrk="1" latinLnBrk="0" hangingPunct="1">
      <a:defRPr sz="1800" kern="1200">
        <a:solidFill>
          <a:schemeClr val="tx1"/>
        </a:solidFill>
        <a:latin typeface="+mn-lt"/>
        <a:ea typeface="+mn-ea"/>
        <a:cs typeface="+mn-cs"/>
      </a:defRPr>
    </a:lvl2pPr>
    <a:lvl3pPr marL="914400" lvl="2" algn="l" defTabSz="914400" rtl="0" eaLnBrk="1" latinLnBrk="0" hangingPunct="1">
      <a:defRPr sz="1800" kern="1200">
        <a:solidFill>
          <a:schemeClr val="tx1"/>
        </a:solidFill>
        <a:latin typeface="+mn-lt"/>
        <a:ea typeface="+mn-ea"/>
        <a:cs typeface="+mn-cs"/>
      </a:defRPr>
    </a:lvl3pPr>
    <a:lvl4pPr marL="1371600" lvl="3" algn="l" defTabSz="914400" rtl="0" eaLnBrk="1" latinLnBrk="0" hangingPunct="1">
      <a:defRPr sz="1800" kern="1200">
        <a:solidFill>
          <a:schemeClr val="tx1"/>
        </a:solidFill>
        <a:latin typeface="+mn-lt"/>
        <a:ea typeface="+mn-ea"/>
        <a:cs typeface="+mn-cs"/>
      </a:defRPr>
    </a:lvl4pPr>
    <a:lvl5pPr marL="1828800" lvl="4" algn="l" defTabSz="914400" rtl="0" eaLnBrk="1" latinLnBrk="0" hangingPunct="1">
      <a:defRPr sz="1800" kern="1200">
        <a:solidFill>
          <a:schemeClr val="tx1"/>
        </a:solidFill>
        <a:latin typeface="+mn-lt"/>
        <a:ea typeface="+mn-ea"/>
        <a:cs typeface="+mn-cs"/>
      </a:defRPr>
    </a:lvl5pPr>
    <a:lvl6pPr marL="2286000" lvl="5" algn="l" defTabSz="914400" rtl="0" eaLnBrk="1" latinLnBrk="0" hangingPunct="1">
      <a:defRPr sz="1800" kern="1200">
        <a:solidFill>
          <a:schemeClr val="tx1"/>
        </a:solidFill>
        <a:latin typeface="+mn-lt"/>
        <a:ea typeface="+mn-ea"/>
        <a:cs typeface="+mn-cs"/>
      </a:defRPr>
    </a:lvl6pPr>
    <a:lvl7pPr marL="2743200" lvl="6" algn="l" defTabSz="914400" rtl="0" eaLnBrk="1" latinLnBrk="0" hangingPunct="1">
      <a:defRPr sz="1800" kern="1200">
        <a:solidFill>
          <a:schemeClr val="tx1"/>
        </a:solidFill>
        <a:latin typeface="+mn-lt"/>
        <a:ea typeface="+mn-ea"/>
        <a:cs typeface="+mn-cs"/>
      </a:defRPr>
    </a:lvl7pPr>
    <a:lvl8pPr marL="3200400" lvl="7" algn="l" defTabSz="914400" rtl="0" eaLnBrk="1" latinLnBrk="0" hangingPunct="1">
      <a:defRPr sz="1800" kern="1200">
        <a:solidFill>
          <a:schemeClr val="tx1"/>
        </a:solidFill>
        <a:latin typeface="+mn-lt"/>
        <a:ea typeface="+mn-ea"/>
        <a:cs typeface="+mn-cs"/>
      </a:defRPr>
    </a:lvl8pPr>
    <a:lvl9pPr marL="3657600" lvl="8"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Untitled Section" id="{3CD96706-E1FA-485B-A486-A08AC89FA494}">
          <p14:sldIdLst>
            <p14:sldId id="256"/>
            <p14:sldId id="257"/>
            <p14:sldId id="258"/>
            <p14:sldId id="259"/>
            <p14:sldId id="260"/>
            <p14:sldId id="261"/>
            <p14:sldId id="262"/>
            <p14:sldId id="263"/>
            <p14:sldId id="264"/>
            <p14:sldId id="265"/>
            <p14:sldId id="266"/>
            <p14:sldId id="267"/>
            <p14:sldId id="268"/>
            <p14:sldId id="269"/>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8" d="100"/>
          <a:sy n="68" d="100"/>
        </p:scale>
        <p:origin x="792"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3517973-84D7-7691-EEAB-F5B67A2BD76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a:t>Topic: Affordable Refreshable Single-Cell Braille Display</a:t>
            </a:r>
          </a:p>
        </p:txBody>
      </p:sp>
      <p:sp>
        <p:nvSpPr>
          <p:cNvPr id="3" name="Date Placeholder 2">
            <a:extLst>
              <a:ext uri="{FF2B5EF4-FFF2-40B4-BE49-F238E27FC236}">
                <a16:creationId xmlns:a16="http://schemas.microsoft.com/office/drawing/2014/main" id="{B650F4DE-1D45-03FB-FBF8-1B79001EF63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93F0526-C7FF-4D57-B4C9-BAE4E50CA993}" type="datetime1">
              <a:rPr lang="en-IN" smtClean="0"/>
              <a:t>29-07-2026</a:t>
            </a:fld>
            <a:endParaRPr lang="en-IN"/>
          </a:p>
        </p:txBody>
      </p:sp>
      <p:sp>
        <p:nvSpPr>
          <p:cNvPr id="4" name="Footer Placeholder 3">
            <a:extLst>
              <a:ext uri="{FF2B5EF4-FFF2-40B4-BE49-F238E27FC236}">
                <a16:creationId xmlns:a16="http://schemas.microsoft.com/office/drawing/2014/main" id="{3BA0B6D1-2A62-FBC3-68A7-7708701A1AE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CC064DD9-FF4F-752F-014B-CBE4871AEEC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F6F5585-F0D5-4A87-84B0-92A31CB8F52D}" type="slidenum">
              <a:rPr lang="en-IN" smtClean="0"/>
              <a:t>‹#›</a:t>
            </a:fld>
            <a:endParaRPr lang="en-IN"/>
          </a:p>
        </p:txBody>
      </p:sp>
    </p:spTree>
    <p:extLst>
      <p:ext uri="{BB962C8B-B14F-4D97-AF65-F5344CB8AC3E}">
        <p14:creationId xmlns:p14="http://schemas.microsoft.com/office/powerpoint/2010/main" val="118552947"/>
      </p:ext>
    </p:extLst>
  </p:cSld>
  <p:clrMap bg1="lt1" tx1="dk1" bg2="lt2" tx2="dk2" accent1="accent1" accent2="accent2" accent3="accent3" accent4="accent4" accent5="accent5" accent6="accent6" hlink="hlink" folHlink="folHlink"/>
  <p:hf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a:t>Topic: Affordable Refreshable Single-Cell Braille Display</a:t>
            </a: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83F558-326A-4389-8A5E-55945C748209}" type="datetime1">
              <a:rPr lang="en-IN" smtClean="0"/>
              <a:t>29-07-2026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3959520-3BB1-481D-9D58-45751114CB1D}" type="slidenum">
              <a:rPr lang="en-IN" smtClean="0"/>
              <a:t>‹#›</a:t>
            </a:fld>
            <a:endParaRPr lang="en-IN"/>
          </a:p>
        </p:txBody>
      </p:sp>
    </p:spTree>
    <p:extLst>
      <p:ext uri="{BB962C8B-B14F-4D97-AF65-F5344CB8AC3E}">
        <p14:creationId xmlns:p14="http://schemas.microsoft.com/office/powerpoint/2010/main" val="2826218321"/>
      </p:ext>
    </p:extLst>
  </p:cSld>
  <p:clrMap bg1="lt1" tx1="dk1" bg2="lt2" tx2="dk2" accent1="accent1" accent2="accent2" accent3="accent3" accent4="accent4" accent5="accent5" accent6="accent6" hlink="hlink" folHlink="folHlink"/>
  <p:hf ftr="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3959520-3BB1-481D-9D58-45751114CB1D}" type="slidenum">
              <a:rPr lang="en-IN" smtClean="0"/>
              <a:t>2</a:t>
            </a:fld>
            <a:endParaRPr lang="en-IN"/>
          </a:p>
        </p:txBody>
      </p:sp>
      <p:sp>
        <p:nvSpPr>
          <p:cNvPr id="5" name="Header Placeholder 4">
            <a:extLst>
              <a:ext uri="{FF2B5EF4-FFF2-40B4-BE49-F238E27FC236}">
                <a16:creationId xmlns:a16="http://schemas.microsoft.com/office/drawing/2014/main" id="{F586EBD8-AA5A-6EAD-4862-C505C393E4E8}"/>
              </a:ext>
            </a:extLst>
          </p:cNvPr>
          <p:cNvSpPr>
            <a:spLocks noGrp="1"/>
          </p:cNvSpPr>
          <p:nvPr>
            <p:ph type="hdr" sz="quarter"/>
          </p:nvPr>
        </p:nvSpPr>
        <p:spPr/>
        <p:txBody>
          <a:bodyPr/>
          <a:lstStyle/>
          <a:p>
            <a:r>
              <a:rPr lang="en-IN"/>
              <a:t>Topic: Affordable Refreshable Single-Cell Braille Display</a:t>
            </a:r>
          </a:p>
        </p:txBody>
      </p:sp>
      <p:sp>
        <p:nvSpPr>
          <p:cNvPr id="6" name="Date Placeholder 5">
            <a:extLst>
              <a:ext uri="{FF2B5EF4-FFF2-40B4-BE49-F238E27FC236}">
                <a16:creationId xmlns:a16="http://schemas.microsoft.com/office/drawing/2014/main" id="{A67C7CAB-E16F-79A4-4D1A-A33FE23C987D}"/>
              </a:ext>
            </a:extLst>
          </p:cNvPr>
          <p:cNvSpPr>
            <a:spLocks noGrp="1"/>
          </p:cNvSpPr>
          <p:nvPr>
            <p:ph type="dt" idx="1"/>
          </p:nvPr>
        </p:nvSpPr>
        <p:spPr/>
        <p:txBody>
          <a:bodyPr/>
          <a:lstStyle/>
          <a:p>
            <a:fld id="{408C9DEE-D3E1-41E8-A385-750A04E5A8C1}" type="datetime1">
              <a:rPr lang="en-IN" smtClean="0"/>
              <a:t>29-07-2026</a:t>
            </a:fld>
            <a:endParaRPr lang="en-IN"/>
          </a:p>
        </p:txBody>
      </p:sp>
    </p:spTree>
    <p:extLst>
      <p:ext uri="{BB962C8B-B14F-4D97-AF65-F5344CB8AC3E}">
        <p14:creationId xmlns:p14="http://schemas.microsoft.com/office/powerpoint/2010/main" val="28500730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20320868-4ACC-453F-8BA1-0806BB512CA9}" type="datetime1">
              <a:rPr lang="en-IN" smtClean="0"/>
              <a:t>29-07-2026</a:t>
            </a:fld>
            <a:endParaRPr lang="en-IN"/>
          </a:p>
        </p:txBody>
      </p:sp>
      <p:sp>
        <p:nvSpPr>
          <p:cNvPr id="5" name="Footer Placeholder 4"/>
          <p:cNvSpPr>
            <a:spLocks noGrp="1"/>
          </p:cNvSpPr>
          <p:nvPr>
            <p:ph type="ftr" sz="quarter" idx="11"/>
          </p:nvPr>
        </p:nvSpPr>
        <p:spPr/>
        <p:txBody>
          <a:bodyPr/>
          <a:lstStyle/>
          <a:p>
            <a:r>
              <a:rPr lang="en-IN"/>
              <a:t>DEPT OF CSE ( CY )</a:t>
            </a:r>
          </a:p>
        </p:txBody>
      </p:sp>
      <p:sp>
        <p:nvSpPr>
          <p:cNvPr id="6" name="Slide Number Placeholder 5"/>
          <p:cNvSpPr>
            <a:spLocks noGrp="1"/>
          </p:cNvSpPr>
          <p:nvPr>
            <p:ph type="sldNum" sz="quarter" idx="12"/>
          </p:nvPr>
        </p:nvSpPr>
        <p:spPr/>
        <p:txBody>
          <a:bodyPr/>
          <a:lstStyle/>
          <a:p>
            <a:fld id="{7C33CCD4-7228-4506-A3A6-5A9074B2CE31}" type="slidenum">
              <a:rPr lang="en-IN" smtClean="0"/>
              <a:t>‹#›</a:t>
            </a:fld>
            <a:endParaRPr lang="en-IN"/>
          </a:p>
        </p:txBody>
      </p:sp>
    </p:spTree>
    <p:extLst>
      <p:ext uri="{BB962C8B-B14F-4D97-AF65-F5344CB8AC3E}">
        <p14:creationId xmlns:p14="http://schemas.microsoft.com/office/powerpoint/2010/main" val="32265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7F197192-58A8-47CB-9904-C1CC428218C3}" type="datetime1">
              <a:rPr lang="en-IN" smtClean="0"/>
              <a:t>29-07-2026</a:t>
            </a:fld>
            <a:endParaRPr lang="en-IN"/>
          </a:p>
        </p:txBody>
      </p:sp>
      <p:sp>
        <p:nvSpPr>
          <p:cNvPr id="5" name="Footer Placeholder 4"/>
          <p:cNvSpPr>
            <a:spLocks noGrp="1"/>
          </p:cNvSpPr>
          <p:nvPr>
            <p:ph type="ftr" sz="quarter" idx="11"/>
          </p:nvPr>
        </p:nvSpPr>
        <p:spPr/>
        <p:txBody>
          <a:bodyPr/>
          <a:lstStyle/>
          <a:p>
            <a:r>
              <a:rPr lang="en-IN"/>
              <a:t>DEPT OF CSE ( CY )</a:t>
            </a:r>
          </a:p>
        </p:txBody>
      </p:sp>
      <p:sp>
        <p:nvSpPr>
          <p:cNvPr id="6" name="Slide Number Placeholder 5"/>
          <p:cNvSpPr>
            <a:spLocks noGrp="1"/>
          </p:cNvSpPr>
          <p:nvPr>
            <p:ph type="sldNum" sz="quarter" idx="12"/>
          </p:nvPr>
        </p:nvSpPr>
        <p:spPr/>
        <p:txBody>
          <a:bodyPr/>
          <a:lstStyle/>
          <a:p>
            <a:fld id="{7C33CCD4-7228-4506-A3A6-5A9074B2CE31}" type="slidenum">
              <a:rPr lang="en-IN" smtClean="0"/>
              <a:t>‹#›</a:t>
            </a:fld>
            <a:endParaRPr lang="en-IN"/>
          </a:p>
        </p:txBody>
      </p:sp>
    </p:spTree>
    <p:extLst>
      <p:ext uri="{BB962C8B-B14F-4D97-AF65-F5344CB8AC3E}">
        <p14:creationId xmlns:p14="http://schemas.microsoft.com/office/powerpoint/2010/main" val="26674592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A4DA7AD-0627-47E5-8BE3-A11D9F6471D2}" type="datetime1">
              <a:rPr lang="en-IN" smtClean="0"/>
              <a:t>29-07-2026</a:t>
            </a:fld>
            <a:endParaRPr lang="en-IN"/>
          </a:p>
        </p:txBody>
      </p:sp>
      <p:sp>
        <p:nvSpPr>
          <p:cNvPr id="5" name="Footer Placeholder 4"/>
          <p:cNvSpPr>
            <a:spLocks noGrp="1"/>
          </p:cNvSpPr>
          <p:nvPr>
            <p:ph type="ftr" sz="quarter" idx="11"/>
          </p:nvPr>
        </p:nvSpPr>
        <p:spPr/>
        <p:txBody>
          <a:bodyPr/>
          <a:lstStyle/>
          <a:p>
            <a:r>
              <a:rPr lang="en-IN"/>
              <a:t>DEPT OF CSE ( CY )</a:t>
            </a:r>
          </a:p>
        </p:txBody>
      </p:sp>
      <p:sp>
        <p:nvSpPr>
          <p:cNvPr id="6" name="Slide Number Placeholder 5"/>
          <p:cNvSpPr>
            <a:spLocks noGrp="1"/>
          </p:cNvSpPr>
          <p:nvPr>
            <p:ph type="sldNum" sz="quarter" idx="12"/>
          </p:nvPr>
        </p:nvSpPr>
        <p:spPr/>
        <p:txBody>
          <a:bodyPr/>
          <a:lstStyle/>
          <a:p>
            <a:fld id="{7C33CCD4-7228-4506-A3A6-5A9074B2CE31}" type="slidenum">
              <a:rPr lang="en-IN" smtClean="0"/>
              <a:t>‹#›</a:t>
            </a:fld>
            <a:endParaRPr lang="en-IN"/>
          </a:p>
        </p:txBody>
      </p:sp>
    </p:spTree>
    <p:extLst>
      <p:ext uri="{BB962C8B-B14F-4D97-AF65-F5344CB8AC3E}">
        <p14:creationId xmlns:p14="http://schemas.microsoft.com/office/powerpoint/2010/main" val="3071517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AF8F7622-43D7-4ADE-A095-17CB52FAC1C7}" type="datetime1">
              <a:rPr lang="en-IN" smtClean="0"/>
              <a:t>29-07-2026</a:t>
            </a:fld>
            <a:endParaRPr lang="en-IN"/>
          </a:p>
        </p:txBody>
      </p:sp>
      <p:sp>
        <p:nvSpPr>
          <p:cNvPr id="6" name="Footer Placeholder 5"/>
          <p:cNvSpPr>
            <a:spLocks noGrp="1"/>
          </p:cNvSpPr>
          <p:nvPr>
            <p:ph type="ftr" sz="quarter" idx="11"/>
          </p:nvPr>
        </p:nvSpPr>
        <p:spPr/>
        <p:txBody>
          <a:bodyPr/>
          <a:lstStyle/>
          <a:p>
            <a:r>
              <a:rPr lang="en-IN"/>
              <a:t>DEPT OF CSE ( CY )</a:t>
            </a:r>
          </a:p>
        </p:txBody>
      </p:sp>
      <p:sp>
        <p:nvSpPr>
          <p:cNvPr id="7" name="Slide Number Placeholder 6"/>
          <p:cNvSpPr>
            <a:spLocks noGrp="1"/>
          </p:cNvSpPr>
          <p:nvPr>
            <p:ph type="sldNum" sz="quarter" idx="12"/>
          </p:nvPr>
        </p:nvSpPr>
        <p:spPr/>
        <p:txBody>
          <a:bodyPr/>
          <a:lstStyle/>
          <a:p>
            <a:fld id="{7C33CCD4-7228-4506-A3A6-5A9074B2CE31}" type="slidenum">
              <a:rPr lang="en-IN" smtClean="0"/>
              <a:t>‹#›</a:t>
            </a:fld>
            <a:endParaRPr lang="en-IN"/>
          </a:p>
        </p:txBody>
      </p:sp>
    </p:spTree>
    <p:extLst>
      <p:ext uri="{BB962C8B-B14F-4D97-AF65-F5344CB8AC3E}">
        <p14:creationId xmlns:p14="http://schemas.microsoft.com/office/powerpoint/2010/main" val="7459437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C4D72C87-838B-4A61-B2BC-4E0916965C35}" type="datetime1">
              <a:rPr lang="en-IN" smtClean="0"/>
              <a:t>29-07-2026</a:t>
            </a:fld>
            <a:endParaRPr lang="en-IN"/>
          </a:p>
        </p:txBody>
      </p:sp>
      <p:sp>
        <p:nvSpPr>
          <p:cNvPr id="8" name="Footer Placeholder 7"/>
          <p:cNvSpPr>
            <a:spLocks noGrp="1"/>
          </p:cNvSpPr>
          <p:nvPr>
            <p:ph type="ftr" sz="quarter" idx="11"/>
          </p:nvPr>
        </p:nvSpPr>
        <p:spPr/>
        <p:txBody>
          <a:bodyPr/>
          <a:lstStyle/>
          <a:p>
            <a:r>
              <a:rPr lang="en-IN"/>
              <a:t>DEPT OF CSE ( CY )</a:t>
            </a:r>
          </a:p>
        </p:txBody>
      </p:sp>
      <p:sp>
        <p:nvSpPr>
          <p:cNvPr id="9" name="Slide Number Placeholder 8"/>
          <p:cNvSpPr>
            <a:spLocks noGrp="1"/>
          </p:cNvSpPr>
          <p:nvPr>
            <p:ph type="sldNum" sz="quarter" idx="12"/>
          </p:nvPr>
        </p:nvSpPr>
        <p:spPr/>
        <p:txBody>
          <a:bodyPr/>
          <a:lstStyle/>
          <a:p>
            <a:fld id="{7C33CCD4-7228-4506-A3A6-5A9074B2CE31}" type="slidenum">
              <a:rPr lang="en-IN" smtClean="0"/>
              <a:t>‹#›</a:t>
            </a:fld>
            <a:endParaRPr lang="en-IN"/>
          </a:p>
        </p:txBody>
      </p:sp>
    </p:spTree>
    <p:extLst>
      <p:ext uri="{BB962C8B-B14F-4D97-AF65-F5344CB8AC3E}">
        <p14:creationId xmlns:p14="http://schemas.microsoft.com/office/powerpoint/2010/main" val="21970435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7027BAE4-250D-4D2F-A095-8579010F73FB}" type="datetime1">
              <a:rPr lang="en-IN" smtClean="0"/>
              <a:t>29-07-2026</a:t>
            </a:fld>
            <a:endParaRPr lang="en-IN"/>
          </a:p>
        </p:txBody>
      </p:sp>
      <p:sp>
        <p:nvSpPr>
          <p:cNvPr id="4" name="Footer Placeholder 3"/>
          <p:cNvSpPr>
            <a:spLocks noGrp="1"/>
          </p:cNvSpPr>
          <p:nvPr>
            <p:ph type="ftr" sz="quarter" idx="11"/>
          </p:nvPr>
        </p:nvSpPr>
        <p:spPr/>
        <p:txBody>
          <a:bodyPr/>
          <a:lstStyle/>
          <a:p>
            <a:r>
              <a:rPr lang="en-IN"/>
              <a:t>DEPT OF CSE ( CY )</a:t>
            </a:r>
          </a:p>
        </p:txBody>
      </p:sp>
      <p:sp>
        <p:nvSpPr>
          <p:cNvPr id="5" name="Slide Number Placeholder 4"/>
          <p:cNvSpPr>
            <a:spLocks noGrp="1"/>
          </p:cNvSpPr>
          <p:nvPr>
            <p:ph type="sldNum" sz="quarter" idx="12"/>
          </p:nvPr>
        </p:nvSpPr>
        <p:spPr/>
        <p:txBody>
          <a:bodyPr/>
          <a:lstStyle/>
          <a:p>
            <a:fld id="{7C33CCD4-7228-4506-A3A6-5A9074B2CE31}" type="slidenum">
              <a:rPr lang="en-IN" smtClean="0"/>
              <a:t>‹#›</a:t>
            </a:fld>
            <a:endParaRPr lang="en-IN"/>
          </a:p>
        </p:txBody>
      </p:sp>
    </p:spTree>
    <p:extLst>
      <p:ext uri="{BB962C8B-B14F-4D97-AF65-F5344CB8AC3E}">
        <p14:creationId xmlns:p14="http://schemas.microsoft.com/office/powerpoint/2010/main" val="30548704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436E724-B9FA-473A-9066-81D0F226CF98}" type="datetime1">
              <a:rPr lang="en-IN" smtClean="0"/>
              <a:t>29-07-2026</a:t>
            </a:fld>
            <a:endParaRPr lang="en-IN"/>
          </a:p>
        </p:txBody>
      </p:sp>
      <p:sp>
        <p:nvSpPr>
          <p:cNvPr id="3" name="Footer Placeholder 2"/>
          <p:cNvSpPr>
            <a:spLocks noGrp="1"/>
          </p:cNvSpPr>
          <p:nvPr>
            <p:ph type="ftr" sz="quarter" idx="11"/>
          </p:nvPr>
        </p:nvSpPr>
        <p:spPr/>
        <p:txBody>
          <a:bodyPr/>
          <a:lstStyle/>
          <a:p>
            <a:r>
              <a:rPr lang="en-IN"/>
              <a:t>DEPT OF CSE ( CY )</a:t>
            </a:r>
          </a:p>
        </p:txBody>
      </p:sp>
      <p:sp>
        <p:nvSpPr>
          <p:cNvPr id="4" name="Slide Number Placeholder 3"/>
          <p:cNvSpPr>
            <a:spLocks noGrp="1"/>
          </p:cNvSpPr>
          <p:nvPr>
            <p:ph type="sldNum" sz="quarter" idx="12"/>
          </p:nvPr>
        </p:nvSpPr>
        <p:spPr/>
        <p:txBody>
          <a:bodyPr/>
          <a:lstStyle/>
          <a:p>
            <a:fld id="{7C33CCD4-7228-4506-A3A6-5A9074B2CE31}" type="slidenum">
              <a:rPr lang="en-IN" smtClean="0"/>
              <a:t>‹#›</a:t>
            </a:fld>
            <a:endParaRPr lang="en-IN"/>
          </a:p>
        </p:txBody>
      </p:sp>
    </p:spTree>
    <p:extLst>
      <p:ext uri="{BB962C8B-B14F-4D97-AF65-F5344CB8AC3E}">
        <p14:creationId xmlns:p14="http://schemas.microsoft.com/office/powerpoint/2010/main" val="8880308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46E4669-2634-4F75-A240-636274CA1FC6}" type="datetime1">
              <a:rPr lang="en-IN" smtClean="0"/>
              <a:t>29-07-2026</a:t>
            </a:fld>
            <a:endParaRPr lang="en-IN"/>
          </a:p>
        </p:txBody>
      </p:sp>
      <p:sp>
        <p:nvSpPr>
          <p:cNvPr id="6" name="Footer Placeholder 5"/>
          <p:cNvSpPr>
            <a:spLocks noGrp="1"/>
          </p:cNvSpPr>
          <p:nvPr>
            <p:ph type="ftr" sz="quarter" idx="11"/>
          </p:nvPr>
        </p:nvSpPr>
        <p:spPr/>
        <p:txBody>
          <a:bodyPr/>
          <a:lstStyle/>
          <a:p>
            <a:r>
              <a:rPr lang="en-IN"/>
              <a:t>DEPT OF CSE ( CY )</a:t>
            </a:r>
          </a:p>
        </p:txBody>
      </p:sp>
      <p:sp>
        <p:nvSpPr>
          <p:cNvPr id="7" name="Slide Number Placeholder 6"/>
          <p:cNvSpPr>
            <a:spLocks noGrp="1"/>
          </p:cNvSpPr>
          <p:nvPr>
            <p:ph type="sldNum" sz="quarter" idx="12"/>
          </p:nvPr>
        </p:nvSpPr>
        <p:spPr/>
        <p:txBody>
          <a:bodyPr/>
          <a:lstStyle/>
          <a:p>
            <a:fld id="{7C33CCD4-7228-4506-A3A6-5A9074B2CE31}" type="slidenum">
              <a:rPr lang="en-IN" smtClean="0"/>
              <a:t>‹#›</a:t>
            </a:fld>
            <a:endParaRPr lang="en-IN"/>
          </a:p>
        </p:txBody>
      </p:sp>
    </p:spTree>
    <p:extLst>
      <p:ext uri="{BB962C8B-B14F-4D97-AF65-F5344CB8AC3E}">
        <p14:creationId xmlns:p14="http://schemas.microsoft.com/office/powerpoint/2010/main" val="16928572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45E7699-965A-4677-8AEC-59FB1164AFEC}" type="datetime1">
              <a:rPr lang="en-IN" smtClean="0"/>
              <a:t>29-07-2026</a:t>
            </a:fld>
            <a:endParaRPr lang="en-IN"/>
          </a:p>
        </p:txBody>
      </p:sp>
      <p:sp>
        <p:nvSpPr>
          <p:cNvPr id="6" name="Footer Placeholder 5"/>
          <p:cNvSpPr>
            <a:spLocks noGrp="1"/>
          </p:cNvSpPr>
          <p:nvPr>
            <p:ph type="ftr" sz="quarter" idx="11"/>
          </p:nvPr>
        </p:nvSpPr>
        <p:spPr/>
        <p:txBody>
          <a:bodyPr/>
          <a:lstStyle/>
          <a:p>
            <a:r>
              <a:rPr lang="en-IN"/>
              <a:t>DEPT OF CSE ( CY )</a:t>
            </a:r>
          </a:p>
        </p:txBody>
      </p:sp>
      <p:sp>
        <p:nvSpPr>
          <p:cNvPr id="7" name="Slide Number Placeholder 6"/>
          <p:cNvSpPr>
            <a:spLocks noGrp="1"/>
          </p:cNvSpPr>
          <p:nvPr>
            <p:ph type="sldNum" sz="quarter" idx="12"/>
          </p:nvPr>
        </p:nvSpPr>
        <p:spPr/>
        <p:txBody>
          <a:bodyPr/>
          <a:lstStyle/>
          <a:p>
            <a:fld id="{7C33CCD4-7228-4506-A3A6-5A9074B2CE31}" type="slidenum">
              <a:rPr lang="en-IN" smtClean="0"/>
              <a:t>‹#›</a:t>
            </a:fld>
            <a:endParaRPr lang="en-IN"/>
          </a:p>
        </p:txBody>
      </p:sp>
    </p:spTree>
    <p:extLst>
      <p:ext uri="{BB962C8B-B14F-4D97-AF65-F5344CB8AC3E}">
        <p14:creationId xmlns:p14="http://schemas.microsoft.com/office/powerpoint/2010/main" val="10764349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229322D4-A136-410A-8FB3-0747F75550AE}" type="datetime1">
              <a:rPr lang="en-IN" smtClean="0"/>
              <a:t>29-07-2026</a:t>
            </a:fld>
            <a:endParaRPr lang="en-IN"/>
          </a:p>
        </p:txBody>
      </p:sp>
      <p:sp>
        <p:nvSpPr>
          <p:cNvPr id="5" name="Footer Placeholder 4"/>
          <p:cNvSpPr>
            <a:spLocks noGrp="1"/>
          </p:cNvSpPr>
          <p:nvPr>
            <p:ph type="ftr" sz="quarter" idx="11"/>
          </p:nvPr>
        </p:nvSpPr>
        <p:spPr/>
        <p:txBody>
          <a:bodyPr/>
          <a:lstStyle/>
          <a:p>
            <a:r>
              <a:rPr lang="en-IN"/>
              <a:t>DEPT OF CSE ( CY )</a:t>
            </a:r>
          </a:p>
        </p:txBody>
      </p:sp>
      <p:sp>
        <p:nvSpPr>
          <p:cNvPr id="6" name="Slide Number Placeholder 5"/>
          <p:cNvSpPr>
            <a:spLocks noGrp="1"/>
          </p:cNvSpPr>
          <p:nvPr>
            <p:ph type="sldNum" sz="quarter" idx="12"/>
          </p:nvPr>
        </p:nvSpPr>
        <p:spPr/>
        <p:txBody>
          <a:bodyPr/>
          <a:lstStyle/>
          <a:p>
            <a:fld id="{7C33CCD4-7228-4506-A3A6-5A9074B2CE31}" type="slidenum">
              <a:rPr lang="en-IN" smtClean="0"/>
              <a:t>‹#›</a:t>
            </a:fld>
            <a:endParaRPr lang="en-IN"/>
          </a:p>
        </p:txBody>
      </p:sp>
    </p:spTree>
    <p:extLst>
      <p:ext uri="{BB962C8B-B14F-4D97-AF65-F5344CB8AC3E}">
        <p14:creationId xmlns:p14="http://schemas.microsoft.com/office/powerpoint/2010/main" val="9867943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5248345C-DB21-4227-851F-F42DA21B209A}" type="datetime1">
              <a:rPr lang="en-IN" smtClean="0"/>
              <a:t>29-07-2026</a:t>
            </a:fld>
            <a:endParaRPr lang="en-IN"/>
          </a:p>
        </p:txBody>
      </p:sp>
      <p:sp>
        <p:nvSpPr>
          <p:cNvPr id="5" name="Footer Placeholder 4"/>
          <p:cNvSpPr>
            <a:spLocks noGrp="1"/>
          </p:cNvSpPr>
          <p:nvPr>
            <p:ph type="ftr" sz="quarter" idx="11"/>
          </p:nvPr>
        </p:nvSpPr>
        <p:spPr/>
        <p:txBody>
          <a:bodyPr/>
          <a:lstStyle/>
          <a:p>
            <a:r>
              <a:rPr lang="en-IN"/>
              <a:t>DEPT OF CSE ( CY )</a:t>
            </a:r>
          </a:p>
        </p:txBody>
      </p:sp>
      <p:sp>
        <p:nvSpPr>
          <p:cNvPr id="6" name="Slide Number Placeholder 5"/>
          <p:cNvSpPr>
            <a:spLocks noGrp="1"/>
          </p:cNvSpPr>
          <p:nvPr>
            <p:ph type="sldNum" sz="quarter" idx="12"/>
          </p:nvPr>
        </p:nvSpPr>
        <p:spPr/>
        <p:txBody>
          <a:bodyPr/>
          <a:lstStyle/>
          <a:p>
            <a:fld id="{7C33CCD4-7228-4506-A3A6-5A9074B2CE31}" type="slidenum">
              <a:rPr lang="en-IN" smtClean="0"/>
              <a:t>‹#›</a:t>
            </a:fld>
            <a:endParaRPr lang="en-IN"/>
          </a:p>
        </p:txBody>
      </p:sp>
    </p:spTree>
    <p:extLst>
      <p:ext uri="{BB962C8B-B14F-4D97-AF65-F5344CB8AC3E}">
        <p14:creationId xmlns:p14="http://schemas.microsoft.com/office/powerpoint/2010/main" val="21127615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332E88A-0F64-45A6-B6D8-6142D1C29649}" type="datetime1">
              <a:rPr lang="en-IN" smtClean="0"/>
              <a:t>29-07-2026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DEPT OF CSE ( CY )</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C33CCD4-7228-4506-A3A6-5A9074B2CE31}" type="slidenum">
              <a:rPr lang="en-IN" smtClean="0"/>
              <a:t>‹#›</a:t>
            </a:fld>
            <a:endParaRPr lang="en-IN"/>
          </a:p>
        </p:txBody>
      </p:sp>
    </p:spTree>
    <p:extLst>
      <p:ext uri="{BB962C8B-B14F-4D97-AF65-F5344CB8AC3E}">
        <p14:creationId xmlns:p14="http://schemas.microsoft.com/office/powerpoint/2010/main" val="333529894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jecc.etlab.in/teacher/viewsubject/93460551045?sub_id=1916076829214&amp;sem_id=116225560662" TargetMode="External"/><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1251" y="243144"/>
            <a:ext cx="10579260" cy="1747701"/>
          </a:xfrm>
          <a:prstGeom prst="rect">
            <a:avLst/>
          </a:prstGeom>
        </p:spPr>
      </p:pic>
      <p:sp>
        <p:nvSpPr>
          <p:cNvPr id="7" name="Google Shape;185;p1"/>
          <p:cNvSpPr txBox="1">
            <a:spLocks/>
          </p:cNvSpPr>
          <p:nvPr/>
        </p:nvSpPr>
        <p:spPr bwMode="auto">
          <a:xfrm>
            <a:off x="1844889" y="2239060"/>
            <a:ext cx="9722822" cy="4618940"/>
          </a:xfrm>
          <a:prstGeom prst="rect">
            <a:avLst/>
          </a:prstGeom>
          <a:noFill/>
          <a:ln>
            <a:noFill/>
          </a:ln>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14300" indent="0" algn="ctr">
              <a:buSzPts val="1800"/>
              <a:buFont typeface="Arial" panose="020B0604020202020204" pitchFamily="34" charset="0"/>
              <a:buNone/>
              <a:defRPr/>
            </a:pPr>
            <a:endParaRPr lang="en-US" sz="5400" b="1" dirty="0">
              <a:solidFill>
                <a:srgbClr val="C0504D"/>
              </a:solidFill>
              <a:latin typeface="Times New Roman"/>
              <a:ea typeface="Times New Roman"/>
              <a:cs typeface="Times New Roman"/>
            </a:endParaRPr>
          </a:p>
          <a:p>
            <a:pPr marL="0" indent="0" algn="l">
              <a:buNone/>
            </a:pPr>
            <a:r>
              <a:rPr lang="en-IN" sz="4000" b="1" i="0" u="none" strike="noStrike" dirty="0">
                <a:solidFill>
                  <a:schemeClr val="accent2">
                    <a:lumMod val="75000"/>
                  </a:schemeClr>
                </a:solidFill>
                <a:effectLst/>
                <a:latin typeface="Helvetica Neue"/>
                <a:hlinkClick r:id="rId3">
                  <a:extLst>
                    <a:ext uri="{A12FA001-AC4F-418D-AE19-62706E023703}">
                      <ahyp:hlinkClr xmlns:ahyp="http://schemas.microsoft.com/office/drawing/2018/hyperlinkcolor" val="tx"/>
                    </a:ext>
                  </a:extLst>
                </a:hlinkClick>
              </a:rPr>
              <a:t>PBCST504 – MICROCONTROLLERS</a:t>
            </a:r>
            <a:endParaRPr lang="en-IN" sz="4000" b="1" i="0" u="none" strike="noStrike" dirty="0">
              <a:solidFill>
                <a:schemeClr val="accent2">
                  <a:lumMod val="75000"/>
                </a:schemeClr>
              </a:solidFill>
              <a:effectLst/>
              <a:latin typeface="Helvetica Neue"/>
            </a:endParaRPr>
          </a:p>
          <a:p>
            <a:pPr marL="0" indent="0" algn="ctr">
              <a:buNone/>
            </a:pPr>
            <a:r>
              <a:rPr lang="en-IN" sz="4000" b="1" dirty="0">
                <a:solidFill>
                  <a:schemeClr val="accent2">
                    <a:lumMod val="75000"/>
                  </a:schemeClr>
                </a:solidFill>
                <a:latin typeface="Helvetica Neue"/>
              </a:rPr>
              <a:t>MICRO PROJECT</a:t>
            </a:r>
            <a:endParaRPr lang="en-IN" sz="4000" b="1" i="0" dirty="0">
              <a:solidFill>
                <a:schemeClr val="accent2">
                  <a:lumMod val="75000"/>
                </a:schemeClr>
              </a:solidFill>
              <a:effectLst/>
              <a:latin typeface="Helvetica Neue"/>
            </a:endParaRPr>
          </a:p>
          <a:p>
            <a:pPr marL="114300" indent="0" algn="ctr">
              <a:buSzPts val="1800"/>
              <a:buNone/>
              <a:defRPr/>
            </a:pPr>
            <a:endParaRPr lang="en-US" sz="5400" b="1" dirty="0">
              <a:solidFill>
                <a:srgbClr val="C0504D"/>
              </a:solidFill>
              <a:latin typeface="Times New Roman"/>
              <a:cs typeface="Times New Roman"/>
            </a:endParaRPr>
          </a:p>
          <a:p>
            <a:pPr marL="114300" indent="0" algn="ctr">
              <a:buSzPts val="1800"/>
              <a:buNone/>
              <a:defRPr/>
            </a:pPr>
            <a:r>
              <a:rPr lang="en-US" sz="4800" b="1" dirty="0">
                <a:solidFill>
                  <a:srgbClr val="7030A0"/>
                </a:solidFill>
                <a:latin typeface="Times New Roman"/>
                <a:cs typeface="Times New Roman"/>
              </a:rPr>
              <a:t>Zeroth Review</a:t>
            </a:r>
            <a:endParaRPr lang="en-US" sz="4800" b="1" dirty="0">
              <a:solidFill>
                <a:srgbClr val="7030A0"/>
              </a:solidFill>
            </a:endParaRPr>
          </a:p>
        </p:txBody>
      </p:sp>
      <p:sp>
        <p:nvSpPr>
          <p:cNvPr id="2" name="Date Placeholder 1">
            <a:extLst>
              <a:ext uri="{FF2B5EF4-FFF2-40B4-BE49-F238E27FC236}">
                <a16:creationId xmlns:a16="http://schemas.microsoft.com/office/drawing/2014/main" id="{52ED35B1-3D93-20C5-544D-3693E79DC3B5}"/>
              </a:ext>
            </a:extLst>
          </p:cNvPr>
          <p:cNvSpPr>
            <a:spLocks noGrp="1"/>
          </p:cNvSpPr>
          <p:nvPr>
            <p:ph type="dt" sz="half" idx="10"/>
          </p:nvPr>
        </p:nvSpPr>
        <p:spPr/>
        <p:txBody>
          <a:bodyPr/>
          <a:lstStyle/>
          <a:p>
            <a:fld id="{C755BDC8-8334-4F27-9B0C-03E78A5C3341}" type="datetime1">
              <a:rPr lang="en-IN" smtClean="0"/>
              <a:t>29-07-2026</a:t>
            </a:fld>
            <a:endParaRPr lang="en-IN"/>
          </a:p>
        </p:txBody>
      </p:sp>
      <p:sp>
        <p:nvSpPr>
          <p:cNvPr id="3" name="Footer Placeholder 2">
            <a:extLst>
              <a:ext uri="{FF2B5EF4-FFF2-40B4-BE49-F238E27FC236}">
                <a16:creationId xmlns:a16="http://schemas.microsoft.com/office/drawing/2014/main" id="{328806A6-B1D0-4226-9147-033EF6F2B4DD}"/>
              </a:ext>
            </a:extLst>
          </p:cNvPr>
          <p:cNvSpPr>
            <a:spLocks noGrp="1"/>
          </p:cNvSpPr>
          <p:nvPr>
            <p:ph type="ftr" sz="quarter" idx="11"/>
          </p:nvPr>
        </p:nvSpPr>
        <p:spPr/>
        <p:txBody>
          <a:bodyPr/>
          <a:lstStyle/>
          <a:p>
            <a:r>
              <a:rPr lang="en-IN"/>
              <a:t>DEPT OF CSE ( CY )</a:t>
            </a:r>
          </a:p>
        </p:txBody>
      </p:sp>
      <p:sp>
        <p:nvSpPr>
          <p:cNvPr id="4" name="Slide Number Placeholder 3">
            <a:extLst>
              <a:ext uri="{FF2B5EF4-FFF2-40B4-BE49-F238E27FC236}">
                <a16:creationId xmlns:a16="http://schemas.microsoft.com/office/drawing/2014/main" id="{11FA1221-FC52-4BEF-7868-34C0DC8DAE8B}"/>
              </a:ext>
            </a:extLst>
          </p:cNvPr>
          <p:cNvSpPr>
            <a:spLocks noGrp="1"/>
          </p:cNvSpPr>
          <p:nvPr>
            <p:ph type="sldNum" sz="quarter" idx="12"/>
          </p:nvPr>
        </p:nvSpPr>
        <p:spPr/>
        <p:txBody>
          <a:bodyPr/>
          <a:lstStyle/>
          <a:p>
            <a:fld id="{7C33CCD4-7228-4506-A3A6-5A9074B2CE31}" type="slidenum">
              <a:rPr lang="en-IN" smtClean="0"/>
              <a:t>1</a:t>
            </a:fld>
            <a:endParaRPr lang="en-IN"/>
          </a:p>
        </p:txBody>
      </p:sp>
      <p:sp>
        <p:nvSpPr>
          <p:cNvPr id="5" name="TextBox 9">
            <a:extLst>
              <a:ext uri="{FF2B5EF4-FFF2-40B4-BE49-F238E27FC236}">
                <a16:creationId xmlns:a16="http://schemas.microsoft.com/office/drawing/2014/main" id="{3AB792BC-A01A-14C8-9264-F41D456BD881}"/>
              </a:ext>
            </a:extLst>
          </p:cNvPr>
          <p:cNvSpPr txBox="1"/>
          <p:nvPr/>
        </p:nvSpPr>
        <p:spPr>
          <a:xfrm>
            <a:off x="4038600" y="-1975"/>
            <a:ext cx="5859379" cy="276999"/>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a:t> </a:t>
            </a:r>
            <a:r>
              <a:rPr lang="en-US" sz="1200" dirty="0">
                <a:solidFill>
                  <a:schemeClr val="tx1">
                    <a:lumMod val="50000"/>
                    <a:lumOff val="50000"/>
                  </a:schemeClr>
                </a:solidFill>
              </a:rPr>
              <a:t> Topic :  Affordable Refreshable Single-Cell Braille Display</a:t>
            </a:r>
            <a:endParaRPr lang="en-IN" sz="1200" dirty="0"/>
          </a:p>
        </p:txBody>
      </p:sp>
    </p:spTree>
    <p:extLst>
      <p:ext uri="{BB962C8B-B14F-4D97-AF65-F5344CB8AC3E}">
        <p14:creationId xmlns:p14="http://schemas.microsoft.com/office/powerpoint/2010/main" val="12410100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91251" y="243144"/>
            <a:ext cx="10579260" cy="1747701"/>
          </a:xfrm>
          <a:prstGeom prst="rect">
            <a:avLst/>
          </a:prstGeom>
        </p:spPr>
      </p:pic>
      <p:sp>
        <p:nvSpPr>
          <p:cNvPr id="7" name="Google Shape;185;p1"/>
          <p:cNvSpPr txBox="1">
            <a:spLocks/>
          </p:cNvSpPr>
          <p:nvPr/>
        </p:nvSpPr>
        <p:spPr bwMode="auto">
          <a:xfrm>
            <a:off x="1907591" y="1723059"/>
            <a:ext cx="8838900" cy="4618940"/>
          </a:xfrm>
          <a:prstGeom prst="rect">
            <a:avLst/>
          </a:prstGeom>
          <a:noFill/>
          <a:ln>
            <a:noFill/>
          </a:ln>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14300" indent="0" algn="just">
              <a:buSzPts val="1800"/>
              <a:buFont typeface="Arial" panose="020B0604020202020204" pitchFamily="34" charset="0"/>
              <a:buNone/>
              <a:defRPr/>
            </a:pPr>
            <a:endParaRPr lang="en-US" b="1" dirty="0">
              <a:solidFill>
                <a:srgbClr val="C0504D"/>
              </a:solidFill>
              <a:latin typeface="Times New Roman"/>
              <a:ea typeface="Times New Roman"/>
              <a:cs typeface="Times New Roman"/>
            </a:endParaRPr>
          </a:p>
          <a:p>
            <a:pPr marL="114300" indent="0" algn="just">
              <a:buSzPts val="1800"/>
              <a:buFont typeface="Arial" panose="020B0604020202020204" pitchFamily="34" charset="0"/>
              <a:buNone/>
              <a:defRPr/>
            </a:pPr>
            <a:r>
              <a:rPr lang="en-US" b="1" dirty="0">
                <a:solidFill>
                  <a:srgbClr val="0070C0"/>
                </a:solidFill>
                <a:latin typeface="Times New Roman"/>
                <a:ea typeface="Times New Roman"/>
                <a:cs typeface="Times New Roman"/>
              </a:rPr>
              <a:t>Title:- </a:t>
            </a:r>
            <a:r>
              <a:rPr lang="en-US" b="1" dirty="0" err="1">
                <a:solidFill>
                  <a:srgbClr val="0070C0"/>
                </a:solidFill>
                <a:latin typeface="Times New Roman"/>
                <a:ea typeface="Times New Roman"/>
                <a:cs typeface="Times New Roman"/>
              </a:rPr>
              <a:t>OpenBraille</a:t>
            </a:r>
            <a:r>
              <a:rPr lang="en-US" b="1" dirty="0">
                <a:solidFill>
                  <a:srgbClr val="0070C0"/>
                </a:solidFill>
                <a:latin typeface="Times New Roman"/>
                <a:ea typeface="Times New Roman"/>
                <a:cs typeface="Times New Roman"/>
              </a:rPr>
              <a:t>: Affordable Refreshable Single-Cell Braille Display</a:t>
            </a:r>
            <a:endParaRPr lang="en-US" dirty="0">
              <a:solidFill>
                <a:srgbClr val="0070C0"/>
              </a:solidFill>
            </a:endParaRPr>
          </a:p>
        </p:txBody>
      </p:sp>
      <p:sp>
        <p:nvSpPr>
          <p:cNvPr id="8" name="Google Shape;187;p1"/>
          <p:cNvSpPr txBox="1">
            <a:spLocks/>
          </p:cNvSpPr>
          <p:nvPr/>
        </p:nvSpPr>
        <p:spPr bwMode="auto">
          <a:xfrm>
            <a:off x="170707" y="3621988"/>
            <a:ext cx="4948707" cy="2038199"/>
          </a:xfrm>
          <a:prstGeom prst="rect">
            <a:avLst/>
          </a:prstGeom>
          <a:noFill/>
          <a:ln>
            <a:noFill/>
          </a:ln>
        </p:spPr>
        <p:txBody>
          <a:bodyPr spcFirstLastPara="1" wrap="square" lIns="0" tIns="0" rIns="0" bIns="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14300" indent="0">
              <a:buSzPts val="1800"/>
              <a:buFont typeface="Arial" panose="020B0604020202020204" pitchFamily="34" charset="0"/>
              <a:buNone/>
              <a:defRPr/>
            </a:pPr>
            <a:r>
              <a:rPr lang="en-US" dirty="0">
                <a:solidFill>
                  <a:srgbClr val="00B050"/>
                </a:solidFill>
                <a:latin typeface="Times New Roman" panose="02020603050405020304" pitchFamily="18" charset="0"/>
                <a:cs typeface="Times New Roman" panose="02020603050405020304" pitchFamily="18" charset="0"/>
              </a:rPr>
              <a:t>Group No: Group 8</a:t>
            </a:r>
          </a:p>
          <a:p>
            <a:pPr marL="114300" indent="0">
              <a:buSzPts val="1800"/>
              <a:buNone/>
              <a:defRPr/>
            </a:pPr>
            <a:r>
              <a:rPr lang="en-US" dirty="0">
                <a:solidFill>
                  <a:srgbClr val="C00000"/>
                </a:solidFill>
                <a:latin typeface="Times New Roman" panose="02020603050405020304" pitchFamily="18" charset="0"/>
                <a:cs typeface="Times New Roman" panose="02020603050405020304" pitchFamily="18" charset="0"/>
              </a:rPr>
              <a:t>Members:</a:t>
            </a:r>
          </a:p>
          <a:p>
            <a:pPr marL="114300" indent="0">
              <a:buSzPts val="1800"/>
              <a:buNone/>
              <a:defRPr/>
            </a:pPr>
            <a:r>
              <a:rPr lang="en-US" dirty="0">
                <a:solidFill>
                  <a:srgbClr val="C00000"/>
                </a:solidFill>
                <a:latin typeface="Times New Roman" panose="02020603050405020304" pitchFamily="18" charset="0"/>
                <a:cs typeface="Times New Roman" panose="02020603050405020304" pitchFamily="18" charset="0"/>
              </a:rPr>
              <a:t> </a:t>
            </a:r>
            <a:r>
              <a:rPr lang="en-US" sz="2400" dirty="0">
                <a:solidFill>
                  <a:srgbClr val="C00000"/>
                </a:solidFill>
                <a:latin typeface="Times New Roman" panose="02020603050405020304" pitchFamily="18" charset="0"/>
                <a:cs typeface="Times New Roman" panose="02020603050405020304" pitchFamily="18" charset="0"/>
              </a:rPr>
              <a:t>Amith Krishna Das – JEC24CC016</a:t>
            </a:r>
          </a:p>
          <a:p>
            <a:pPr marL="114300" indent="0">
              <a:buSzPts val="1800"/>
              <a:buNone/>
              <a:defRPr/>
            </a:pPr>
            <a:r>
              <a:rPr lang="en-US" sz="2400" dirty="0">
                <a:solidFill>
                  <a:srgbClr val="C00000"/>
                </a:solidFill>
                <a:latin typeface="Times New Roman" panose="02020603050405020304" pitchFamily="18" charset="0"/>
                <a:cs typeface="Times New Roman" panose="02020603050405020304" pitchFamily="18" charset="0"/>
              </a:rPr>
              <a:t> Archa Pramod – JEC24CC22</a:t>
            </a:r>
          </a:p>
          <a:p>
            <a:pPr marL="114300" indent="0">
              <a:buSzPts val="1800"/>
              <a:buNone/>
              <a:defRPr/>
            </a:pPr>
            <a:r>
              <a:rPr lang="en-US" sz="2400" dirty="0">
                <a:solidFill>
                  <a:srgbClr val="C00000"/>
                </a:solidFill>
                <a:latin typeface="Times New Roman" panose="02020603050405020304" pitchFamily="18" charset="0"/>
                <a:cs typeface="Times New Roman" panose="02020603050405020304" pitchFamily="18" charset="0"/>
              </a:rPr>
              <a:t> Nihad P C – JEC24CC044</a:t>
            </a:r>
          </a:p>
          <a:p>
            <a:pPr marL="114300" indent="0">
              <a:buSzPts val="1800"/>
              <a:buNone/>
              <a:defRPr/>
            </a:pPr>
            <a:r>
              <a:rPr lang="en-US" sz="2400" dirty="0">
                <a:solidFill>
                  <a:srgbClr val="C00000"/>
                </a:solidFill>
                <a:latin typeface="Times New Roman" panose="02020603050405020304" pitchFamily="18" charset="0"/>
                <a:cs typeface="Times New Roman" panose="02020603050405020304" pitchFamily="18" charset="0"/>
              </a:rPr>
              <a:t> Sreehari K – JEC24CC055</a:t>
            </a:r>
          </a:p>
          <a:p>
            <a:pPr marL="114300" indent="0">
              <a:buSzPts val="1800"/>
              <a:buNone/>
              <a:defRPr/>
            </a:pPr>
            <a:r>
              <a:rPr lang="en-US" sz="2400" dirty="0">
                <a:solidFill>
                  <a:srgbClr val="C00000"/>
                </a:solidFill>
                <a:latin typeface="Times New Roman" panose="02020603050405020304" pitchFamily="18" charset="0"/>
                <a:cs typeface="Times New Roman" panose="02020603050405020304" pitchFamily="18" charset="0"/>
              </a:rPr>
              <a:t> </a:t>
            </a:r>
            <a:r>
              <a:rPr lang="en-US" sz="2400" dirty="0" err="1">
                <a:solidFill>
                  <a:srgbClr val="C00000"/>
                </a:solidFill>
                <a:latin typeface="Times New Roman" panose="02020603050405020304" pitchFamily="18" charset="0"/>
                <a:cs typeface="Times New Roman" panose="02020603050405020304" pitchFamily="18" charset="0"/>
              </a:rPr>
              <a:t>Sreeprada</a:t>
            </a:r>
            <a:r>
              <a:rPr lang="en-US" sz="2400" dirty="0">
                <a:solidFill>
                  <a:srgbClr val="C00000"/>
                </a:solidFill>
                <a:latin typeface="Times New Roman" panose="02020603050405020304" pitchFamily="18" charset="0"/>
                <a:cs typeface="Times New Roman" panose="02020603050405020304" pitchFamily="18" charset="0"/>
              </a:rPr>
              <a:t> K S – JEC24CC056</a:t>
            </a:r>
          </a:p>
          <a:p>
            <a:pPr marL="114300" indent="0">
              <a:buSzPts val="1800"/>
              <a:buNone/>
              <a:defRPr/>
            </a:pPr>
            <a:r>
              <a:rPr lang="en-US" dirty="0">
                <a:solidFill>
                  <a:srgbClr val="C00000"/>
                </a:solidFill>
                <a:latin typeface="Times New Roman" panose="02020603050405020304" pitchFamily="18" charset="0"/>
                <a:cs typeface="Times New Roman" panose="02020603050405020304" pitchFamily="18" charset="0"/>
              </a:rPr>
              <a:t>       </a:t>
            </a:r>
          </a:p>
          <a:p>
            <a:pPr marL="114300" indent="0">
              <a:buSzPts val="1800"/>
              <a:buFont typeface="Arial" panose="020B0604020202020204" pitchFamily="34" charset="0"/>
              <a:buNone/>
              <a:defRPr/>
            </a:pPr>
            <a:endParaRPr lang="en-US" dirty="0">
              <a:solidFill>
                <a:srgbClr val="C00000"/>
              </a:solidFill>
              <a:latin typeface="Times New Roman" panose="02020603050405020304" pitchFamily="18" charset="0"/>
              <a:cs typeface="Times New Roman" panose="02020603050405020304" pitchFamily="18" charset="0"/>
            </a:endParaRPr>
          </a:p>
        </p:txBody>
      </p:sp>
      <p:sp>
        <p:nvSpPr>
          <p:cNvPr id="9" name="Google Shape;186;p1"/>
          <p:cNvSpPr txBox="1">
            <a:spLocks/>
          </p:cNvSpPr>
          <p:nvPr/>
        </p:nvSpPr>
        <p:spPr bwMode="auto">
          <a:xfrm>
            <a:off x="8331238" y="5134941"/>
            <a:ext cx="4015500" cy="1323600"/>
          </a:xfrm>
          <a:prstGeom prst="rect">
            <a:avLst/>
          </a:prstGeom>
          <a:noFill/>
          <a:ln>
            <a:noFill/>
          </a:ln>
        </p:spPr>
        <p:txBody>
          <a:bodyPr spcFirstLastPara="1" wrap="square" lIns="0" tIns="0" rIns="0" bIns="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14300" indent="0">
              <a:buSzPts val="1800"/>
              <a:buFont typeface="Arial" panose="020B0604020202020204" pitchFamily="34" charset="0"/>
              <a:buNone/>
              <a:defRPr/>
            </a:pPr>
            <a:r>
              <a:rPr lang="en-US" b="1" dirty="0">
                <a:solidFill>
                  <a:schemeClr val="bg2">
                    <a:lumMod val="10000"/>
                  </a:schemeClr>
                </a:solidFill>
                <a:latin typeface="Times New Roman" panose="02020603050405020304" pitchFamily="18" charset="0"/>
                <a:cs typeface="Times New Roman" panose="02020603050405020304" pitchFamily="18" charset="0"/>
              </a:rPr>
              <a:t>Project Coordinator:</a:t>
            </a:r>
          </a:p>
          <a:p>
            <a:pPr marL="114300" indent="0">
              <a:buSzPts val="1800"/>
              <a:buFont typeface="Arial" panose="020B0604020202020204" pitchFamily="34" charset="0"/>
              <a:buNone/>
              <a:defRPr/>
            </a:pPr>
            <a:r>
              <a:rPr lang="en-US" dirty="0" err="1">
                <a:solidFill>
                  <a:schemeClr val="bg2">
                    <a:lumMod val="10000"/>
                  </a:schemeClr>
                </a:solidFill>
                <a:latin typeface="Times New Roman" panose="02020603050405020304" pitchFamily="18" charset="0"/>
                <a:cs typeface="Times New Roman" panose="02020603050405020304" pitchFamily="18" charset="0"/>
              </a:rPr>
              <a:t>Ms.Sagna</a:t>
            </a:r>
            <a:r>
              <a:rPr lang="en-US" dirty="0">
                <a:solidFill>
                  <a:schemeClr val="bg2">
                    <a:lumMod val="10000"/>
                  </a:schemeClr>
                </a:solidFill>
                <a:latin typeface="Times New Roman" panose="02020603050405020304" pitchFamily="18" charset="0"/>
                <a:cs typeface="Times New Roman" panose="02020603050405020304" pitchFamily="18" charset="0"/>
              </a:rPr>
              <a:t> L T</a:t>
            </a:r>
          </a:p>
          <a:p>
            <a:pPr marL="114300" indent="0">
              <a:buSzPts val="1800"/>
              <a:buFont typeface="Arial" panose="020B0604020202020204" pitchFamily="34" charset="0"/>
              <a:buNone/>
              <a:defRPr/>
            </a:pPr>
            <a:r>
              <a:rPr lang="en-US" dirty="0">
                <a:solidFill>
                  <a:schemeClr val="bg2">
                    <a:lumMod val="10000"/>
                  </a:schemeClr>
                </a:solidFill>
                <a:latin typeface="Times New Roman" panose="02020603050405020304" pitchFamily="18" charset="0"/>
                <a:cs typeface="Times New Roman" panose="02020603050405020304" pitchFamily="18" charset="0"/>
              </a:rPr>
              <a:t>Asst. Prof. CSE(CY)</a:t>
            </a:r>
          </a:p>
          <a:p>
            <a:pPr marL="114300" indent="0">
              <a:buSzPts val="1800"/>
              <a:buFont typeface="Arial" panose="020B0604020202020204" pitchFamily="34" charset="0"/>
              <a:buNone/>
              <a:defRPr/>
            </a:pPr>
            <a:endParaRPr lang="en-US" dirty="0">
              <a:solidFill>
                <a:schemeClr val="bg2">
                  <a:lumMod val="10000"/>
                </a:schemeClr>
              </a:solidFill>
            </a:endParaRPr>
          </a:p>
        </p:txBody>
      </p:sp>
      <p:sp>
        <p:nvSpPr>
          <p:cNvPr id="2" name="Date Placeholder 1">
            <a:extLst>
              <a:ext uri="{FF2B5EF4-FFF2-40B4-BE49-F238E27FC236}">
                <a16:creationId xmlns:a16="http://schemas.microsoft.com/office/drawing/2014/main" id="{A2842690-9E2F-DB55-55AE-5C4F1643213C}"/>
              </a:ext>
            </a:extLst>
          </p:cNvPr>
          <p:cNvSpPr>
            <a:spLocks noGrp="1"/>
          </p:cNvSpPr>
          <p:nvPr>
            <p:ph type="dt" sz="half" idx="10"/>
          </p:nvPr>
        </p:nvSpPr>
        <p:spPr/>
        <p:txBody>
          <a:bodyPr/>
          <a:lstStyle/>
          <a:p>
            <a:fld id="{40E340CE-53D8-436A-A9F8-CBF0E8A33AD7}" type="datetime1">
              <a:rPr lang="en-IN" smtClean="0"/>
              <a:t>29-07-2026</a:t>
            </a:fld>
            <a:endParaRPr lang="en-IN"/>
          </a:p>
        </p:txBody>
      </p:sp>
      <p:sp>
        <p:nvSpPr>
          <p:cNvPr id="3" name="Footer Placeholder 2">
            <a:extLst>
              <a:ext uri="{FF2B5EF4-FFF2-40B4-BE49-F238E27FC236}">
                <a16:creationId xmlns:a16="http://schemas.microsoft.com/office/drawing/2014/main" id="{FD0190F3-3084-F4FD-508C-98616FB8C6CE}"/>
              </a:ext>
            </a:extLst>
          </p:cNvPr>
          <p:cNvSpPr>
            <a:spLocks noGrp="1"/>
          </p:cNvSpPr>
          <p:nvPr>
            <p:ph type="ftr" sz="quarter" idx="11"/>
          </p:nvPr>
        </p:nvSpPr>
        <p:spPr/>
        <p:txBody>
          <a:bodyPr/>
          <a:lstStyle/>
          <a:p>
            <a:r>
              <a:rPr lang="en-IN"/>
              <a:t>DEPT OF CSE ( CY )</a:t>
            </a:r>
          </a:p>
        </p:txBody>
      </p:sp>
      <p:sp>
        <p:nvSpPr>
          <p:cNvPr id="4" name="Slide Number Placeholder 3">
            <a:extLst>
              <a:ext uri="{FF2B5EF4-FFF2-40B4-BE49-F238E27FC236}">
                <a16:creationId xmlns:a16="http://schemas.microsoft.com/office/drawing/2014/main" id="{90B94586-5358-F379-FC19-BB6632DB446C}"/>
              </a:ext>
            </a:extLst>
          </p:cNvPr>
          <p:cNvSpPr>
            <a:spLocks noGrp="1"/>
          </p:cNvSpPr>
          <p:nvPr>
            <p:ph type="sldNum" sz="quarter" idx="12"/>
          </p:nvPr>
        </p:nvSpPr>
        <p:spPr/>
        <p:txBody>
          <a:bodyPr/>
          <a:lstStyle/>
          <a:p>
            <a:fld id="{7C33CCD4-7228-4506-A3A6-5A9074B2CE31}" type="slidenum">
              <a:rPr lang="en-IN" smtClean="0"/>
              <a:t>2</a:t>
            </a:fld>
            <a:endParaRPr lang="en-IN"/>
          </a:p>
        </p:txBody>
      </p:sp>
      <p:sp>
        <p:nvSpPr>
          <p:cNvPr id="5" name="TextBox 9">
            <a:extLst>
              <a:ext uri="{FF2B5EF4-FFF2-40B4-BE49-F238E27FC236}">
                <a16:creationId xmlns:a16="http://schemas.microsoft.com/office/drawing/2014/main" id="{15B3F3B3-C96D-92C8-B8B6-13CFBC0EA7AD}"/>
              </a:ext>
            </a:extLst>
          </p:cNvPr>
          <p:cNvSpPr txBox="1"/>
          <p:nvPr/>
        </p:nvSpPr>
        <p:spPr>
          <a:xfrm>
            <a:off x="4038600" y="-1975"/>
            <a:ext cx="5859379" cy="276999"/>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a:t> </a:t>
            </a:r>
            <a:r>
              <a:rPr lang="en-US" sz="1200" dirty="0">
                <a:solidFill>
                  <a:schemeClr val="tx1">
                    <a:lumMod val="50000"/>
                    <a:lumOff val="50000"/>
                  </a:schemeClr>
                </a:solidFill>
              </a:rPr>
              <a:t> Topic :  Affordable Refreshable Single-Cell Braille Display</a:t>
            </a:r>
            <a:endParaRPr lang="en-IN" sz="1200" dirty="0"/>
          </a:p>
        </p:txBody>
      </p:sp>
    </p:spTree>
    <p:extLst>
      <p:ext uri="{BB962C8B-B14F-4D97-AF65-F5344CB8AC3E}">
        <p14:creationId xmlns:p14="http://schemas.microsoft.com/office/powerpoint/2010/main" val="9989084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1251" y="243144"/>
            <a:ext cx="10579260" cy="1747701"/>
          </a:xfrm>
          <a:prstGeom prst="rect">
            <a:avLst/>
          </a:prstGeom>
        </p:spPr>
      </p:pic>
      <p:sp>
        <p:nvSpPr>
          <p:cNvPr id="10" name="Google Shape;154;p28"/>
          <p:cNvSpPr txBox="1">
            <a:spLocks/>
          </p:cNvSpPr>
          <p:nvPr/>
        </p:nvSpPr>
        <p:spPr bwMode="auto">
          <a:xfrm>
            <a:off x="785806" y="1990845"/>
            <a:ext cx="11033220" cy="4693534"/>
          </a:xfrm>
          <a:prstGeom prst="rect">
            <a:avLst/>
          </a:prstGeom>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defRPr/>
            </a:pPr>
            <a:r>
              <a:rPr lang="en-US" b="1" dirty="0">
                <a:latin typeface="Times New Roman"/>
                <a:ea typeface="Times New Roman"/>
                <a:cs typeface="Times New Roman"/>
              </a:rPr>
              <a:t>DEPARTMENT OF COMPUTER SCIENCE &amp; ENGINEERING </a:t>
            </a:r>
          </a:p>
          <a:p>
            <a:pPr marL="0" indent="0" algn="ctr">
              <a:buFont typeface="Arial" panose="020B0604020202020204" pitchFamily="34" charset="0"/>
              <a:buNone/>
              <a:defRPr/>
            </a:pPr>
            <a:r>
              <a:rPr lang="en-US" b="1" dirty="0">
                <a:latin typeface="Times New Roman"/>
                <a:ea typeface="Times New Roman"/>
                <a:cs typeface="Times New Roman"/>
              </a:rPr>
              <a:t>(Cyber Security)</a:t>
            </a:r>
          </a:p>
          <a:p>
            <a:pPr marL="0" indent="0" algn="ctr">
              <a:buFont typeface="Arial" panose="020B0604020202020204" pitchFamily="34" charset="0"/>
              <a:buNone/>
              <a:defRPr/>
            </a:pPr>
            <a:r>
              <a:rPr lang="en-US" b="1" dirty="0"/>
              <a:t> </a:t>
            </a:r>
            <a:r>
              <a:rPr lang="en-US" sz="2100" b="1" dirty="0">
                <a:latin typeface="Times New Roman"/>
                <a:ea typeface="Times New Roman"/>
                <a:cs typeface="Times New Roman"/>
              </a:rPr>
              <a:t>Vision of the Department</a:t>
            </a:r>
          </a:p>
          <a:p>
            <a:pPr marL="0" indent="0" algn="ctr">
              <a:lnSpc>
                <a:spcPct val="150000"/>
              </a:lnSpc>
              <a:buNone/>
              <a:defRPr/>
            </a:pPr>
            <a:r>
              <a:rPr lang="en-IN" sz="2000" dirty="0">
                <a:solidFill>
                  <a:srgbClr val="000000"/>
                </a:solidFill>
                <a:effectLst/>
                <a:latin typeface="Times New Roman" panose="02020603050405020304" pitchFamily="18" charset="0"/>
                <a:ea typeface="Times New Roman" panose="02020603050405020304" pitchFamily="18" charset="0"/>
              </a:rPr>
              <a:t>To be a globally recognized centre of excellence in Cyber Security education, research and innovation by nurturing ethical professionals , fostering technological advancement through responsible practice and contributing to a secure and sustainable digital society.</a:t>
            </a:r>
            <a:endParaRPr lang="en-IN" sz="2000" dirty="0">
              <a:effectLst/>
              <a:latin typeface="Arial" panose="020B0604020202020204" pitchFamily="34" charset="0"/>
              <a:ea typeface="Arial" panose="020B0604020202020204" pitchFamily="34" charset="0"/>
            </a:endParaRPr>
          </a:p>
          <a:p>
            <a:pPr marL="0" indent="0" algn="ctr">
              <a:buFont typeface="Arial" panose="020B0604020202020204" pitchFamily="34" charset="0"/>
              <a:buNone/>
              <a:defRPr/>
            </a:pPr>
            <a:endParaRPr lang="en-US" sz="2100" b="1" dirty="0">
              <a:latin typeface="Times New Roman"/>
              <a:ea typeface="Times New Roman"/>
              <a:cs typeface="Times New Roman"/>
            </a:endParaRPr>
          </a:p>
          <a:p>
            <a:pPr marL="0" indent="0">
              <a:buClr>
                <a:schemeClr val="dk1"/>
              </a:buClr>
              <a:buSzPts val="1100"/>
              <a:buFont typeface="Arial"/>
              <a:buNone/>
              <a:defRPr/>
            </a:pPr>
            <a:endParaRPr lang="en-US" sz="2100" dirty="0">
              <a:latin typeface="Times New Roman"/>
              <a:ea typeface="Times New Roman"/>
              <a:cs typeface="Times New Roman"/>
            </a:endParaRPr>
          </a:p>
          <a:p>
            <a:pPr marL="0" indent="0">
              <a:buFont typeface="Arial" panose="020B0604020202020204" pitchFamily="34" charset="0"/>
              <a:buNone/>
              <a:defRPr/>
            </a:pPr>
            <a:endParaRPr lang="en-US" sz="1700" dirty="0">
              <a:latin typeface="Times New Roman"/>
              <a:ea typeface="Times New Roman"/>
              <a:cs typeface="Times New Roman"/>
            </a:endParaRPr>
          </a:p>
          <a:p>
            <a:pPr marL="0" indent="0">
              <a:buClr>
                <a:schemeClr val="dk1"/>
              </a:buClr>
              <a:buSzPts val="1100"/>
              <a:buFont typeface="Arial"/>
              <a:buNone/>
              <a:defRPr/>
            </a:pPr>
            <a:endParaRPr lang="en-US" sz="1300" dirty="0">
              <a:latin typeface="Times New Roman"/>
              <a:ea typeface="Times New Roman"/>
              <a:cs typeface="Times New Roman"/>
            </a:endParaRPr>
          </a:p>
          <a:p>
            <a:pPr marL="0" indent="0">
              <a:buFont typeface="Arial" panose="020B0604020202020204" pitchFamily="34" charset="0"/>
              <a:buNone/>
              <a:defRPr/>
            </a:pPr>
            <a:endParaRPr lang="en-US" sz="600" dirty="0">
              <a:latin typeface="Times New Roman"/>
              <a:ea typeface="Times New Roman"/>
              <a:cs typeface="Times New Roman"/>
            </a:endParaRPr>
          </a:p>
        </p:txBody>
      </p:sp>
      <p:sp>
        <p:nvSpPr>
          <p:cNvPr id="2" name="Date Placeholder 1">
            <a:extLst>
              <a:ext uri="{FF2B5EF4-FFF2-40B4-BE49-F238E27FC236}">
                <a16:creationId xmlns:a16="http://schemas.microsoft.com/office/drawing/2014/main" id="{5CA61C5A-777F-0022-5663-60129BFB925C}"/>
              </a:ext>
            </a:extLst>
          </p:cNvPr>
          <p:cNvSpPr>
            <a:spLocks noGrp="1"/>
          </p:cNvSpPr>
          <p:nvPr>
            <p:ph type="dt" sz="half" idx="10"/>
          </p:nvPr>
        </p:nvSpPr>
        <p:spPr/>
        <p:txBody>
          <a:bodyPr/>
          <a:lstStyle/>
          <a:p>
            <a:fld id="{E69CD237-C6A8-4214-9BEC-FF44FA889976}" type="datetime1">
              <a:rPr lang="en-IN" smtClean="0"/>
              <a:t>29-07-2026</a:t>
            </a:fld>
            <a:endParaRPr lang="en-IN"/>
          </a:p>
        </p:txBody>
      </p:sp>
      <p:sp>
        <p:nvSpPr>
          <p:cNvPr id="3" name="Footer Placeholder 2">
            <a:extLst>
              <a:ext uri="{FF2B5EF4-FFF2-40B4-BE49-F238E27FC236}">
                <a16:creationId xmlns:a16="http://schemas.microsoft.com/office/drawing/2014/main" id="{12E43546-1913-E2CA-A6C9-15C5FB95F0FE}"/>
              </a:ext>
            </a:extLst>
          </p:cNvPr>
          <p:cNvSpPr>
            <a:spLocks noGrp="1"/>
          </p:cNvSpPr>
          <p:nvPr>
            <p:ph type="ftr" sz="quarter" idx="11"/>
          </p:nvPr>
        </p:nvSpPr>
        <p:spPr/>
        <p:txBody>
          <a:bodyPr/>
          <a:lstStyle/>
          <a:p>
            <a:r>
              <a:rPr lang="en-IN"/>
              <a:t>DEPT OF CSE ( CY )</a:t>
            </a:r>
          </a:p>
        </p:txBody>
      </p:sp>
      <p:sp>
        <p:nvSpPr>
          <p:cNvPr id="4" name="Slide Number Placeholder 3">
            <a:extLst>
              <a:ext uri="{FF2B5EF4-FFF2-40B4-BE49-F238E27FC236}">
                <a16:creationId xmlns:a16="http://schemas.microsoft.com/office/drawing/2014/main" id="{9989FB71-7F4F-656D-DBCF-94D53B666484}"/>
              </a:ext>
            </a:extLst>
          </p:cNvPr>
          <p:cNvSpPr>
            <a:spLocks noGrp="1"/>
          </p:cNvSpPr>
          <p:nvPr>
            <p:ph type="sldNum" sz="quarter" idx="12"/>
          </p:nvPr>
        </p:nvSpPr>
        <p:spPr/>
        <p:txBody>
          <a:bodyPr/>
          <a:lstStyle/>
          <a:p>
            <a:fld id="{7C33CCD4-7228-4506-A3A6-5A9074B2CE31}" type="slidenum">
              <a:rPr lang="en-IN" smtClean="0"/>
              <a:t>3</a:t>
            </a:fld>
            <a:endParaRPr lang="en-IN"/>
          </a:p>
        </p:txBody>
      </p:sp>
      <p:sp>
        <p:nvSpPr>
          <p:cNvPr id="5" name="TextBox 9">
            <a:extLst>
              <a:ext uri="{FF2B5EF4-FFF2-40B4-BE49-F238E27FC236}">
                <a16:creationId xmlns:a16="http://schemas.microsoft.com/office/drawing/2014/main" id="{1376B5C2-53C2-899D-A9FC-782DA5A536D3}"/>
              </a:ext>
            </a:extLst>
          </p:cNvPr>
          <p:cNvSpPr txBox="1"/>
          <p:nvPr/>
        </p:nvSpPr>
        <p:spPr>
          <a:xfrm>
            <a:off x="4038600" y="-1975"/>
            <a:ext cx="5859379" cy="276999"/>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a:t> </a:t>
            </a:r>
            <a:r>
              <a:rPr lang="en-US" sz="1200" dirty="0">
                <a:solidFill>
                  <a:schemeClr val="tx1">
                    <a:lumMod val="50000"/>
                    <a:lumOff val="50000"/>
                  </a:schemeClr>
                </a:solidFill>
              </a:rPr>
              <a:t> Topic :  Affordable Refreshable Single-Cell Braille Display</a:t>
            </a:r>
            <a:endParaRPr lang="en-IN" sz="1200" dirty="0"/>
          </a:p>
        </p:txBody>
      </p:sp>
    </p:spTree>
    <p:extLst>
      <p:ext uri="{BB962C8B-B14F-4D97-AF65-F5344CB8AC3E}">
        <p14:creationId xmlns:p14="http://schemas.microsoft.com/office/powerpoint/2010/main" val="605122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5869F6-06A2-2C9C-FE5E-4FD031430E3D}"/>
              </a:ext>
            </a:extLst>
          </p:cNvPr>
          <p:cNvSpPr>
            <a:spLocks noGrp="1"/>
          </p:cNvSpPr>
          <p:nvPr>
            <p:ph type="title"/>
          </p:nvPr>
        </p:nvSpPr>
        <p:spPr/>
        <p:txBody>
          <a:bodyPr>
            <a:normAutofit/>
          </a:bodyPr>
          <a:lstStyle/>
          <a:p>
            <a:r>
              <a:rPr lang="en-US" sz="100" b="1" dirty="0"/>
              <a:t>.</a:t>
            </a:r>
            <a:endParaRPr lang="en-IN" sz="100" b="1" dirty="0"/>
          </a:p>
        </p:txBody>
      </p:sp>
      <p:sp>
        <p:nvSpPr>
          <p:cNvPr id="3" name="Content Placeholder 2">
            <a:extLst>
              <a:ext uri="{FF2B5EF4-FFF2-40B4-BE49-F238E27FC236}">
                <a16:creationId xmlns:a16="http://schemas.microsoft.com/office/drawing/2014/main" id="{1BCCBBEA-1434-6DE1-CA55-FFE665791840}"/>
              </a:ext>
            </a:extLst>
          </p:cNvPr>
          <p:cNvSpPr>
            <a:spLocks noGrp="1"/>
          </p:cNvSpPr>
          <p:nvPr>
            <p:ph idx="1"/>
          </p:nvPr>
        </p:nvSpPr>
        <p:spPr>
          <a:xfrm>
            <a:off x="838200" y="2220261"/>
            <a:ext cx="10515600" cy="4351338"/>
          </a:xfrm>
        </p:spPr>
        <p:txBody>
          <a:bodyPr>
            <a:normAutofit fontScale="92500" lnSpcReduction="10000"/>
          </a:bodyPr>
          <a:lstStyle/>
          <a:p>
            <a:pPr marL="0" indent="0" algn="ctr">
              <a:buFont typeface="Arial" panose="020B0604020202020204" pitchFamily="34" charset="0"/>
              <a:buNone/>
              <a:defRPr/>
            </a:pPr>
            <a:r>
              <a:rPr lang="en-US" b="1" dirty="0">
                <a:latin typeface="Times New Roman"/>
                <a:ea typeface="Times New Roman"/>
                <a:cs typeface="Times New Roman"/>
              </a:rPr>
              <a:t>DEPARTMENT OF COMPUTER SCIENCE &amp; ENGINEERING </a:t>
            </a:r>
          </a:p>
          <a:p>
            <a:pPr marL="0" indent="0" algn="ctr">
              <a:buFont typeface="Arial" panose="020B0604020202020204" pitchFamily="34" charset="0"/>
              <a:buNone/>
              <a:defRPr/>
            </a:pPr>
            <a:r>
              <a:rPr lang="en-US" b="1" dirty="0">
                <a:latin typeface="Times New Roman"/>
                <a:ea typeface="Times New Roman"/>
                <a:cs typeface="Times New Roman"/>
              </a:rPr>
              <a:t>(Cyber Security)</a:t>
            </a:r>
          </a:p>
          <a:p>
            <a:pPr marL="0" indent="0" algn="ctr">
              <a:buNone/>
              <a:defRPr/>
            </a:pPr>
            <a:r>
              <a:rPr lang="en-US" b="1" dirty="0"/>
              <a:t> </a:t>
            </a:r>
            <a:r>
              <a:rPr lang="en-US" sz="2800" b="1" dirty="0">
                <a:latin typeface="Times New Roman"/>
                <a:ea typeface="Times New Roman"/>
                <a:cs typeface="Times New Roman"/>
              </a:rPr>
              <a:t>Mission of the Department</a:t>
            </a:r>
          </a:p>
          <a:p>
            <a:pPr algn="just">
              <a:spcBef>
                <a:spcPts val="1125"/>
              </a:spcBef>
              <a:spcAft>
                <a:spcPts val="1125"/>
              </a:spcAft>
            </a:pPr>
            <a:r>
              <a:rPr lang="en-IN" sz="1800" b="1" dirty="0">
                <a:effectLst/>
                <a:latin typeface="Times New Roman" panose="02020603050405020304" pitchFamily="18" charset="0"/>
                <a:ea typeface="Times New Roman" panose="02020603050405020304" pitchFamily="18" charset="0"/>
              </a:rPr>
              <a:t>M1: Excellence in Education</a:t>
            </a:r>
            <a:r>
              <a:rPr lang="en-IN" sz="1800" b="1" dirty="0">
                <a:latin typeface="Arial" panose="020B0604020202020204" pitchFamily="34" charset="0"/>
              </a:rPr>
              <a:t> : </a:t>
            </a:r>
            <a:r>
              <a:rPr lang="en-IN" sz="1800" dirty="0">
                <a:solidFill>
                  <a:srgbClr val="000000"/>
                </a:solidFill>
                <a:effectLst/>
                <a:latin typeface="Times New Roman" panose="02020603050405020304" pitchFamily="18" charset="0"/>
                <a:ea typeface="Times New Roman" panose="02020603050405020304" pitchFamily="18" charset="0"/>
              </a:rPr>
              <a:t>To provide outcome-based and industry-oriented education by integrating core computer science principles with advanced cybersecurity technologies and practices.</a:t>
            </a:r>
            <a:endParaRPr lang="en-IN" sz="1800" dirty="0">
              <a:effectLst/>
              <a:latin typeface="Arial" panose="020B0604020202020204" pitchFamily="34" charset="0"/>
              <a:ea typeface="Arial" panose="020B0604020202020204" pitchFamily="34" charset="0"/>
            </a:endParaRPr>
          </a:p>
          <a:p>
            <a:pPr algn="just">
              <a:spcBef>
                <a:spcPts val="1125"/>
              </a:spcBef>
              <a:spcAft>
                <a:spcPts val="1125"/>
              </a:spcAft>
            </a:pPr>
            <a:r>
              <a:rPr lang="en-IN" sz="1800" b="1" dirty="0">
                <a:effectLst/>
                <a:latin typeface="Times New Roman" panose="02020603050405020304" pitchFamily="18" charset="0"/>
                <a:ea typeface="Times New Roman" panose="02020603050405020304" pitchFamily="18" charset="0"/>
              </a:rPr>
              <a:t>M2: Ethics and Professional Responsibility : </a:t>
            </a:r>
            <a:r>
              <a:rPr lang="en-IN" sz="1800" dirty="0">
                <a:solidFill>
                  <a:srgbClr val="000000"/>
                </a:solidFill>
                <a:effectLst/>
                <a:latin typeface="Times New Roman" panose="02020603050405020304" pitchFamily="18" charset="0"/>
                <a:ea typeface="Times New Roman" panose="02020603050405020304" pitchFamily="18" charset="0"/>
              </a:rPr>
              <a:t>To cultivate ethical values, integrity, social responsibility, and secure computing practices for protecting digital assets and strengthening cyber trust.</a:t>
            </a:r>
            <a:endParaRPr lang="en-IN" sz="1800" dirty="0">
              <a:effectLst/>
              <a:latin typeface="Arial" panose="020B0604020202020204" pitchFamily="34" charset="0"/>
              <a:ea typeface="Arial" panose="020B0604020202020204" pitchFamily="34" charset="0"/>
            </a:endParaRPr>
          </a:p>
          <a:p>
            <a:pPr algn="just">
              <a:spcBef>
                <a:spcPts val="1125"/>
              </a:spcBef>
              <a:spcAft>
                <a:spcPts val="1125"/>
              </a:spcAft>
            </a:pPr>
            <a:r>
              <a:rPr lang="en-IN" sz="1800" b="1" dirty="0">
                <a:effectLst/>
                <a:latin typeface="Times New Roman" panose="02020603050405020304" pitchFamily="18" charset="0"/>
                <a:ea typeface="Times New Roman" panose="02020603050405020304" pitchFamily="18" charset="0"/>
              </a:rPr>
              <a:t>M3: Research, Innovation, and Entrepreneurship : </a:t>
            </a:r>
            <a:r>
              <a:rPr lang="en-IN" sz="1800" dirty="0">
                <a:solidFill>
                  <a:srgbClr val="000000"/>
                </a:solidFill>
                <a:effectLst/>
                <a:latin typeface="Times New Roman" panose="02020603050405020304" pitchFamily="18" charset="0"/>
                <a:ea typeface="Times New Roman" panose="02020603050405020304" pitchFamily="18" charset="0"/>
              </a:rPr>
              <a:t>To promote research, innovation, and entrepreneurial thinking for developing sustainable solutions to emerging cybersecurity challenges.</a:t>
            </a:r>
            <a:endParaRPr lang="en-IN" sz="1800" dirty="0">
              <a:effectLst/>
              <a:latin typeface="Arial" panose="020B0604020202020204" pitchFamily="34" charset="0"/>
              <a:ea typeface="Arial" panose="020B0604020202020204" pitchFamily="34" charset="0"/>
            </a:endParaRPr>
          </a:p>
          <a:p>
            <a:pPr algn="just">
              <a:spcBef>
                <a:spcPts val="1200"/>
              </a:spcBef>
              <a:spcAft>
                <a:spcPts val="1200"/>
              </a:spcAft>
            </a:pPr>
            <a:r>
              <a:rPr lang="en-IN" sz="1800" b="1" dirty="0">
                <a:effectLst/>
                <a:latin typeface="Times New Roman" panose="02020603050405020304" pitchFamily="18" charset="0"/>
                <a:ea typeface="Times New Roman" panose="02020603050405020304" pitchFamily="18" charset="0"/>
              </a:rPr>
              <a:t>M4: Holistic and Global Development : </a:t>
            </a:r>
            <a:r>
              <a:rPr lang="en-IN" sz="1800" dirty="0">
                <a:solidFill>
                  <a:srgbClr val="000000"/>
                </a:solidFill>
                <a:effectLst/>
                <a:latin typeface="Times New Roman" panose="02020603050405020304" pitchFamily="18" charset="0"/>
                <a:ea typeface="Times New Roman" panose="02020603050405020304" pitchFamily="18" charset="0"/>
              </a:rPr>
              <a:t>To enhance leadership, teamwork, lifelong learning, and global competence through industry collaboration, interdisciplinary activities, and community engagement.</a:t>
            </a:r>
            <a:endParaRPr lang="en-US" b="1" dirty="0">
              <a:latin typeface="Times New Roman"/>
              <a:ea typeface="Times New Roman"/>
              <a:cs typeface="Times New Roman"/>
            </a:endParaRPr>
          </a:p>
          <a:p>
            <a:pPr marL="0" indent="0" algn="ctr">
              <a:buFont typeface="Arial" panose="020B0604020202020204" pitchFamily="34" charset="0"/>
              <a:buNone/>
              <a:defRPr/>
            </a:pPr>
            <a:endParaRPr lang="en-US" b="1" dirty="0">
              <a:latin typeface="Times New Roman"/>
              <a:ea typeface="Times New Roman"/>
              <a:cs typeface="Times New Roman"/>
            </a:endParaRPr>
          </a:p>
        </p:txBody>
      </p:sp>
      <p:pic>
        <p:nvPicPr>
          <p:cNvPr id="4" name="Picture 3">
            <a:extLst>
              <a:ext uri="{FF2B5EF4-FFF2-40B4-BE49-F238E27FC236}">
                <a16:creationId xmlns:a16="http://schemas.microsoft.com/office/drawing/2014/main" id="{828CC5CA-38F7-B56F-B512-4FD8B75F85C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45487" y="365125"/>
            <a:ext cx="10579260" cy="1747701"/>
          </a:xfrm>
          <a:prstGeom prst="rect">
            <a:avLst/>
          </a:prstGeom>
        </p:spPr>
      </p:pic>
      <p:sp>
        <p:nvSpPr>
          <p:cNvPr id="5" name="Date Placeholder 4">
            <a:extLst>
              <a:ext uri="{FF2B5EF4-FFF2-40B4-BE49-F238E27FC236}">
                <a16:creationId xmlns:a16="http://schemas.microsoft.com/office/drawing/2014/main" id="{7128C6E4-B15B-9924-2F18-D199FDB504C2}"/>
              </a:ext>
            </a:extLst>
          </p:cNvPr>
          <p:cNvSpPr>
            <a:spLocks noGrp="1"/>
          </p:cNvSpPr>
          <p:nvPr>
            <p:ph type="dt" sz="half" idx="10"/>
          </p:nvPr>
        </p:nvSpPr>
        <p:spPr/>
        <p:txBody>
          <a:bodyPr/>
          <a:lstStyle/>
          <a:p>
            <a:fld id="{C8DB5465-321E-4643-BA15-F944BD5825C6}" type="datetime1">
              <a:rPr lang="en-IN" smtClean="0"/>
              <a:t>29-07-2026</a:t>
            </a:fld>
            <a:endParaRPr lang="en-IN"/>
          </a:p>
        </p:txBody>
      </p:sp>
      <p:sp>
        <p:nvSpPr>
          <p:cNvPr id="6" name="Footer Placeholder 5">
            <a:extLst>
              <a:ext uri="{FF2B5EF4-FFF2-40B4-BE49-F238E27FC236}">
                <a16:creationId xmlns:a16="http://schemas.microsoft.com/office/drawing/2014/main" id="{DF57FEA8-131A-48A4-1D0E-FEC976B35242}"/>
              </a:ext>
            </a:extLst>
          </p:cNvPr>
          <p:cNvSpPr>
            <a:spLocks noGrp="1"/>
          </p:cNvSpPr>
          <p:nvPr>
            <p:ph type="ftr" sz="quarter" idx="11"/>
          </p:nvPr>
        </p:nvSpPr>
        <p:spPr/>
        <p:txBody>
          <a:bodyPr/>
          <a:lstStyle/>
          <a:p>
            <a:r>
              <a:rPr lang="en-IN"/>
              <a:t>DEPT OF CSE ( CY )</a:t>
            </a:r>
          </a:p>
        </p:txBody>
      </p:sp>
      <p:sp>
        <p:nvSpPr>
          <p:cNvPr id="7" name="Slide Number Placeholder 6">
            <a:extLst>
              <a:ext uri="{FF2B5EF4-FFF2-40B4-BE49-F238E27FC236}">
                <a16:creationId xmlns:a16="http://schemas.microsoft.com/office/drawing/2014/main" id="{6FD1FC75-746D-34FD-6F9E-515D09BD79FD}"/>
              </a:ext>
            </a:extLst>
          </p:cNvPr>
          <p:cNvSpPr>
            <a:spLocks noGrp="1"/>
          </p:cNvSpPr>
          <p:nvPr>
            <p:ph type="sldNum" sz="quarter" idx="12"/>
          </p:nvPr>
        </p:nvSpPr>
        <p:spPr/>
        <p:txBody>
          <a:bodyPr/>
          <a:lstStyle/>
          <a:p>
            <a:fld id="{7C33CCD4-7228-4506-A3A6-5A9074B2CE31}" type="slidenum">
              <a:rPr lang="en-IN" smtClean="0"/>
              <a:t>4</a:t>
            </a:fld>
            <a:endParaRPr lang="en-IN"/>
          </a:p>
        </p:txBody>
      </p:sp>
      <p:sp>
        <p:nvSpPr>
          <p:cNvPr id="8" name="TextBox 9">
            <a:extLst>
              <a:ext uri="{FF2B5EF4-FFF2-40B4-BE49-F238E27FC236}">
                <a16:creationId xmlns:a16="http://schemas.microsoft.com/office/drawing/2014/main" id="{64313EB9-34D7-147D-7511-F9F60074B711}"/>
              </a:ext>
            </a:extLst>
          </p:cNvPr>
          <p:cNvSpPr txBox="1"/>
          <p:nvPr/>
        </p:nvSpPr>
        <p:spPr>
          <a:xfrm>
            <a:off x="4038600" y="-1975"/>
            <a:ext cx="5859379" cy="276999"/>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a:t> </a:t>
            </a:r>
            <a:r>
              <a:rPr lang="en-US" sz="1200" dirty="0">
                <a:solidFill>
                  <a:schemeClr val="tx1">
                    <a:lumMod val="50000"/>
                    <a:lumOff val="50000"/>
                  </a:schemeClr>
                </a:solidFill>
              </a:rPr>
              <a:t> Topic :  Affordable Refreshable Single-Cell Braille Display</a:t>
            </a:r>
            <a:endParaRPr lang="en-IN" sz="1200" dirty="0"/>
          </a:p>
        </p:txBody>
      </p:sp>
    </p:spTree>
    <p:extLst>
      <p:ext uri="{BB962C8B-B14F-4D97-AF65-F5344CB8AC3E}">
        <p14:creationId xmlns:p14="http://schemas.microsoft.com/office/powerpoint/2010/main" val="28365535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1251" y="243144"/>
            <a:ext cx="10579260" cy="1747701"/>
          </a:xfrm>
          <a:prstGeom prst="rect">
            <a:avLst/>
          </a:prstGeom>
        </p:spPr>
      </p:pic>
      <p:sp>
        <p:nvSpPr>
          <p:cNvPr id="4" name="Google Shape;159;p29"/>
          <p:cNvSpPr txBox="1">
            <a:spLocks/>
          </p:cNvSpPr>
          <p:nvPr/>
        </p:nvSpPr>
        <p:spPr bwMode="auto">
          <a:xfrm>
            <a:off x="575840" y="2268638"/>
            <a:ext cx="11210081" cy="4010699"/>
          </a:xfrm>
          <a:prstGeom prst="rect">
            <a:avLst/>
          </a:prstGeom>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Clr>
                <a:schemeClr val="dk1"/>
              </a:buClr>
              <a:buSzPts val="1100"/>
              <a:buFont typeface="Arial"/>
              <a:buNone/>
              <a:defRPr/>
            </a:pPr>
            <a:r>
              <a:rPr lang="en-US" b="1" u="sng" dirty="0" err="1">
                <a:latin typeface="Times New Roman"/>
                <a:ea typeface="Times New Roman"/>
                <a:cs typeface="Times New Roman"/>
              </a:rPr>
              <a:t>Programme</a:t>
            </a:r>
            <a:r>
              <a:rPr lang="en-US" b="1" u="sng" dirty="0">
                <a:latin typeface="Times New Roman"/>
                <a:ea typeface="Times New Roman"/>
                <a:cs typeface="Times New Roman"/>
              </a:rPr>
              <a:t> Educational Objectives (PEOs)</a:t>
            </a:r>
          </a:p>
          <a:p>
            <a:pPr>
              <a:spcBef>
                <a:spcPts val="1200"/>
              </a:spcBef>
              <a:spcAft>
                <a:spcPts val="1200"/>
              </a:spcAft>
            </a:pPr>
            <a:r>
              <a:rPr lang="en-IN" sz="1800" b="1" dirty="0">
                <a:effectLst/>
                <a:latin typeface="Times New Roman" panose="02020603050405020304" pitchFamily="18" charset="0"/>
                <a:ea typeface="Times New Roman" panose="02020603050405020304" pitchFamily="18" charset="0"/>
              </a:rPr>
              <a:t>PEO 1:</a:t>
            </a:r>
            <a:r>
              <a:rPr lang="en-IN" sz="1800" b="1" dirty="0">
                <a:latin typeface="Arial" panose="020B0604020202020204" pitchFamily="34" charset="0"/>
              </a:rPr>
              <a:t> </a:t>
            </a:r>
            <a:r>
              <a:rPr lang="en-IN" sz="1800" dirty="0">
                <a:solidFill>
                  <a:srgbClr val="000000"/>
                </a:solidFill>
                <a:effectLst/>
                <a:latin typeface="Times New Roman" panose="02020603050405020304" pitchFamily="18" charset="0"/>
                <a:ea typeface="Times New Roman" panose="02020603050405020304" pitchFamily="18" charset="0"/>
              </a:rPr>
              <a:t>Graduates will apply strong foundations in computer science and cybersecurity to design, develop, and manage secure and reliable computing systems for industry and society.</a:t>
            </a:r>
            <a:endParaRPr lang="en-IN" sz="1800" dirty="0">
              <a:effectLst/>
              <a:latin typeface="Arial" panose="020B0604020202020204" pitchFamily="34" charset="0"/>
              <a:ea typeface="Arial" panose="020B0604020202020204" pitchFamily="34" charset="0"/>
            </a:endParaRPr>
          </a:p>
          <a:p>
            <a:pPr>
              <a:spcBef>
                <a:spcPts val="1200"/>
              </a:spcBef>
              <a:spcAft>
                <a:spcPts val="1200"/>
              </a:spcAft>
            </a:pPr>
            <a:r>
              <a:rPr lang="en-IN" sz="1800" b="1" dirty="0">
                <a:effectLst/>
                <a:latin typeface="Times New Roman" panose="02020603050405020304" pitchFamily="18" charset="0"/>
                <a:ea typeface="Times New Roman" panose="02020603050405020304" pitchFamily="18" charset="0"/>
              </a:rPr>
              <a:t>PEO 2:</a:t>
            </a:r>
            <a:r>
              <a:rPr lang="en-IN" sz="1800" b="1" dirty="0">
                <a:latin typeface="Arial" panose="020B0604020202020204" pitchFamily="34" charset="0"/>
              </a:rPr>
              <a:t> </a:t>
            </a:r>
            <a:r>
              <a:rPr lang="en-IN" sz="1800" dirty="0">
                <a:effectLst/>
                <a:latin typeface="Times New Roman" panose="02020603050405020304" pitchFamily="18" charset="0"/>
                <a:ea typeface="Times New Roman" panose="02020603050405020304" pitchFamily="18" charset="0"/>
              </a:rPr>
              <a:t>Graduates will pursue successful careers as professionals, innovators or entrepreneurs engaged in technology development, deployment or engineering system implementation in industry and society and contribute to the economic growth of the country. </a:t>
            </a:r>
            <a:endParaRPr lang="en-IN" sz="1800" dirty="0">
              <a:effectLst/>
              <a:latin typeface="Arial" panose="020B0604020202020204" pitchFamily="34" charset="0"/>
              <a:ea typeface="Arial" panose="020B0604020202020204" pitchFamily="34" charset="0"/>
            </a:endParaRPr>
          </a:p>
          <a:p>
            <a:pPr>
              <a:spcBef>
                <a:spcPts val="1200"/>
              </a:spcBef>
              <a:spcAft>
                <a:spcPts val="1200"/>
              </a:spcAft>
            </a:pPr>
            <a:r>
              <a:rPr lang="en-IN" sz="1800" b="1" dirty="0">
                <a:effectLst/>
                <a:latin typeface="Times New Roman" panose="02020603050405020304" pitchFamily="18" charset="0"/>
                <a:ea typeface="Times New Roman" panose="02020603050405020304" pitchFamily="18" charset="0"/>
              </a:rPr>
              <a:t>PEO 3:</a:t>
            </a:r>
            <a:r>
              <a:rPr lang="en-IN" sz="1800" b="1" dirty="0">
                <a:latin typeface="Arial" panose="020B0604020202020204" pitchFamily="34" charset="0"/>
              </a:rPr>
              <a:t> </a:t>
            </a:r>
            <a:r>
              <a:rPr lang="en-IN" sz="1800" dirty="0">
                <a:solidFill>
                  <a:srgbClr val="000000"/>
                </a:solidFill>
                <a:effectLst/>
                <a:latin typeface="Times New Roman" panose="02020603050405020304" pitchFamily="18" charset="0"/>
                <a:ea typeface="Times New Roman" panose="02020603050405020304" pitchFamily="18" charset="0"/>
              </a:rPr>
              <a:t>Graduates will demonstrate ethical responsibility, leadership, teamwork, and effective communication while adapting to evolving global technological environments through lifelong learning.</a:t>
            </a:r>
            <a:endParaRPr lang="en-IN" sz="1800" dirty="0">
              <a:effectLst/>
              <a:latin typeface="Arial" panose="020B0604020202020204" pitchFamily="34" charset="0"/>
              <a:ea typeface="Arial" panose="020B0604020202020204" pitchFamily="34" charset="0"/>
            </a:endParaRPr>
          </a:p>
          <a:p>
            <a:pPr marL="0" indent="0">
              <a:buFont typeface="Arial" panose="020B0604020202020204" pitchFamily="34" charset="0"/>
              <a:buNone/>
              <a:defRPr/>
            </a:pPr>
            <a:endParaRPr lang="en-US" sz="1800" dirty="0">
              <a:latin typeface="Times New Roman"/>
              <a:ea typeface="Times New Roman"/>
              <a:cs typeface="Times New Roman"/>
            </a:endParaRPr>
          </a:p>
        </p:txBody>
      </p:sp>
      <p:sp>
        <p:nvSpPr>
          <p:cNvPr id="2" name="Date Placeholder 1">
            <a:extLst>
              <a:ext uri="{FF2B5EF4-FFF2-40B4-BE49-F238E27FC236}">
                <a16:creationId xmlns:a16="http://schemas.microsoft.com/office/drawing/2014/main" id="{043F6DAD-3853-8AFE-B660-FEA08D4B8E9C}"/>
              </a:ext>
            </a:extLst>
          </p:cNvPr>
          <p:cNvSpPr>
            <a:spLocks noGrp="1"/>
          </p:cNvSpPr>
          <p:nvPr>
            <p:ph type="dt" sz="half" idx="10"/>
          </p:nvPr>
        </p:nvSpPr>
        <p:spPr/>
        <p:txBody>
          <a:bodyPr/>
          <a:lstStyle/>
          <a:p>
            <a:fld id="{EE66B0A9-7399-4607-883A-E6B07803A2C3}" type="datetime1">
              <a:rPr lang="en-IN" smtClean="0"/>
              <a:t>29-07-2026</a:t>
            </a:fld>
            <a:endParaRPr lang="en-IN"/>
          </a:p>
        </p:txBody>
      </p:sp>
      <p:sp>
        <p:nvSpPr>
          <p:cNvPr id="3" name="Footer Placeholder 2">
            <a:extLst>
              <a:ext uri="{FF2B5EF4-FFF2-40B4-BE49-F238E27FC236}">
                <a16:creationId xmlns:a16="http://schemas.microsoft.com/office/drawing/2014/main" id="{ECD7DCA7-7D79-EDE6-740A-512B19D1D262}"/>
              </a:ext>
            </a:extLst>
          </p:cNvPr>
          <p:cNvSpPr>
            <a:spLocks noGrp="1"/>
          </p:cNvSpPr>
          <p:nvPr>
            <p:ph type="ftr" sz="quarter" idx="11"/>
          </p:nvPr>
        </p:nvSpPr>
        <p:spPr/>
        <p:txBody>
          <a:bodyPr/>
          <a:lstStyle/>
          <a:p>
            <a:r>
              <a:rPr lang="en-IN"/>
              <a:t>DEPT OF CSE ( CY )</a:t>
            </a:r>
          </a:p>
        </p:txBody>
      </p:sp>
      <p:sp>
        <p:nvSpPr>
          <p:cNvPr id="5" name="Slide Number Placeholder 4">
            <a:extLst>
              <a:ext uri="{FF2B5EF4-FFF2-40B4-BE49-F238E27FC236}">
                <a16:creationId xmlns:a16="http://schemas.microsoft.com/office/drawing/2014/main" id="{FD12EA95-A790-9CC0-0F55-5D0D549E3AF9}"/>
              </a:ext>
            </a:extLst>
          </p:cNvPr>
          <p:cNvSpPr>
            <a:spLocks noGrp="1"/>
          </p:cNvSpPr>
          <p:nvPr>
            <p:ph type="sldNum" sz="quarter" idx="12"/>
          </p:nvPr>
        </p:nvSpPr>
        <p:spPr/>
        <p:txBody>
          <a:bodyPr/>
          <a:lstStyle/>
          <a:p>
            <a:fld id="{7C33CCD4-7228-4506-A3A6-5A9074B2CE31}" type="slidenum">
              <a:rPr lang="en-IN" smtClean="0"/>
              <a:t>5</a:t>
            </a:fld>
            <a:endParaRPr lang="en-IN"/>
          </a:p>
        </p:txBody>
      </p:sp>
      <p:sp>
        <p:nvSpPr>
          <p:cNvPr id="7" name="TextBox 9">
            <a:extLst>
              <a:ext uri="{FF2B5EF4-FFF2-40B4-BE49-F238E27FC236}">
                <a16:creationId xmlns:a16="http://schemas.microsoft.com/office/drawing/2014/main" id="{D604FBDF-632A-B3A3-E89D-BF9D5C6516BD}"/>
              </a:ext>
            </a:extLst>
          </p:cNvPr>
          <p:cNvSpPr txBox="1"/>
          <p:nvPr/>
        </p:nvSpPr>
        <p:spPr>
          <a:xfrm>
            <a:off x="4038600" y="-1975"/>
            <a:ext cx="5859379" cy="276999"/>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a:t> </a:t>
            </a:r>
            <a:r>
              <a:rPr lang="en-US" sz="1200" dirty="0">
                <a:solidFill>
                  <a:schemeClr val="tx1">
                    <a:lumMod val="50000"/>
                    <a:lumOff val="50000"/>
                  </a:schemeClr>
                </a:solidFill>
              </a:rPr>
              <a:t> Topic :  Affordable Refreshable Single-Cell Braille Display</a:t>
            </a:r>
            <a:endParaRPr lang="en-IN" sz="1200" dirty="0"/>
          </a:p>
        </p:txBody>
      </p:sp>
    </p:spTree>
    <p:extLst>
      <p:ext uri="{BB962C8B-B14F-4D97-AF65-F5344CB8AC3E}">
        <p14:creationId xmlns:p14="http://schemas.microsoft.com/office/powerpoint/2010/main" val="26026299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1251" y="243144"/>
            <a:ext cx="10579260" cy="1747701"/>
          </a:xfrm>
          <a:prstGeom prst="rect">
            <a:avLst/>
          </a:prstGeom>
        </p:spPr>
      </p:pic>
      <p:sp>
        <p:nvSpPr>
          <p:cNvPr id="5" name="Google Shape;164;p30"/>
          <p:cNvSpPr txBox="1">
            <a:spLocks/>
          </p:cNvSpPr>
          <p:nvPr/>
        </p:nvSpPr>
        <p:spPr bwMode="auto">
          <a:xfrm>
            <a:off x="393538" y="1990844"/>
            <a:ext cx="11250593" cy="4641449"/>
          </a:xfrm>
          <a:prstGeom prst="rect">
            <a:avLst/>
          </a:prstGeom>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14999"/>
              </a:lnSpc>
              <a:spcBef>
                <a:spcPts val="0"/>
              </a:spcBef>
              <a:buClr>
                <a:schemeClr val="dk1"/>
              </a:buClr>
              <a:buSzPts val="1100"/>
              <a:buFont typeface="Arial"/>
              <a:buNone/>
              <a:defRPr/>
            </a:pPr>
            <a:r>
              <a:rPr lang="en-US" b="1" u="sng" dirty="0" err="1">
                <a:latin typeface="Times New Roman"/>
                <a:ea typeface="Times New Roman"/>
                <a:cs typeface="Times New Roman"/>
              </a:rPr>
              <a:t>Programme</a:t>
            </a:r>
            <a:r>
              <a:rPr lang="en-US" b="1" u="sng" dirty="0">
                <a:latin typeface="Times New Roman"/>
                <a:ea typeface="Times New Roman"/>
                <a:cs typeface="Times New Roman"/>
              </a:rPr>
              <a:t> Outcomes</a:t>
            </a:r>
            <a:endParaRPr lang="en-US" u="sng" dirty="0">
              <a:latin typeface="Times New Roman"/>
              <a:ea typeface="Times New Roman"/>
              <a:cs typeface="Times New Roman"/>
            </a:endParaRPr>
          </a:p>
          <a:p>
            <a:pPr marL="0" indent="0">
              <a:lnSpc>
                <a:spcPct val="114999"/>
              </a:lnSpc>
              <a:spcBef>
                <a:spcPts val="0"/>
              </a:spcBef>
              <a:buFont typeface="Arial" panose="020B0604020202020204" pitchFamily="34" charset="0"/>
              <a:buNone/>
              <a:defRPr/>
            </a:pPr>
            <a:r>
              <a:rPr lang="en-US" sz="1400" dirty="0">
                <a:latin typeface="Times New Roman"/>
                <a:ea typeface="Times New Roman"/>
                <a:cs typeface="Times New Roman"/>
              </a:rPr>
              <a:t>    Engineering Graduates will be able to:</a:t>
            </a:r>
          </a:p>
          <a:p>
            <a:pPr marL="457200" marR="274320" indent="0" algn="just">
              <a:lnSpc>
                <a:spcPct val="114999"/>
              </a:lnSpc>
              <a:spcBef>
                <a:spcPts val="0"/>
              </a:spcBef>
              <a:buClr>
                <a:schemeClr val="dk1"/>
              </a:buClr>
              <a:buSzPts val="1100"/>
              <a:buFont typeface="Arial"/>
              <a:buNone/>
              <a:defRPr/>
            </a:pPr>
            <a:r>
              <a:rPr lang="en-US" sz="1500" dirty="0">
                <a:latin typeface="Times New Roman"/>
                <a:ea typeface="Times New Roman"/>
                <a:cs typeface="Times New Roman"/>
              </a:rPr>
              <a:t>1. </a:t>
            </a:r>
            <a:r>
              <a:rPr lang="en-US" sz="1500" b="1" dirty="0">
                <a:latin typeface="Times New Roman"/>
                <a:ea typeface="Times New Roman"/>
                <a:cs typeface="Times New Roman"/>
              </a:rPr>
              <a:t>Engineering knowledge:</a:t>
            </a:r>
            <a:r>
              <a:rPr lang="en-US" sz="1500" dirty="0">
                <a:latin typeface="Times New Roman"/>
                <a:ea typeface="Times New Roman"/>
                <a:cs typeface="Times New Roman"/>
              </a:rPr>
              <a:t> Apply the knowledge of mathematics, science, engineering fundamentals, and an engineering specialization to the solution of complex engineering problems.</a:t>
            </a:r>
          </a:p>
          <a:p>
            <a:pPr marL="457200" marR="274320" indent="0" algn="just">
              <a:lnSpc>
                <a:spcPct val="114999"/>
              </a:lnSpc>
              <a:spcBef>
                <a:spcPts val="0"/>
              </a:spcBef>
              <a:buClr>
                <a:schemeClr val="dk1"/>
              </a:buClr>
              <a:buSzPts val="1100"/>
              <a:buFont typeface="Arial"/>
              <a:buNone/>
              <a:defRPr/>
            </a:pPr>
            <a:br>
              <a:rPr lang="en-US" sz="1500" dirty="0">
                <a:latin typeface="Times New Roman"/>
                <a:ea typeface="Times New Roman"/>
                <a:cs typeface="Times New Roman"/>
              </a:rPr>
            </a:br>
            <a:r>
              <a:rPr lang="en-US" sz="1500" dirty="0">
                <a:latin typeface="Times New Roman"/>
                <a:ea typeface="Times New Roman"/>
                <a:cs typeface="Times New Roman"/>
              </a:rPr>
              <a:t>2. </a:t>
            </a:r>
            <a:r>
              <a:rPr lang="en-US" sz="1500" b="1" dirty="0">
                <a:latin typeface="Times New Roman"/>
                <a:ea typeface="Times New Roman"/>
                <a:cs typeface="Times New Roman"/>
              </a:rPr>
              <a:t>Problem analysis:</a:t>
            </a:r>
            <a:r>
              <a:rPr lang="en-US" sz="1500" dirty="0">
                <a:latin typeface="Times New Roman"/>
                <a:ea typeface="Times New Roman"/>
                <a:cs typeface="Times New Roman"/>
              </a:rPr>
              <a:t> Identify, formulate, review research literature, and analyze complex engineering problems reaching substantiated conclusions using first principles of mathematics, natural sciences, and engineering sciences.</a:t>
            </a:r>
          </a:p>
          <a:p>
            <a:pPr marL="457200" marR="274320" indent="0" algn="just">
              <a:lnSpc>
                <a:spcPct val="114999"/>
              </a:lnSpc>
              <a:spcBef>
                <a:spcPts val="0"/>
              </a:spcBef>
              <a:buClr>
                <a:schemeClr val="dk1"/>
              </a:buClr>
              <a:buSzPts val="1100"/>
              <a:buFont typeface="Arial"/>
              <a:buNone/>
              <a:defRPr/>
            </a:pPr>
            <a:br>
              <a:rPr lang="en-US" sz="1500" dirty="0">
                <a:latin typeface="Times New Roman"/>
                <a:ea typeface="Times New Roman"/>
                <a:cs typeface="Times New Roman"/>
              </a:rPr>
            </a:br>
            <a:r>
              <a:rPr lang="en-US" sz="1500" dirty="0">
                <a:latin typeface="Times New Roman"/>
                <a:ea typeface="Times New Roman"/>
                <a:cs typeface="Times New Roman"/>
              </a:rPr>
              <a:t>3. </a:t>
            </a:r>
            <a:r>
              <a:rPr lang="en-US" sz="1500" b="1" dirty="0">
                <a:latin typeface="Times New Roman"/>
                <a:ea typeface="Times New Roman"/>
                <a:cs typeface="Times New Roman"/>
              </a:rPr>
              <a:t>Design/development of solutions:</a:t>
            </a:r>
            <a:r>
              <a:rPr lang="en-US" sz="1500" dirty="0">
                <a:latin typeface="Times New Roman"/>
                <a:ea typeface="Times New Roman"/>
                <a:cs typeface="Times New Roman"/>
              </a:rPr>
              <a:t> Design solutions for complex engineering problems and design system components or processes that meet the specified needs with appropriate consideration for the public health and safety, and the cultural, societal, and environmental considerations.</a:t>
            </a:r>
          </a:p>
          <a:p>
            <a:pPr marL="457200" marR="274320" indent="0" algn="just">
              <a:lnSpc>
                <a:spcPct val="114999"/>
              </a:lnSpc>
              <a:spcBef>
                <a:spcPts val="0"/>
              </a:spcBef>
              <a:buClr>
                <a:schemeClr val="dk1"/>
              </a:buClr>
              <a:buSzPts val="1100"/>
              <a:buFont typeface="Arial"/>
              <a:buNone/>
              <a:defRPr/>
            </a:pPr>
            <a:br>
              <a:rPr lang="en-US" sz="1500" dirty="0">
                <a:latin typeface="Times New Roman"/>
                <a:ea typeface="Times New Roman"/>
                <a:cs typeface="Times New Roman"/>
              </a:rPr>
            </a:br>
            <a:r>
              <a:rPr lang="en-US" sz="1500" dirty="0">
                <a:latin typeface="Times New Roman"/>
                <a:ea typeface="Times New Roman"/>
                <a:cs typeface="Times New Roman"/>
              </a:rPr>
              <a:t>4. </a:t>
            </a:r>
            <a:r>
              <a:rPr lang="en-US" sz="1500" b="1" dirty="0">
                <a:latin typeface="Times New Roman"/>
                <a:ea typeface="Times New Roman"/>
                <a:cs typeface="Times New Roman"/>
              </a:rPr>
              <a:t>Conduct investigations of complex problems:</a:t>
            </a:r>
            <a:r>
              <a:rPr lang="en-US" sz="1500" dirty="0">
                <a:latin typeface="Times New Roman"/>
                <a:ea typeface="Times New Roman"/>
                <a:cs typeface="Times New Roman"/>
              </a:rPr>
              <a:t> Use research-based knowledge and research methods including design of experiments, analysis and interpretation of data, and synthesis of the information to provide valid conclusions.</a:t>
            </a:r>
          </a:p>
          <a:p>
            <a:pPr marL="457200" marR="274320" indent="0" algn="just">
              <a:lnSpc>
                <a:spcPct val="114999"/>
              </a:lnSpc>
              <a:spcBef>
                <a:spcPts val="0"/>
              </a:spcBef>
              <a:buClr>
                <a:schemeClr val="dk1"/>
              </a:buClr>
              <a:buSzPts val="1100"/>
              <a:buFont typeface="Arial"/>
              <a:buNone/>
              <a:defRPr/>
            </a:pPr>
            <a:r>
              <a:rPr lang="en-US" sz="1500" dirty="0">
                <a:latin typeface="Times New Roman"/>
                <a:ea typeface="Times New Roman"/>
                <a:cs typeface="Times New Roman"/>
              </a:rPr>
              <a:t>5. </a:t>
            </a:r>
            <a:r>
              <a:rPr lang="en-US" sz="1500" b="1" dirty="0">
                <a:latin typeface="Times New Roman"/>
                <a:ea typeface="Times New Roman"/>
                <a:cs typeface="Times New Roman"/>
              </a:rPr>
              <a:t>Modern tool usage:</a:t>
            </a:r>
            <a:r>
              <a:rPr lang="en-US" sz="1500" dirty="0">
                <a:latin typeface="Times New Roman"/>
                <a:ea typeface="Times New Roman"/>
                <a:cs typeface="Times New Roman"/>
              </a:rPr>
              <a:t> Create, select, and apply appropriate techniques, resources, and modern engineering and IT tools including prediction and modeling to complex engineering activities with an understanding of the limitations.</a:t>
            </a:r>
          </a:p>
          <a:p>
            <a:pPr marL="0" indent="0">
              <a:buFont typeface="Arial" panose="020B0604020202020204" pitchFamily="34" charset="0"/>
              <a:buNone/>
              <a:defRPr/>
            </a:pPr>
            <a:endParaRPr lang="en-US" sz="3100" dirty="0"/>
          </a:p>
        </p:txBody>
      </p:sp>
      <p:sp>
        <p:nvSpPr>
          <p:cNvPr id="2" name="Date Placeholder 1">
            <a:extLst>
              <a:ext uri="{FF2B5EF4-FFF2-40B4-BE49-F238E27FC236}">
                <a16:creationId xmlns:a16="http://schemas.microsoft.com/office/drawing/2014/main" id="{3496B7B1-9D7E-D34A-F83A-AA362451BD68}"/>
              </a:ext>
            </a:extLst>
          </p:cNvPr>
          <p:cNvSpPr>
            <a:spLocks noGrp="1"/>
          </p:cNvSpPr>
          <p:nvPr>
            <p:ph type="dt" sz="half" idx="10"/>
          </p:nvPr>
        </p:nvSpPr>
        <p:spPr/>
        <p:txBody>
          <a:bodyPr/>
          <a:lstStyle/>
          <a:p>
            <a:fld id="{79697D3E-6B6C-4B33-9A71-99AE9A945F72}" type="datetime1">
              <a:rPr lang="en-IN" smtClean="0"/>
              <a:t>29-07-2026</a:t>
            </a:fld>
            <a:endParaRPr lang="en-IN"/>
          </a:p>
        </p:txBody>
      </p:sp>
      <p:sp>
        <p:nvSpPr>
          <p:cNvPr id="3" name="Footer Placeholder 2">
            <a:extLst>
              <a:ext uri="{FF2B5EF4-FFF2-40B4-BE49-F238E27FC236}">
                <a16:creationId xmlns:a16="http://schemas.microsoft.com/office/drawing/2014/main" id="{46EBE75F-46B3-0D33-CF6C-4CD976187B93}"/>
              </a:ext>
            </a:extLst>
          </p:cNvPr>
          <p:cNvSpPr>
            <a:spLocks noGrp="1"/>
          </p:cNvSpPr>
          <p:nvPr>
            <p:ph type="ftr" sz="quarter" idx="11"/>
          </p:nvPr>
        </p:nvSpPr>
        <p:spPr/>
        <p:txBody>
          <a:bodyPr/>
          <a:lstStyle/>
          <a:p>
            <a:r>
              <a:rPr lang="en-IN"/>
              <a:t>DEPT OF CSE ( CY )</a:t>
            </a:r>
          </a:p>
        </p:txBody>
      </p:sp>
      <p:sp>
        <p:nvSpPr>
          <p:cNvPr id="4" name="Slide Number Placeholder 3">
            <a:extLst>
              <a:ext uri="{FF2B5EF4-FFF2-40B4-BE49-F238E27FC236}">
                <a16:creationId xmlns:a16="http://schemas.microsoft.com/office/drawing/2014/main" id="{B01493F0-3A93-FC25-B164-7FCEBA7346E1}"/>
              </a:ext>
            </a:extLst>
          </p:cNvPr>
          <p:cNvSpPr>
            <a:spLocks noGrp="1"/>
          </p:cNvSpPr>
          <p:nvPr>
            <p:ph type="sldNum" sz="quarter" idx="12"/>
          </p:nvPr>
        </p:nvSpPr>
        <p:spPr/>
        <p:txBody>
          <a:bodyPr/>
          <a:lstStyle/>
          <a:p>
            <a:fld id="{7C33CCD4-7228-4506-A3A6-5A9074B2CE31}" type="slidenum">
              <a:rPr lang="en-IN" smtClean="0"/>
              <a:t>6</a:t>
            </a:fld>
            <a:endParaRPr lang="en-IN"/>
          </a:p>
        </p:txBody>
      </p:sp>
      <p:sp>
        <p:nvSpPr>
          <p:cNvPr id="7" name="TextBox 9">
            <a:extLst>
              <a:ext uri="{FF2B5EF4-FFF2-40B4-BE49-F238E27FC236}">
                <a16:creationId xmlns:a16="http://schemas.microsoft.com/office/drawing/2014/main" id="{422F9423-6AF3-B225-EEC3-A25789049886}"/>
              </a:ext>
            </a:extLst>
          </p:cNvPr>
          <p:cNvSpPr txBox="1"/>
          <p:nvPr/>
        </p:nvSpPr>
        <p:spPr>
          <a:xfrm>
            <a:off x="4038600" y="-1975"/>
            <a:ext cx="5859379" cy="276999"/>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a:t> </a:t>
            </a:r>
            <a:r>
              <a:rPr lang="en-US" sz="1200" dirty="0">
                <a:solidFill>
                  <a:schemeClr val="tx1">
                    <a:lumMod val="50000"/>
                    <a:lumOff val="50000"/>
                  </a:schemeClr>
                </a:solidFill>
              </a:rPr>
              <a:t> Topic :  Affordable Refreshable Single-Cell Braille Display</a:t>
            </a:r>
            <a:endParaRPr lang="en-IN" sz="1200" dirty="0"/>
          </a:p>
        </p:txBody>
      </p:sp>
    </p:spTree>
    <p:extLst>
      <p:ext uri="{BB962C8B-B14F-4D97-AF65-F5344CB8AC3E}">
        <p14:creationId xmlns:p14="http://schemas.microsoft.com/office/powerpoint/2010/main" val="37359244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1251" y="243144"/>
            <a:ext cx="10579260" cy="1747701"/>
          </a:xfrm>
          <a:prstGeom prst="rect">
            <a:avLst/>
          </a:prstGeom>
        </p:spPr>
      </p:pic>
      <p:sp>
        <p:nvSpPr>
          <p:cNvPr id="4" name="Google Shape;169;p31"/>
          <p:cNvSpPr txBox="1">
            <a:spLocks/>
          </p:cNvSpPr>
          <p:nvPr/>
        </p:nvSpPr>
        <p:spPr bwMode="auto">
          <a:xfrm>
            <a:off x="92596" y="2268638"/>
            <a:ext cx="11910349" cy="4589362"/>
          </a:xfrm>
          <a:prstGeom prst="rect">
            <a:avLst/>
          </a:prstGeom>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74320" marR="274320" indent="0" algn="just">
              <a:lnSpc>
                <a:spcPct val="114999"/>
              </a:lnSpc>
              <a:spcBef>
                <a:spcPts val="0"/>
              </a:spcBef>
              <a:buClr>
                <a:schemeClr val="dk1"/>
              </a:buClr>
              <a:buSzPts val="1100"/>
              <a:buFont typeface="Arial"/>
              <a:buNone/>
              <a:defRPr/>
            </a:pPr>
            <a:br>
              <a:rPr lang="en-US" sz="1200" dirty="0">
                <a:latin typeface="Times New Roman"/>
                <a:ea typeface="Times New Roman"/>
                <a:cs typeface="Times New Roman"/>
              </a:rPr>
            </a:br>
            <a:r>
              <a:rPr lang="en-US" sz="1400" dirty="0">
                <a:latin typeface="Times New Roman"/>
                <a:ea typeface="Times New Roman"/>
                <a:cs typeface="Times New Roman"/>
              </a:rPr>
              <a:t>6. </a:t>
            </a:r>
            <a:r>
              <a:rPr lang="en-US" sz="1400" b="1" dirty="0">
                <a:latin typeface="Times New Roman"/>
                <a:ea typeface="Times New Roman"/>
                <a:cs typeface="Times New Roman"/>
              </a:rPr>
              <a:t>The engineer and society:</a:t>
            </a:r>
            <a:r>
              <a:rPr lang="en-US" sz="1400" dirty="0">
                <a:latin typeface="Times New Roman"/>
                <a:ea typeface="Times New Roman"/>
                <a:cs typeface="Times New Roman"/>
              </a:rPr>
              <a:t> Apply reasoning informed by the contextual knowledge to assess societal, health, safety, legal and cultural issues and the consequent responsibilities relevant to the professional engineering practice.</a:t>
            </a:r>
          </a:p>
          <a:p>
            <a:pPr marL="274320" marR="274320" indent="0" algn="just">
              <a:lnSpc>
                <a:spcPct val="114999"/>
              </a:lnSpc>
              <a:spcBef>
                <a:spcPts val="0"/>
              </a:spcBef>
              <a:buClr>
                <a:schemeClr val="dk1"/>
              </a:buClr>
              <a:buSzPts val="1100"/>
              <a:buFont typeface="Arial"/>
              <a:buNone/>
              <a:defRPr/>
            </a:pPr>
            <a:br>
              <a:rPr lang="en-US" sz="1400" dirty="0">
                <a:latin typeface="Times New Roman"/>
                <a:ea typeface="Times New Roman"/>
                <a:cs typeface="Times New Roman"/>
              </a:rPr>
            </a:br>
            <a:r>
              <a:rPr lang="en-US" sz="1400" dirty="0">
                <a:latin typeface="Times New Roman"/>
                <a:ea typeface="Times New Roman"/>
                <a:cs typeface="Times New Roman"/>
              </a:rPr>
              <a:t>7. </a:t>
            </a:r>
            <a:r>
              <a:rPr lang="en-US" sz="1400" b="1" dirty="0">
                <a:latin typeface="Times New Roman"/>
                <a:ea typeface="Times New Roman"/>
                <a:cs typeface="Times New Roman"/>
              </a:rPr>
              <a:t>Environment and sustainability:</a:t>
            </a:r>
            <a:r>
              <a:rPr lang="en-US" sz="1400" dirty="0">
                <a:latin typeface="Times New Roman"/>
                <a:ea typeface="Times New Roman"/>
                <a:cs typeface="Times New Roman"/>
              </a:rPr>
              <a:t> Understand the impact of the professional engineering solutions in societal and environmental contexts, and demonstrate the knowledge of, and need for sustainable development.</a:t>
            </a:r>
          </a:p>
          <a:p>
            <a:pPr marL="274320" marR="274320" indent="0" algn="just">
              <a:lnSpc>
                <a:spcPct val="114999"/>
              </a:lnSpc>
              <a:spcBef>
                <a:spcPts val="0"/>
              </a:spcBef>
              <a:buClr>
                <a:schemeClr val="dk1"/>
              </a:buClr>
              <a:buSzPts val="1100"/>
              <a:buFont typeface="Arial"/>
              <a:buNone/>
              <a:defRPr/>
            </a:pPr>
            <a:br>
              <a:rPr lang="en-US" sz="1400" dirty="0">
                <a:latin typeface="Times New Roman"/>
                <a:ea typeface="Times New Roman"/>
                <a:cs typeface="Times New Roman"/>
              </a:rPr>
            </a:br>
            <a:r>
              <a:rPr lang="en-US" sz="1400" dirty="0">
                <a:latin typeface="Times New Roman"/>
                <a:ea typeface="Times New Roman"/>
                <a:cs typeface="Times New Roman"/>
              </a:rPr>
              <a:t>8. </a:t>
            </a:r>
            <a:r>
              <a:rPr lang="en-US" sz="1400" b="1" dirty="0">
                <a:latin typeface="Times New Roman"/>
                <a:ea typeface="Times New Roman"/>
                <a:cs typeface="Times New Roman"/>
              </a:rPr>
              <a:t>Ethics:</a:t>
            </a:r>
            <a:r>
              <a:rPr lang="en-US" sz="1400" dirty="0">
                <a:latin typeface="Times New Roman"/>
                <a:ea typeface="Times New Roman"/>
                <a:cs typeface="Times New Roman"/>
              </a:rPr>
              <a:t> Apply ethical principles and commit to professional ethics and responsibilities and norms of the engineering practice.</a:t>
            </a:r>
          </a:p>
          <a:p>
            <a:pPr marL="274320" marR="274320" indent="0" algn="just">
              <a:lnSpc>
                <a:spcPct val="114999"/>
              </a:lnSpc>
              <a:spcBef>
                <a:spcPts val="0"/>
              </a:spcBef>
              <a:buClr>
                <a:schemeClr val="dk1"/>
              </a:buClr>
              <a:buSzPts val="1100"/>
              <a:buFont typeface="Arial"/>
              <a:buNone/>
              <a:defRPr/>
            </a:pPr>
            <a:br>
              <a:rPr lang="en-US" sz="1400" dirty="0">
                <a:latin typeface="Times New Roman"/>
                <a:ea typeface="Times New Roman"/>
                <a:cs typeface="Times New Roman"/>
              </a:rPr>
            </a:br>
            <a:r>
              <a:rPr lang="en-US" sz="1400" dirty="0">
                <a:latin typeface="Times New Roman"/>
                <a:ea typeface="Times New Roman"/>
                <a:cs typeface="Times New Roman"/>
              </a:rPr>
              <a:t>9. </a:t>
            </a:r>
            <a:r>
              <a:rPr lang="en-US" sz="1400" b="1" dirty="0">
                <a:latin typeface="Times New Roman"/>
                <a:ea typeface="Times New Roman"/>
                <a:cs typeface="Times New Roman"/>
              </a:rPr>
              <a:t>Individual and team work:</a:t>
            </a:r>
            <a:r>
              <a:rPr lang="en-US" sz="1400" dirty="0">
                <a:latin typeface="Times New Roman"/>
                <a:ea typeface="Times New Roman"/>
                <a:cs typeface="Times New Roman"/>
              </a:rPr>
              <a:t> Function effectively as an individual, and as a member or leader in diverse teams, and in multidisciplinary settings.</a:t>
            </a:r>
          </a:p>
          <a:p>
            <a:pPr marL="274320" marR="274320" indent="0" algn="just">
              <a:lnSpc>
                <a:spcPct val="114999"/>
              </a:lnSpc>
              <a:spcBef>
                <a:spcPts val="0"/>
              </a:spcBef>
              <a:buClr>
                <a:schemeClr val="dk1"/>
              </a:buClr>
              <a:buSzPts val="1100"/>
              <a:buFont typeface="Arial"/>
              <a:buNone/>
              <a:defRPr/>
            </a:pPr>
            <a:br>
              <a:rPr lang="en-US" sz="1400" dirty="0">
                <a:latin typeface="Times New Roman"/>
                <a:ea typeface="Times New Roman"/>
                <a:cs typeface="Times New Roman"/>
              </a:rPr>
            </a:br>
            <a:r>
              <a:rPr lang="en-US" sz="1400" dirty="0">
                <a:latin typeface="Times New Roman"/>
                <a:ea typeface="Times New Roman"/>
                <a:cs typeface="Times New Roman"/>
              </a:rPr>
              <a:t>10. </a:t>
            </a:r>
            <a:r>
              <a:rPr lang="en-US" sz="1400" b="1" dirty="0">
                <a:latin typeface="Times New Roman"/>
                <a:ea typeface="Times New Roman"/>
                <a:cs typeface="Times New Roman"/>
              </a:rPr>
              <a:t>Communication:</a:t>
            </a:r>
            <a:r>
              <a:rPr lang="en-US" sz="1400" dirty="0">
                <a:latin typeface="Times New Roman"/>
                <a:ea typeface="Times New Roman"/>
                <a:cs typeface="Times New Roman"/>
              </a:rPr>
              <a:t> Communicate effectively on complex engineering activities with the engineering community and with society at large, such as, being able to comprehend and write effective reports and design documentation, make effective presentations, and give and receive clear instructions.</a:t>
            </a:r>
          </a:p>
          <a:p>
            <a:pPr marL="274320" marR="274320" indent="0" algn="just">
              <a:lnSpc>
                <a:spcPct val="114999"/>
              </a:lnSpc>
              <a:spcBef>
                <a:spcPts val="0"/>
              </a:spcBef>
              <a:buClr>
                <a:schemeClr val="dk1"/>
              </a:buClr>
              <a:buSzPts val="1100"/>
              <a:buFont typeface="Arial"/>
              <a:buNone/>
              <a:defRPr/>
            </a:pPr>
            <a:br>
              <a:rPr lang="en-US" sz="1400" dirty="0">
                <a:latin typeface="Times New Roman"/>
                <a:ea typeface="Times New Roman"/>
                <a:cs typeface="Times New Roman"/>
              </a:rPr>
            </a:br>
            <a:r>
              <a:rPr lang="en-US" sz="1400" dirty="0">
                <a:latin typeface="Times New Roman"/>
                <a:ea typeface="Times New Roman"/>
                <a:cs typeface="Times New Roman"/>
              </a:rPr>
              <a:t>11. </a:t>
            </a:r>
            <a:r>
              <a:rPr lang="en-US" sz="1400" b="1" dirty="0">
                <a:latin typeface="Times New Roman"/>
                <a:ea typeface="Times New Roman"/>
                <a:cs typeface="Times New Roman"/>
              </a:rPr>
              <a:t>Project management and finance:</a:t>
            </a:r>
            <a:r>
              <a:rPr lang="en-US" sz="1400" dirty="0">
                <a:latin typeface="Times New Roman"/>
                <a:ea typeface="Times New Roman"/>
                <a:cs typeface="Times New Roman"/>
              </a:rPr>
              <a:t> Demonstrate knowledge and understanding of the engineering and management principles and apply these to one’s own work, as a member and leader in a team, to manage projects and in multidisciplinary environments.</a:t>
            </a:r>
            <a:br>
              <a:rPr lang="en-US" sz="1400" dirty="0">
                <a:latin typeface="Times New Roman"/>
                <a:ea typeface="Times New Roman"/>
                <a:cs typeface="Times New Roman"/>
              </a:rPr>
            </a:br>
            <a:r>
              <a:rPr lang="en-US" sz="1400" dirty="0">
                <a:latin typeface="Times New Roman"/>
                <a:ea typeface="Times New Roman"/>
                <a:cs typeface="Times New Roman"/>
              </a:rPr>
              <a:t>12. </a:t>
            </a:r>
            <a:r>
              <a:rPr lang="en-US" sz="1400" b="1" dirty="0">
                <a:latin typeface="Times New Roman"/>
                <a:ea typeface="Times New Roman"/>
                <a:cs typeface="Times New Roman"/>
              </a:rPr>
              <a:t>Life-long learning:</a:t>
            </a:r>
            <a:r>
              <a:rPr lang="en-US" sz="1400" dirty="0">
                <a:latin typeface="Times New Roman"/>
                <a:ea typeface="Times New Roman"/>
                <a:cs typeface="Times New Roman"/>
              </a:rPr>
              <a:t> Recognize the need for, and have the preparation and ability to engage in independent and life-long learning in the broadest context of technological change</a:t>
            </a:r>
            <a:r>
              <a:rPr lang="en-US" sz="1300" dirty="0">
                <a:latin typeface="Times New Roman"/>
                <a:ea typeface="Times New Roman"/>
                <a:cs typeface="Times New Roman"/>
              </a:rPr>
              <a:t>.</a:t>
            </a:r>
          </a:p>
          <a:p>
            <a:pPr marL="274320" marR="274320" indent="0" algn="just">
              <a:lnSpc>
                <a:spcPct val="114999"/>
              </a:lnSpc>
              <a:spcBef>
                <a:spcPts val="0"/>
              </a:spcBef>
              <a:buClr>
                <a:schemeClr val="dk1"/>
              </a:buClr>
              <a:buSzPts val="1100"/>
              <a:buFont typeface="Arial"/>
              <a:buNone/>
              <a:defRPr/>
            </a:pPr>
            <a:endParaRPr lang="en-US" sz="1300" dirty="0">
              <a:latin typeface="Times New Roman"/>
              <a:ea typeface="Times New Roman"/>
              <a:cs typeface="Times New Roman"/>
            </a:endParaRPr>
          </a:p>
          <a:p>
            <a:pPr marL="274320" marR="274320" indent="0">
              <a:buFont typeface="Arial" panose="020B0604020202020204" pitchFamily="34" charset="0"/>
              <a:buNone/>
              <a:defRPr/>
            </a:pPr>
            <a:endParaRPr lang="en-US" dirty="0"/>
          </a:p>
        </p:txBody>
      </p:sp>
      <p:sp>
        <p:nvSpPr>
          <p:cNvPr id="2" name="Date Placeholder 1">
            <a:extLst>
              <a:ext uri="{FF2B5EF4-FFF2-40B4-BE49-F238E27FC236}">
                <a16:creationId xmlns:a16="http://schemas.microsoft.com/office/drawing/2014/main" id="{39143EE6-DE64-45B2-C344-2B092D8252BC}"/>
              </a:ext>
            </a:extLst>
          </p:cNvPr>
          <p:cNvSpPr>
            <a:spLocks noGrp="1"/>
          </p:cNvSpPr>
          <p:nvPr>
            <p:ph type="dt" sz="half" idx="10"/>
          </p:nvPr>
        </p:nvSpPr>
        <p:spPr/>
        <p:txBody>
          <a:bodyPr/>
          <a:lstStyle/>
          <a:p>
            <a:fld id="{8CB5F15D-00EF-462D-B977-FB645C6F4E08}" type="datetime1">
              <a:rPr lang="en-IN" smtClean="0"/>
              <a:t>29-07-2026</a:t>
            </a:fld>
            <a:endParaRPr lang="en-IN"/>
          </a:p>
        </p:txBody>
      </p:sp>
      <p:sp>
        <p:nvSpPr>
          <p:cNvPr id="3" name="Footer Placeholder 2">
            <a:extLst>
              <a:ext uri="{FF2B5EF4-FFF2-40B4-BE49-F238E27FC236}">
                <a16:creationId xmlns:a16="http://schemas.microsoft.com/office/drawing/2014/main" id="{A6BA3E53-807E-442C-E2B3-2797DE6CE5A8}"/>
              </a:ext>
            </a:extLst>
          </p:cNvPr>
          <p:cNvSpPr>
            <a:spLocks noGrp="1"/>
          </p:cNvSpPr>
          <p:nvPr>
            <p:ph type="ftr" sz="quarter" idx="11"/>
          </p:nvPr>
        </p:nvSpPr>
        <p:spPr/>
        <p:txBody>
          <a:bodyPr/>
          <a:lstStyle/>
          <a:p>
            <a:r>
              <a:rPr lang="en-IN"/>
              <a:t>DEPT OF CSE ( CY )</a:t>
            </a:r>
          </a:p>
        </p:txBody>
      </p:sp>
      <p:sp>
        <p:nvSpPr>
          <p:cNvPr id="5" name="Slide Number Placeholder 4">
            <a:extLst>
              <a:ext uri="{FF2B5EF4-FFF2-40B4-BE49-F238E27FC236}">
                <a16:creationId xmlns:a16="http://schemas.microsoft.com/office/drawing/2014/main" id="{29C1881C-0828-2F2F-D963-F8BF9DF94E3D}"/>
              </a:ext>
            </a:extLst>
          </p:cNvPr>
          <p:cNvSpPr>
            <a:spLocks noGrp="1"/>
          </p:cNvSpPr>
          <p:nvPr>
            <p:ph type="sldNum" sz="quarter" idx="12"/>
          </p:nvPr>
        </p:nvSpPr>
        <p:spPr/>
        <p:txBody>
          <a:bodyPr/>
          <a:lstStyle/>
          <a:p>
            <a:fld id="{7C33CCD4-7228-4506-A3A6-5A9074B2CE31}" type="slidenum">
              <a:rPr lang="en-IN" smtClean="0"/>
              <a:t>7</a:t>
            </a:fld>
            <a:endParaRPr lang="en-IN"/>
          </a:p>
        </p:txBody>
      </p:sp>
      <p:sp>
        <p:nvSpPr>
          <p:cNvPr id="7" name="TextBox 9">
            <a:extLst>
              <a:ext uri="{FF2B5EF4-FFF2-40B4-BE49-F238E27FC236}">
                <a16:creationId xmlns:a16="http://schemas.microsoft.com/office/drawing/2014/main" id="{B4AFF073-D9E4-69E3-EFA2-EC194DA44D3D}"/>
              </a:ext>
            </a:extLst>
          </p:cNvPr>
          <p:cNvSpPr txBox="1"/>
          <p:nvPr/>
        </p:nvSpPr>
        <p:spPr>
          <a:xfrm>
            <a:off x="4038600" y="-1975"/>
            <a:ext cx="5859379" cy="276999"/>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a:t> </a:t>
            </a:r>
            <a:r>
              <a:rPr lang="en-US" sz="1200" dirty="0">
                <a:solidFill>
                  <a:schemeClr val="tx1">
                    <a:lumMod val="50000"/>
                    <a:lumOff val="50000"/>
                  </a:schemeClr>
                </a:solidFill>
              </a:rPr>
              <a:t> Topic :  Affordable Refreshable Single-Cell Braille Display</a:t>
            </a:r>
            <a:endParaRPr lang="en-IN" sz="1200" dirty="0"/>
          </a:p>
        </p:txBody>
      </p:sp>
    </p:spTree>
    <p:extLst>
      <p:ext uri="{BB962C8B-B14F-4D97-AF65-F5344CB8AC3E}">
        <p14:creationId xmlns:p14="http://schemas.microsoft.com/office/powerpoint/2010/main" val="19457391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1251" y="243144"/>
            <a:ext cx="10579260" cy="1747701"/>
          </a:xfrm>
          <a:prstGeom prst="rect">
            <a:avLst/>
          </a:prstGeom>
        </p:spPr>
      </p:pic>
      <p:sp>
        <p:nvSpPr>
          <p:cNvPr id="5" name="Google Shape;174;p32"/>
          <p:cNvSpPr txBox="1">
            <a:spLocks/>
          </p:cNvSpPr>
          <p:nvPr/>
        </p:nvSpPr>
        <p:spPr bwMode="auto">
          <a:xfrm>
            <a:off x="603261" y="2291786"/>
            <a:ext cx="11156618" cy="4048113"/>
          </a:xfrm>
          <a:prstGeom prst="rect">
            <a:avLst/>
          </a:prstGeom>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14999"/>
              </a:lnSpc>
              <a:spcBef>
                <a:spcPts val="0"/>
              </a:spcBef>
              <a:buClr>
                <a:schemeClr val="dk1"/>
              </a:buClr>
              <a:buSzPts val="1100"/>
              <a:buFont typeface="Arial"/>
              <a:buNone/>
              <a:defRPr/>
            </a:pPr>
            <a:r>
              <a:rPr lang="en-US" b="1" u="sng" dirty="0" err="1">
                <a:latin typeface="Times New Roman"/>
                <a:ea typeface="Times New Roman"/>
                <a:cs typeface="Times New Roman"/>
              </a:rPr>
              <a:t>Programme</a:t>
            </a:r>
            <a:r>
              <a:rPr lang="en-US" b="1" u="sng" dirty="0">
                <a:latin typeface="Times New Roman"/>
                <a:ea typeface="Times New Roman"/>
                <a:cs typeface="Times New Roman"/>
              </a:rPr>
              <a:t> Specific Outcomes (PSOs)</a:t>
            </a:r>
            <a:endParaRPr lang="en-US" u="sng" dirty="0">
              <a:latin typeface="Times New Roman"/>
              <a:ea typeface="Times New Roman"/>
              <a:cs typeface="Times New Roman"/>
            </a:endParaRPr>
          </a:p>
          <a:p>
            <a:pPr marL="0" indent="0" algn="ctr">
              <a:lnSpc>
                <a:spcPct val="114999"/>
              </a:lnSpc>
              <a:spcBef>
                <a:spcPts val="0"/>
              </a:spcBef>
              <a:buClr>
                <a:schemeClr val="dk1"/>
              </a:buClr>
              <a:buSzPts val="1100"/>
              <a:buFont typeface="Arial"/>
              <a:buNone/>
              <a:defRPr/>
            </a:pPr>
            <a:endParaRPr lang="en-US" sz="1800" dirty="0">
              <a:latin typeface="Times New Roman" panose="02020603050405020304" pitchFamily="18" charset="0"/>
            </a:endParaRPr>
          </a:p>
          <a:p>
            <a:pPr marL="0" indent="0" algn="just">
              <a:lnSpc>
                <a:spcPct val="114999"/>
              </a:lnSpc>
              <a:spcBef>
                <a:spcPts val="0"/>
              </a:spcBef>
              <a:buClr>
                <a:schemeClr val="dk1"/>
              </a:buClr>
              <a:buSzPts val="1100"/>
              <a:buFont typeface="Arial"/>
              <a:buNone/>
              <a:defRPr/>
            </a:pPr>
            <a:r>
              <a:rPr lang="en-US" sz="1800" dirty="0">
                <a:latin typeface="Times New Roman" panose="02020603050405020304" pitchFamily="18" charset="0"/>
              </a:rPr>
              <a:t> On the completion of Computer Science &amp; Engineering program, the students will possess:</a:t>
            </a:r>
          </a:p>
          <a:p>
            <a:pPr algn="just">
              <a:lnSpc>
                <a:spcPct val="150000"/>
              </a:lnSpc>
              <a:spcBef>
                <a:spcPts val="1200"/>
              </a:spcBef>
              <a:spcAft>
                <a:spcPts val="1200"/>
              </a:spcAft>
            </a:pPr>
            <a:r>
              <a:rPr lang="en-IN" sz="1800" b="0" dirty="0">
                <a:effectLst/>
                <a:latin typeface="Times New Roman" panose="02020603050405020304" pitchFamily="18" charset="0"/>
                <a:ea typeface="Times New Roman" panose="02020603050405020304" pitchFamily="18" charset="0"/>
              </a:rPr>
              <a:t> </a:t>
            </a:r>
            <a:r>
              <a:rPr lang="en-IN" sz="1800" b="1" dirty="0">
                <a:effectLst/>
                <a:latin typeface="Times New Roman" panose="02020603050405020304" pitchFamily="18" charset="0"/>
                <a:ea typeface="Times New Roman" panose="02020603050405020304" pitchFamily="18" charset="0"/>
              </a:rPr>
              <a:t>PSO 1</a:t>
            </a:r>
            <a:r>
              <a:rPr lang="en-IN" sz="1800" b="0" dirty="0">
                <a:effectLst/>
                <a:latin typeface="Times New Roman" panose="02020603050405020304" pitchFamily="18" charset="0"/>
                <a:ea typeface="Times New Roman" panose="02020603050405020304" pitchFamily="18" charset="0"/>
              </a:rPr>
              <a:t>: Apply cyber security principles to mitigate cyber risk and </a:t>
            </a:r>
            <a:r>
              <a:rPr lang="en-IN" sz="1800" b="0" dirty="0" err="1">
                <a:effectLst/>
                <a:latin typeface="Times New Roman" panose="02020603050405020304" pitchFamily="18" charset="0"/>
                <a:ea typeface="Times New Roman" panose="02020603050405020304" pitchFamily="18" charset="0"/>
              </a:rPr>
              <a:t>analyze</a:t>
            </a:r>
            <a:r>
              <a:rPr lang="en-IN" sz="1800" b="0" dirty="0">
                <a:effectLst/>
                <a:latin typeface="Times New Roman" panose="02020603050405020304" pitchFamily="18" charset="0"/>
                <a:ea typeface="Times New Roman" panose="02020603050405020304" pitchFamily="18" charset="0"/>
              </a:rPr>
              <a:t> security requirements of an organization.</a:t>
            </a:r>
            <a:endParaRPr lang="en-IN" sz="1800" b="1" dirty="0">
              <a:effectLst/>
              <a:latin typeface="Arial" panose="020B0604020202020204" pitchFamily="34" charset="0"/>
            </a:endParaRPr>
          </a:p>
          <a:p>
            <a:pPr algn="just">
              <a:lnSpc>
                <a:spcPct val="150000"/>
              </a:lnSpc>
              <a:spcBef>
                <a:spcPts val="1200"/>
              </a:spcBef>
              <a:spcAft>
                <a:spcPts val="1200"/>
              </a:spcAft>
            </a:pPr>
            <a:r>
              <a:rPr lang="en-IN" sz="1800" b="1" dirty="0">
                <a:effectLst/>
                <a:latin typeface="Times New Roman" panose="02020603050405020304" pitchFamily="18" charset="0"/>
                <a:ea typeface="Times New Roman" panose="02020603050405020304" pitchFamily="18" charset="0"/>
              </a:rPr>
              <a:t>PSO 2</a:t>
            </a:r>
            <a:r>
              <a:rPr lang="en-IN" sz="1800" b="0" dirty="0">
                <a:effectLst/>
                <a:latin typeface="Times New Roman" panose="02020603050405020304" pitchFamily="18" charset="0"/>
                <a:ea typeface="Times New Roman" panose="02020603050405020304" pitchFamily="18" charset="0"/>
              </a:rPr>
              <a:t>: Develop and deploy secure software and infrastructure using modern tools and industry standards. </a:t>
            </a:r>
            <a:endParaRPr lang="en-IN" sz="1800" b="1" dirty="0">
              <a:effectLst/>
              <a:latin typeface="Arial" panose="020B0604020202020204" pitchFamily="34" charset="0"/>
            </a:endParaRPr>
          </a:p>
          <a:p>
            <a:pPr algn="just">
              <a:lnSpc>
                <a:spcPct val="150000"/>
              </a:lnSpc>
              <a:spcBef>
                <a:spcPts val="1200"/>
              </a:spcBef>
              <a:spcAft>
                <a:spcPts val="1200"/>
              </a:spcAft>
            </a:pPr>
            <a:r>
              <a:rPr lang="en-IN" sz="1800" b="1" dirty="0">
                <a:effectLst/>
                <a:latin typeface="Times New Roman" panose="02020603050405020304" pitchFamily="18" charset="0"/>
                <a:ea typeface="Times New Roman" panose="02020603050405020304" pitchFamily="18" charset="0"/>
              </a:rPr>
              <a:t>PSO 3</a:t>
            </a:r>
            <a:r>
              <a:rPr lang="en-IN" sz="1800" b="0" dirty="0">
                <a:effectLst/>
                <a:latin typeface="Times New Roman" panose="02020603050405020304" pitchFamily="18" charset="0"/>
                <a:ea typeface="Times New Roman" panose="02020603050405020304" pitchFamily="18" charset="0"/>
              </a:rPr>
              <a:t>: Uphold ethical, legal, and societal responsibilities while protecting privacy, data, and digital assets.</a:t>
            </a:r>
            <a:endParaRPr lang="en-IN" sz="1800" b="1" dirty="0">
              <a:effectLst/>
              <a:latin typeface="Arial" panose="020B0604020202020204" pitchFamily="34" charset="0"/>
            </a:endParaRPr>
          </a:p>
          <a:p>
            <a:pPr marL="0" indent="0" algn="just">
              <a:lnSpc>
                <a:spcPct val="114999"/>
              </a:lnSpc>
              <a:spcBef>
                <a:spcPts val="0"/>
              </a:spcBef>
              <a:buClr>
                <a:schemeClr val="dk1"/>
              </a:buClr>
              <a:buSzPts val="1100"/>
              <a:buFont typeface="Arial"/>
              <a:buNone/>
              <a:defRPr/>
            </a:pPr>
            <a:endParaRPr lang="en-US" sz="1600" dirty="0">
              <a:latin typeface="Times New Roman"/>
              <a:ea typeface="Times New Roman"/>
              <a:cs typeface="Times New Roman"/>
            </a:endParaRPr>
          </a:p>
          <a:p>
            <a:pPr marL="0" indent="0">
              <a:buFont typeface="Arial" panose="020B0604020202020204" pitchFamily="34" charset="0"/>
              <a:buNone/>
              <a:defRPr/>
            </a:pPr>
            <a:endParaRPr lang="en-US" sz="3200" dirty="0"/>
          </a:p>
        </p:txBody>
      </p:sp>
      <p:sp>
        <p:nvSpPr>
          <p:cNvPr id="2" name="Date Placeholder 1">
            <a:extLst>
              <a:ext uri="{FF2B5EF4-FFF2-40B4-BE49-F238E27FC236}">
                <a16:creationId xmlns:a16="http://schemas.microsoft.com/office/drawing/2014/main" id="{19F5C13D-11D8-DB45-0AD6-4E97F23884FE}"/>
              </a:ext>
            </a:extLst>
          </p:cNvPr>
          <p:cNvSpPr>
            <a:spLocks noGrp="1"/>
          </p:cNvSpPr>
          <p:nvPr>
            <p:ph type="dt" sz="half" idx="10"/>
          </p:nvPr>
        </p:nvSpPr>
        <p:spPr/>
        <p:txBody>
          <a:bodyPr/>
          <a:lstStyle/>
          <a:p>
            <a:fld id="{01548ECC-03F1-47ED-85D4-9079604B3F8A}" type="datetime1">
              <a:rPr lang="en-IN" smtClean="0"/>
              <a:t>29-07-2026</a:t>
            </a:fld>
            <a:endParaRPr lang="en-IN"/>
          </a:p>
        </p:txBody>
      </p:sp>
      <p:sp>
        <p:nvSpPr>
          <p:cNvPr id="3" name="Footer Placeholder 2">
            <a:extLst>
              <a:ext uri="{FF2B5EF4-FFF2-40B4-BE49-F238E27FC236}">
                <a16:creationId xmlns:a16="http://schemas.microsoft.com/office/drawing/2014/main" id="{34421F56-2E54-6E4A-05DC-5E711A333B53}"/>
              </a:ext>
            </a:extLst>
          </p:cNvPr>
          <p:cNvSpPr>
            <a:spLocks noGrp="1"/>
          </p:cNvSpPr>
          <p:nvPr>
            <p:ph type="ftr" sz="quarter" idx="11"/>
          </p:nvPr>
        </p:nvSpPr>
        <p:spPr/>
        <p:txBody>
          <a:bodyPr/>
          <a:lstStyle/>
          <a:p>
            <a:r>
              <a:rPr lang="en-IN"/>
              <a:t>DEPT OF CSE ( CY )</a:t>
            </a:r>
          </a:p>
        </p:txBody>
      </p:sp>
      <p:sp>
        <p:nvSpPr>
          <p:cNvPr id="4" name="Slide Number Placeholder 3">
            <a:extLst>
              <a:ext uri="{FF2B5EF4-FFF2-40B4-BE49-F238E27FC236}">
                <a16:creationId xmlns:a16="http://schemas.microsoft.com/office/drawing/2014/main" id="{FE6B0963-F8C2-A404-A546-137A58D62C61}"/>
              </a:ext>
            </a:extLst>
          </p:cNvPr>
          <p:cNvSpPr>
            <a:spLocks noGrp="1"/>
          </p:cNvSpPr>
          <p:nvPr>
            <p:ph type="sldNum" sz="quarter" idx="12"/>
          </p:nvPr>
        </p:nvSpPr>
        <p:spPr/>
        <p:txBody>
          <a:bodyPr/>
          <a:lstStyle/>
          <a:p>
            <a:fld id="{7C33CCD4-7228-4506-A3A6-5A9074B2CE31}" type="slidenum">
              <a:rPr lang="en-IN" smtClean="0"/>
              <a:t>8</a:t>
            </a:fld>
            <a:endParaRPr lang="en-IN"/>
          </a:p>
        </p:txBody>
      </p:sp>
      <p:sp>
        <p:nvSpPr>
          <p:cNvPr id="7" name="TextBox 9">
            <a:extLst>
              <a:ext uri="{FF2B5EF4-FFF2-40B4-BE49-F238E27FC236}">
                <a16:creationId xmlns:a16="http://schemas.microsoft.com/office/drawing/2014/main" id="{423F3C73-EBD0-C5EB-6842-4373134A0098}"/>
              </a:ext>
            </a:extLst>
          </p:cNvPr>
          <p:cNvSpPr txBox="1"/>
          <p:nvPr/>
        </p:nvSpPr>
        <p:spPr>
          <a:xfrm>
            <a:off x="4038600" y="-1975"/>
            <a:ext cx="5859379" cy="276999"/>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a:t> </a:t>
            </a:r>
            <a:r>
              <a:rPr lang="en-US" sz="1200" dirty="0">
                <a:solidFill>
                  <a:schemeClr val="tx1">
                    <a:lumMod val="50000"/>
                    <a:lumOff val="50000"/>
                  </a:schemeClr>
                </a:solidFill>
              </a:rPr>
              <a:t> Topic :  Affordable Refreshable Single-Cell Braille Display</a:t>
            </a:r>
            <a:endParaRPr lang="en-IN" sz="1200" dirty="0"/>
          </a:p>
        </p:txBody>
      </p:sp>
    </p:spTree>
    <p:extLst>
      <p:ext uri="{BB962C8B-B14F-4D97-AF65-F5344CB8AC3E}">
        <p14:creationId xmlns:p14="http://schemas.microsoft.com/office/powerpoint/2010/main" val="4903506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1251" y="243144"/>
            <a:ext cx="10579260" cy="1747701"/>
          </a:xfrm>
          <a:prstGeom prst="rect">
            <a:avLst/>
          </a:prstGeom>
        </p:spPr>
      </p:pic>
      <p:sp>
        <p:nvSpPr>
          <p:cNvPr id="4" name="Content Placeholder 2"/>
          <p:cNvSpPr txBox="1">
            <a:spLocks noChangeArrowheads="1"/>
          </p:cNvSpPr>
          <p:nvPr/>
        </p:nvSpPr>
        <p:spPr bwMode="auto">
          <a:xfrm>
            <a:off x="1319513" y="1990845"/>
            <a:ext cx="9560689" cy="476877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Bef>
                <a:spcPts val="0"/>
              </a:spcBef>
              <a:buNone/>
              <a:defRPr/>
            </a:pPr>
            <a:r>
              <a:rPr lang="en-US" sz="4000" b="1" u="sng" dirty="0">
                <a:latin typeface="Times New Roman"/>
                <a:cs typeface="Times New Roman"/>
              </a:rPr>
              <a:t>CONTENTS</a:t>
            </a:r>
            <a:endParaRPr lang="en-US" sz="2000" b="1" dirty="0">
              <a:solidFill>
                <a:srgbClr val="002060"/>
              </a:solidFill>
              <a:latin typeface="Times New Roman"/>
              <a:cs typeface="Times New Roman"/>
            </a:endParaRPr>
          </a:p>
          <a:p>
            <a:pPr>
              <a:lnSpc>
                <a:spcPct val="100000"/>
              </a:lnSpc>
              <a:spcBef>
                <a:spcPts val="0"/>
              </a:spcBef>
              <a:defRPr/>
            </a:pPr>
            <a:endParaRPr lang="en-US" sz="2000" b="1" dirty="0">
              <a:solidFill>
                <a:srgbClr val="002060"/>
              </a:solidFill>
              <a:latin typeface="Times New Roman"/>
              <a:cs typeface="Times New Roman"/>
            </a:endParaRPr>
          </a:p>
          <a:p>
            <a:pPr>
              <a:lnSpc>
                <a:spcPct val="100000"/>
              </a:lnSpc>
              <a:spcBef>
                <a:spcPts val="0"/>
              </a:spcBef>
              <a:defRPr/>
            </a:pPr>
            <a:r>
              <a:rPr lang="en-US" sz="2400" b="1" dirty="0">
                <a:solidFill>
                  <a:srgbClr val="002060"/>
                </a:solidFill>
                <a:latin typeface="Times New Roman"/>
                <a:cs typeface="Times New Roman"/>
              </a:rPr>
              <a:t>Motivation</a:t>
            </a:r>
          </a:p>
          <a:p>
            <a:pPr>
              <a:lnSpc>
                <a:spcPct val="100000"/>
              </a:lnSpc>
              <a:spcBef>
                <a:spcPts val="0"/>
              </a:spcBef>
              <a:defRPr/>
            </a:pPr>
            <a:r>
              <a:rPr lang="en-US" sz="2400" b="1" dirty="0">
                <a:solidFill>
                  <a:srgbClr val="002060"/>
                </a:solidFill>
                <a:latin typeface="Times New Roman"/>
                <a:cs typeface="Times New Roman"/>
              </a:rPr>
              <a:t>Introduction</a:t>
            </a:r>
          </a:p>
          <a:p>
            <a:pPr>
              <a:lnSpc>
                <a:spcPct val="100000"/>
              </a:lnSpc>
              <a:spcBef>
                <a:spcPts val="0"/>
              </a:spcBef>
              <a:defRPr/>
            </a:pPr>
            <a:r>
              <a:rPr lang="en-US" sz="2400" b="1" dirty="0">
                <a:solidFill>
                  <a:srgbClr val="002060"/>
                </a:solidFill>
                <a:latin typeface="Times New Roman"/>
                <a:cs typeface="Times New Roman"/>
              </a:rPr>
              <a:t>Problem Statement</a:t>
            </a:r>
          </a:p>
          <a:p>
            <a:pPr>
              <a:lnSpc>
                <a:spcPct val="100000"/>
              </a:lnSpc>
              <a:spcBef>
                <a:spcPts val="0"/>
              </a:spcBef>
              <a:defRPr/>
            </a:pPr>
            <a:r>
              <a:rPr lang="en-US" sz="2400" b="1" dirty="0">
                <a:solidFill>
                  <a:srgbClr val="002060"/>
                </a:solidFill>
                <a:latin typeface="Times New Roman"/>
                <a:cs typeface="Times New Roman"/>
              </a:rPr>
              <a:t>Proposed Method </a:t>
            </a:r>
          </a:p>
          <a:p>
            <a:pPr>
              <a:lnSpc>
                <a:spcPct val="100000"/>
              </a:lnSpc>
              <a:spcBef>
                <a:spcPts val="0"/>
              </a:spcBef>
              <a:defRPr/>
            </a:pPr>
            <a:r>
              <a:rPr lang="en-US" sz="2400" b="1" dirty="0">
                <a:solidFill>
                  <a:srgbClr val="002060"/>
                </a:solidFill>
                <a:latin typeface="Times New Roman"/>
                <a:cs typeface="Times New Roman"/>
              </a:rPr>
              <a:t>Basic Block Diagram</a:t>
            </a:r>
          </a:p>
          <a:p>
            <a:pPr>
              <a:lnSpc>
                <a:spcPct val="100000"/>
              </a:lnSpc>
              <a:spcBef>
                <a:spcPts val="0"/>
              </a:spcBef>
              <a:defRPr/>
            </a:pPr>
            <a:r>
              <a:rPr lang="en-US" sz="2400" b="1" dirty="0">
                <a:solidFill>
                  <a:srgbClr val="002060"/>
                </a:solidFill>
                <a:latin typeface="Times New Roman"/>
                <a:cs typeface="Times New Roman"/>
              </a:rPr>
              <a:t>Conclusion </a:t>
            </a:r>
          </a:p>
          <a:p>
            <a:pPr>
              <a:lnSpc>
                <a:spcPct val="100000"/>
              </a:lnSpc>
              <a:spcBef>
                <a:spcPts val="0"/>
              </a:spcBef>
              <a:defRPr/>
            </a:pPr>
            <a:r>
              <a:rPr lang="en-US" sz="2400" b="1" dirty="0">
                <a:solidFill>
                  <a:srgbClr val="002060"/>
                </a:solidFill>
                <a:latin typeface="Times New Roman"/>
                <a:cs typeface="Times New Roman"/>
              </a:rPr>
              <a:t>References</a:t>
            </a:r>
            <a:endParaRPr lang="en-US" sz="2400" dirty="0">
              <a:latin typeface="Times New Roman"/>
              <a:cs typeface="Times New Roman"/>
            </a:endParaRPr>
          </a:p>
        </p:txBody>
      </p:sp>
      <p:sp>
        <p:nvSpPr>
          <p:cNvPr id="2" name="Date Placeholder 1">
            <a:extLst>
              <a:ext uri="{FF2B5EF4-FFF2-40B4-BE49-F238E27FC236}">
                <a16:creationId xmlns:a16="http://schemas.microsoft.com/office/drawing/2014/main" id="{E2FC9015-48DD-5A45-430F-DA721C55A158}"/>
              </a:ext>
            </a:extLst>
          </p:cNvPr>
          <p:cNvSpPr>
            <a:spLocks noGrp="1"/>
          </p:cNvSpPr>
          <p:nvPr>
            <p:ph type="dt" sz="half" idx="10"/>
          </p:nvPr>
        </p:nvSpPr>
        <p:spPr/>
        <p:txBody>
          <a:bodyPr/>
          <a:lstStyle/>
          <a:p>
            <a:fld id="{6617656D-16DF-4B63-A686-6E412410285D}" type="datetime1">
              <a:rPr lang="en-IN" smtClean="0"/>
              <a:t>29-07-2026</a:t>
            </a:fld>
            <a:endParaRPr lang="en-IN"/>
          </a:p>
        </p:txBody>
      </p:sp>
      <p:sp>
        <p:nvSpPr>
          <p:cNvPr id="3" name="Footer Placeholder 2">
            <a:extLst>
              <a:ext uri="{FF2B5EF4-FFF2-40B4-BE49-F238E27FC236}">
                <a16:creationId xmlns:a16="http://schemas.microsoft.com/office/drawing/2014/main" id="{A3E0B3CA-FF3D-3B16-0B5F-5AC1EC2AECA6}"/>
              </a:ext>
            </a:extLst>
          </p:cNvPr>
          <p:cNvSpPr>
            <a:spLocks noGrp="1"/>
          </p:cNvSpPr>
          <p:nvPr>
            <p:ph type="ftr" sz="quarter" idx="11"/>
          </p:nvPr>
        </p:nvSpPr>
        <p:spPr/>
        <p:txBody>
          <a:bodyPr/>
          <a:lstStyle/>
          <a:p>
            <a:r>
              <a:rPr lang="en-IN"/>
              <a:t>DEPT OF CSE ( CY )</a:t>
            </a:r>
          </a:p>
        </p:txBody>
      </p:sp>
      <p:sp>
        <p:nvSpPr>
          <p:cNvPr id="5" name="Slide Number Placeholder 4">
            <a:extLst>
              <a:ext uri="{FF2B5EF4-FFF2-40B4-BE49-F238E27FC236}">
                <a16:creationId xmlns:a16="http://schemas.microsoft.com/office/drawing/2014/main" id="{E84049BE-900C-B4C2-8B0A-0608BC33E121}"/>
              </a:ext>
            </a:extLst>
          </p:cNvPr>
          <p:cNvSpPr>
            <a:spLocks noGrp="1"/>
          </p:cNvSpPr>
          <p:nvPr>
            <p:ph type="sldNum" sz="quarter" idx="12"/>
          </p:nvPr>
        </p:nvSpPr>
        <p:spPr/>
        <p:txBody>
          <a:bodyPr/>
          <a:lstStyle/>
          <a:p>
            <a:fld id="{7C33CCD4-7228-4506-A3A6-5A9074B2CE31}" type="slidenum">
              <a:rPr lang="en-IN" smtClean="0"/>
              <a:t>9</a:t>
            </a:fld>
            <a:endParaRPr lang="en-IN"/>
          </a:p>
        </p:txBody>
      </p:sp>
      <p:sp>
        <p:nvSpPr>
          <p:cNvPr id="7" name="TextBox 9">
            <a:extLst>
              <a:ext uri="{FF2B5EF4-FFF2-40B4-BE49-F238E27FC236}">
                <a16:creationId xmlns:a16="http://schemas.microsoft.com/office/drawing/2014/main" id="{3F804161-DAB5-F400-CD3C-CE665777F539}"/>
              </a:ext>
            </a:extLst>
          </p:cNvPr>
          <p:cNvSpPr txBox="1"/>
          <p:nvPr/>
        </p:nvSpPr>
        <p:spPr>
          <a:xfrm>
            <a:off x="4038600" y="-1975"/>
            <a:ext cx="5859379" cy="276999"/>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a:t> </a:t>
            </a:r>
            <a:r>
              <a:rPr lang="en-US" sz="1200" dirty="0">
                <a:solidFill>
                  <a:schemeClr val="tx1">
                    <a:lumMod val="50000"/>
                    <a:lumOff val="50000"/>
                  </a:schemeClr>
                </a:solidFill>
              </a:rPr>
              <a:t> Topic :  Affordable Refreshable Single-Cell Braille Display</a:t>
            </a:r>
            <a:endParaRPr lang="en-IN" sz="1200" dirty="0"/>
          </a:p>
        </p:txBody>
      </p:sp>
    </p:spTree>
    <p:extLst>
      <p:ext uri="{BB962C8B-B14F-4D97-AF65-F5344CB8AC3E}">
        <p14:creationId xmlns:p14="http://schemas.microsoft.com/office/powerpoint/2010/main" val="13304621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1251" y="243144"/>
            <a:ext cx="10579260" cy="1747701"/>
          </a:xfrm>
          <a:prstGeom prst="rect">
            <a:avLst/>
          </a:prstGeom>
        </p:spPr>
      </p:pic>
      <p:sp>
        <p:nvSpPr>
          <p:cNvPr id="3" name="Title 1"/>
          <p:cNvSpPr>
            <a:spLocks noGrp="1"/>
          </p:cNvSpPr>
          <p:nvPr>
            <p:ph type="title"/>
          </p:nvPr>
        </p:nvSpPr>
        <p:spPr bwMode="auto">
          <a:xfrm>
            <a:off x="838200" y="1559913"/>
            <a:ext cx="10515600" cy="1325563"/>
          </a:xfrm>
        </p:spPr>
        <p:txBody>
          <a:bodyPr>
            <a:normAutofit/>
          </a:bodyPr>
          <a:lstStyle/>
          <a:p>
            <a:pPr algn="ctr">
              <a:defRPr/>
            </a:pPr>
            <a:r>
              <a:rPr lang="en-US" sz="4000" b="1" u="sng" dirty="0">
                <a:latin typeface="Times New Roman"/>
                <a:ea typeface="Times New Roman"/>
                <a:cs typeface="Times New Roman"/>
              </a:rPr>
              <a:t>Motivation</a:t>
            </a:r>
            <a:endParaRPr sz="6000" b="1" dirty="0"/>
          </a:p>
        </p:txBody>
      </p:sp>
      <p:sp>
        <p:nvSpPr>
          <p:cNvPr id="11" name="Rectangle 6">
            <a:extLst>
              <a:ext uri="{FF2B5EF4-FFF2-40B4-BE49-F238E27FC236}">
                <a16:creationId xmlns:a16="http://schemas.microsoft.com/office/drawing/2014/main" id="{433F5CBD-695C-594D-7B95-39AA75B69C57}"/>
              </a:ext>
            </a:extLst>
          </p:cNvPr>
          <p:cNvSpPr>
            <a:spLocks noGrp="1" noChangeArrowheads="1"/>
          </p:cNvSpPr>
          <p:nvPr>
            <p:ph idx="1"/>
          </p:nvPr>
        </p:nvSpPr>
        <p:spPr bwMode="auto">
          <a:xfrm>
            <a:off x="0" y="2958566"/>
            <a:ext cx="12192001"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Cost Barrier:</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Refreshable Braille displays are still expensive because each dot needs careful movement and special hardware.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Beyond Audio:</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Audio screen readers are helpful, but Braille is better for reading, spelling, </a:t>
            </a:r>
            <a:r>
              <a:rPr kumimoji="0" lang="en-US" altLang="en-US" sz="2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maths</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structured learning.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Limited Access:</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High device cost makes it hard for schools, libraries and small institutions to provide refreshable Braille.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Low-Cost Trial:</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OpenBraille</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tests whether cheaper embedded parts can give a refreshable tactile interface.</a:t>
            </a:r>
          </a:p>
        </p:txBody>
      </p:sp>
      <p:sp>
        <p:nvSpPr>
          <p:cNvPr id="12" name="Date Placeholder 11">
            <a:extLst>
              <a:ext uri="{FF2B5EF4-FFF2-40B4-BE49-F238E27FC236}">
                <a16:creationId xmlns:a16="http://schemas.microsoft.com/office/drawing/2014/main" id="{DC5C91FA-59F7-46AA-2F33-88D099373907}"/>
              </a:ext>
            </a:extLst>
          </p:cNvPr>
          <p:cNvSpPr>
            <a:spLocks noGrp="1"/>
          </p:cNvSpPr>
          <p:nvPr>
            <p:ph type="dt" sz="half" idx="10"/>
          </p:nvPr>
        </p:nvSpPr>
        <p:spPr/>
        <p:txBody>
          <a:bodyPr/>
          <a:lstStyle/>
          <a:p>
            <a:fld id="{AB0DAF7E-8C43-48CD-9F02-5D57C2BF012F}" type="datetime1">
              <a:rPr lang="en-IN" smtClean="0"/>
              <a:t>29-07-2026</a:t>
            </a:fld>
            <a:endParaRPr lang="en-IN"/>
          </a:p>
        </p:txBody>
      </p:sp>
      <p:sp>
        <p:nvSpPr>
          <p:cNvPr id="13" name="Footer Placeholder 12">
            <a:extLst>
              <a:ext uri="{FF2B5EF4-FFF2-40B4-BE49-F238E27FC236}">
                <a16:creationId xmlns:a16="http://schemas.microsoft.com/office/drawing/2014/main" id="{F55D405F-C184-B5B9-1163-D17A0D0577C5}"/>
              </a:ext>
            </a:extLst>
          </p:cNvPr>
          <p:cNvSpPr>
            <a:spLocks noGrp="1"/>
          </p:cNvSpPr>
          <p:nvPr>
            <p:ph type="ftr" sz="quarter" idx="11"/>
          </p:nvPr>
        </p:nvSpPr>
        <p:spPr/>
        <p:txBody>
          <a:bodyPr/>
          <a:lstStyle/>
          <a:p>
            <a:r>
              <a:rPr lang="en-IN"/>
              <a:t>DEPT OF CSE ( CY )</a:t>
            </a:r>
          </a:p>
        </p:txBody>
      </p:sp>
      <p:sp>
        <p:nvSpPr>
          <p:cNvPr id="14" name="Slide Number Placeholder 13">
            <a:extLst>
              <a:ext uri="{FF2B5EF4-FFF2-40B4-BE49-F238E27FC236}">
                <a16:creationId xmlns:a16="http://schemas.microsoft.com/office/drawing/2014/main" id="{17363F95-D5AB-5F0B-C414-B6C84E03B2F3}"/>
              </a:ext>
            </a:extLst>
          </p:cNvPr>
          <p:cNvSpPr>
            <a:spLocks noGrp="1"/>
          </p:cNvSpPr>
          <p:nvPr>
            <p:ph type="sldNum" sz="quarter" idx="12"/>
          </p:nvPr>
        </p:nvSpPr>
        <p:spPr/>
        <p:txBody>
          <a:bodyPr/>
          <a:lstStyle/>
          <a:p>
            <a:fld id="{7C33CCD4-7228-4506-A3A6-5A9074B2CE31}" type="slidenum">
              <a:rPr lang="en-IN" smtClean="0"/>
              <a:t>10</a:t>
            </a:fld>
            <a:endParaRPr lang="en-IN"/>
          </a:p>
        </p:txBody>
      </p:sp>
      <p:sp>
        <p:nvSpPr>
          <p:cNvPr id="15" name="TextBox 9">
            <a:extLst>
              <a:ext uri="{FF2B5EF4-FFF2-40B4-BE49-F238E27FC236}">
                <a16:creationId xmlns:a16="http://schemas.microsoft.com/office/drawing/2014/main" id="{FFD87B1D-AE77-5BAF-3E3B-4BF8D6D672C9}"/>
              </a:ext>
            </a:extLst>
          </p:cNvPr>
          <p:cNvSpPr txBox="1"/>
          <p:nvPr/>
        </p:nvSpPr>
        <p:spPr>
          <a:xfrm>
            <a:off x="4038600" y="-1975"/>
            <a:ext cx="5859379" cy="276999"/>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a:t> </a:t>
            </a:r>
            <a:r>
              <a:rPr lang="en-US" sz="1200" dirty="0">
                <a:solidFill>
                  <a:schemeClr val="tx1">
                    <a:lumMod val="50000"/>
                    <a:lumOff val="50000"/>
                  </a:schemeClr>
                </a:solidFill>
              </a:rPr>
              <a:t> Topic :  Affordable Refreshable Single-Cell Braille Display</a:t>
            </a:r>
            <a:endParaRPr lang="en-IN" sz="1200" dirty="0"/>
          </a:p>
        </p:txBody>
      </p:sp>
    </p:spTree>
    <p:extLst>
      <p:ext uri="{BB962C8B-B14F-4D97-AF65-F5344CB8AC3E}">
        <p14:creationId xmlns:p14="http://schemas.microsoft.com/office/powerpoint/2010/main" val="30737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1251" y="243144"/>
            <a:ext cx="10579260" cy="1747701"/>
          </a:xfrm>
          <a:prstGeom prst="rect">
            <a:avLst/>
          </a:prstGeom>
        </p:spPr>
      </p:pic>
      <p:sp>
        <p:nvSpPr>
          <p:cNvPr id="3" name="Title 1"/>
          <p:cNvSpPr>
            <a:spLocks noGrp="1"/>
          </p:cNvSpPr>
          <p:nvPr>
            <p:ph type="title"/>
          </p:nvPr>
        </p:nvSpPr>
        <p:spPr bwMode="auto">
          <a:xfrm>
            <a:off x="838200" y="1546812"/>
            <a:ext cx="10515600" cy="1325563"/>
          </a:xfrm>
        </p:spPr>
        <p:txBody>
          <a:bodyPr>
            <a:noAutofit/>
          </a:bodyPr>
          <a:lstStyle/>
          <a:p>
            <a:pPr algn="ctr">
              <a:defRPr/>
            </a:pPr>
            <a:r>
              <a:rPr lang="en-US" sz="4000" b="1" u="sng" dirty="0">
                <a:latin typeface="Times New Roman"/>
                <a:ea typeface="Times New Roman"/>
                <a:cs typeface="Times New Roman"/>
              </a:rPr>
              <a:t>Introduction</a:t>
            </a:r>
            <a:endParaRPr sz="4800" b="1" dirty="0"/>
          </a:p>
        </p:txBody>
      </p:sp>
      <p:sp>
        <p:nvSpPr>
          <p:cNvPr id="5" name="Rectangle 2">
            <a:extLst>
              <a:ext uri="{FF2B5EF4-FFF2-40B4-BE49-F238E27FC236}">
                <a16:creationId xmlns:a16="http://schemas.microsoft.com/office/drawing/2014/main" id="{6FC8EBE4-8969-3623-52AA-B2F62836CAF1}"/>
              </a:ext>
            </a:extLst>
          </p:cNvPr>
          <p:cNvSpPr>
            <a:spLocks noGrp="1" noChangeArrowheads="1"/>
          </p:cNvSpPr>
          <p:nvPr>
            <p:ph idx="1"/>
          </p:nvPr>
        </p:nvSpPr>
        <p:spPr bwMode="auto">
          <a:xfrm>
            <a:off x="0" y="3089756"/>
            <a:ext cx="12191999"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Project Idea:</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OpenBraille</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is an embedded assistive system that looks at lower-cost ways to move Braille dots.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Main Goal:</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Check if affordable electro‑mechanical parts can create refreshable tactile Braille output.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Prototype Scope:</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semester work focuses on one six‑dot Braille cell.</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Macro Scale Choice:</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cell is made larger on purpose to make FDM 3D printing easier and reduce dimension issues.</a:t>
            </a:r>
          </a:p>
        </p:txBody>
      </p:sp>
      <p:sp>
        <p:nvSpPr>
          <p:cNvPr id="7" name="Date Placeholder 6">
            <a:extLst>
              <a:ext uri="{FF2B5EF4-FFF2-40B4-BE49-F238E27FC236}">
                <a16:creationId xmlns:a16="http://schemas.microsoft.com/office/drawing/2014/main" id="{538D0B94-7707-1AC9-A70B-DB6F48ED8CD3}"/>
              </a:ext>
            </a:extLst>
          </p:cNvPr>
          <p:cNvSpPr>
            <a:spLocks noGrp="1"/>
          </p:cNvSpPr>
          <p:nvPr>
            <p:ph type="dt" sz="half" idx="10"/>
          </p:nvPr>
        </p:nvSpPr>
        <p:spPr/>
        <p:txBody>
          <a:bodyPr/>
          <a:lstStyle/>
          <a:p>
            <a:fld id="{C6BC4875-F733-4844-AC94-5E629DC112AB}" type="datetime1">
              <a:rPr lang="en-IN" smtClean="0"/>
              <a:t>29-07-2026</a:t>
            </a:fld>
            <a:endParaRPr lang="en-IN"/>
          </a:p>
        </p:txBody>
      </p:sp>
      <p:sp>
        <p:nvSpPr>
          <p:cNvPr id="8" name="Footer Placeholder 7">
            <a:extLst>
              <a:ext uri="{FF2B5EF4-FFF2-40B4-BE49-F238E27FC236}">
                <a16:creationId xmlns:a16="http://schemas.microsoft.com/office/drawing/2014/main" id="{D82F4631-3664-51A6-BCCB-8C1A6D6E29D2}"/>
              </a:ext>
            </a:extLst>
          </p:cNvPr>
          <p:cNvSpPr>
            <a:spLocks noGrp="1"/>
          </p:cNvSpPr>
          <p:nvPr>
            <p:ph type="ftr" sz="quarter" idx="11"/>
          </p:nvPr>
        </p:nvSpPr>
        <p:spPr/>
        <p:txBody>
          <a:bodyPr/>
          <a:lstStyle/>
          <a:p>
            <a:r>
              <a:rPr lang="en-IN"/>
              <a:t>DEPT OF CSE ( CY )</a:t>
            </a:r>
          </a:p>
        </p:txBody>
      </p:sp>
      <p:sp>
        <p:nvSpPr>
          <p:cNvPr id="9" name="Slide Number Placeholder 8">
            <a:extLst>
              <a:ext uri="{FF2B5EF4-FFF2-40B4-BE49-F238E27FC236}">
                <a16:creationId xmlns:a16="http://schemas.microsoft.com/office/drawing/2014/main" id="{CE0FBD26-58D9-F350-7717-27C88E8A5152}"/>
              </a:ext>
            </a:extLst>
          </p:cNvPr>
          <p:cNvSpPr>
            <a:spLocks noGrp="1"/>
          </p:cNvSpPr>
          <p:nvPr>
            <p:ph type="sldNum" sz="quarter" idx="12"/>
          </p:nvPr>
        </p:nvSpPr>
        <p:spPr/>
        <p:txBody>
          <a:bodyPr/>
          <a:lstStyle/>
          <a:p>
            <a:fld id="{7C33CCD4-7228-4506-A3A6-5A9074B2CE31}" type="slidenum">
              <a:rPr lang="en-IN" smtClean="0"/>
              <a:t>11</a:t>
            </a:fld>
            <a:endParaRPr lang="en-IN"/>
          </a:p>
        </p:txBody>
      </p:sp>
      <p:sp>
        <p:nvSpPr>
          <p:cNvPr id="10" name="TextBox 9">
            <a:extLst>
              <a:ext uri="{FF2B5EF4-FFF2-40B4-BE49-F238E27FC236}">
                <a16:creationId xmlns:a16="http://schemas.microsoft.com/office/drawing/2014/main" id="{AD7333C1-545F-2E05-10D0-82F5E594A80A}"/>
              </a:ext>
            </a:extLst>
          </p:cNvPr>
          <p:cNvSpPr txBox="1"/>
          <p:nvPr/>
        </p:nvSpPr>
        <p:spPr>
          <a:xfrm>
            <a:off x="4038600" y="-1975"/>
            <a:ext cx="5859379" cy="276999"/>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a:t> </a:t>
            </a:r>
            <a:r>
              <a:rPr lang="en-US" sz="1200" dirty="0">
                <a:solidFill>
                  <a:schemeClr val="tx1">
                    <a:lumMod val="50000"/>
                    <a:lumOff val="50000"/>
                  </a:schemeClr>
                </a:solidFill>
              </a:rPr>
              <a:t> Topic :  Affordable Refreshable Single-Cell Braille Display</a:t>
            </a:r>
            <a:endParaRPr lang="en-IN" sz="1200" dirty="0"/>
          </a:p>
        </p:txBody>
      </p:sp>
    </p:spTree>
    <p:extLst>
      <p:ext uri="{BB962C8B-B14F-4D97-AF65-F5344CB8AC3E}">
        <p14:creationId xmlns:p14="http://schemas.microsoft.com/office/powerpoint/2010/main" val="42813067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1251" y="243144"/>
            <a:ext cx="10579260" cy="1747701"/>
          </a:xfrm>
          <a:prstGeom prst="rect">
            <a:avLst/>
          </a:prstGeom>
        </p:spPr>
      </p:pic>
      <p:sp>
        <p:nvSpPr>
          <p:cNvPr id="5" name="Title 1"/>
          <p:cNvSpPr>
            <a:spLocks noGrp="1"/>
          </p:cNvSpPr>
          <p:nvPr>
            <p:ph type="title"/>
          </p:nvPr>
        </p:nvSpPr>
        <p:spPr bwMode="auto">
          <a:xfrm>
            <a:off x="923081" y="1532743"/>
            <a:ext cx="10515600" cy="1325563"/>
          </a:xfrm>
        </p:spPr>
        <p:txBody>
          <a:bodyPr>
            <a:noAutofit/>
          </a:bodyPr>
          <a:lstStyle/>
          <a:p>
            <a:pPr algn="ctr">
              <a:lnSpc>
                <a:spcPct val="100000"/>
              </a:lnSpc>
              <a:spcBef>
                <a:spcPts val="0"/>
              </a:spcBef>
              <a:defRPr/>
            </a:pPr>
            <a:r>
              <a:rPr lang="en-IN" sz="4000" b="1" u="sng" dirty="0">
                <a:solidFill>
                  <a:srgbClr val="002060"/>
                </a:solidFill>
                <a:latin typeface="Times New Roman"/>
                <a:cs typeface="Times New Roman"/>
              </a:rPr>
              <a:t>Problem Statement</a:t>
            </a:r>
            <a:endParaRPr lang="en-US" sz="4000" b="1" u="sng" dirty="0">
              <a:solidFill>
                <a:srgbClr val="002060"/>
              </a:solidFill>
              <a:latin typeface="Times New Roman"/>
              <a:cs typeface="Times New Roman"/>
            </a:endParaRPr>
          </a:p>
        </p:txBody>
      </p:sp>
      <p:sp>
        <p:nvSpPr>
          <p:cNvPr id="2" name="Content Placeholder 1">
            <a:extLst>
              <a:ext uri="{FF2B5EF4-FFF2-40B4-BE49-F238E27FC236}">
                <a16:creationId xmlns:a16="http://schemas.microsoft.com/office/drawing/2014/main" id="{D2F5C17A-00E1-E055-CE76-FA73461C5156}"/>
              </a:ext>
            </a:extLst>
          </p:cNvPr>
          <p:cNvSpPr>
            <a:spLocks noGrp="1" noChangeArrowheads="1"/>
          </p:cNvSpPr>
          <p:nvPr>
            <p:ph idx="1"/>
          </p:nvPr>
        </p:nvSpPr>
        <p:spPr bwMode="auto">
          <a:xfrm>
            <a:off x="0" y="2858306"/>
            <a:ext cx="12192000"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Expensive Systems:</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Most refreshable Braille devices use costly actuators and precise manufacturing.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Small-Scale Issues:</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Normal Braille sizes cause alignment, friction and jamming problems when made with low‑cost FDM printing.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Working Hypothesis:</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 cheaper actuation method might replace piezoelectric actuators while still giving usable tactile Braille.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Project Limits:</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Prefer budget ≤ ₹3,000; maximum budget ≤ ₹5,000; about two months of work; five‑member student team.</a:t>
            </a:r>
          </a:p>
        </p:txBody>
      </p:sp>
      <p:sp>
        <p:nvSpPr>
          <p:cNvPr id="4" name="Date Placeholder 3">
            <a:extLst>
              <a:ext uri="{FF2B5EF4-FFF2-40B4-BE49-F238E27FC236}">
                <a16:creationId xmlns:a16="http://schemas.microsoft.com/office/drawing/2014/main" id="{280994B8-DD7C-97E3-824A-159AB76D0F81}"/>
              </a:ext>
            </a:extLst>
          </p:cNvPr>
          <p:cNvSpPr>
            <a:spLocks noGrp="1"/>
          </p:cNvSpPr>
          <p:nvPr>
            <p:ph type="dt" sz="half" idx="10"/>
          </p:nvPr>
        </p:nvSpPr>
        <p:spPr/>
        <p:txBody>
          <a:bodyPr/>
          <a:lstStyle/>
          <a:p>
            <a:fld id="{9B21DCF6-F344-4A73-A73D-FB95939D202B}" type="datetime1">
              <a:rPr lang="en-IN" smtClean="0"/>
              <a:t>29-07-2026</a:t>
            </a:fld>
            <a:endParaRPr lang="en-IN"/>
          </a:p>
        </p:txBody>
      </p:sp>
      <p:sp>
        <p:nvSpPr>
          <p:cNvPr id="7" name="Footer Placeholder 6">
            <a:extLst>
              <a:ext uri="{FF2B5EF4-FFF2-40B4-BE49-F238E27FC236}">
                <a16:creationId xmlns:a16="http://schemas.microsoft.com/office/drawing/2014/main" id="{623694D6-EF66-3798-B148-196D53805B24}"/>
              </a:ext>
            </a:extLst>
          </p:cNvPr>
          <p:cNvSpPr>
            <a:spLocks noGrp="1"/>
          </p:cNvSpPr>
          <p:nvPr>
            <p:ph type="ftr" sz="quarter" idx="11"/>
          </p:nvPr>
        </p:nvSpPr>
        <p:spPr/>
        <p:txBody>
          <a:bodyPr/>
          <a:lstStyle/>
          <a:p>
            <a:r>
              <a:rPr lang="en-IN"/>
              <a:t>DEPT OF CSE ( CY )</a:t>
            </a:r>
          </a:p>
        </p:txBody>
      </p:sp>
      <p:sp>
        <p:nvSpPr>
          <p:cNvPr id="8" name="Slide Number Placeholder 7">
            <a:extLst>
              <a:ext uri="{FF2B5EF4-FFF2-40B4-BE49-F238E27FC236}">
                <a16:creationId xmlns:a16="http://schemas.microsoft.com/office/drawing/2014/main" id="{B647349E-EE9A-937C-C25B-A666B0DABC18}"/>
              </a:ext>
            </a:extLst>
          </p:cNvPr>
          <p:cNvSpPr>
            <a:spLocks noGrp="1"/>
          </p:cNvSpPr>
          <p:nvPr>
            <p:ph type="sldNum" sz="quarter" idx="12"/>
          </p:nvPr>
        </p:nvSpPr>
        <p:spPr/>
        <p:txBody>
          <a:bodyPr/>
          <a:lstStyle/>
          <a:p>
            <a:fld id="{7C33CCD4-7228-4506-A3A6-5A9074B2CE31}" type="slidenum">
              <a:rPr lang="en-IN" smtClean="0"/>
              <a:t>12</a:t>
            </a:fld>
            <a:endParaRPr lang="en-IN"/>
          </a:p>
        </p:txBody>
      </p:sp>
      <p:sp>
        <p:nvSpPr>
          <p:cNvPr id="9" name="TextBox 9">
            <a:extLst>
              <a:ext uri="{FF2B5EF4-FFF2-40B4-BE49-F238E27FC236}">
                <a16:creationId xmlns:a16="http://schemas.microsoft.com/office/drawing/2014/main" id="{17A0F4A4-05C0-1BB8-7FBE-B18AA30BC875}"/>
              </a:ext>
            </a:extLst>
          </p:cNvPr>
          <p:cNvSpPr txBox="1"/>
          <p:nvPr/>
        </p:nvSpPr>
        <p:spPr>
          <a:xfrm>
            <a:off x="4038600" y="-1975"/>
            <a:ext cx="5859379" cy="276999"/>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a:t> </a:t>
            </a:r>
            <a:r>
              <a:rPr lang="en-US" sz="1200" dirty="0">
                <a:solidFill>
                  <a:schemeClr val="tx1">
                    <a:lumMod val="50000"/>
                    <a:lumOff val="50000"/>
                  </a:schemeClr>
                </a:solidFill>
              </a:rPr>
              <a:t> Topic :  Affordable Refreshable Single-Cell Braille Display</a:t>
            </a:r>
            <a:endParaRPr lang="en-IN" sz="1200" dirty="0"/>
          </a:p>
        </p:txBody>
      </p:sp>
    </p:spTree>
    <p:extLst>
      <p:ext uri="{BB962C8B-B14F-4D97-AF65-F5344CB8AC3E}">
        <p14:creationId xmlns:p14="http://schemas.microsoft.com/office/powerpoint/2010/main" val="24053778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1251" y="243144"/>
            <a:ext cx="10579260" cy="1747701"/>
          </a:xfrm>
          <a:prstGeom prst="rect">
            <a:avLst/>
          </a:prstGeom>
        </p:spPr>
      </p:pic>
      <p:sp>
        <p:nvSpPr>
          <p:cNvPr id="3" name="Title 1"/>
          <p:cNvSpPr>
            <a:spLocks noGrp="1"/>
          </p:cNvSpPr>
          <p:nvPr>
            <p:ph type="title"/>
          </p:nvPr>
        </p:nvSpPr>
        <p:spPr bwMode="auto">
          <a:xfrm>
            <a:off x="838199" y="1482725"/>
            <a:ext cx="10515600" cy="1325563"/>
          </a:xfrm>
        </p:spPr>
        <p:txBody>
          <a:bodyPr>
            <a:noAutofit/>
          </a:bodyPr>
          <a:lstStyle/>
          <a:p>
            <a:pPr algn="ctr">
              <a:lnSpc>
                <a:spcPct val="100000"/>
              </a:lnSpc>
              <a:spcBef>
                <a:spcPts val="0"/>
              </a:spcBef>
              <a:defRPr/>
            </a:pPr>
            <a:r>
              <a:rPr lang="en-IN" sz="4000" b="1" u="sng" dirty="0">
                <a:solidFill>
                  <a:srgbClr val="002060"/>
                </a:solidFill>
                <a:latin typeface="Times New Roman"/>
                <a:cs typeface="Times New Roman"/>
              </a:rPr>
              <a:t>Proposed Method</a:t>
            </a:r>
            <a:endParaRPr lang="en-US" sz="4000" b="1" u="sng" dirty="0">
              <a:solidFill>
                <a:srgbClr val="002060"/>
              </a:solidFill>
              <a:latin typeface="Times New Roman"/>
              <a:cs typeface="Times New Roman"/>
            </a:endParaRPr>
          </a:p>
        </p:txBody>
      </p:sp>
      <p:sp>
        <p:nvSpPr>
          <p:cNvPr id="2" name="Content Placeholder 1">
            <a:extLst>
              <a:ext uri="{FF2B5EF4-FFF2-40B4-BE49-F238E27FC236}">
                <a16:creationId xmlns:a16="http://schemas.microsoft.com/office/drawing/2014/main" id="{D143740F-DA51-B39A-3238-8388B63C8A95}"/>
              </a:ext>
            </a:extLst>
          </p:cNvPr>
          <p:cNvSpPr>
            <a:spLocks noGrp="1" noChangeArrowheads="1"/>
          </p:cNvSpPr>
          <p:nvPr>
            <p:ph idx="1"/>
          </p:nvPr>
        </p:nvSpPr>
        <p:spPr bwMode="auto">
          <a:xfrm>
            <a:off x="0" y="2928650"/>
            <a:ext cx="12192000"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Servo Drive:</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Six SG90‑class micro servos move eccentric cams.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Dot Movement:</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Each cam turns servo rotation into up‑and‑down motion of one tactile pin.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Controller Board:</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 ESP32‑WROOM‑32 board creates six separate servo control signals.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Power Setup:</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Servos run from an external 5 V line with a shared ground to the ESP32 board.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Power Support:</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 1,000 µF capacitor is planned on the servo power line to help smooth voltage changes.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Mechanics Build:</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frame and cam parts are made using college FDM printers and easily available components.</a:t>
            </a:r>
          </a:p>
        </p:txBody>
      </p:sp>
      <p:sp>
        <p:nvSpPr>
          <p:cNvPr id="5" name="Date Placeholder 4">
            <a:extLst>
              <a:ext uri="{FF2B5EF4-FFF2-40B4-BE49-F238E27FC236}">
                <a16:creationId xmlns:a16="http://schemas.microsoft.com/office/drawing/2014/main" id="{3AF84576-3B0D-4460-C8CC-98B67E6C071F}"/>
              </a:ext>
            </a:extLst>
          </p:cNvPr>
          <p:cNvSpPr>
            <a:spLocks noGrp="1"/>
          </p:cNvSpPr>
          <p:nvPr>
            <p:ph type="dt" sz="half" idx="10"/>
          </p:nvPr>
        </p:nvSpPr>
        <p:spPr/>
        <p:txBody>
          <a:bodyPr/>
          <a:lstStyle/>
          <a:p>
            <a:fld id="{0337E3C8-DA77-4781-97C4-F427D52CD84D}" type="datetime1">
              <a:rPr lang="en-IN" smtClean="0"/>
              <a:t>29-07-2026</a:t>
            </a:fld>
            <a:endParaRPr lang="en-IN"/>
          </a:p>
        </p:txBody>
      </p:sp>
      <p:sp>
        <p:nvSpPr>
          <p:cNvPr id="7" name="Footer Placeholder 6">
            <a:extLst>
              <a:ext uri="{FF2B5EF4-FFF2-40B4-BE49-F238E27FC236}">
                <a16:creationId xmlns:a16="http://schemas.microsoft.com/office/drawing/2014/main" id="{8B959C4B-B6BB-6AEA-20A3-48FBDB14334F}"/>
              </a:ext>
            </a:extLst>
          </p:cNvPr>
          <p:cNvSpPr>
            <a:spLocks noGrp="1"/>
          </p:cNvSpPr>
          <p:nvPr>
            <p:ph type="ftr" sz="quarter" idx="11"/>
          </p:nvPr>
        </p:nvSpPr>
        <p:spPr/>
        <p:txBody>
          <a:bodyPr/>
          <a:lstStyle/>
          <a:p>
            <a:r>
              <a:rPr lang="en-IN"/>
              <a:t>DEPT OF CSE ( CY )</a:t>
            </a:r>
          </a:p>
        </p:txBody>
      </p:sp>
      <p:sp>
        <p:nvSpPr>
          <p:cNvPr id="8" name="Slide Number Placeholder 7">
            <a:extLst>
              <a:ext uri="{FF2B5EF4-FFF2-40B4-BE49-F238E27FC236}">
                <a16:creationId xmlns:a16="http://schemas.microsoft.com/office/drawing/2014/main" id="{10C108EC-7238-2497-3FFD-5472F80501F9}"/>
              </a:ext>
            </a:extLst>
          </p:cNvPr>
          <p:cNvSpPr>
            <a:spLocks noGrp="1"/>
          </p:cNvSpPr>
          <p:nvPr>
            <p:ph type="sldNum" sz="quarter" idx="12"/>
          </p:nvPr>
        </p:nvSpPr>
        <p:spPr/>
        <p:txBody>
          <a:bodyPr/>
          <a:lstStyle/>
          <a:p>
            <a:fld id="{7C33CCD4-7228-4506-A3A6-5A9074B2CE31}" type="slidenum">
              <a:rPr lang="en-IN" smtClean="0"/>
              <a:t>13</a:t>
            </a:fld>
            <a:endParaRPr lang="en-IN"/>
          </a:p>
        </p:txBody>
      </p:sp>
      <p:sp>
        <p:nvSpPr>
          <p:cNvPr id="9" name="TextBox 9">
            <a:extLst>
              <a:ext uri="{FF2B5EF4-FFF2-40B4-BE49-F238E27FC236}">
                <a16:creationId xmlns:a16="http://schemas.microsoft.com/office/drawing/2014/main" id="{0D8C07B2-E747-5F20-FE74-227748FC7A67}"/>
              </a:ext>
            </a:extLst>
          </p:cNvPr>
          <p:cNvSpPr txBox="1"/>
          <p:nvPr/>
        </p:nvSpPr>
        <p:spPr>
          <a:xfrm>
            <a:off x="4038600" y="-1975"/>
            <a:ext cx="5859379" cy="276999"/>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a:t> </a:t>
            </a:r>
            <a:r>
              <a:rPr lang="en-US" sz="1200" dirty="0">
                <a:solidFill>
                  <a:schemeClr val="tx1">
                    <a:lumMod val="50000"/>
                    <a:lumOff val="50000"/>
                  </a:schemeClr>
                </a:solidFill>
              </a:rPr>
              <a:t> Topic :  Affordable Refreshable Single-Cell Braille Display</a:t>
            </a:r>
            <a:endParaRPr lang="en-IN" sz="1200" dirty="0"/>
          </a:p>
        </p:txBody>
      </p:sp>
      <p:sp>
        <p:nvSpPr>
          <p:cNvPr id="10" name="TextBox 9">
            <a:extLst>
              <a:ext uri="{FF2B5EF4-FFF2-40B4-BE49-F238E27FC236}">
                <a16:creationId xmlns:a16="http://schemas.microsoft.com/office/drawing/2014/main" id="{AE5A3C71-FC27-E6E3-2726-F26018DC3694}"/>
              </a:ext>
            </a:extLst>
          </p:cNvPr>
          <p:cNvSpPr txBox="1"/>
          <p:nvPr/>
        </p:nvSpPr>
        <p:spPr>
          <a:xfrm>
            <a:off x="4191000" y="150425"/>
            <a:ext cx="5859379" cy="276999"/>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a:t> </a:t>
            </a:r>
            <a:r>
              <a:rPr lang="en-US" sz="1200" dirty="0">
                <a:solidFill>
                  <a:schemeClr val="tx1">
                    <a:lumMod val="50000"/>
                    <a:lumOff val="50000"/>
                  </a:schemeClr>
                </a:solidFill>
              </a:rPr>
              <a:t> Topic :  Affordable Refreshable Single-Cell Braille Display</a:t>
            </a:r>
            <a:endParaRPr lang="en-IN" sz="1200" dirty="0"/>
          </a:p>
        </p:txBody>
      </p:sp>
    </p:spTree>
    <p:extLst>
      <p:ext uri="{BB962C8B-B14F-4D97-AF65-F5344CB8AC3E}">
        <p14:creationId xmlns:p14="http://schemas.microsoft.com/office/powerpoint/2010/main" val="36210661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07939" y="162121"/>
            <a:ext cx="9745883" cy="1610027"/>
          </a:xfrm>
          <a:prstGeom prst="rect">
            <a:avLst/>
          </a:prstGeom>
        </p:spPr>
      </p:pic>
      <p:sp>
        <p:nvSpPr>
          <p:cNvPr id="3" name="Title 1"/>
          <p:cNvSpPr>
            <a:spLocks noGrp="1"/>
          </p:cNvSpPr>
          <p:nvPr>
            <p:ph type="title"/>
          </p:nvPr>
        </p:nvSpPr>
        <p:spPr bwMode="auto">
          <a:xfrm>
            <a:off x="838200" y="1307660"/>
            <a:ext cx="10515600" cy="1325563"/>
          </a:xfrm>
        </p:spPr>
        <p:txBody>
          <a:bodyPr>
            <a:noAutofit/>
          </a:bodyPr>
          <a:lstStyle/>
          <a:p>
            <a:pPr algn="ctr">
              <a:lnSpc>
                <a:spcPct val="100000"/>
              </a:lnSpc>
              <a:spcBef>
                <a:spcPts val="0"/>
              </a:spcBef>
              <a:defRPr/>
            </a:pPr>
            <a:r>
              <a:rPr lang="en-US" sz="3600" b="1" u="sng" dirty="0">
                <a:solidFill>
                  <a:srgbClr val="002060"/>
                </a:solidFill>
                <a:latin typeface="Times New Roman"/>
                <a:cs typeface="Times New Roman"/>
              </a:rPr>
              <a:t>Basic Block Diagram</a:t>
            </a:r>
          </a:p>
        </p:txBody>
      </p:sp>
      <p:pic>
        <p:nvPicPr>
          <p:cNvPr id="7" name="Content Placeholder 6">
            <a:extLst>
              <a:ext uri="{FF2B5EF4-FFF2-40B4-BE49-F238E27FC236}">
                <a16:creationId xmlns:a16="http://schemas.microsoft.com/office/drawing/2014/main" id="{6A058313-FCED-C0A5-482B-4EC614511B8D}"/>
              </a:ext>
            </a:extLst>
          </p:cNvPr>
          <p:cNvPicPr>
            <a:picLocks noGrp="1" noChangeAspect="1"/>
          </p:cNvPicPr>
          <p:nvPr>
            <p:ph idx="1"/>
          </p:nvPr>
        </p:nvPicPr>
        <p:blipFill>
          <a:blip r:embed="rId3"/>
          <a:srcRect/>
          <a:stretch/>
        </p:blipFill>
        <p:spPr bwMode="auto">
          <a:xfrm>
            <a:off x="1713452" y="2283239"/>
            <a:ext cx="8934855" cy="45747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Date Placeholder 1">
            <a:extLst>
              <a:ext uri="{FF2B5EF4-FFF2-40B4-BE49-F238E27FC236}">
                <a16:creationId xmlns:a16="http://schemas.microsoft.com/office/drawing/2014/main" id="{225C2825-A782-7EB9-4532-C021BF502285}"/>
              </a:ext>
            </a:extLst>
          </p:cNvPr>
          <p:cNvSpPr>
            <a:spLocks noGrp="1"/>
          </p:cNvSpPr>
          <p:nvPr>
            <p:ph type="dt" sz="half" idx="10"/>
          </p:nvPr>
        </p:nvSpPr>
        <p:spPr/>
        <p:txBody>
          <a:bodyPr/>
          <a:lstStyle/>
          <a:p>
            <a:fld id="{DD6793FB-6102-4B24-869C-00C7BC1CE1AE}" type="datetime1">
              <a:rPr lang="en-IN" smtClean="0"/>
              <a:t>29-07-2026</a:t>
            </a:fld>
            <a:endParaRPr lang="en-IN"/>
          </a:p>
        </p:txBody>
      </p:sp>
      <p:sp>
        <p:nvSpPr>
          <p:cNvPr id="4" name="Footer Placeholder 3">
            <a:extLst>
              <a:ext uri="{FF2B5EF4-FFF2-40B4-BE49-F238E27FC236}">
                <a16:creationId xmlns:a16="http://schemas.microsoft.com/office/drawing/2014/main" id="{6E0C861E-0993-BD6B-9E48-997365E14506}"/>
              </a:ext>
            </a:extLst>
          </p:cNvPr>
          <p:cNvSpPr>
            <a:spLocks noGrp="1"/>
          </p:cNvSpPr>
          <p:nvPr>
            <p:ph type="ftr" sz="quarter" idx="11"/>
          </p:nvPr>
        </p:nvSpPr>
        <p:spPr/>
        <p:txBody>
          <a:bodyPr/>
          <a:lstStyle/>
          <a:p>
            <a:r>
              <a:rPr lang="en-IN"/>
              <a:t>DEPT OF CSE ( CY )</a:t>
            </a:r>
          </a:p>
        </p:txBody>
      </p:sp>
      <p:sp>
        <p:nvSpPr>
          <p:cNvPr id="5" name="Slide Number Placeholder 4">
            <a:extLst>
              <a:ext uri="{FF2B5EF4-FFF2-40B4-BE49-F238E27FC236}">
                <a16:creationId xmlns:a16="http://schemas.microsoft.com/office/drawing/2014/main" id="{2B14610C-6903-3B5F-414C-3EED600C51AE}"/>
              </a:ext>
            </a:extLst>
          </p:cNvPr>
          <p:cNvSpPr>
            <a:spLocks noGrp="1"/>
          </p:cNvSpPr>
          <p:nvPr>
            <p:ph type="sldNum" sz="quarter" idx="12"/>
          </p:nvPr>
        </p:nvSpPr>
        <p:spPr/>
        <p:txBody>
          <a:bodyPr/>
          <a:lstStyle/>
          <a:p>
            <a:fld id="{7C33CCD4-7228-4506-A3A6-5A9074B2CE31}" type="slidenum">
              <a:rPr lang="en-IN" smtClean="0"/>
              <a:t>14</a:t>
            </a:fld>
            <a:endParaRPr lang="en-IN"/>
          </a:p>
        </p:txBody>
      </p:sp>
      <p:sp>
        <p:nvSpPr>
          <p:cNvPr id="8" name="TextBox 9">
            <a:extLst>
              <a:ext uri="{FF2B5EF4-FFF2-40B4-BE49-F238E27FC236}">
                <a16:creationId xmlns:a16="http://schemas.microsoft.com/office/drawing/2014/main" id="{F06F48E7-4134-6AD3-4E4A-87B1D9BADB54}"/>
              </a:ext>
            </a:extLst>
          </p:cNvPr>
          <p:cNvSpPr txBox="1"/>
          <p:nvPr/>
        </p:nvSpPr>
        <p:spPr>
          <a:xfrm>
            <a:off x="4038600" y="-1975"/>
            <a:ext cx="5859379" cy="276999"/>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a:t> </a:t>
            </a:r>
            <a:r>
              <a:rPr lang="en-US" sz="1200" dirty="0">
                <a:solidFill>
                  <a:schemeClr val="tx1">
                    <a:lumMod val="50000"/>
                    <a:lumOff val="50000"/>
                  </a:schemeClr>
                </a:solidFill>
              </a:rPr>
              <a:t> Topic :  Affordable Refreshable Single-Cell Braille Display</a:t>
            </a:r>
            <a:endParaRPr lang="en-IN" sz="1200" dirty="0"/>
          </a:p>
        </p:txBody>
      </p:sp>
    </p:spTree>
    <p:extLst>
      <p:ext uri="{BB962C8B-B14F-4D97-AF65-F5344CB8AC3E}">
        <p14:creationId xmlns:p14="http://schemas.microsoft.com/office/powerpoint/2010/main" val="27126034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title"/>
          </p:nvPr>
        </p:nvSpPr>
        <p:spPr bwMode="auto">
          <a:xfrm>
            <a:off x="838200" y="1343819"/>
            <a:ext cx="10515600" cy="1325563"/>
          </a:xfrm>
        </p:spPr>
        <p:txBody>
          <a:bodyPr>
            <a:noAutofit/>
          </a:bodyPr>
          <a:lstStyle/>
          <a:p>
            <a:pPr algn="ctr">
              <a:lnSpc>
                <a:spcPct val="100000"/>
              </a:lnSpc>
              <a:spcBef>
                <a:spcPts val="0"/>
              </a:spcBef>
              <a:defRPr/>
            </a:pPr>
            <a:r>
              <a:rPr lang="en-IN" sz="4000" b="1" u="sng" dirty="0">
                <a:solidFill>
                  <a:srgbClr val="002060"/>
                </a:solidFill>
                <a:latin typeface="Times New Roman"/>
                <a:cs typeface="Times New Roman"/>
              </a:rPr>
              <a:t>Conclusion </a:t>
            </a:r>
            <a:endParaRPr lang="en-US" sz="4000" b="1" u="sng" dirty="0">
              <a:solidFill>
                <a:srgbClr val="002060"/>
              </a:solidFill>
              <a:latin typeface="Times New Roman"/>
              <a:cs typeface="Times New Roman"/>
            </a:endParaRP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8200" y="77924"/>
            <a:ext cx="10579260" cy="1747701"/>
          </a:xfrm>
          <a:prstGeom prst="rect">
            <a:avLst/>
          </a:prstGeom>
        </p:spPr>
      </p:pic>
      <p:sp>
        <p:nvSpPr>
          <p:cNvPr id="5" name="Rectangle 2">
            <a:extLst>
              <a:ext uri="{FF2B5EF4-FFF2-40B4-BE49-F238E27FC236}">
                <a16:creationId xmlns:a16="http://schemas.microsoft.com/office/drawing/2014/main" id="{1B165B66-EE96-65B5-7E9D-A8966C62DD8F}"/>
              </a:ext>
            </a:extLst>
          </p:cNvPr>
          <p:cNvSpPr>
            <a:spLocks noGrp="1" noChangeArrowheads="1"/>
          </p:cNvSpPr>
          <p:nvPr>
            <p:ph idx="1"/>
          </p:nvPr>
        </p:nvSpPr>
        <p:spPr bwMode="auto">
          <a:xfrm>
            <a:off x="1" y="2829194"/>
            <a:ext cx="12192000"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Prototype Proposal:</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OpenBraille</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suggests a macro‑scaled single‑cell refreshable Braille prototype using ESP32‑controlled servo‑cam actuation.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Remaining Checks:</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Making the cell larger helps with FDM tolerances, but friction, alignment, feel of the dots and repeatability still need testing.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Cost Estimate:</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estimated BOM is in the range ₹2,060–₹2,850, depending on part prices and design changes.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Test Plan:</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Work will start with one dot, then move step‑by‑step to the full six‑dot cell after basic validation.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Future Steps:</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After experiments, the project may explore multi‑cell designs and possible IP options.</a:t>
            </a:r>
          </a:p>
        </p:txBody>
      </p:sp>
      <p:sp>
        <p:nvSpPr>
          <p:cNvPr id="6" name="Date Placeholder 5">
            <a:extLst>
              <a:ext uri="{FF2B5EF4-FFF2-40B4-BE49-F238E27FC236}">
                <a16:creationId xmlns:a16="http://schemas.microsoft.com/office/drawing/2014/main" id="{7875C4A7-5D92-3B6C-092E-00DDCC57A98C}"/>
              </a:ext>
            </a:extLst>
          </p:cNvPr>
          <p:cNvSpPr>
            <a:spLocks noGrp="1"/>
          </p:cNvSpPr>
          <p:nvPr>
            <p:ph type="dt" sz="half" idx="10"/>
          </p:nvPr>
        </p:nvSpPr>
        <p:spPr/>
        <p:txBody>
          <a:bodyPr/>
          <a:lstStyle/>
          <a:p>
            <a:fld id="{D799D079-91E2-4FCE-B474-9875EAD8F04E}" type="datetime1">
              <a:rPr lang="en-IN" smtClean="0"/>
              <a:t>29-07-2026</a:t>
            </a:fld>
            <a:endParaRPr lang="en-IN"/>
          </a:p>
        </p:txBody>
      </p:sp>
      <p:sp>
        <p:nvSpPr>
          <p:cNvPr id="7" name="Footer Placeholder 6">
            <a:extLst>
              <a:ext uri="{FF2B5EF4-FFF2-40B4-BE49-F238E27FC236}">
                <a16:creationId xmlns:a16="http://schemas.microsoft.com/office/drawing/2014/main" id="{BF36802C-9225-2303-969A-44EAFBCAA747}"/>
              </a:ext>
            </a:extLst>
          </p:cNvPr>
          <p:cNvSpPr>
            <a:spLocks noGrp="1"/>
          </p:cNvSpPr>
          <p:nvPr>
            <p:ph type="ftr" sz="quarter" idx="11"/>
          </p:nvPr>
        </p:nvSpPr>
        <p:spPr/>
        <p:txBody>
          <a:bodyPr/>
          <a:lstStyle/>
          <a:p>
            <a:r>
              <a:rPr lang="en-IN"/>
              <a:t>DEPT OF CSE ( CY )</a:t>
            </a:r>
          </a:p>
        </p:txBody>
      </p:sp>
      <p:sp>
        <p:nvSpPr>
          <p:cNvPr id="9" name="Slide Number Placeholder 8">
            <a:extLst>
              <a:ext uri="{FF2B5EF4-FFF2-40B4-BE49-F238E27FC236}">
                <a16:creationId xmlns:a16="http://schemas.microsoft.com/office/drawing/2014/main" id="{85EEA805-58F5-0366-BFD6-4E113190F695}"/>
              </a:ext>
            </a:extLst>
          </p:cNvPr>
          <p:cNvSpPr>
            <a:spLocks noGrp="1"/>
          </p:cNvSpPr>
          <p:nvPr>
            <p:ph type="sldNum" sz="quarter" idx="12"/>
          </p:nvPr>
        </p:nvSpPr>
        <p:spPr/>
        <p:txBody>
          <a:bodyPr/>
          <a:lstStyle/>
          <a:p>
            <a:fld id="{7C33CCD4-7228-4506-A3A6-5A9074B2CE31}" type="slidenum">
              <a:rPr lang="en-IN" smtClean="0"/>
              <a:t>15</a:t>
            </a:fld>
            <a:endParaRPr lang="en-IN"/>
          </a:p>
        </p:txBody>
      </p:sp>
      <p:sp>
        <p:nvSpPr>
          <p:cNvPr id="10" name="TextBox 9">
            <a:extLst>
              <a:ext uri="{FF2B5EF4-FFF2-40B4-BE49-F238E27FC236}">
                <a16:creationId xmlns:a16="http://schemas.microsoft.com/office/drawing/2014/main" id="{11F4AC57-08A7-B277-A8FB-3E6557BB7D43}"/>
              </a:ext>
            </a:extLst>
          </p:cNvPr>
          <p:cNvSpPr txBox="1"/>
          <p:nvPr/>
        </p:nvSpPr>
        <p:spPr>
          <a:xfrm>
            <a:off x="4038600" y="-1975"/>
            <a:ext cx="5859379" cy="276999"/>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a:t> </a:t>
            </a:r>
            <a:r>
              <a:rPr lang="en-US" sz="1200" dirty="0">
                <a:solidFill>
                  <a:schemeClr val="tx1">
                    <a:lumMod val="50000"/>
                    <a:lumOff val="50000"/>
                  </a:schemeClr>
                </a:solidFill>
              </a:rPr>
              <a:t> Topic :  Affordable Refreshable Single-Cell Braille Display</a:t>
            </a:r>
            <a:endParaRPr lang="en-IN" sz="1200" dirty="0"/>
          </a:p>
        </p:txBody>
      </p:sp>
    </p:spTree>
    <p:extLst>
      <p:ext uri="{BB962C8B-B14F-4D97-AF65-F5344CB8AC3E}">
        <p14:creationId xmlns:p14="http://schemas.microsoft.com/office/powerpoint/2010/main" val="12730870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title"/>
          </p:nvPr>
        </p:nvSpPr>
        <p:spPr bwMode="auto">
          <a:xfrm>
            <a:off x="774540" y="1434270"/>
            <a:ext cx="10515600" cy="1325563"/>
          </a:xfrm>
        </p:spPr>
        <p:txBody>
          <a:bodyPr>
            <a:noAutofit/>
          </a:bodyPr>
          <a:lstStyle/>
          <a:p>
            <a:pPr algn="ctr">
              <a:lnSpc>
                <a:spcPct val="100000"/>
              </a:lnSpc>
              <a:spcBef>
                <a:spcPts val="0"/>
              </a:spcBef>
              <a:defRPr/>
            </a:pPr>
            <a:r>
              <a:rPr lang="en-IN" sz="4000" b="1" u="sng" dirty="0">
                <a:solidFill>
                  <a:srgbClr val="002060"/>
                </a:solidFill>
                <a:latin typeface="Times New Roman"/>
                <a:cs typeface="Times New Roman"/>
              </a:rPr>
              <a:t>References</a:t>
            </a:r>
            <a:endParaRPr lang="en-US" sz="4000" b="1" u="sng" dirty="0">
              <a:solidFill>
                <a:srgbClr val="002060"/>
              </a:solidFill>
              <a:latin typeface="Times New Roman"/>
              <a:cs typeface="Times New Roman"/>
            </a:endParaRP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42710" y="194629"/>
            <a:ext cx="10579260" cy="1747701"/>
          </a:xfrm>
          <a:prstGeom prst="rect">
            <a:avLst/>
          </a:prstGeom>
        </p:spPr>
      </p:pic>
      <p:sp>
        <p:nvSpPr>
          <p:cNvPr id="5" name="Rectangle 1">
            <a:extLst>
              <a:ext uri="{FF2B5EF4-FFF2-40B4-BE49-F238E27FC236}">
                <a16:creationId xmlns:a16="http://schemas.microsoft.com/office/drawing/2014/main" id="{52470D60-C481-ED3C-71E3-1C5D83CEC636}"/>
              </a:ext>
            </a:extLst>
          </p:cNvPr>
          <p:cNvSpPr>
            <a:spLocks noGrp="1" noChangeArrowheads="1"/>
          </p:cNvSpPr>
          <p:nvPr>
            <p:ph idx="1"/>
          </p:nvPr>
        </p:nvSpPr>
        <p:spPr bwMode="auto">
          <a:xfrm>
            <a:off x="1" y="3247051"/>
            <a:ext cx="12191999"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eaLnBrk="0" fontAlgn="base" hangingPunct="0">
              <a:lnSpc>
                <a:spcPct val="100000"/>
              </a:lnSpc>
              <a:spcBef>
                <a:spcPct val="0"/>
              </a:spcBef>
              <a:spcAft>
                <a:spcPct val="0"/>
              </a:spcAft>
              <a:buFontTx/>
              <a:buChar char="•"/>
            </a:pPr>
            <a:r>
              <a:rPr lang="en-US" altLang="en-US" sz="2400" dirty="0">
                <a:latin typeface="Times New Roman" panose="02020603050405020304" pitchFamily="18" charset="0"/>
                <a:cs typeface="Times New Roman" panose="02020603050405020304" pitchFamily="18" charset="0"/>
              </a:rPr>
              <a:t>1. ISO 17049:2013,   Accessible design — Application of Braille on signage,   equipment and appliances.</a:t>
            </a:r>
          </a:p>
          <a:p>
            <a:pPr marL="0" lvl="0" indent="0" eaLnBrk="0" fontAlgn="base" hangingPunct="0">
              <a:lnSpc>
                <a:spcPct val="100000"/>
              </a:lnSpc>
              <a:spcBef>
                <a:spcPct val="0"/>
              </a:spcBef>
              <a:spcAft>
                <a:spcPct val="0"/>
              </a:spcAft>
              <a:buFontTx/>
              <a:buChar char="•"/>
            </a:pPr>
            <a:r>
              <a:rPr lang="en-US" altLang="en-US" sz="2400" dirty="0">
                <a:latin typeface="Times New Roman" panose="02020603050405020304" pitchFamily="18" charset="0"/>
                <a:cs typeface="Times New Roman" panose="02020603050405020304" pitchFamily="18" charset="0"/>
              </a:rPr>
              <a:t>2. </a:t>
            </a:r>
            <a:r>
              <a:rPr lang="en-US" altLang="en-US" sz="2400" dirty="0" err="1">
                <a:latin typeface="Times New Roman" panose="02020603050405020304" pitchFamily="18" charset="0"/>
                <a:cs typeface="Times New Roman" panose="02020603050405020304" pitchFamily="18" charset="0"/>
              </a:rPr>
              <a:t>Espressif</a:t>
            </a:r>
            <a:r>
              <a:rPr lang="en-US" altLang="en-US" sz="2400" dirty="0">
                <a:latin typeface="Times New Roman" panose="02020603050405020304" pitchFamily="18" charset="0"/>
                <a:cs typeface="Times New Roman" panose="02020603050405020304" pitchFamily="18" charset="0"/>
              </a:rPr>
              <a:t> Systems,   ESP32-WROOM-32 Datasheet, Version 3.6.</a:t>
            </a:r>
          </a:p>
          <a:p>
            <a:pPr marL="0" lvl="0" indent="0" eaLnBrk="0" fontAlgn="base" hangingPunct="0">
              <a:lnSpc>
                <a:spcPct val="100000"/>
              </a:lnSpc>
              <a:spcBef>
                <a:spcPct val="0"/>
              </a:spcBef>
              <a:spcAft>
                <a:spcPct val="0"/>
              </a:spcAft>
              <a:buFontTx/>
              <a:buChar char="•"/>
            </a:pPr>
            <a:r>
              <a:rPr lang="en-US" altLang="en-US" sz="2400" dirty="0">
                <a:latin typeface="Times New Roman" panose="02020603050405020304" pitchFamily="18" charset="0"/>
                <a:cs typeface="Times New Roman" panose="02020603050405020304" pitchFamily="18" charset="0"/>
              </a:rPr>
              <a:t>3. </a:t>
            </a:r>
            <a:r>
              <a:rPr lang="en-US" altLang="en-US" sz="2400" dirty="0" err="1">
                <a:latin typeface="Times New Roman" panose="02020603050405020304" pitchFamily="18" charset="0"/>
                <a:cs typeface="Times New Roman" panose="02020603050405020304" pitchFamily="18" charset="0"/>
              </a:rPr>
              <a:t>Espressif</a:t>
            </a:r>
            <a:r>
              <a:rPr lang="en-US" altLang="en-US" sz="2400" dirty="0">
                <a:latin typeface="Times New Roman" panose="02020603050405020304" pitchFamily="18" charset="0"/>
                <a:cs typeface="Times New Roman" panose="02020603050405020304" pitchFamily="18" charset="0"/>
              </a:rPr>
              <a:t> Systems,   ESP32-DevKitC V4 User Guide.</a:t>
            </a:r>
          </a:p>
          <a:p>
            <a:pPr marL="0" lvl="0" indent="0" eaLnBrk="0" fontAlgn="base" hangingPunct="0">
              <a:lnSpc>
                <a:spcPct val="100000"/>
              </a:lnSpc>
              <a:spcBef>
                <a:spcPct val="0"/>
              </a:spcBef>
              <a:spcAft>
                <a:spcPct val="0"/>
              </a:spcAft>
              <a:buFontTx/>
              <a:buChar char="•"/>
            </a:pPr>
            <a:r>
              <a:rPr lang="en-US" altLang="en-US" sz="2400" dirty="0">
                <a:latin typeface="Times New Roman" panose="02020603050405020304" pitchFamily="18" charset="0"/>
                <a:cs typeface="Times New Roman" panose="02020603050405020304" pitchFamily="18" charset="0"/>
              </a:rPr>
              <a:t>4. </a:t>
            </a:r>
            <a:r>
              <a:rPr lang="en-US" altLang="en-US" sz="2400" dirty="0" err="1">
                <a:latin typeface="Times New Roman" panose="02020603050405020304" pitchFamily="18" charset="0"/>
                <a:cs typeface="Times New Roman" panose="02020603050405020304" pitchFamily="18" charset="0"/>
              </a:rPr>
              <a:t>TowerPro</a:t>
            </a:r>
            <a:r>
              <a:rPr lang="en-US" altLang="en-US" sz="2400" dirty="0">
                <a:latin typeface="Times New Roman" panose="02020603050405020304" pitchFamily="18" charset="0"/>
                <a:cs typeface="Times New Roman" panose="02020603050405020304" pitchFamily="18" charset="0"/>
              </a:rPr>
              <a:t>,   SG90 Analog Micro Servo — Official Product Specifications.</a:t>
            </a:r>
          </a:p>
          <a:p>
            <a:pPr marL="0" lvl="0" indent="0" eaLnBrk="0" fontAlgn="base" hangingPunct="0">
              <a:lnSpc>
                <a:spcPct val="100000"/>
              </a:lnSpc>
              <a:spcBef>
                <a:spcPct val="0"/>
              </a:spcBef>
              <a:spcAft>
                <a:spcPct val="0"/>
              </a:spcAft>
              <a:buFontTx/>
              <a:buChar char="•"/>
            </a:pPr>
            <a:r>
              <a:rPr lang="en-US" altLang="en-US" sz="2400" dirty="0">
                <a:latin typeface="Times New Roman" panose="02020603050405020304" pitchFamily="18" charset="0"/>
                <a:cs typeface="Times New Roman" panose="02020603050405020304" pitchFamily="18" charset="0"/>
              </a:rPr>
              <a:t>5. Engineering_Design_Review.md,   Project </a:t>
            </a:r>
            <a:r>
              <a:rPr lang="en-US" altLang="en-US" sz="2400" dirty="0" err="1">
                <a:latin typeface="Times New Roman" panose="02020603050405020304" pitchFamily="18" charset="0"/>
                <a:cs typeface="Times New Roman" panose="02020603050405020304" pitchFamily="18" charset="0"/>
              </a:rPr>
              <a:t>mC</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OpenBraille</a:t>
            </a:r>
            <a:r>
              <a:rPr lang="en-US" altLang="en-US" sz="2400" dirty="0">
                <a:latin typeface="Times New Roman" panose="02020603050405020304" pitchFamily="18" charset="0"/>
                <a:cs typeface="Times New Roman" panose="02020603050405020304" pitchFamily="18" charset="0"/>
              </a:rPr>
              <a:t> section, July 2026.</a:t>
            </a:r>
          </a:p>
          <a:p>
            <a:pPr marL="0" lvl="0" indent="0" eaLnBrk="0" fontAlgn="base" hangingPunct="0">
              <a:lnSpc>
                <a:spcPct val="100000"/>
              </a:lnSpc>
              <a:spcBef>
                <a:spcPct val="0"/>
              </a:spcBef>
              <a:spcAft>
                <a:spcPct val="0"/>
              </a:spcAft>
              <a:buFontTx/>
              <a:buChar char="•"/>
            </a:pPr>
            <a:r>
              <a:rPr lang="en-US" altLang="en-US" sz="2400" dirty="0">
                <a:latin typeface="Times New Roman" panose="02020603050405020304" pitchFamily="18" charset="0"/>
                <a:cs typeface="Times New Roman" panose="02020603050405020304" pitchFamily="18" charset="0"/>
              </a:rPr>
              <a:t>6. Project_mC_Decision_Register_v1.2.md,   PDR-001, PDR-002 and PDR-015 to PDR-022.</a:t>
            </a:r>
          </a:p>
          <a:p>
            <a:pPr marL="0" lvl="0" indent="0" eaLnBrk="0" fontAlgn="base" hangingPunct="0">
              <a:lnSpc>
                <a:spcPct val="100000"/>
              </a:lnSpc>
              <a:spcBef>
                <a:spcPct val="0"/>
              </a:spcBef>
              <a:spcAft>
                <a:spcPct val="0"/>
              </a:spcAft>
              <a:buFontTx/>
              <a:buChar char="•"/>
            </a:pPr>
            <a:r>
              <a:rPr lang="en-US" altLang="en-US" sz="2400" dirty="0">
                <a:latin typeface="Times New Roman" panose="02020603050405020304" pitchFamily="18" charset="0"/>
                <a:cs typeface="Times New Roman" panose="02020603050405020304" pitchFamily="18" charset="0"/>
              </a:rPr>
              <a:t>7. Phase3C_OpenBraille_Architecture_Report_Final.md,   Project </a:t>
            </a:r>
            <a:r>
              <a:rPr lang="en-US" altLang="en-US" sz="2400" dirty="0" err="1">
                <a:latin typeface="Times New Roman" panose="02020603050405020304" pitchFamily="18" charset="0"/>
                <a:cs typeface="Times New Roman" panose="02020603050405020304" pitchFamily="18" charset="0"/>
              </a:rPr>
              <a:t>mC</a:t>
            </a:r>
            <a:r>
              <a:rPr lang="en-US" altLang="en-US" sz="2400" dirty="0">
                <a:latin typeface="Times New Roman" panose="02020603050405020304" pitchFamily="18" charset="0"/>
                <a:cs typeface="Times New Roman" panose="02020603050405020304" pitchFamily="18" charset="0"/>
              </a:rPr>
              <a:t>, July 2026.</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2" name="Date Placeholder 1">
            <a:extLst>
              <a:ext uri="{FF2B5EF4-FFF2-40B4-BE49-F238E27FC236}">
                <a16:creationId xmlns:a16="http://schemas.microsoft.com/office/drawing/2014/main" id="{02B9F3AB-3738-F2D8-A44F-286C8C2CDC8B}"/>
              </a:ext>
            </a:extLst>
          </p:cNvPr>
          <p:cNvSpPr>
            <a:spLocks noGrp="1"/>
          </p:cNvSpPr>
          <p:nvPr>
            <p:ph type="dt" sz="half" idx="10"/>
          </p:nvPr>
        </p:nvSpPr>
        <p:spPr/>
        <p:txBody>
          <a:bodyPr/>
          <a:lstStyle/>
          <a:p>
            <a:fld id="{9AA036E5-29A3-41A1-8786-98798C51A273}" type="datetime1">
              <a:rPr lang="en-IN" smtClean="0"/>
              <a:t>29-07-2026</a:t>
            </a:fld>
            <a:endParaRPr lang="en-IN"/>
          </a:p>
        </p:txBody>
      </p:sp>
      <p:sp>
        <p:nvSpPr>
          <p:cNvPr id="6" name="Footer Placeholder 5">
            <a:extLst>
              <a:ext uri="{FF2B5EF4-FFF2-40B4-BE49-F238E27FC236}">
                <a16:creationId xmlns:a16="http://schemas.microsoft.com/office/drawing/2014/main" id="{E469B921-5C37-08ED-2101-58DD075E8674}"/>
              </a:ext>
            </a:extLst>
          </p:cNvPr>
          <p:cNvSpPr>
            <a:spLocks noGrp="1"/>
          </p:cNvSpPr>
          <p:nvPr>
            <p:ph type="ftr" sz="quarter" idx="11"/>
          </p:nvPr>
        </p:nvSpPr>
        <p:spPr/>
        <p:txBody>
          <a:bodyPr/>
          <a:lstStyle/>
          <a:p>
            <a:r>
              <a:rPr lang="en-IN"/>
              <a:t>DEPT OF CSE ( CY )</a:t>
            </a:r>
          </a:p>
        </p:txBody>
      </p:sp>
      <p:sp>
        <p:nvSpPr>
          <p:cNvPr id="7" name="Slide Number Placeholder 6">
            <a:extLst>
              <a:ext uri="{FF2B5EF4-FFF2-40B4-BE49-F238E27FC236}">
                <a16:creationId xmlns:a16="http://schemas.microsoft.com/office/drawing/2014/main" id="{7F9F17DA-0878-E25D-B612-013D994A581E}"/>
              </a:ext>
            </a:extLst>
          </p:cNvPr>
          <p:cNvSpPr>
            <a:spLocks noGrp="1"/>
          </p:cNvSpPr>
          <p:nvPr>
            <p:ph type="sldNum" sz="quarter" idx="12"/>
          </p:nvPr>
        </p:nvSpPr>
        <p:spPr/>
        <p:txBody>
          <a:bodyPr/>
          <a:lstStyle/>
          <a:p>
            <a:fld id="{7C33CCD4-7228-4506-A3A6-5A9074B2CE31}" type="slidenum">
              <a:rPr lang="en-IN" smtClean="0"/>
              <a:t>16</a:t>
            </a:fld>
            <a:endParaRPr lang="en-IN"/>
          </a:p>
        </p:txBody>
      </p:sp>
      <p:sp>
        <p:nvSpPr>
          <p:cNvPr id="8" name="TextBox 9">
            <a:extLst>
              <a:ext uri="{FF2B5EF4-FFF2-40B4-BE49-F238E27FC236}">
                <a16:creationId xmlns:a16="http://schemas.microsoft.com/office/drawing/2014/main" id="{27EC11CF-9A1A-DA53-AF55-4CFFDD6F7B14}"/>
              </a:ext>
            </a:extLst>
          </p:cNvPr>
          <p:cNvSpPr txBox="1"/>
          <p:nvPr/>
        </p:nvSpPr>
        <p:spPr>
          <a:xfrm>
            <a:off x="4038600" y="-1975"/>
            <a:ext cx="5859379" cy="276999"/>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a:t> </a:t>
            </a:r>
            <a:r>
              <a:rPr lang="en-US" sz="1200" dirty="0">
                <a:solidFill>
                  <a:schemeClr val="tx1">
                    <a:lumMod val="50000"/>
                    <a:lumOff val="50000"/>
                  </a:schemeClr>
                </a:solidFill>
              </a:rPr>
              <a:t> Topic :  Affordable Refreshable Single-Cell Braille Display</a:t>
            </a:r>
            <a:endParaRPr lang="en-IN" sz="1200" dirty="0"/>
          </a:p>
        </p:txBody>
      </p:sp>
    </p:spTree>
    <p:extLst>
      <p:ext uri="{BB962C8B-B14F-4D97-AF65-F5344CB8AC3E}">
        <p14:creationId xmlns:p14="http://schemas.microsoft.com/office/powerpoint/2010/main" val="385275633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73</TotalTime>
  <Words>1739</Words>
  <Application>Microsoft Office PowerPoint</Application>
  <PresentationFormat>Widescreen</PresentationFormat>
  <Paragraphs>170</Paragraphs>
  <Slides>16</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Calibri</vt:lpstr>
      <vt:lpstr>Calibri Light</vt:lpstr>
      <vt:lpstr>Helvetica Neue</vt:lpstr>
      <vt:lpstr>Times New Roman</vt:lpstr>
      <vt:lpstr>Office Theme</vt:lpstr>
      <vt:lpstr>PowerPoint Presentation</vt:lpstr>
      <vt:lpstr>PowerPoint Presentation</vt:lpstr>
      <vt:lpstr>PowerPoint Presentation</vt:lpstr>
      <vt:lpstr>.</vt:lpstr>
      <vt:lpstr>PowerPoint Presentation</vt:lpstr>
      <vt:lpstr>PowerPoint Presentation</vt:lpstr>
      <vt:lpstr>PowerPoint Presentation</vt:lpstr>
      <vt:lpstr>PowerPoint Presentation</vt:lpstr>
      <vt:lpstr>PowerPoint Presentation</vt:lpstr>
      <vt:lpstr>Motivation</vt:lpstr>
      <vt:lpstr>Introduction</vt:lpstr>
      <vt:lpstr>Problem Statement</vt:lpstr>
      <vt:lpstr>Proposed Method</vt:lpstr>
      <vt:lpstr>Basic Block Diagram</vt:lpstr>
      <vt:lpstr>Conclusion </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USER</dc:creator>
  <cp:lastModifiedBy>USER</cp:lastModifiedBy>
  <cp:revision>4</cp:revision>
  <dcterms:modified xsi:type="dcterms:W3CDTF">2026-07-29T18:18:13Z</dcterms:modified>
</cp:coreProperties>
</file>