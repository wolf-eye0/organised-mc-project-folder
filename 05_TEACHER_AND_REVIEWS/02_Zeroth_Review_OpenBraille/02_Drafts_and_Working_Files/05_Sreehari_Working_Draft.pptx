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29-07-2026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29-07-2026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29-07-2026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2048268" y="2134888"/>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b="1" dirty="0" err="1">
                <a:solidFill>
                  <a:srgbClr val="0070C0"/>
                </a:solidFill>
                <a:latin typeface="Times New Roman"/>
                <a:ea typeface="Times New Roman"/>
                <a:cs typeface="Times New Roman"/>
              </a:rPr>
              <a:t>OpenBraille</a:t>
            </a:r>
            <a:r>
              <a:rPr lang="en-US" b="1" dirty="0">
                <a:solidFill>
                  <a:srgbClr val="0070C0"/>
                </a:solidFill>
                <a:latin typeface="Times New Roman"/>
                <a:ea typeface="Times New Roman"/>
                <a:cs typeface="Times New Roman"/>
              </a:rPr>
              <a:t>: Affordable Refreshable Single-Cell Braille Display</a:t>
            </a:r>
            <a:endParaRPr lang="en-US" dirty="0">
              <a:solidFill>
                <a:srgbClr val="0070C0"/>
              </a:solidFill>
            </a:endParaRPr>
          </a:p>
        </p:txBody>
      </p:sp>
      <p:sp>
        <p:nvSpPr>
          <p:cNvPr id="8" name="Google Shape;187;p1"/>
          <p:cNvSpPr txBox="1">
            <a:spLocks/>
          </p:cNvSpPr>
          <p:nvPr/>
        </p:nvSpPr>
        <p:spPr bwMode="auto">
          <a:xfrm>
            <a:off x="501513" y="3902550"/>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Group 8</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 Amith Krishna Das</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Archa Pramod</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Nihad P C</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Sreehari K</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Sreeprada</a:t>
            </a:r>
            <a:endParaRPr lang="en-US" dirty="0">
              <a:solidFill>
                <a:srgbClr val="C00000"/>
              </a:solidFill>
              <a:latin typeface="Times New Roman" panose="02020603050405020304" pitchFamily="18" charset="0"/>
              <a:cs typeface="Times New Roman" panose="02020603050405020304" pitchFamily="18" charset="0"/>
            </a:endParaRP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59913"/>
            <a:ext cx="10515600" cy="1325563"/>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2" name="Content Placeholder 1">
            <a:extLst>
              <a:ext uri="{FF2B5EF4-FFF2-40B4-BE49-F238E27FC236}">
                <a16:creationId xmlns:a16="http://schemas.microsoft.com/office/drawing/2014/main" id="{B3F4BECA-8BD3-AA48-AD4B-1C6D894646EB}"/>
              </a:ext>
            </a:extLst>
          </p:cNvPr>
          <p:cNvSpPr>
            <a:spLocks noGrp="1"/>
          </p:cNvSpPr>
          <p:nvPr>
            <p:ph idx="1"/>
          </p:nvPr>
        </p:nvSpPr>
        <p:spPr>
          <a:xfrm>
            <a:off x="323557" y="2660588"/>
            <a:ext cx="11676185" cy="3954268"/>
          </a:xfrm>
        </p:spPr>
        <p:txBody>
          <a:bodyPr>
            <a:normAutofit/>
          </a:bodyPr>
          <a:lstStyle/>
          <a:p>
            <a:r>
              <a:rPr lang="en-US" sz="2400" b="1" dirty="0">
                <a:latin typeface="Times New Roman" panose="02020603050405020304" pitchFamily="18" charset="0"/>
                <a:cs typeface="Times New Roman" panose="02020603050405020304" pitchFamily="18" charset="0"/>
              </a:rPr>
              <a:t>Severe Economic Barrier:</a:t>
            </a:r>
            <a:r>
              <a:rPr lang="en-US" sz="2400" dirty="0">
                <a:latin typeface="Times New Roman" panose="02020603050405020304" pitchFamily="18" charset="0"/>
                <a:cs typeface="Times New Roman" panose="02020603050405020304" pitchFamily="18" charset="0"/>
              </a:rPr>
              <a:t> Commercial refreshable Braille displays retail between $3,500 and $15,000 USD (₹2.9L–₹12.5L INR).</a:t>
            </a:r>
            <a:endParaRPr lang="en-IN"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Market Stagnation:</a:t>
            </a:r>
            <a:r>
              <a:rPr lang="en-US" sz="2400" dirty="0">
                <a:latin typeface="Times New Roman" panose="02020603050405020304" pitchFamily="18" charset="0"/>
                <a:cs typeface="Times New Roman" panose="02020603050405020304" pitchFamily="18" charset="0"/>
              </a:rPr>
              <a:t> Reliance on hand-assembled, high-voltage (60–200V) piezoelectric bimorph actuators for over 30 years.</a:t>
            </a:r>
          </a:p>
          <a:p>
            <a:r>
              <a:rPr lang="en-US" sz="2400" b="1" dirty="0">
                <a:latin typeface="Times New Roman" panose="02020603050405020304" pitchFamily="18" charset="0"/>
                <a:cs typeface="Times New Roman" panose="02020603050405020304" pitchFamily="18" charset="0"/>
              </a:rPr>
              <a:t>Literacy &amp; Employment Crisis:</a:t>
            </a:r>
            <a:r>
              <a:rPr lang="en-US" sz="2400" dirty="0">
                <a:latin typeface="Times New Roman" panose="02020603050405020304" pitchFamily="18" charset="0"/>
                <a:cs typeface="Times New Roman" panose="02020603050405020304" pitchFamily="18" charset="0"/>
              </a:rPr>
              <a:t> Tactile Braille remains essential for STEM education, coding, and formal literacy despite audio screen readers.</a:t>
            </a:r>
          </a:p>
          <a:p>
            <a:r>
              <a:rPr lang="en-US" sz="2400" b="1" dirty="0">
                <a:latin typeface="Times New Roman" panose="02020603050405020304" pitchFamily="18" charset="0"/>
                <a:cs typeface="Times New Roman" panose="02020603050405020304" pitchFamily="18" charset="0"/>
              </a:rPr>
              <a:t>Frugal Innovation Opportunity:</a:t>
            </a:r>
            <a:r>
              <a:rPr lang="en-US" sz="2400" dirty="0">
                <a:latin typeface="Times New Roman" panose="02020603050405020304" pitchFamily="18" charset="0"/>
                <a:cs typeface="Times New Roman" panose="02020603050405020304" pitchFamily="18" charset="0"/>
              </a:rPr>
              <a:t> Disrupting actuator costs from ₹500–₹1,000 per dot down to &lt;₹100 per dot enables affordable assistive tech.</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46812"/>
            <a:ext cx="10515600" cy="1325563"/>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Rectangle 1">
            <a:extLst>
              <a:ext uri="{FF2B5EF4-FFF2-40B4-BE49-F238E27FC236}">
                <a16:creationId xmlns:a16="http://schemas.microsoft.com/office/drawing/2014/main" id="{17474DA1-27DF-0011-A47B-D2C8D180BD57}"/>
              </a:ext>
            </a:extLst>
          </p:cNvPr>
          <p:cNvSpPr>
            <a:spLocks noGrp="1" noChangeArrowheads="1"/>
          </p:cNvSpPr>
          <p:nvPr>
            <p:ph idx="1"/>
          </p:nvPr>
        </p:nvSpPr>
        <p:spPr bwMode="auto">
          <a:xfrm>
            <a:off x="239714" y="2872375"/>
            <a:ext cx="1195228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Engineering Identity: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assistive embedded platform investigating lower-cost electromechanical actuation to present tactile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Engineering Hypothesis: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Low-cost commodity actuators can replace conventional piezoelectric bimorphs while maintaining acceptable tactile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Boundaries: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single-cell (6-dot) refreshable tactile display module driven by an ESP32.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NOT: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Braille printer, OCR scanner, screen reader software, or full-page display.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Semester Target: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working 6-dot proof-of-concept cell validating tactile legibility and refresh repeatability.</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923081" y="1532743"/>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3" name="Rectangle 1">
            <a:extLst>
              <a:ext uri="{FF2B5EF4-FFF2-40B4-BE49-F238E27FC236}">
                <a16:creationId xmlns:a16="http://schemas.microsoft.com/office/drawing/2014/main" id="{68BEBF11-6C29-DC84-8688-9046BCCFF868}"/>
              </a:ext>
            </a:extLst>
          </p:cNvPr>
          <p:cNvSpPr>
            <a:spLocks noGrp="1" noChangeArrowheads="1"/>
          </p:cNvSpPr>
          <p:nvPr>
            <p:ph idx="1"/>
          </p:nvPr>
        </p:nvSpPr>
        <p:spPr bwMode="auto">
          <a:xfrm>
            <a:off x="0" y="3077110"/>
            <a:ext cx="1219199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Engineering Bottleneck: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Standard ISO 17049 dot pitch (2.34 mm) causes mechanical binding and high failure rates on FDM 3D printers.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Minimum Demonstrable Success (MDS):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Reliably produce refreshable, legible Braille output for one 6-dot cell with ≤0.1 mm repeatability over 100 cycles.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Immutable Constraints: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Team Scope: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CS/Cybersecurity students + 2 support members (No mechanical engineer).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Budget: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Preferred ≤ ₹3,000 INR; absolute maximum ≤ ₹5,000 INR.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Timeline: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8-week development window.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199" y="1482725"/>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Rectangle 1">
            <a:extLst>
              <a:ext uri="{FF2B5EF4-FFF2-40B4-BE49-F238E27FC236}">
                <a16:creationId xmlns:a16="http://schemas.microsoft.com/office/drawing/2014/main" id="{459514CB-CD94-DC9A-981F-047BE781A025}"/>
              </a:ext>
            </a:extLst>
          </p:cNvPr>
          <p:cNvSpPr>
            <a:spLocks noGrp="1" noChangeArrowheads="1"/>
          </p:cNvSpPr>
          <p:nvPr>
            <p:ph idx="1"/>
          </p:nvPr>
        </p:nvSpPr>
        <p:spPr bwMode="auto">
          <a:xfrm>
            <a:off x="1" y="3097490"/>
            <a:ext cx="12191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Actuation Principle: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Macro-scaled Servo + Cam linkage mechanism replacing piezo bimorphs.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Dimensional Mitigation: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~300% macro-scale (≈7 mm dot pitch, ≈1.5 mm pin height) eliminates FDM print tolerance failures.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Platform: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ESP32-WROOM-32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DevKit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utilizing hardware timers for jitter-free PWM.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Driver Elimination: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Direct GPIO PWM to 6× SG90 micro servos; internal circuits eliminate H-bridge 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Architecture: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External 5V/2A DC power supply with a 1,000 µF decoupling capacitor.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Fabrication: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In-house FDM 3D printing (ABS frame, PETG cams) and 2mm stainless steel pins.</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838200" y="1307660"/>
            <a:ext cx="10515600" cy="1325563"/>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7" name="Content Placeholder 6">
            <a:extLst>
              <a:ext uri="{FF2B5EF4-FFF2-40B4-BE49-F238E27FC236}">
                <a16:creationId xmlns:a16="http://schemas.microsoft.com/office/drawing/2014/main" id="{6A058313-FCED-C0A5-482B-4EC614511B8D}"/>
              </a:ext>
            </a:extLst>
          </p:cNvPr>
          <p:cNvPicPr>
            <a:picLocks noGrp="1" noChangeAspect="1"/>
          </p:cNvPicPr>
          <p:nvPr>
            <p:ph idx="1"/>
          </p:nvPr>
        </p:nvPicPr>
        <p:blipFill>
          <a:blip r:embed="rId3"/>
          <a:stretch>
            <a:fillRect/>
          </a:stretch>
        </p:blipFill>
        <p:spPr bwMode="auto">
          <a:xfrm>
            <a:off x="2473570" y="2222695"/>
            <a:ext cx="7244860" cy="4635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838200" y="1343819"/>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77924"/>
            <a:ext cx="10579260" cy="1747701"/>
          </a:xfrm>
          <a:prstGeom prst="rect">
            <a:avLst/>
          </a:prstGeom>
        </p:spPr>
      </p:pic>
      <p:sp>
        <p:nvSpPr>
          <p:cNvPr id="8" name="Rectangle 3">
            <a:extLst>
              <a:ext uri="{FF2B5EF4-FFF2-40B4-BE49-F238E27FC236}">
                <a16:creationId xmlns:a16="http://schemas.microsoft.com/office/drawing/2014/main" id="{FB6FBFE2-6C03-4698-2D64-EFC0EEF51F72}"/>
              </a:ext>
            </a:extLst>
          </p:cNvPr>
          <p:cNvSpPr>
            <a:spLocks noGrp="1" noChangeArrowheads="1"/>
          </p:cNvSpPr>
          <p:nvPr>
            <p:ph idx="1"/>
          </p:nvPr>
        </p:nvSpPr>
        <p:spPr bwMode="auto">
          <a:xfrm>
            <a:off x="1" y="2391046"/>
            <a:ext cx="1219199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Summary: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proposes a low-cost, single-cell refreshable Braille display using an ESP32 controller, servo–cam actuation, and FDM‑printed mechanics to bypass the cost and complexity of piezoelectric actuators.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Sequential Bring-Up Strategy (M1–M8):</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Week 1:</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Electrical bring-up, ESP32 PWM verification, single-servo sweep.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Week 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Single-dot cam integration, 6-dot cell assembly, 100-cycle repeatability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Week 3:</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Tactile legibility user validation and full A–Z Braille pattern display.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Week 4:</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Final Minimum Demonstrable Success (MDS) demonstration on the 6-dot cell.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Team Task Distribution: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Leads: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ESP32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FreeRTOS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/PWM timers, driver power stability, system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Fabrication Leads: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ABS frame CAD, cam-profile printing, mechanical alignment.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Support: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Isolated Unicode-to-Braille lookup table and diagnostic test firmware.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774540" y="1434270"/>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710" y="194629"/>
            <a:ext cx="10579260" cy="1747701"/>
          </a:xfrm>
          <a:prstGeom prst="rect">
            <a:avLst/>
          </a:prstGeom>
        </p:spPr>
      </p:pic>
      <p:sp>
        <p:nvSpPr>
          <p:cNvPr id="5" name="Rectangle 1">
            <a:extLst>
              <a:ext uri="{FF2B5EF4-FFF2-40B4-BE49-F238E27FC236}">
                <a16:creationId xmlns:a16="http://schemas.microsoft.com/office/drawing/2014/main" id="{52470D60-C481-ED3C-71E3-1C5D83CEC636}"/>
              </a:ext>
            </a:extLst>
          </p:cNvPr>
          <p:cNvSpPr>
            <a:spLocks noGrp="1" noChangeArrowheads="1"/>
          </p:cNvSpPr>
          <p:nvPr>
            <p:ph idx="1"/>
          </p:nvPr>
        </p:nvSpPr>
        <p:spPr bwMode="auto">
          <a:xfrm>
            <a:off x="1" y="2829330"/>
            <a:ext cx="121919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Engineering Design Review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a:t>
            </a:r>
            <a:r>
              <a:rPr kumimoji="0" lang="en-US" altLang="en-US"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mC</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Engineering Design Review (EDR) — Concept 1: </a:t>
            </a:r>
            <a:r>
              <a:rPr kumimoji="0" lang="en-US" altLang="en-US"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Immutable Project Specification, July 2026.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Engineering Architecture Review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3C — </a:t>
            </a:r>
            <a:r>
              <a:rPr kumimoji="0" lang="en-US" altLang="en-US"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Engineering Architecture Report,"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Project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 Report, July 2026.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 Engineering Review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a:t>
            </a:r>
            <a:r>
              <a:rPr kumimoji="0" lang="en-US" altLang="en-US" sz="24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mC</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Decision Register (PDR) Version 1.1,"</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Decision Log (PDR-001 to PDR-044), July 2026.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ISO/TC 173/SC 7,</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17049:2013 — Accessible Design: Application of Braille on Signage, Equipment and Appliances,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American Foundation for the Blind (AFB),</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"Refreshable Braille Displays &amp; Cost Analysis,"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Product Technology Survey, 2024.</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1525</Words>
  <Application>Microsoft Office PowerPoint</Application>
  <PresentationFormat>Widescreen</PresentationFormat>
  <Paragraphs>107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USER</cp:lastModifiedBy>
  <cp:revision>1</cp:revision>
  <dcterms:modified xsi:type="dcterms:W3CDTF">2026-07-29T11:31:55Z</dcterms:modified>
</cp:coreProperties>
</file>