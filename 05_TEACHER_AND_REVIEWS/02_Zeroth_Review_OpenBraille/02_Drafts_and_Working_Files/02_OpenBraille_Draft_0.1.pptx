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5.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1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2.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notesSlides/notesSlide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5.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sldImg"/>
          </p:nvPr>
        </p:nvSpPr>
        <p:spPr>
          <a:xfrm>
            <a:off x="0" y="764280"/>
            <a:ext cx="0" cy="0"/>
          </a:xfrm>
          <a:prstGeom prst="rect">
            <a:avLst/>
          </a:prstGeom>
          <a:noFill/>
          <a:ln w="0">
            <a:noFill/>
          </a:ln>
        </p:spPr>
        <p:txBody>
          <a:bodyPr lIns="0" tIns="0" rIns="0" bIns="0" anchor="ctr">
            <a:noAutofit/>
          </a:bodyPr>
          <a:p>
            <a:pPr defTabSz="914400">
              <a:lnSpc>
                <a:spcPct val="90000"/>
              </a:lnSpc>
            </a:pPr>
            <a:r>
              <a:rPr lang="en-US" sz="4400" b="0" u="none" strike="noStrike">
                <a:solidFill>
                  <a:schemeClr val="dk1"/>
                </a:solidFill>
                <a:effectLst/>
                <a:uFillTx/>
                <a:latin typeface="Calibri Light"/>
              </a:rPr>
              <a:t>Click to move the slide</a:t>
            </a:r>
            <a:endParaRPr lang="en-US" sz="4400" b="0" u="none" strike="noStrike">
              <a:solidFill>
                <a:schemeClr val="dk1"/>
              </a:solidFill>
              <a:effectLst/>
              <a:uFillTx/>
              <a:latin typeface="Calibri Light"/>
            </a:endParaRPr>
          </a:p>
        </p:txBody>
      </p:sp>
      <p:sp>
        <p:nvSpPr>
          <p:cNvPr id="65"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6"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67" name="PlaceHolder 4"/>
          <p:cNvSpPr>
            <a:spLocks noGrp="1"/>
          </p:cNvSpPr>
          <p:nvPr>
            <p:ph type="dt" idx="37"/>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68" name="PlaceHolder 5"/>
          <p:cNvSpPr>
            <a:spLocks noGrp="1"/>
          </p:cNvSpPr>
          <p:nvPr>
            <p:ph type="ftr" idx="38"/>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9" name="PlaceHolder 6"/>
          <p:cNvSpPr>
            <a:spLocks noGrp="1"/>
          </p:cNvSpPr>
          <p:nvPr>
            <p:ph type="sldNum" idx="39"/>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528B96E8-4635-4104-B98F-28D99CA5E4AC}"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sldImg"/>
          </p:nvPr>
        </p:nvSpPr>
        <p:spPr>
          <a:xfrm>
            <a:off x="685800" y="1143000"/>
            <a:ext cx="5486040" cy="3085920"/>
          </a:xfrm>
          <a:prstGeom prst="rect">
            <a:avLst/>
          </a:prstGeom>
          <a:ln w="0">
            <a:noFill/>
          </a:ln>
        </p:spPr>
      </p:sp>
      <p:sp>
        <p:nvSpPr>
          <p:cNvPr id="11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4"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IN" sz="1200" b="0" u="none" strike="noStrike">
                <a:solidFill>
                  <a:srgbClr val="000000"/>
                </a:solidFill>
                <a:effectLst/>
                <a:uFillTx/>
                <a:latin typeface="Times New Roman"/>
              </a:defRPr>
            </a:lvl1pPr>
          </a:lstStyle>
          <a:p>
            <a:pPr indent="0" algn="r">
              <a:lnSpc>
                <a:spcPct val="100000"/>
              </a:lnSpc>
              <a:buNone/>
            </a:pPr>
            <a:fld id="{4F3AB3E2-D474-421A-9FBF-88F1C2B62109}" type="slidenum">
              <a:rPr lang="en-IN"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lvl1pPr indent="0" algn="ctr" defTabSz="914400">
              <a:lnSpc>
                <a:spcPct val="90000"/>
              </a:lnSpc>
              <a:buNone/>
              <a:defRPr lang="en-US" sz="6000" b="0" u="none" strike="noStrike">
                <a:solidFill>
                  <a:schemeClr val="dk1"/>
                </a:solidFill>
                <a:effectLst/>
                <a:uFillTx/>
                <a:latin typeface="Calibri Light"/>
              </a:defRPr>
            </a:lvl1pPr>
          </a:lstStyle>
          <a:p>
            <a:pPr indent="0" algn="ctr" defTabSz="914400">
              <a:lnSpc>
                <a:spcPct val="90000"/>
              </a:lnSpc>
              <a:buNone/>
            </a:pPr>
            <a:r>
              <a:rPr lang="en-US" sz="6000" b="0" u="none" strike="noStrike">
                <a:solidFill>
                  <a:schemeClr val="dk1"/>
                </a:solidFill>
                <a:effectLst/>
                <a:uFillTx/>
                <a:latin typeface="Calibri Light"/>
              </a:rPr>
              <a:t>Click </a:t>
            </a:r>
            <a:r>
              <a:rPr lang="en-US" sz="6000" b="0" u="none" strike="noStrike">
                <a:solidFill>
                  <a:schemeClr val="dk1"/>
                </a:solidFill>
                <a:effectLst/>
                <a:uFillTx/>
                <a:latin typeface="Calibri Light"/>
              </a:rPr>
              <a:t>to edit </a:t>
            </a:r>
            <a:r>
              <a:rPr lang="en-US" sz="6000" b="0" u="none" strike="noStrike">
                <a:solidFill>
                  <a:schemeClr val="dk1"/>
                </a:solidFill>
                <a:effectLst/>
                <a:uFillTx/>
                <a:latin typeface="Calibri Light"/>
              </a:rPr>
              <a:t>Master </a:t>
            </a:r>
            <a:r>
              <a:rPr lang="en-US" sz="6000" b="0" u="none" strike="noStrike">
                <a:solidFill>
                  <a:schemeClr val="dk1"/>
                </a:solidFill>
                <a:effectLst/>
                <a:uFillTx/>
                <a:latin typeface="Calibri Light"/>
              </a:rPr>
              <a:t>title </a:t>
            </a:r>
            <a:r>
              <a:rPr lang="en-US" sz="6000" b="0" u="none" strike="noStrike">
                <a:solidFill>
                  <a:schemeClr val="dk1"/>
                </a:solidFill>
                <a:effectLst/>
                <a:uFillTx/>
                <a:latin typeface="Calibri Light"/>
              </a:rPr>
              <a:t>style</a:t>
            </a:r>
            <a:endParaRPr lang="en-US" sz="6000" b="0" u="none" strike="noStrike">
              <a:solidFill>
                <a:schemeClr val="dk1"/>
              </a:solidFill>
              <a:effectLst/>
              <a:uFillTx/>
              <a:latin typeface="Calibri Light"/>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N" sz="1200" b="0" u="none" strike="noStrike">
                <a:solidFill>
                  <a:schemeClr val="dk1">
                    <a:tint val="75000"/>
                  </a:schemeClr>
                </a:solidFill>
                <a:effectLst/>
                <a:uFillTx/>
                <a:latin typeface="Calibri"/>
              </a:defRPr>
            </a:lvl1pPr>
          </a:lstStyle>
          <a:p>
            <a:pPr indent="0" algn="l" defTabSz="914400">
              <a:lnSpc>
                <a:spcPct val="100000"/>
              </a:lnSpc>
              <a:buNone/>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79009341-D9BB-4F21-92DB-6F352795C516}" type="slidenum">
              <a:rPr lang="en-IN"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a:defRPr>
            </a:lvl1pPr>
          </a:lstStyle>
          <a:p>
            <a:pPr indent="0" algn="l"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7"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a:t>
            </a:r>
            <a:r>
              <a:rPr lang="en-US" sz="2800" b="0" u="none" strike="noStrike">
                <a:solidFill>
                  <a:schemeClr val="dk1"/>
                </a:solidFill>
                <a:effectLst/>
                <a:uFillTx/>
                <a:latin typeface="Calibri"/>
              </a:rPr>
              <a:t>edit </a:t>
            </a:r>
            <a:r>
              <a:rPr lang="en-US" sz="2800" b="0" u="none" strike="noStrike">
                <a:solidFill>
                  <a:schemeClr val="dk1"/>
                </a:solidFill>
                <a:effectLst/>
                <a:uFillTx/>
                <a:latin typeface="Calibri"/>
              </a:rPr>
              <a:t>Master </a:t>
            </a:r>
            <a:r>
              <a:rPr lang="en-US" sz="2800" b="0" u="none" strike="noStrike">
                <a:solidFill>
                  <a:schemeClr val="dk1"/>
                </a:solidFill>
                <a:effectLst/>
                <a:uFillTx/>
                <a:latin typeface="Calibri"/>
              </a:rPr>
              <a:t>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a:t>
            </a:r>
            <a:r>
              <a:rPr lang="en-US" sz="2400" b="0" u="none" strike="noStrike">
                <a:solidFill>
                  <a:schemeClr val="dk1"/>
                </a:solidFill>
                <a:effectLst/>
                <a:uFillTx/>
                <a:latin typeface="Calibri"/>
              </a:rPr>
              <a:t>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a:t>
            </a:r>
            <a:r>
              <a:rPr lang="en-US" sz="2000" b="0" u="none" strike="noStrike">
                <a:solidFill>
                  <a:schemeClr val="dk1"/>
                </a:solidFill>
                <a:effectLst/>
                <a:uFillTx/>
                <a:latin typeface="Calibri"/>
              </a:rPr>
              <a:t>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a:t>
            </a:r>
            <a:r>
              <a:rPr lang="en-US" sz="1800" b="0" u="none" strike="noStrike">
                <a:solidFill>
                  <a:schemeClr val="dk1"/>
                </a:solidFill>
                <a:effectLst/>
                <a:uFillTx/>
                <a:latin typeface="Calibri"/>
              </a:rPr>
              <a:t>o</a:t>
            </a:r>
            <a:r>
              <a:rPr lang="en-US" sz="1800" b="0" u="none" strike="noStrike">
                <a:solidFill>
                  <a:schemeClr val="dk1"/>
                </a:solidFill>
                <a:effectLst/>
                <a:uFillTx/>
                <a:latin typeface="Calibri"/>
              </a:rPr>
              <a:t>u</a:t>
            </a:r>
            <a:r>
              <a:rPr lang="en-US" sz="1800" b="0" u="none" strike="noStrike">
                <a:solidFill>
                  <a:schemeClr val="dk1"/>
                </a:solidFill>
                <a:effectLst/>
                <a:uFillTx/>
                <a:latin typeface="Calibri"/>
              </a:rPr>
              <a:t>r</a:t>
            </a:r>
            <a:r>
              <a:rPr lang="en-US" sz="1800" b="0" u="none" strike="noStrike">
                <a:solidFill>
                  <a:schemeClr val="dk1"/>
                </a:solidFill>
                <a:effectLst/>
                <a:uFillTx/>
                <a:latin typeface="Calibri"/>
              </a:rPr>
              <a:t>t</a:t>
            </a:r>
            <a:r>
              <a:rPr lang="en-US" sz="1800" b="0" u="none" strike="noStrike">
                <a:solidFill>
                  <a:schemeClr val="dk1"/>
                </a:solidFill>
                <a:effectLst/>
                <a:uFillTx/>
                <a:latin typeface="Calibri"/>
              </a:rPr>
              <a:t>h </a:t>
            </a:r>
            <a:r>
              <a:rPr lang="en-US" sz="1800" b="0" u="none" strike="noStrike">
                <a:solidFill>
                  <a:schemeClr val="dk1"/>
                </a:solidFill>
                <a:effectLst/>
                <a:uFillTx/>
                <a:latin typeface="Calibri"/>
              </a:rPr>
              <a:t>l</a:t>
            </a:r>
            <a:r>
              <a:rPr lang="en-US" sz="1800" b="0" u="none" strike="noStrike">
                <a:solidFill>
                  <a:schemeClr val="dk1"/>
                </a:solidFill>
                <a:effectLst/>
                <a:uFillTx/>
                <a:latin typeface="Calibri"/>
              </a:rPr>
              <a:t>e</a:t>
            </a:r>
            <a:r>
              <a:rPr lang="en-US" sz="1800" b="0" u="none" strike="noStrike">
                <a:solidFill>
                  <a:schemeClr val="dk1"/>
                </a:solidFill>
                <a:effectLst/>
                <a:uFillTx/>
                <a:latin typeface="Calibri"/>
              </a:rPr>
              <a:t>v</a:t>
            </a:r>
            <a:r>
              <a:rPr lang="en-US" sz="1800" b="0" u="none" strike="noStrike">
                <a:solidFill>
                  <a:schemeClr val="dk1"/>
                </a:solidFill>
                <a:effectLst/>
                <a:uFillTx/>
                <a:latin typeface="Calibri"/>
              </a:rPr>
              <a:t>e</a:t>
            </a:r>
            <a:r>
              <a:rPr lang="en-US" sz="1800" b="0" u="none" strike="noStrike">
                <a:solidFill>
                  <a:schemeClr val="dk1"/>
                </a:solidFill>
                <a:effectLst/>
                <a:uFillTx/>
                <a:latin typeface="Calibri"/>
              </a:rPr>
              <a:t>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a:t>
            </a:r>
            <a:r>
              <a:rPr lang="en-US" sz="1800" b="0" u="none" strike="noStrike">
                <a:solidFill>
                  <a:schemeClr val="dk1"/>
                </a:solidFill>
                <a:effectLst/>
                <a:uFillTx/>
                <a:latin typeface="Calibri"/>
              </a:rPr>
              <a:t>i</a:t>
            </a:r>
            <a:r>
              <a:rPr lang="en-US" sz="1800" b="0" u="none" strike="noStrike">
                <a:solidFill>
                  <a:schemeClr val="dk1"/>
                </a:solidFill>
                <a:effectLst/>
                <a:uFillTx/>
                <a:latin typeface="Calibri"/>
              </a:rPr>
              <a:t>f</a:t>
            </a:r>
            <a:r>
              <a:rPr lang="en-US" sz="1800" b="0" u="none" strike="noStrike">
                <a:solidFill>
                  <a:schemeClr val="dk1"/>
                </a:solidFill>
                <a:effectLst/>
                <a:uFillTx/>
                <a:latin typeface="Calibri"/>
              </a:rPr>
              <a:t>t</a:t>
            </a:r>
            <a:r>
              <a:rPr lang="en-US" sz="1800" b="0" u="none" strike="noStrike">
                <a:solidFill>
                  <a:schemeClr val="dk1"/>
                </a:solidFill>
                <a:effectLst/>
                <a:uFillTx/>
                <a:latin typeface="Calibri"/>
              </a:rPr>
              <a:t>h</a:t>
            </a:r>
            <a:r>
              <a:rPr lang="en-US" sz="1800" b="0" u="none" strike="noStrike">
                <a:solidFill>
                  <a:schemeClr val="dk1"/>
                </a:solidFill>
                <a:effectLst/>
                <a:uFillTx/>
                <a:latin typeface="Calibri"/>
              </a:rPr>
              <a:t> </a:t>
            </a:r>
            <a:r>
              <a:rPr lang="en-US" sz="1800" b="0" u="none" strike="noStrike">
                <a:solidFill>
                  <a:schemeClr val="dk1"/>
                </a:solidFill>
                <a:effectLst/>
                <a:uFillTx/>
                <a:latin typeface="Calibri"/>
              </a:rPr>
              <a:t>l</a:t>
            </a:r>
            <a:r>
              <a:rPr lang="en-US" sz="1800" b="0" u="none" strike="noStrike">
                <a:solidFill>
                  <a:schemeClr val="dk1"/>
                </a:solidFill>
                <a:effectLst/>
                <a:uFillTx/>
                <a:latin typeface="Calibri"/>
              </a:rPr>
              <a:t>e</a:t>
            </a:r>
            <a:r>
              <a:rPr lang="en-US" sz="1800" b="0" u="none" strike="noStrike">
                <a:solidFill>
                  <a:schemeClr val="dk1"/>
                </a:solidFill>
                <a:effectLst/>
                <a:uFillTx/>
                <a:latin typeface="Calibri"/>
              </a:rPr>
              <a:t>v</a:t>
            </a:r>
            <a:r>
              <a:rPr lang="en-US" sz="1800" b="0" u="none" strike="noStrike">
                <a:solidFill>
                  <a:schemeClr val="dk1"/>
                </a:solidFill>
                <a:effectLst/>
                <a:uFillTx/>
                <a:latin typeface="Calibri"/>
              </a:rPr>
              <a:t>e</a:t>
            </a:r>
            <a:r>
              <a:rPr lang="en-US" sz="1800" b="0" u="none" strike="noStrike">
                <a:solidFill>
                  <a:schemeClr val="dk1"/>
                </a:solidFill>
                <a:effectLst/>
                <a:uFillTx/>
                <a:latin typeface="Calibri"/>
              </a:rPr>
              <a:t>l</a:t>
            </a:r>
            <a:endParaRPr lang="en-US" sz="1800" b="0" u="none" strike="noStrike">
              <a:solidFill>
                <a:schemeClr val="dk1"/>
              </a:solidFill>
              <a:effectLst/>
              <a:uFillTx/>
              <a:latin typeface="Calibri"/>
            </a:endParaRPr>
          </a:p>
        </p:txBody>
      </p:sp>
      <p:sp>
        <p:nvSpPr>
          <p:cNvPr id="8"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N" sz="1200" b="0" u="none" strike="noStrike">
                <a:solidFill>
                  <a:schemeClr val="dk1">
                    <a:tint val="75000"/>
                  </a:schemeClr>
                </a:solidFill>
                <a:effectLst/>
                <a:uFillTx/>
                <a:latin typeface="Calibri"/>
              </a:defRPr>
            </a:lvl1pPr>
          </a:lstStyle>
          <a:p>
            <a:pPr indent="0" algn="l" defTabSz="914400">
              <a:lnSpc>
                <a:spcPct val="100000"/>
              </a:lnSpc>
              <a:buNone/>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1D20E839-D98D-4F5F-8476-ED2746DCDDD8}" type="slidenum">
              <a:rPr lang="en-IN"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8724960" y="365040"/>
            <a:ext cx="2628720" cy="5811480"/>
          </a:xfrm>
          <a:prstGeom prst="rect">
            <a:avLst/>
          </a:prstGeom>
          <a:noFill/>
          <a:ln w="0">
            <a:noFill/>
          </a:ln>
        </p:spPr>
        <p:txBody>
          <a:bodyPr lIns="91440" tIns="45720" rIns="91440" bIns="45720" anchor="ctr" vert="eaVert">
            <a:noAutofit/>
          </a:bodyPr>
          <a:lstStyle>
            <a:lvl1pPr indent="0" algn="l" defTabSz="914400">
              <a:lnSpc>
                <a:spcPct val="90000"/>
              </a:lnSpc>
              <a:buNone/>
              <a:defRPr lang="en-US" sz="4400" b="0" u="none" strike="noStrike">
                <a:solidFill>
                  <a:schemeClr val="dk1"/>
                </a:solidFill>
                <a:effectLst/>
                <a:uFillTx/>
                <a:latin typeface="Calibri Light"/>
              </a:defRPr>
            </a:lvl1pPr>
          </a:lstStyle>
          <a:p>
            <a:pPr indent="0" algn="l"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12" name="PlaceHolder 2"/>
          <p:cNvSpPr>
            <a:spLocks noGrp="1"/>
          </p:cNvSpPr>
          <p:nvPr>
            <p:ph type="body"/>
          </p:nvPr>
        </p:nvSpPr>
        <p:spPr>
          <a:xfrm>
            <a:off x="838080" y="365040"/>
            <a:ext cx="7733880" cy="581148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a:t>
            </a:r>
            <a:r>
              <a:rPr lang="en-US" sz="2800" b="0" u="none" strike="noStrike">
                <a:solidFill>
                  <a:schemeClr val="dk1"/>
                </a:solidFill>
                <a:effectLst/>
                <a:uFillTx/>
                <a:latin typeface="Calibri"/>
              </a:rPr>
              <a:t>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13"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N" sz="1200" b="0" u="none" strike="noStrike">
                <a:solidFill>
                  <a:schemeClr val="dk1">
                    <a:tint val="75000"/>
                  </a:schemeClr>
                </a:solidFill>
                <a:effectLst/>
                <a:uFillTx/>
                <a:latin typeface="Calibri"/>
              </a:defRPr>
            </a:lvl1pPr>
          </a:lstStyle>
          <a:p>
            <a:pPr indent="0" algn="l" defTabSz="914400">
              <a:lnSpc>
                <a:spcPct val="100000"/>
              </a:lnSpc>
              <a:buNone/>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BE5ED671-D59D-4019-B0E6-D6ECDE217727}" type="slidenum">
              <a:rPr lang="en-IN"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a:defRPr>
            </a:lvl1pPr>
          </a:lstStyle>
          <a:p>
            <a:pPr indent="0" algn="l"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17"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18"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N" sz="1200" b="0" u="none" strike="noStrike">
                <a:solidFill>
                  <a:schemeClr val="dk1">
                    <a:tint val="75000"/>
                  </a:schemeClr>
                </a:solidFill>
                <a:effectLst/>
                <a:uFillTx/>
                <a:latin typeface="Calibri"/>
              </a:defRPr>
            </a:lvl1pPr>
          </a:lstStyle>
          <a:p>
            <a:pPr indent="0" algn="l" defTabSz="914400">
              <a:lnSpc>
                <a:spcPct val="100000"/>
              </a:lnSpc>
              <a:buNone/>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EE889160-C3DC-431C-AF72-4915E7AC75D5}" type="slidenum">
              <a:rPr lang="en-IN"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lvl1pPr indent="0" algn="l" defTabSz="914400">
              <a:lnSpc>
                <a:spcPct val="90000"/>
              </a:lnSpc>
              <a:buNone/>
              <a:defRPr lang="en-US" sz="6000" b="0" u="none" strike="noStrike">
                <a:solidFill>
                  <a:schemeClr val="dk1"/>
                </a:solidFill>
                <a:effectLst/>
                <a:uFillTx/>
                <a:latin typeface="Calibri Light"/>
              </a:defRPr>
            </a:lvl1pPr>
          </a:lstStyle>
          <a:p>
            <a:pPr indent="0" algn="l" defTabSz="914400">
              <a:lnSpc>
                <a:spcPct val="90000"/>
              </a:lnSpc>
              <a:buNone/>
            </a:pPr>
            <a:r>
              <a:rPr lang="en-US" sz="6000" b="0" u="none" strike="noStrike">
                <a:solidFill>
                  <a:schemeClr val="dk1"/>
                </a:solidFill>
                <a:effectLst/>
                <a:uFillTx/>
                <a:latin typeface="Calibri Light"/>
              </a:rPr>
              <a:t>Click to edit Master title style</a:t>
            </a:r>
            <a:endParaRPr lang="en-US" sz="6000" b="0" u="none" strike="noStrike">
              <a:solidFill>
                <a:schemeClr val="dk1"/>
              </a:solidFill>
              <a:effectLst/>
              <a:uFillTx/>
              <a:latin typeface="Calibri Light"/>
            </a:endParaRPr>
          </a:p>
        </p:txBody>
      </p:sp>
      <p:sp>
        <p:nvSpPr>
          <p:cNvPr id="27"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2400" b="0" u="none" strike="noStrike">
                <a:solidFill>
                  <a:schemeClr val="dk1">
                    <a:tint val="75000"/>
                  </a:schemeClr>
                </a:solidFill>
                <a:effectLst/>
                <a:uFillTx/>
                <a:latin typeface="Calibri"/>
              </a:defRPr>
            </a:lvl1pPr>
          </a:lstStyle>
          <a:p>
            <a:pPr indent="0" algn="l" defTabSz="914400">
              <a:lnSpc>
                <a:spcPct val="90000"/>
              </a:lnSpc>
              <a:spcBef>
                <a:spcPts val="1001"/>
              </a:spcBef>
              <a:buNone/>
              <a:tabLst>
                <a:tab pos="0" algn="l"/>
              </a:tabLst>
            </a:pPr>
            <a:r>
              <a:rPr lang="en-US" sz="2400" b="0" u="none" strike="noStrike">
                <a:solidFill>
                  <a:schemeClr val="dk1">
                    <a:tint val="75000"/>
                  </a:schemeClr>
                </a:solidFill>
                <a:effectLst/>
                <a:uFillTx/>
                <a:latin typeface="Calibri"/>
              </a:rPr>
              <a:t>Click to edit Master text styles</a:t>
            </a:r>
            <a:endParaRPr lang="en-US" sz="2400" b="0" u="none" strike="noStrike">
              <a:solidFill>
                <a:schemeClr val="dk1">
                  <a:tint val="75000"/>
                </a:schemeClr>
              </a:solidFill>
              <a:effectLst/>
              <a:uFillTx/>
              <a:latin typeface="Calibri"/>
            </a:endParaRPr>
          </a:p>
        </p:txBody>
      </p:sp>
      <p:sp>
        <p:nvSpPr>
          <p:cNvPr id="28" name="PlaceHolder 3"/>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N" sz="1200" b="0" u="none" strike="noStrike">
                <a:solidFill>
                  <a:schemeClr val="dk1">
                    <a:tint val="75000"/>
                  </a:schemeClr>
                </a:solidFill>
                <a:effectLst/>
                <a:uFillTx/>
                <a:latin typeface="Calibri"/>
              </a:defRPr>
            </a:lvl1pPr>
          </a:lstStyle>
          <a:p>
            <a:pPr indent="0" algn="l" defTabSz="914400">
              <a:lnSpc>
                <a:spcPct val="100000"/>
              </a:lnSpc>
              <a:buNone/>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9" name="PlaceHolder 4"/>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0" name="PlaceHolder 5"/>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74F7F878-BE2F-4F82-B4DE-F95CD1C195FF}" type="slidenum">
              <a:rPr lang="en-IN"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a:defRPr>
            </a:lvl1pPr>
          </a:lstStyle>
          <a:p>
            <a:pPr indent="0" algn="l"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32"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33"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34" name="PlaceHolder 4"/>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N" sz="1200" b="0" u="none" strike="noStrike">
                <a:solidFill>
                  <a:schemeClr val="dk1">
                    <a:tint val="75000"/>
                  </a:schemeClr>
                </a:solidFill>
                <a:effectLst/>
                <a:uFillTx/>
                <a:latin typeface="Calibri"/>
              </a:defRPr>
            </a:lvl1pPr>
          </a:lstStyle>
          <a:p>
            <a:pPr indent="0" algn="l" defTabSz="914400">
              <a:lnSpc>
                <a:spcPct val="100000"/>
              </a:lnSpc>
              <a:buNone/>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5" name="PlaceHolder 5"/>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6" name="PlaceHolder 6"/>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F0144F75-893D-496C-99C2-D6176C5A8060}" type="slidenum">
              <a:rPr lang="en-IN"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a:defRPr>
            </a:lvl1pPr>
          </a:lstStyle>
          <a:p>
            <a:pPr indent="0" algn="l"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38"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n-US" sz="2400" b="1"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9"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40"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n-US" sz="2400" b="1"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41"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42" name="PlaceHolder 6"/>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N" sz="1200" b="0" u="none" strike="noStrike">
                <a:solidFill>
                  <a:schemeClr val="dk1">
                    <a:tint val="75000"/>
                  </a:schemeClr>
                </a:solidFill>
                <a:effectLst/>
                <a:uFillTx/>
                <a:latin typeface="Calibri"/>
              </a:defRPr>
            </a:lvl1pPr>
          </a:lstStyle>
          <a:p>
            <a:pPr indent="0" algn="l" defTabSz="914400">
              <a:lnSpc>
                <a:spcPct val="100000"/>
              </a:lnSpc>
              <a:buNone/>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3" name="PlaceHolder 7"/>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4" name="PlaceHolder 8"/>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9ECEE65E-8F35-46C6-93EA-70071B2BF5DC}" type="slidenum">
              <a:rPr lang="en-IN"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a:defRPr>
            </a:lvl1pPr>
          </a:lstStyle>
          <a:p>
            <a:pPr indent="0" algn="l"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46" name="PlaceHolder 2"/>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N" sz="1200" b="0" u="none" strike="noStrike">
                <a:solidFill>
                  <a:schemeClr val="dk1">
                    <a:tint val="75000"/>
                  </a:schemeClr>
                </a:solidFill>
                <a:effectLst/>
                <a:uFillTx/>
                <a:latin typeface="Calibri"/>
              </a:defRPr>
            </a:lvl1pPr>
          </a:lstStyle>
          <a:p>
            <a:pPr indent="0" algn="l" defTabSz="914400">
              <a:lnSpc>
                <a:spcPct val="100000"/>
              </a:lnSpc>
              <a:buNone/>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7" name="PlaceHolder 3"/>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8" name="PlaceHolder 4"/>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89F6CB24-2163-4D5C-9F8F-270E6B17899B}" type="slidenum">
              <a:rPr lang="en-IN"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N" sz="1200" b="0" u="none" strike="noStrike">
                <a:solidFill>
                  <a:schemeClr val="dk1">
                    <a:tint val="75000"/>
                  </a:schemeClr>
                </a:solidFill>
                <a:effectLst/>
                <a:uFillTx/>
                <a:latin typeface="Calibri"/>
              </a:defRPr>
            </a:lvl1pPr>
          </a:lstStyle>
          <a:p>
            <a:pPr indent="0" algn="l" defTabSz="914400">
              <a:lnSpc>
                <a:spcPct val="100000"/>
              </a:lnSpc>
              <a:buNone/>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0" name="PlaceHolder 2"/>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1" name="PlaceHolder 3"/>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8387A075-F79C-407A-8227-B1FA1CE2BD82}" type="slidenum">
              <a:rPr lang="en-IN"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a:defRPr>
            </a:lvl1pPr>
          </a:lstStyle>
          <a:p>
            <a:pPr indent="0" algn="l" defTabSz="914400">
              <a:lnSpc>
                <a:spcPct val="90000"/>
              </a:lnSpc>
              <a:buNone/>
            </a:pPr>
            <a:r>
              <a:rPr lang="en-US" sz="3200" b="0" u="none" strike="noStrike">
                <a:solidFill>
                  <a:schemeClr val="dk1"/>
                </a:solidFill>
                <a:effectLst/>
                <a:uFillTx/>
                <a:latin typeface="Calibri Light"/>
              </a:rPr>
              <a:t>Click to edit Master title style</a:t>
            </a:r>
            <a:endParaRPr lang="en-US" sz="3200" b="0" u="none" strike="noStrike">
              <a:solidFill>
                <a:schemeClr val="dk1"/>
              </a:solidFill>
              <a:effectLst/>
              <a:uFillTx/>
              <a:latin typeface="Calibri Light"/>
            </a:endParaRPr>
          </a:p>
        </p:txBody>
      </p:sp>
      <p:sp>
        <p:nvSpPr>
          <p:cNvPr id="53"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32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8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4"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1600" b="0"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n-US" sz="1600" b="0" u="none" strike="noStrike">
                <a:solidFill>
                  <a:schemeClr val="dk1"/>
                </a:solidFill>
                <a:effectLst/>
                <a:uFillTx/>
                <a:latin typeface="Calibri"/>
              </a:rPr>
              <a:t>Click to edit Master text styles</a:t>
            </a:r>
            <a:endParaRPr lang="en-US" sz="1600" b="0" u="none" strike="noStrike">
              <a:solidFill>
                <a:schemeClr val="dk1"/>
              </a:solidFill>
              <a:effectLst/>
              <a:uFillTx/>
              <a:latin typeface="Calibri"/>
            </a:endParaRPr>
          </a:p>
        </p:txBody>
      </p:sp>
      <p:sp>
        <p:nvSpPr>
          <p:cNvPr id="55"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N" sz="1200" b="0" u="none" strike="noStrike">
                <a:solidFill>
                  <a:schemeClr val="dk1">
                    <a:tint val="75000"/>
                  </a:schemeClr>
                </a:solidFill>
                <a:effectLst/>
                <a:uFillTx/>
                <a:latin typeface="Calibri"/>
              </a:defRPr>
            </a:lvl1pPr>
          </a:lstStyle>
          <a:p>
            <a:pPr indent="0" algn="l" defTabSz="914400">
              <a:lnSpc>
                <a:spcPct val="100000"/>
              </a:lnSpc>
              <a:buNone/>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6"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7"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10E25CBE-78D7-4851-AC23-9FBD9B18DEAF}" type="slidenum">
              <a:rPr lang="en-IN"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8"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a:defRPr>
            </a:lvl1pPr>
          </a:lstStyle>
          <a:p>
            <a:pPr indent="0" algn="l" defTabSz="914400">
              <a:lnSpc>
                <a:spcPct val="90000"/>
              </a:lnSpc>
              <a:buNone/>
            </a:pPr>
            <a:r>
              <a:rPr lang="en-US" sz="3200" b="0" u="none" strike="noStrike">
                <a:solidFill>
                  <a:schemeClr val="dk1"/>
                </a:solidFill>
                <a:effectLst/>
                <a:uFillTx/>
                <a:latin typeface="Calibri Light"/>
              </a:rPr>
              <a:t>Click to edit Master title style</a:t>
            </a:r>
            <a:endParaRPr lang="en-US" sz="3200" b="0" u="none" strike="noStrike">
              <a:solidFill>
                <a:schemeClr val="dk1"/>
              </a:solidFill>
              <a:effectLst/>
              <a:uFillTx/>
              <a:latin typeface="Calibri Light"/>
            </a:endParaRPr>
          </a:p>
        </p:txBody>
      </p:sp>
      <p:sp>
        <p:nvSpPr>
          <p:cNvPr id="59" name="PlaceHolder 2"/>
          <p:cNvSpPr>
            <a:spLocks noGrp="1"/>
          </p:cNvSpPr>
          <p:nvPr>
            <p:ph type="body"/>
          </p:nvPr>
        </p:nvSpPr>
        <p:spPr>
          <a:xfrm>
            <a:off x="5183280" y="987480"/>
            <a:ext cx="6171840" cy="4873320"/>
          </a:xfrm>
          <a:prstGeom prst="rect">
            <a:avLst/>
          </a:prstGeom>
          <a:noFill/>
          <a:ln w="0">
            <a:noFill/>
          </a:ln>
        </p:spPr>
        <p:txBody>
          <a:bodyPr lIns="90000" tIns="45000" rIns="90000" bIns="45000" anchor="t">
            <a:noAutofit/>
          </a:bodyPr>
          <a:lstStyle>
            <a:lvl1pPr algn="l" defTabSz="914400">
              <a:lnSpc>
                <a:spcPct val="90000"/>
              </a:lnSpc>
              <a:spcBef>
                <a:spcPts val="100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914400">
              <a:lnSpc>
                <a:spcPct val="90000"/>
              </a:lnSpc>
              <a:spcBef>
                <a:spcPts val="100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algn="l" defTabSz="914400">
              <a:lnSpc>
                <a:spcPct val="90000"/>
              </a:lnSpc>
              <a:spcBef>
                <a:spcPts val="499"/>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algn="l" defTabSz="914400">
              <a:lnSpc>
                <a:spcPct val="90000"/>
              </a:lnSpc>
              <a:spcBef>
                <a:spcPts val="499"/>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algn="l" defTabSz="914400">
              <a:lnSpc>
                <a:spcPct val="90000"/>
              </a:lnSpc>
              <a:spcBef>
                <a:spcPts val="499"/>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algn="l" defTabSz="914400">
              <a:lnSpc>
                <a:spcPct val="90000"/>
              </a:lnSpc>
              <a:spcBef>
                <a:spcPts val="499"/>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algn="l" defTabSz="9144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algn="l" defTabSz="9144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60"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1600" b="0"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n-US" sz="1600" b="0" u="none" strike="noStrike">
                <a:solidFill>
                  <a:schemeClr val="dk1"/>
                </a:solidFill>
                <a:effectLst/>
                <a:uFillTx/>
                <a:latin typeface="Calibri"/>
              </a:rPr>
              <a:t>Click to edit Master text styles</a:t>
            </a:r>
            <a:endParaRPr lang="en-US" sz="1600" b="0" u="none" strike="noStrike">
              <a:solidFill>
                <a:schemeClr val="dk1"/>
              </a:solidFill>
              <a:effectLst/>
              <a:uFillTx/>
              <a:latin typeface="Calibri"/>
            </a:endParaRPr>
          </a:p>
        </p:txBody>
      </p:sp>
      <p:sp>
        <p:nvSpPr>
          <p:cNvPr id="61" name="PlaceHolder 4"/>
          <p:cNvSpPr>
            <a:spLocks noGrp="1"/>
          </p:cNvSpPr>
          <p:nvPr>
            <p:ph type="dt" idx="34"/>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N" sz="1200" b="0" u="none" strike="noStrike">
                <a:solidFill>
                  <a:schemeClr val="dk1">
                    <a:tint val="75000"/>
                  </a:schemeClr>
                </a:solidFill>
                <a:effectLst/>
                <a:uFillTx/>
                <a:latin typeface="Calibri"/>
              </a:defRPr>
            </a:lvl1pPr>
          </a:lstStyle>
          <a:p>
            <a:pPr indent="0" algn="l" defTabSz="914400">
              <a:lnSpc>
                <a:spcPct val="100000"/>
              </a:lnSpc>
              <a:buNone/>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62" name="PlaceHolder 5"/>
          <p:cNvSpPr>
            <a:spLocks noGrp="1"/>
          </p:cNvSpPr>
          <p:nvPr>
            <p:ph type="ftr" idx="3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3" name="PlaceHolder 6"/>
          <p:cNvSpPr>
            <a:spLocks noGrp="1"/>
          </p:cNvSpPr>
          <p:nvPr>
            <p:ph type="sldNum" idx="3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F5465267-9623-4836-9F9E-386AE63E4BA6}" type="slidenum">
              <a:rPr lang="en-IN"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_rels/slideMaster5.xml.rels><?xml version="1.0" encoding="UTF-8"?>
<Relationships xmlns="http://schemas.openxmlformats.org/package/2006/relationships"><Relationship Id="rId1" Type="http://schemas.openxmlformats.org/officeDocument/2006/relationships/theme" Target="../theme/theme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ctr">
              <a:buNone/>
              <a:defRPr lang="en-US" sz="4400" b="0" u="none" strike="noStrike">
                <a:solidFill>
                  <a:srgbClr val="000000"/>
                </a:solidFill>
                <a:effectLst/>
                <a:uFillTx/>
                <a:latin typeface="Arial"/>
              </a:defRPr>
            </a:lvl1pPr>
          </a:lstStyle>
          <a:p>
            <a:pPr indent="0" algn="ctr">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22"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
        <p:nvSpPr>
          <p:cNvPr id="23" name="PlaceHolder 3"/>
          <p:cNvSpPr>
            <a:spLocks noGrp="1"/>
          </p:cNvSpPr>
          <p:nvPr>
            <p:ph type="dt" idx="13"/>
          </p:nvPr>
        </p:nvSpPr>
        <p:spPr>
          <a:xfrm>
            <a:off x="609480" y="6247440"/>
            <a:ext cx="2840400" cy="472680"/>
          </a:xfrm>
          <a:prstGeom prst="rect">
            <a:avLst/>
          </a:prstGeom>
          <a:noFill/>
          <a:ln w="0">
            <a:noFill/>
          </a:ln>
        </p:spPr>
        <p:txBody>
          <a:bodyPr lIns="0" tIns="0" rIns="0" bIns="0" anchor="t">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24" name="PlaceHolder 4"/>
          <p:cNvSpPr>
            <a:spLocks noGrp="1"/>
          </p:cNvSpPr>
          <p:nvPr>
            <p:ph type="ftr" idx="14"/>
          </p:nvPr>
        </p:nvSpPr>
        <p:spPr>
          <a:xfrm>
            <a:off x="4169520" y="6247440"/>
            <a:ext cx="3864240" cy="472680"/>
          </a:xfrm>
          <a:prstGeom prst="rect">
            <a:avLst/>
          </a:prstGeom>
          <a:noFill/>
          <a:ln w="0">
            <a:noFill/>
          </a:ln>
        </p:spPr>
        <p:txBody>
          <a:bodyPr lIns="0" tIns="0" rIns="0" bIns="0" anchor="t">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8741520" y="6247440"/>
            <a:ext cx="2840400" cy="47268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fld id="{82A275B8-460A-4E52-9AC2-C77397DFF9FC}"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hyperlink" Target="https://jecc.etlab.in/teacher/viewsubject/93460551045?sub_id=1916076829214&amp;sem_id=116225560662" TargetMode="External"/><Relationship Id="rId3" Type="http://schemas.openxmlformats.org/officeDocument/2006/relationships/slideLayout" Target="../slideLayouts/slideLayout4.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1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0" name="Picture 5"/>
          <p:cNvPicPr/>
          <p:nvPr/>
        </p:nvPicPr>
        <p:blipFill>
          <a:blip r:embed="rId1"/>
          <a:stretch/>
        </p:blipFill>
        <p:spPr>
          <a:xfrm>
            <a:off x="891360" y="243000"/>
            <a:ext cx="10578960" cy="1747440"/>
          </a:xfrm>
          <a:prstGeom prst="rect">
            <a:avLst/>
          </a:prstGeom>
          <a:noFill/>
          <a:ln w="0">
            <a:noFill/>
          </a:ln>
        </p:spPr>
      </p:pic>
      <p:sp>
        <p:nvSpPr>
          <p:cNvPr id="71" name="Google Shape;185;p1"/>
          <p:cNvSpPr/>
          <p:nvPr/>
        </p:nvSpPr>
        <p:spPr>
          <a:xfrm>
            <a:off x="1845000" y="2239200"/>
            <a:ext cx="9722520" cy="4618440"/>
          </a:xfrm>
          <a:prstGeom prst="rect">
            <a:avLst/>
          </a:prstGeom>
          <a:noFill/>
          <a:ln w="0">
            <a:noFill/>
          </a:ln>
        </p:spPr>
        <p:style>
          <a:lnRef idx="0"/>
          <a:fillRef idx="0"/>
          <a:effectRef idx="0"/>
          <a:fontRef idx="minor"/>
        </p:style>
        <p:txBody>
          <a:bodyPr lIns="0" tIns="0" rIns="0" bIns="0" anchor="t">
            <a:noAutofit/>
          </a:bodyPr>
          <a:p>
            <a:pPr marL="114480" algn="ctr" defTabSz="914400">
              <a:lnSpc>
                <a:spcPct val="90000"/>
              </a:lnSpc>
              <a:spcBef>
                <a:spcPts val="1001"/>
              </a:spcBef>
              <a:tabLst>
                <a:tab pos="0" algn="l"/>
              </a:tabLst>
            </a:pPr>
            <a:endParaRPr lang="en-US" sz="5400" b="0" u="none" strike="noStrike">
              <a:solidFill>
                <a:srgbClr val="000000"/>
              </a:solidFill>
              <a:effectLst/>
              <a:uFillTx/>
              <a:latin typeface="Arial"/>
            </a:endParaRPr>
          </a:p>
          <a:p>
            <a:pPr defTabSz="914400">
              <a:lnSpc>
                <a:spcPct val="90000"/>
              </a:lnSpc>
              <a:spcBef>
                <a:spcPts val="1001"/>
              </a:spcBef>
              <a:tabLst>
                <a:tab pos="0" algn="l"/>
              </a:tabLst>
            </a:pPr>
            <a:r>
              <a:rPr lang="en-IN" sz="4000" b="1" u="none" strike="noStrike">
                <a:solidFill>
                  <a:schemeClr val="accent2">
                    <a:lumMod val="75000"/>
                  </a:schemeClr>
                </a:solidFill>
                <a:effectLst/>
                <a:uFillTx/>
                <a:latin typeface="Helvetica Neue"/>
                <a:ea typeface="Times New Roman"/>
                <a:hlinkClick r:id="rId2"/>
              </a:rPr>
              <a:t>PBCST504 – MICROCONTROLLERS</a:t>
            </a:r>
            <a:endParaRPr lang="en-US" sz="4000" b="0" u="none" strike="noStrike">
              <a:solidFill>
                <a:srgbClr val="000000"/>
              </a:solidFill>
              <a:effectLst/>
              <a:uFillTx/>
              <a:latin typeface="Arial"/>
            </a:endParaRPr>
          </a:p>
          <a:p>
            <a:pPr algn="ctr" defTabSz="914400">
              <a:lnSpc>
                <a:spcPct val="90000"/>
              </a:lnSpc>
              <a:spcBef>
                <a:spcPts val="1001"/>
              </a:spcBef>
              <a:tabLst>
                <a:tab pos="0" algn="l"/>
              </a:tabLst>
            </a:pPr>
            <a:r>
              <a:rPr lang="en-IN" sz="4000" b="1" u="none" strike="noStrike">
                <a:solidFill>
                  <a:schemeClr val="accent2">
                    <a:lumMod val="75000"/>
                  </a:schemeClr>
                </a:solidFill>
                <a:effectLst/>
                <a:uFillTx/>
                <a:latin typeface="Helvetica Neue"/>
                <a:ea typeface="Times New Roman"/>
              </a:rPr>
              <a:t>MICRO PROJECT</a:t>
            </a:r>
            <a:endParaRPr lang="en-US" sz="4000" b="0" u="none" strike="noStrike">
              <a:solidFill>
                <a:srgbClr val="000000"/>
              </a:solidFill>
              <a:effectLst/>
              <a:uFillTx/>
              <a:latin typeface="Arial"/>
            </a:endParaRPr>
          </a:p>
          <a:p>
            <a:pPr marL="114480" algn="ctr" defTabSz="914400">
              <a:lnSpc>
                <a:spcPct val="90000"/>
              </a:lnSpc>
              <a:spcBef>
                <a:spcPts val="1001"/>
              </a:spcBef>
              <a:tabLst>
                <a:tab pos="0" algn="l"/>
              </a:tabLst>
            </a:pPr>
            <a:endParaRPr lang="en-US" sz="5400" b="0" u="none" strike="noStrike">
              <a:solidFill>
                <a:srgbClr val="000000"/>
              </a:solidFill>
              <a:effectLst/>
              <a:uFillTx/>
              <a:latin typeface="Arial"/>
            </a:endParaRPr>
          </a:p>
          <a:p>
            <a:pPr marL="114480" algn="ctr" defTabSz="914400">
              <a:lnSpc>
                <a:spcPct val="90000"/>
              </a:lnSpc>
              <a:spcBef>
                <a:spcPts val="1001"/>
              </a:spcBef>
              <a:tabLst>
                <a:tab pos="0" algn="l"/>
              </a:tabLst>
            </a:pPr>
            <a:r>
              <a:rPr lang="en-US" sz="4800" b="1" u="none" strike="noStrike">
                <a:solidFill>
                  <a:srgbClr val="7030A0"/>
                </a:solidFill>
                <a:effectLst/>
                <a:uFillTx/>
                <a:latin typeface="Times New Roman"/>
                <a:ea typeface="Times New Roman"/>
              </a:rPr>
              <a:t>Zeroth Review</a:t>
            </a:r>
            <a:endParaRPr lang="en-US" sz="4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2" name="Picture 5"/>
          <p:cNvPicPr/>
          <p:nvPr/>
        </p:nvPicPr>
        <p:blipFill>
          <a:blip r:embed="rId1"/>
          <a:stretch/>
        </p:blipFill>
        <p:spPr>
          <a:xfrm>
            <a:off x="891360" y="243000"/>
            <a:ext cx="10578960" cy="1747440"/>
          </a:xfrm>
          <a:prstGeom prst="rect">
            <a:avLst/>
          </a:prstGeom>
          <a:noFill/>
          <a:ln w="0">
            <a:noFill/>
          </a:ln>
        </p:spPr>
      </p:pic>
      <p:sp>
        <p:nvSpPr>
          <p:cNvPr id="73" name="Google Shape;185;p1"/>
          <p:cNvSpPr/>
          <p:nvPr/>
        </p:nvSpPr>
        <p:spPr>
          <a:xfrm>
            <a:off x="1907640" y="1722960"/>
            <a:ext cx="8838720" cy="4618440"/>
          </a:xfrm>
          <a:prstGeom prst="rect">
            <a:avLst/>
          </a:prstGeom>
          <a:noFill/>
          <a:ln w="0">
            <a:noFill/>
          </a:ln>
        </p:spPr>
        <p:style>
          <a:lnRef idx="0"/>
          <a:fillRef idx="0"/>
          <a:effectRef idx="0"/>
          <a:fontRef idx="minor"/>
        </p:style>
        <p:txBody>
          <a:bodyPr lIns="0" tIns="0" rIns="0" bIns="0" anchor="t">
            <a:noAutofit/>
          </a:bodyPr>
          <a:p>
            <a:pPr marL="114480" algn="just" defTabSz="914400">
              <a:lnSpc>
                <a:spcPct val="90000"/>
              </a:lnSpc>
              <a:spcBef>
                <a:spcPts val="1001"/>
              </a:spcBef>
              <a:tabLst>
                <a:tab pos="0" algn="l"/>
              </a:tabLst>
            </a:pPr>
            <a:endParaRPr lang="en-US" sz="2800" b="0" u="none" strike="noStrike">
              <a:solidFill>
                <a:srgbClr val="000000"/>
              </a:solidFill>
              <a:effectLst/>
              <a:uFillTx/>
              <a:latin typeface="Arial"/>
            </a:endParaRPr>
          </a:p>
          <a:p>
            <a:pPr marL="114480" algn="just" defTabSz="914400">
              <a:lnSpc>
                <a:spcPct val="90000"/>
              </a:lnSpc>
              <a:spcBef>
                <a:spcPts val="1001"/>
              </a:spcBef>
              <a:tabLst>
                <a:tab pos="0" algn="l"/>
              </a:tabLst>
            </a:pPr>
            <a:r>
              <a:rPr lang="en-US" sz="2800" b="1" u="none" strike="noStrike">
                <a:solidFill>
                  <a:srgbClr val="0070C0"/>
                </a:solidFill>
                <a:effectLst/>
                <a:uFillTx/>
                <a:latin typeface="Times New Roman"/>
                <a:ea typeface="Times New Roman"/>
              </a:rPr>
              <a:t>Title:- OpenBraille: Affordable Refreshable Single-Cell Braille Display</a:t>
            </a:r>
            <a:endParaRPr lang="en-US" sz="2800" b="0" u="none" strike="noStrike">
              <a:solidFill>
                <a:srgbClr val="000000"/>
              </a:solidFill>
              <a:effectLst/>
              <a:uFillTx/>
              <a:latin typeface="Arial"/>
            </a:endParaRPr>
          </a:p>
        </p:txBody>
      </p:sp>
      <p:sp>
        <p:nvSpPr>
          <p:cNvPr id="74" name="Google Shape;187;p1"/>
          <p:cNvSpPr/>
          <p:nvPr/>
        </p:nvSpPr>
        <p:spPr>
          <a:xfrm>
            <a:off x="170640" y="3621960"/>
            <a:ext cx="4948200" cy="2037960"/>
          </a:xfrm>
          <a:prstGeom prst="rect">
            <a:avLst/>
          </a:prstGeom>
          <a:noFill/>
          <a:ln w="0">
            <a:noFill/>
          </a:ln>
        </p:spPr>
        <p:style>
          <a:lnRef idx="0"/>
          <a:fillRef idx="0"/>
          <a:effectRef idx="0"/>
          <a:fontRef idx="minor"/>
        </p:style>
        <p:txBody>
          <a:bodyPr lIns="0" tIns="0" rIns="0" bIns="0" anchor="t">
            <a:noAutofit/>
          </a:bodyPr>
          <a:p>
            <a:pPr marL="114480" defTabSz="914400">
              <a:lnSpc>
                <a:spcPct val="90000"/>
              </a:lnSpc>
              <a:spcBef>
                <a:spcPts val="1001"/>
              </a:spcBef>
              <a:tabLst>
                <a:tab pos="0" algn="l"/>
              </a:tabLst>
            </a:pPr>
            <a:r>
              <a:rPr lang="en-US" sz="2800" b="0" u="none" strike="noStrike">
                <a:solidFill>
                  <a:srgbClr val="00B050"/>
                </a:solidFill>
                <a:effectLst/>
                <a:uFillTx/>
                <a:latin typeface="Times New Roman"/>
              </a:rPr>
              <a:t>Group No: Group 8</a:t>
            </a:r>
            <a:endParaRPr lang="en-US" sz="2800" b="0" u="none" strike="noStrike">
              <a:solidFill>
                <a:srgbClr val="000000"/>
              </a:solidFill>
              <a:effectLst/>
              <a:uFillTx/>
              <a:latin typeface="Arial"/>
            </a:endParaRPr>
          </a:p>
          <a:p>
            <a:pPr marL="114480" defTabSz="914400">
              <a:lnSpc>
                <a:spcPct val="90000"/>
              </a:lnSpc>
              <a:spcBef>
                <a:spcPts val="1001"/>
              </a:spcBef>
              <a:tabLst>
                <a:tab pos="0" algn="l"/>
              </a:tabLst>
            </a:pPr>
            <a:r>
              <a:rPr lang="en-US" sz="2800" b="0" u="none" strike="noStrike">
                <a:solidFill>
                  <a:srgbClr val="C00000"/>
                </a:solidFill>
                <a:effectLst/>
                <a:uFillTx/>
                <a:latin typeface="Times New Roman"/>
              </a:rPr>
              <a:t>Members: Amith Krishna Das</a:t>
            </a:r>
            <a:endParaRPr lang="en-US" sz="2800" b="0" u="none" strike="noStrike">
              <a:solidFill>
                <a:srgbClr val="000000"/>
              </a:solidFill>
              <a:effectLst/>
              <a:uFillTx/>
              <a:latin typeface="Arial"/>
            </a:endParaRPr>
          </a:p>
          <a:p>
            <a:pPr marL="114480" defTabSz="914400">
              <a:lnSpc>
                <a:spcPct val="90000"/>
              </a:lnSpc>
              <a:spcBef>
                <a:spcPts val="1001"/>
              </a:spcBef>
              <a:tabLst>
                <a:tab pos="0" algn="l"/>
              </a:tabLst>
            </a:pPr>
            <a:r>
              <a:rPr lang="en-US" sz="2800" b="0" u="none" strike="noStrike">
                <a:solidFill>
                  <a:srgbClr val="C00000"/>
                </a:solidFill>
                <a:effectLst/>
                <a:uFillTx/>
                <a:latin typeface="Times New Roman"/>
              </a:rPr>
              <a:t>                 Archa Pramod</a:t>
            </a:r>
            <a:endParaRPr lang="en-US" sz="2800" b="0" u="none" strike="noStrike">
              <a:solidFill>
                <a:srgbClr val="000000"/>
              </a:solidFill>
              <a:effectLst/>
              <a:uFillTx/>
              <a:latin typeface="Arial"/>
            </a:endParaRPr>
          </a:p>
          <a:p>
            <a:pPr marL="114480" defTabSz="914400">
              <a:lnSpc>
                <a:spcPct val="90000"/>
              </a:lnSpc>
              <a:spcBef>
                <a:spcPts val="1001"/>
              </a:spcBef>
              <a:tabLst>
                <a:tab pos="0" algn="l"/>
              </a:tabLst>
            </a:pPr>
            <a:r>
              <a:rPr lang="en-US" sz="2800" b="0" u="none" strike="noStrike">
                <a:solidFill>
                  <a:srgbClr val="C00000"/>
                </a:solidFill>
                <a:effectLst/>
                <a:uFillTx/>
                <a:latin typeface="Times New Roman"/>
              </a:rPr>
              <a:t>                 Nihad P C</a:t>
            </a:r>
            <a:endParaRPr lang="en-US" sz="2800" b="0" u="none" strike="noStrike">
              <a:solidFill>
                <a:srgbClr val="000000"/>
              </a:solidFill>
              <a:effectLst/>
              <a:uFillTx/>
              <a:latin typeface="Arial"/>
            </a:endParaRPr>
          </a:p>
          <a:p>
            <a:pPr marL="114480" defTabSz="914400">
              <a:lnSpc>
                <a:spcPct val="90000"/>
              </a:lnSpc>
              <a:spcBef>
                <a:spcPts val="1001"/>
              </a:spcBef>
              <a:tabLst>
                <a:tab pos="0" algn="l"/>
              </a:tabLst>
            </a:pPr>
            <a:r>
              <a:rPr lang="en-US" sz="2800" b="0" u="none" strike="noStrike">
                <a:solidFill>
                  <a:srgbClr val="C00000"/>
                </a:solidFill>
                <a:effectLst/>
                <a:uFillTx/>
                <a:latin typeface="Times New Roman"/>
              </a:rPr>
              <a:t>                 Sreehari K</a:t>
            </a:r>
            <a:endParaRPr lang="en-US" sz="2800" b="0" u="none" strike="noStrike">
              <a:solidFill>
                <a:srgbClr val="000000"/>
              </a:solidFill>
              <a:effectLst/>
              <a:uFillTx/>
              <a:latin typeface="Arial"/>
            </a:endParaRPr>
          </a:p>
          <a:p>
            <a:pPr marL="114480" defTabSz="914400">
              <a:lnSpc>
                <a:spcPct val="90000"/>
              </a:lnSpc>
              <a:spcBef>
                <a:spcPts val="1001"/>
              </a:spcBef>
              <a:tabLst>
                <a:tab pos="0" algn="l"/>
              </a:tabLst>
            </a:pPr>
            <a:r>
              <a:rPr lang="en-US" sz="2800" b="0" u="none" strike="noStrike">
                <a:solidFill>
                  <a:srgbClr val="C00000"/>
                </a:solidFill>
                <a:effectLst/>
                <a:uFillTx/>
                <a:latin typeface="Times New Roman"/>
              </a:rPr>
              <a:t>                 Sreeprada K S</a:t>
            </a:r>
            <a:endParaRPr lang="en-US" sz="2800" b="0" u="none" strike="noStrike">
              <a:solidFill>
                <a:srgbClr val="000000"/>
              </a:solidFill>
              <a:effectLst/>
              <a:uFillTx/>
              <a:latin typeface="Arial"/>
            </a:endParaRPr>
          </a:p>
          <a:p>
            <a:pPr marL="114480" defTabSz="914400">
              <a:lnSpc>
                <a:spcPct val="90000"/>
              </a:lnSpc>
              <a:spcBef>
                <a:spcPts val="1001"/>
              </a:spcBef>
              <a:tabLst>
                <a:tab pos="0" algn="l"/>
              </a:tabLst>
            </a:pPr>
            <a:r>
              <a:rPr lang="en-US" sz="2800" b="0" u="none" strike="noStrike">
                <a:solidFill>
                  <a:srgbClr val="C00000"/>
                </a:solidFill>
                <a:effectLst/>
                <a:uFillTx/>
                <a:latin typeface="Times New Roman"/>
              </a:rPr>
              <a:t>       </a:t>
            </a:r>
            <a:endParaRPr lang="en-US" sz="2800" b="0" u="none" strike="noStrike">
              <a:solidFill>
                <a:srgbClr val="000000"/>
              </a:solidFill>
              <a:effectLst/>
              <a:uFillTx/>
              <a:latin typeface="Arial"/>
            </a:endParaRPr>
          </a:p>
          <a:p>
            <a:pPr marL="114480" defTabSz="914400">
              <a:lnSpc>
                <a:spcPct val="90000"/>
              </a:lnSpc>
              <a:spcBef>
                <a:spcPts val="1001"/>
              </a:spcBef>
              <a:tabLst>
                <a:tab pos="0" algn="l"/>
              </a:tabLst>
            </a:pPr>
            <a:endParaRPr lang="en-US" sz="2800" b="0" u="none" strike="noStrike">
              <a:solidFill>
                <a:srgbClr val="000000"/>
              </a:solidFill>
              <a:effectLst/>
              <a:uFillTx/>
              <a:latin typeface="Arial"/>
            </a:endParaRPr>
          </a:p>
        </p:txBody>
      </p:sp>
      <p:sp>
        <p:nvSpPr>
          <p:cNvPr id="75" name="Google Shape;186;p1"/>
          <p:cNvSpPr/>
          <p:nvPr/>
        </p:nvSpPr>
        <p:spPr>
          <a:xfrm>
            <a:off x="8331120" y="5135040"/>
            <a:ext cx="4015080" cy="1323360"/>
          </a:xfrm>
          <a:prstGeom prst="rect">
            <a:avLst/>
          </a:prstGeom>
          <a:noFill/>
          <a:ln w="0">
            <a:noFill/>
          </a:ln>
        </p:spPr>
        <p:style>
          <a:lnRef idx="0"/>
          <a:fillRef idx="0"/>
          <a:effectRef idx="0"/>
          <a:fontRef idx="minor"/>
        </p:style>
        <p:txBody>
          <a:bodyPr lIns="0" tIns="0" rIns="0" bIns="0" anchor="t">
            <a:noAutofit/>
          </a:bodyPr>
          <a:p>
            <a:pPr marL="114480" defTabSz="914400">
              <a:lnSpc>
                <a:spcPct val="90000"/>
              </a:lnSpc>
              <a:spcBef>
                <a:spcPts val="1001"/>
              </a:spcBef>
              <a:tabLst>
                <a:tab pos="0" algn="l"/>
              </a:tabLst>
            </a:pPr>
            <a:r>
              <a:rPr lang="en-US" sz="2800" b="1" u="none" strike="noStrike">
                <a:solidFill>
                  <a:schemeClr val="lt2">
                    <a:lumMod val="10000"/>
                  </a:schemeClr>
                </a:solidFill>
                <a:effectLst/>
                <a:uFillTx/>
                <a:latin typeface="Times New Roman"/>
              </a:rPr>
              <a:t>Project Coordinator:</a:t>
            </a:r>
            <a:endParaRPr lang="en-US" sz="2800" b="0" u="none" strike="noStrike">
              <a:solidFill>
                <a:srgbClr val="000000"/>
              </a:solidFill>
              <a:effectLst/>
              <a:uFillTx/>
              <a:latin typeface="Arial"/>
            </a:endParaRPr>
          </a:p>
          <a:p>
            <a:pPr marL="114480" defTabSz="914400">
              <a:lnSpc>
                <a:spcPct val="90000"/>
              </a:lnSpc>
              <a:spcBef>
                <a:spcPts val="1001"/>
              </a:spcBef>
              <a:tabLst>
                <a:tab pos="0" algn="l"/>
              </a:tabLst>
            </a:pPr>
            <a:r>
              <a:rPr lang="en-US" sz="2800" b="0" u="none" strike="noStrike">
                <a:solidFill>
                  <a:schemeClr val="lt2">
                    <a:lumMod val="10000"/>
                  </a:schemeClr>
                </a:solidFill>
                <a:effectLst/>
                <a:uFillTx/>
                <a:latin typeface="Times New Roman"/>
              </a:rPr>
              <a:t>Ms.Sagna L T</a:t>
            </a:r>
            <a:endParaRPr lang="en-US" sz="2800" b="0" u="none" strike="noStrike">
              <a:solidFill>
                <a:srgbClr val="000000"/>
              </a:solidFill>
              <a:effectLst/>
              <a:uFillTx/>
              <a:latin typeface="Arial"/>
            </a:endParaRPr>
          </a:p>
          <a:p>
            <a:pPr marL="114480" defTabSz="914400">
              <a:lnSpc>
                <a:spcPct val="90000"/>
              </a:lnSpc>
              <a:spcBef>
                <a:spcPts val="1001"/>
              </a:spcBef>
              <a:tabLst>
                <a:tab pos="0" algn="l"/>
              </a:tabLst>
            </a:pPr>
            <a:r>
              <a:rPr lang="en-US" sz="2800" b="0" u="none" strike="noStrike">
                <a:solidFill>
                  <a:schemeClr val="lt2">
                    <a:lumMod val="10000"/>
                  </a:schemeClr>
                </a:solidFill>
                <a:effectLst/>
                <a:uFillTx/>
                <a:latin typeface="Times New Roman"/>
              </a:rPr>
              <a:t>Asst. Prof. CSE(CY)</a:t>
            </a:r>
            <a:endParaRPr lang="en-US" sz="2800" b="0" u="none" strike="noStrike">
              <a:solidFill>
                <a:srgbClr val="000000"/>
              </a:solidFill>
              <a:effectLst/>
              <a:uFillTx/>
              <a:latin typeface="Arial"/>
            </a:endParaRPr>
          </a:p>
          <a:p>
            <a:pPr marL="114480" defTabSz="914400">
              <a:lnSpc>
                <a:spcPct val="90000"/>
              </a:lnSpc>
              <a:spcBef>
                <a:spcPts val="1001"/>
              </a:spcBef>
              <a:tabLst>
                <a:tab pos="0" algn="l"/>
              </a:tabLst>
            </a:pPr>
            <a:endParaRPr lang="en-US"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6" name="Picture 5"/>
          <p:cNvPicPr/>
          <p:nvPr/>
        </p:nvPicPr>
        <p:blipFill>
          <a:blip r:embed="rId1"/>
          <a:stretch/>
        </p:blipFill>
        <p:spPr>
          <a:xfrm>
            <a:off x="891360" y="243000"/>
            <a:ext cx="10578960" cy="1747440"/>
          </a:xfrm>
          <a:prstGeom prst="rect">
            <a:avLst/>
          </a:prstGeom>
          <a:noFill/>
          <a:ln w="0">
            <a:noFill/>
          </a:ln>
        </p:spPr>
      </p:pic>
      <p:sp>
        <p:nvSpPr>
          <p:cNvPr id="77" name="Google Shape;154;p28"/>
          <p:cNvSpPr/>
          <p:nvPr/>
        </p:nvSpPr>
        <p:spPr>
          <a:xfrm>
            <a:off x="785880" y="1990800"/>
            <a:ext cx="11032920" cy="4693320"/>
          </a:xfrm>
          <a:prstGeom prst="rect">
            <a:avLst/>
          </a:prstGeom>
          <a:noFill/>
          <a:ln w="0">
            <a:noFill/>
          </a:ln>
        </p:spPr>
        <p:style>
          <a:lnRef idx="0"/>
          <a:fillRef idx="0"/>
          <a:effectRef idx="0"/>
          <a:fontRef idx="minor"/>
        </p:style>
        <p:txBody>
          <a:bodyPr lIns="0" tIns="0" rIns="0" bIns="0" anchor="t">
            <a:noAutofit/>
          </a:bodyPr>
          <a:p>
            <a:pPr algn="ctr" defTabSz="914400">
              <a:lnSpc>
                <a:spcPct val="90000"/>
              </a:lnSpc>
              <a:spcBef>
                <a:spcPts val="1001"/>
              </a:spcBef>
              <a:tabLst>
                <a:tab pos="0" algn="l"/>
              </a:tabLst>
            </a:pPr>
            <a:r>
              <a:rPr lang="en-US" sz="2800" b="1" u="none" strike="noStrike">
                <a:solidFill>
                  <a:schemeClr val="dk1"/>
                </a:solidFill>
                <a:effectLst/>
                <a:uFillTx/>
                <a:latin typeface="Times New Roman"/>
                <a:ea typeface="Times New Roman"/>
              </a:rPr>
              <a:t>DEPARTMENT OF COMPUTER SCIENCE &amp; ENGINEERING </a:t>
            </a:r>
            <a:endParaRPr lang="en-US" sz="2800" b="0" u="none" strike="noStrike">
              <a:solidFill>
                <a:srgbClr val="000000"/>
              </a:solidFill>
              <a:effectLst/>
              <a:uFillTx/>
              <a:latin typeface="Arial"/>
            </a:endParaRPr>
          </a:p>
          <a:p>
            <a:pPr algn="ctr" defTabSz="914400">
              <a:lnSpc>
                <a:spcPct val="90000"/>
              </a:lnSpc>
              <a:spcBef>
                <a:spcPts val="1001"/>
              </a:spcBef>
              <a:tabLst>
                <a:tab pos="0" algn="l"/>
              </a:tabLst>
            </a:pPr>
            <a:r>
              <a:rPr lang="en-US" sz="2800" b="1" u="none" strike="noStrike">
                <a:solidFill>
                  <a:schemeClr val="dk1"/>
                </a:solidFill>
                <a:effectLst/>
                <a:uFillTx/>
                <a:latin typeface="Times New Roman"/>
                <a:ea typeface="Times New Roman"/>
              </a:rPr>
              <a:t>(Cyber Security)</a:t>
            </a:r>
            <a:endParaRPr lang="en-US" sz="2800" b="0" u="none" strike="noStrike">
              <a:solidFill>
                <a:srgbClr val="000000"/>
              </a:solidFill>
              <a:effectLst/>
              <a:uFillTx/>
              <a:latin typeface="Arial"/>
            </a:endParaRPr>
          </a:p>
          <a:p>
            <a:pPr algn="ctr" defTabSz="914400">
              <a:lnSpc>
                <a:spcPct val="90000"/>
              </a:lnSpc>
              <a:spcBef>
                <a:spcPts val="1001"/>
              </a:spcBef>
              <a:tabLst>
                <a:tab pos="0" algn="l"/>
              </a:tabLst>
            </a:pPr>
            <a:r>
              <a:rPr lang="en-US" sz="2800" b="1" u="none" strike="noStrike">
                <a:solidFill>
                  <a:schemeClr val="dk1"/>
                </a:solidFill>
                <a:effectLst/>
                <a:uFillTx/>
                <a:latin typeface="Calibri"/>
                <a:ea typeface="Times New Roman"/>
              </a:rPr>
              <a:t> </a:t>
            </a:r>
            <a:r>
              <a:rPr lang="en-US" sz="2100" b="1" u="none" strike="noStrike">
                <a:solidFill>
                  <a:schemeClr val="dk1"/>
                </a:solidFill>
                <a:effectLst/>
                <a:uFillTx/>
                <a:latin typeface="Times New Roman"/>
                <a:ea typeface="Times New Roman"/>
              </a:rPr>
              <a:t>Vision of the Department</a:t>
            </a:r>
            <a:endParaRPr lang="en-US" sz="2100" b="0" u="none" strike="noStrike">
              <a:solidFill>
                <a:srgbClr val="000000"/>
              </a:solidFill>
              <a:effectLst/>
              <a:uFillTx/>
              <a:latin typeface="Arial"/>
            </a:endParaRPr>
          </a:p>
          <a:p>
            <a:pPr algn="ctr" defTabSz="914400">
              <a:lnSpc>
                <a:spcPct val="150000"/>
              </a:lnSpc>
              <a:spcBef>
                <a:spcPts val="1001"/>
              </a:spcBef>
              <a:tabLst>
                <a:tab pos="0" algn="l"/>
              </a:tabLst>
            </a:pPr>
            <a:r>
              <a:rPr lang="en-IN" sz="2000" b="0" u="none" strike="noStrike">
                <a:solidFill>
                  <a:srgbClr val="000000"/>
                </a:solidFill>
                <a:effectLst/>
                <a:uFillTx/>
                <a:latin typeface="Times New Roman"/>
                <a:ea typeface="Times New Roman"/>
              </a:rPr>
              <a:t>To be a globally recognized centre of excellence in Cyber Security education, research and innovation by nurturing ethical professionals , fostering technological advancement through responsible practice and contributing to a secure and sustainable digital society.</a:t>
            </a:r>
            <a:endParaRPr lang="en-US" sz="2000" b="0" u="none" strike="noStrike">
              <a:solidFill>
                <a:srgbClr val="000000"/>
              </a:solidFill>
              <a:effectLst/>
              <a:uFillTx/>
              <a:latin typeface="Arial"/>
            </a:endParaRPr>
          </a:p>
          <a:p>
            <a:pPr algn="ctr" defTabSz="914400">
              <a:lnSpc>
                <a:spcPct val="90000"/>
              </a:lnSpc>
              <a:spcBef>
                <a:spcPts val="1001"/>
              </a:spcBef>
              <a:tabLst>
                <a:tab pos="0" algn="l"/>
              </a:tabLst>
            </a:pPr>
            <a:endParaRPr lang="en-US" sz="2100" b="0" u="none" strike="noStrike">
              <a:solidFill>
                <a:srgbClr val="000000"/>
              </a:solidFill>
              <a:effectLst/>
              <a:uFillTx/>
              <a:latin typeface="Arial"/>
            </a:endParaRPr>
          </a:p>
          <a:p>
            <a:pPr defTabSz="914400">
              <a:lnSpc>
                <a:spcPct val="90000"/>
              </a:lnSpc>
              <a:spcBef>
                <a:spcPts val="1001"/>
              </a:spcBef>
              <a:tabLst>
                <a:tab pos="0" algn="l"/>
              </a:tabLst>
            </a:pPr>
            <a:endParaRPr lang="en-US" sz="2100" b="0" u="none" strike="noStrike">
              <a:solidFill>
                <a:srgbClr val="000000"/>
              </a:solidFill>
              <a:effectLst/>
              <a:uFillTx/>
              <a:latin typeface="Arial"/>
            </a:endParaRPr>
          </a:p>
          <a:p>
            <a:pPr defTabSz="914400">
              <a:lnSpc>
                <a:spcPct val="90000"/>
              </a:lnSpc>
              <a:spcBef>
                <a:spcPts val="1001"/>
              </a:spcBef>
              <a:tabLst>
                <a:tab pos="0" algn="l"/>
              </a:tabLst>
            </a:pPr>
            <a:endParaRPr lang="en-US" sz="1700" b="0" u="none" strike="noStrike">
              <a:solidFill>
                <a:srgbClr val="000000"/>
              </a:solidFill>
              <a:effectLst/>
              <a:uFillTx/>
              <a:latin typeface="Arial"/>
            </a:endParaRPr>
          </a:p>
          <a:p>
            <a:pPr defTabSz="914400">
              <a:lnSpc>
                <a:spcPct val="90000"/>
              </a:lnSpc>
              <a:spcBef>
                <a:spcPts val="1001"/>
              </a:spcBef>
              <a:tabLst>
                <a:tab pos="0" algn="l"/>
              </a:tabLst>
            </a:pPr>
            <a:endParaRPr lang="en-US" sz="1300" b="0" u="none" strike="noStrike">
              <a:solidFill>
                <a:srgbClr val="000000"/>
              </a:solidFill>
              <a:effectLst/>
              <a:uFillTx/>
              <a:latin typeface="Arial"/>
            </a:endParaRPr>
          </a:p>
          <a:p>
            <a:pPr defTabSz="914400">
              <a:lnSpc>
                <a:spcPct val="90000"/>
              </a:lnSpc>
              <a:spcBef>
                <a:spcPts val="1001"/>
              </a:spcBef>
              <a:tabLst>
                <a:tab pos="0" algn="l"/>
              </a:tabLst>
            </a:pPr>
            <a:endParaRPr lang="en-US"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p>
            <a:pPr indent="0" algn="l" defTabSz="914400">
              <a:lnSpc>
                <a:spcPct val="90000"/>
              </a:lnSpc>
              <a:buNone/>
            </a:pPr>
            <a:endParaRPr lang="en-US" sz="4400" b="0" u="none" strike="noStrike">
              <a:solidFill>
                <a:schemeClr val="dk1"/>
              </a:solidFill>
              <a:effectLst/>
              <a:uFillTx/>
              <a:latin typeface="Calibri Light"/>
            </a:endParaRPr>
          </a:p>
        </p:txBody>
      </p:sp>
      <p:sp>
        <p:nvSpPr>
          <p:cNvPr id="79" name="PlaceHolder 2"/>
          <p:cNvSpPr>
            <a:spLocks noGrp="1"/>
          </p:cNvSpPr>
          <p:nvPr>
            <p:ph/>
          </p:nvPr>
        </p:nvSpPr>
        <p:spPr>
          <a:xfrm>
            <a:off x="838080" y="2220120"/>
            <a:ext cx="10515240" cy="4350960"/>
          </a:xfrm>
          <a:prstGeom prst="rect">
            <a:avLst/>
          </a:prstGeom>
          <a:noFill/>
          <a:ln w="0">
            <a:noFill/>
          </a:ln>
        </p:spPr>
        <p:txBody>
          <a:bodyPr lIns="91440" tIns="45720" rIns="91440" bIns="45720" anchor="t">
            <a:normAutofit lnSpcReduction="9999"/>
          </a:bodyPr>
          <a:p>
            <a:pPr indent="0" algn="ctr" defTabSz="914400">
              <a:lnSpc>
                <a:spcPct val="90000"/>
              </a:lnSpc>
              <a:spcBef>
                <a:spcPts val="1001"/>
              </a:spcBef>
              <a:buNone/>
              <a:tabLst>
                <a:tab pos="0" algn="l"/>
              </a:tabLst>
            </a:pPr>
            <a:r>
              <a:rPr lang="en-US" sz="2800" b="1" u="none" strike="noStrike">
                <a:solidFill>
                  <a:schemeClr val="dk1"/>
                </a:solidFill>
                <a:effectLst/>
                <a:uFillTx/>
                <a:latin typeface="Times New Roman"/>
                <a:ea typeface="Times New Roman"/>
              </a:rPr>
              <a:t>DEPARTMENT OF COMPUTER SCIENCE &amp; ENGINEERING </a:t>
            </a:r>
            <a:endParaRPr lang="en-US" sz="2800" b="0" u="none" strike="noStrike">
              <a:solidFill>
                <a:schemeClr val="dk1"/>
              </a:solidFill>
              <a:effectLst/>
              <a:uFillTx/>
              <a:latin typeface="Calibri"/>
            </a:endParaRPr>
          </a:p>
          <a:p>
            <a:pPr indent="0" algn="ctr" defTabSz="914400">
              <a:lnSpc>
                <a:spcPct val="90000"/>
              </a:lnSpc>
              <a:spcBef>
                <a:spcPts val="1001"/>
              </a:spcBef>
              <a:buNone/>
              <a:tabLst>
                <a:tab pos="0" algn="l"/>
              </a:tabLst>
            </a:pPr>
            <a:r>
              <a:rPr lang="en-US" sz="2800" b="1" u="none" strike="noStrike">
                <a:solidFill>
                  <a:schemeClr val="dk1"/>
                </a:solidFill>
                <a:effectLst/>
                <a:uFillTx/>
                <a:latin typeface="Times New Roman"/>
                <a:ea typeface="Times New Roman"/>
              </a:rPr>
              <a:t>(Cyber Security)</a:t>
            </a:r>
            <a:endParaRPr lang="en-US" sz="2800" b="0" u="none" strike="noStrike">
              <a:solidFill>
                <a:schemeClr val="dk1"/>
              </a:solidFill>
              <a:effectLst/>
              <a:uFillTx/>
              <a:latin typeface="Calibri"/>
            </a:endParaRPr>
          </a:p>
          <a:p>
            <a:pPr indent="0" algn="ctr" defTabSz="914400">
              <a:lnSpc>
                <a:spcPct val="90000"/>
              </a:lnSpc>
              <a:spcBef>
                <a:spcPts val="1001"/>
              </a:spcBef>
              <a:buNone/>
              <a:tabLst>
                <a:tab pos="0" algn="l"/>
              </a:tabLst>
            </a:pPr>
            <a:r>
              <a:rPr lang="en-US" sz="2800" b="1" u="none" strike="noStrike">
                <a:solidFill>
                  <a:schemeClr val="dk1"/>
                </a:solidFill>
                <a:effectLst/>
                <a:uFillTx/>
                <a:latin typeface="Calibri"/>
                <a:ea typeface="Times New Roman"/>
              </a:rPr>
              <a:t> </a:t>
            </a:r>
            <a:r>
              <a:rPr lang="en-US" sz="2800" b="1" u="none" strike="noStrike">
                <a:solidFill>
                  <a:schemeClr val="dk1"/>
                </a:solidFill>
                <a:effectLst/>
                <a:uFillTx/>
                <a:latin typeface="Times New Roman"/>
                <a:ea typeface="Times New Roman"/>
              </a:rPr>
              <a:t>Mission of the Department</a:t>
            </a:r>
            <a:endParaRPr lang="en-US" sz="2800" b="0" u="none" strike="noStrike">
              <a:solidFill>
                <a:schemeClr val="dk1"/>
              </a:solidFill>
              <a:effectLst/>
              <a:uFillTx/>
              <a:latin typeface="Calibri"/>
            </a:endParaRPr>
          </a:p>
          <a:p>
            <a:pPr marL="228600" indent="-228600" algn="just" defTabSz="914400">
              <a:lnSpc>
                <a:spcPct val="90000"/>
              </a:lnSpc>
              <a:spcBef>
                <a:spcPts val="1125"/>
              </a:spcBef>
              <a:spcAft>
                <a:spcPts val="1125"/>
              </a:spcAft>
              <a:buClr>
                <a:srgbClr val="000000"/>
              </a:buClr>
              <a:buFont typeface="Arial"/>
              <a:buChar char="•"/>
              <a:tabLst>
                <a:tab pos="0" algn="l"/>
              </a:tabLst>
            </a:pPr>
            <a:r>
              <a:rPr lang="en-IN" sz="1800" b="1" u="none" strike="noStrike">
                <a:solidFill>
                  <a:schemeClr val="dk1"/>
                </a:solidFill>
                <a:effectLst/>
                <a:uFillTx/>
                <a:latin typeface="Times New Roman"/>
                <a:ea typeface="Times New Roman"/>
              </a:rPr>
              <a:t>M1: Excellence in Education</a:t>
            </a:r>
            <a:r>
              <a:rPr lang="en-IN" sz="1800" b="1" u="none" strike="noStrike">
                <a:solidFill>
                  <a:schemeClr val="dk1"/>
                </a:solidFill>
                <a:effectLst/>
                <a:uFillTx/>
                <a:latin typeface="Arial"/>
                <a:ea typeface="Times New Roman"/>
              </a:rPr>
              <a:t> : </a:t>
            </a:r>
            <a:r>
              <a:rPr lang="en-IN" sz="1800" b="0" u="none" strike="noStrike">
                <a:solidFill>
                  <a:srgbClr val="000000"/>
                </a:solidFill>
                <a:effectLst/>
                <a:uFillTx/>
                <a:latin typeface="Times New Roman"/>
                <a:ea typeface="Times New Roman"/>
              </a:rPr>
              <a:t>To provide outcome-based and industry-oriented education by integrating core computer science principles with advanced cybersecurity technologies and practices.</a:t>
            </a:r>
            <a:endParaRPr lang="en-US" sz="1800" b="0" u="none" strike="noStrike">
              <a:solidFill>
                <a:schemeClr val="dk1"/>
              </a:solidFill>
              <a:effectLst/>
              <a:uFillTx/>
              <a:latin typeface="Calibri"/>
            </a:endParaRPr>
          </a:p>
          <a:p>
            <a:pPr marL="228600" indent="-228600" algn="just" defTabSz="914400">
              <a:lnSpc>
                <a:spcPct val="90000"/>
              </a:lnSpc>
              <a:spcBef>
                <a:spcPts val="1125"/>
              </a:spcBef>
              <a:spcAft>
                <a:spcPts val="1125"/>
              </a:spcAft>
              <a:buClr>
                <a:srgbClr val="000000"/>
              </a:buClr>
              <a:buFont typeface="Arial"/>
              <a:buChar char="•"/>
              <a:tabLst>
                <a:tab pos="0" algn="l"/>
              </a:tabLst>
            </a:pPr>
            <a:r>
              <a:rPr lang="en-IN" sz="1800" b="1" u="none" strike="noStrike">
                <a:solidFill>
                  <a:schemeClr val="dk1"/>
                </a:solidFill>
                <a:effectLst/>
                <a:uFillTx/>
                <a:latin typeface="Times New Roman"/>
                <a:ea typeface="Times New Roman"/>
              </a:rPr>
              <a:t>M2: Ethics and Professional Responsibility : </a:t>
            </a:r>
            <a:r>
              <a:rPr lang="en-IN" sz="1800" b="0" u="none" strike="noStrike">
                <a:solidFill>
                  <a:srgbClr val="000000"/>
                </a:solidFill>
                <a:effectLst/>
                <a:uFillTx/>
                <a:latin typeface="Times New Roman"/>
                <a:ea typeface="Times New Roman"/>
              </a:rPr>
              <a:t>To cultivate ethical values, integrity, social responsibility, and secure computing practices for protecting digital assets and strengthening cyber trust.</a:t>
            </a:r>
            <a:endParaRPr lang="en-US" sz="1800" b="0" u="none" strike="noStrike">
              <a:solidFill>
                <a:schemeClr val="dk1"/>
              </a:solidFill>
              <a:effectLst/>
              <a:uFillTx/>
              <a:latin typeface="Calibri"/>
            </a:endParaRPr>
          </a:p>
          <a:p>
            <a:pPr marL="228600" indent="-228600" algn="just" defTabSz="914400">
              <a:lnSpc>
                <a:spcPct val="90000"/>
              </a:lnSpc>
              <a:spcBef>
                <a:spcPts val="1125"/>
              </a:spcBef>
              <a:spcAft>
                <a:spcPts val="1125"/>
              </a:spcAft>
              <a:buClr>
                <a:srgbClr val="000000"/>
              </a:buClr>
              <a:buFont typeface="Arial"/>
              <a:buChar char="•"/>
              <a:tabLst>
                <a:tab pos="0" algn="l"/>
              </a:tabLst>
            </a:pPr>
            <a:r>
              <a:rPr lang="en-IN" sz="1800" b="1" u="none" strike="noStrike">
                <a:solidFill>
                  <a:schemeClr val="dk1"/>
                </a:solidFill>
                <a:effectLst/>
                <a:uFillTx/>
                <a:latin typeface="Times New Roman"/>
                <a:ea typeface="Times New Roman"/>
              </a:rPr>
              <a:t>M3: Research, Innovation, and Entrepreneurship : </a:t>
            </a:r>
            <a:r>
              <a:rPr lang="en-IN" sz="1800" b="0" u="none" strike="noStrike">
                <a:solidFill>
                  <a:srgbClr val="000000"/>
                </a:solidFill>
                <a:effectLst/>
                <a:uFillTx/>
                <a:latin typeface="Times New Roman"/>
                <a:ea typeface="Times New Roman"/>
              </a:rPr>
              <a:t>To promote research, innovation, and entrepreneurial thinking for developing sustainable solutions to emerging cybersecurity challenges.</a:t>
            </a:r>
            <a:endParaRPr lang="en-US" sz="1800" b="0" u="none" strike="noStrike">
              <a:solidFill>
                <a:schemeClr val="dk1"/>
              </a:solidFill>
              <a:effectLst/>
              <a:uFillTx/>
              <a:latin typeface="Calibri"/>
            </a:endParaRPr>
          </a:p>
          <a:p>
            <a:pPr marL="228600" indent="-228600" algn="just" defTabSz="914400">
              <a:lnSpc>
                <a:spcPct val="90000"/>
              </a:lnSpc>
              <a:spcBef>
                <a:spcPts val="1199"/>
              </a:spcBef>
              <a:spcAft>
                <a:spcPts val="1199"/>
              </a:spcAft>
              <a:buClr>
                <a:srgbClr val="000000"/>
              </a:buClr>
              <a:buFont typeface="Arial"/>
              <a:buChar char="•"/>
              <a:tabLst>
                <a:tab pos="0" algn="l"/>
              </a:tabLst>
            </a:pPr>
            <a:r>
              <a:rPr lang="en-IN" sz="1800" b="1" u="none" strike="noStrike">
                <a:solidFill>
                  <a:schemeClr val="dk1"/>
                </a:solidFill>
                <a:effectLst/>
                <a:uFillTx/>
                <a:latin typeface="Times New Roman"/>
                <a:ea typeface="Times New Roman"/>
              </a:rPr>
              <a:t>M4: Holistic and Global Development : </a:t>
            </a:r>
            <a:r>
              <a:rPr lang="en-IN" sz="1800" b="0" u="none" strike="noStrike">
                <a:solidFill>
                  <a:srgbClr val="000000"/>
                </a:solidFill>
                <a:effectLst/>
                <a:uFillTx/>
                <a:latin typeface="Times New Roman"/>
                <a:ea typeface="Times New Roman"/>
              </a:rPr>
              <a:t>To enhance leadership, teamwork, lifelong learning, and global competence through industry collaboration, interdisciplinary activities, and community engagement.</a:t>
            </a:r>
            <a:endParaRPr lang="en-US" sz="1800" b="0" u="none" strike="noStrike">
              <a:solidFill>
                <a:schemeClr val="dk1"/>
              </a:solidFill>
              <a:effectLst/>
              <a:uFillTx/>
              <a:latin typeface="Calibri"/>
            </a:endParaRPr>
          </a:p>
          <a:p>
            <a:pPr indent="0" algn="ctr" defTabSz="914400">
              <a:lnSpc>
                <a:spcPct val="90000"/>
              </a:lnSpc>
              <a:spcBef>
                <a:spcPts val="1001"/>
              </a:spcBef>
              <a:buNone/>
              <a:tabLst>
                <a:tab pos="0" algn="l"/>
              </a:tabLst>
            </a:pPr>
            <a:endParaRPr lang="en-US" sz="2800" b="0" u="none" strike="noStrike">
              <a:solidFill>
                <a:schemeClr val="dk1"/>
              </a:solidFill>
              <a:effectLst/>
              <a:uFillTx/>
              <a:latin typeface="Calibri"/>
            </a:endParaRPr>
          </a:p>
        </p:txBody>
      </p:sp>
      <p:pic>
        <p:nvPicPr>
          <p:cNvPr id="80" name="Picture 3"/>
          <p:cNvPicPr/>
          <p:nvPr/>
        </p:nvPicPr>
        <p:blipFill>
          <a:blip r:embed="rId1"/>
          <a:stretch/>
        </p:blipFill>
        <p:spPr>
          <a:xfrm>
            <a:off x="1045440" y="365040"/>
            <a:ext cx="10578960" cy="174744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1" name="Picture 5"/>
          <p:cNvPicPr/>
          <p:nvPr/>
        </p:nvPicPr>
        <p:blipFill>
          <a:blip r:embed="rId1"/>
          <a:stretch/>
        </p:blipFill>
        <p:spPr>
          <a:xfrm>
            <a:off x="891360" y="243000"/>
            <a:ext cx="10578960" cy="1747440"/>
          </a:xfrm>
          <a:prstGeom prst="rect">
            <a:avLst/>
          </a:prstGeom>
          <a:noFill/>
          <a:ln w="0">
            <a:noFill/>
          </a:ln>
        </p:spPr>
      </p:pic>
      <p:sp>
        <p:nvSpPr>
          <p:cNvPr id="82" name="Google Shape;159;p29"/>
          <p:cNvSpPr/>
          <p:nvPr/>
        </p:nvSpPr>
        <p:spPr>
          <a:xfrm>
            <a:off x="576000" y="2268720"/>
            <a:ext cx="11209680" cy="4010400"/>
          </a:xfrm>
          <a:prstGeom prst="rect">
            <a:avLst/>
          </a:prstGeom>
          <a:noFill/>
          <a:ln w="0">
            <a:noFill/>
          </a:ln>
        </p:spPr>
        <p:style>
          <a:lnRef idx="0"/>
          <a:fillRef idx="0"/>
          <a:effectRef idx="0"/>
          <a:fontRef idx="minor"/>
        </p:style>
        <p:txBody>
          <a:bodyPr lIns="0" tIns="0" rIns="0" bIns="0" anchor="t">
            <a:noAutofit/>
          </a:bodyPr>
          <a:p>
            <a:pPr algn="ctr" defTabSz="914400">
              <a:lnSpc>
                <a:spcPct val="90000"/>
              </a:lnSpc>
              <a:spcBef>
                <a:spcPts val="1001"/>
              </a:spcBef>
              <a:tabLst>
                <a:tab pos="0" algn="l"/>
              </a:tabLst>
            </a:pPr>
            <a:r>
              <a:rPr lang="en-US" sz="2800" b="1" u="sng" strike="noStrike">
                <a:solidFill>
                  <a:schemeClr val="dk1"/>
                </a:solidFill>
                <a:effectLst/>
                <a:uFillTx/>
                <a:latin typeface="Times New Roman"/>
                <a:ea typeface="Times New Roman"/>
              </a:rPr>
              <a:t>Programme Educational Objectives (PEOs)</a:t>
            </a:r>
            <a:endParaRPr lang="en-US" sz="2800" b="0" u="none" strike="noStrike">
              <a:solidFill>
                <a:srgbClr val="000000"/>
              </a:solidFill>
              <a:effectLst/>
              <a:uFillTx/>
              <a:latin typeface="Arial"/>
            </a:endParaRPr>
          </a:p>
          <a:p>
            <a:pPr marL="228600" indent="-228600" defTabSz="914400">
              <a:lnSpc>
                <a:spcPct val="90000"/>
              </a:lnSpc>
              <a:spcBef>
                <a:spcPts val="1199"/>
              </a:spcBef>
              <a:spcAft>
                <a:spcPts val="1199"/>
              </a:spcAft>
              <a:buClr>
                <a:srgbClr val="000000"/>
              </a:buClr>
              <a:buFont typeface="Arial"/>
              <a:buChar char="•"/>
              <a:tabLst>
                <a:tab pos="0" algn="l"/>
              </a:tabLst>
            </a:pPr>
            <a:r>
              <a:rPr lang="en-IN" sz="1800" b="1" u="none" strike="noStrike">
                <a:solidFill>
                  <a:schemeClr val="dk1"/>
                </a:solidFill>
                <a:effectLst/>
                <a:uFillTx/>
                <a:latin typeface="Times New Roman"/>
                <a:ea typeface="Times New Roman"/>
              </a:rPr>
              <a:t>PEO 1:</a:t>
            </a:r>
            <a:r>
              <a:rPr lang="en-IN" sz="1800" b="1" u="none" strike="noStrike">
                <a:solidFill>
                  <a:schemeClr val="dk1"/>
                </a:solidFill>
                <a:effectLst/>
                <a:uFillTx/>
                <a:latin typeface="Arial"/>
                <a:ea typeface="Times New Roman"/>
              </a:rPr>
              <a:t> </a:t>
            </a:r>
            <a:r>
              <a:rPr lang="en-IN" sz="1800" b="0" u="none" strike="noStrike">
                <a:solidFill>
                  <a:srgbClr val="000000"/>
                </a:solidFill>
                <a:effectLst/>
                <a:uFillTx/>
                <a:latin typeface="Times New Roman"/>
                <a:ea typeface="Times New Roman"/>
              </a:rPr>
              <a:t>Graduates will apply strong foundations in computer science and cybersecurity to design, develop, and manage secure and reliable computing systems for industry and society.</a:t>
            </a:r>
            <a:endParaRPr lang="en-US" sz="1800" b="0" u="none" strike="noStrike">
              <a:solidFill>
                <a:srgbClr val="000000"/>
              </a:solidFill>
              <a:effectLst/>
              <a:uFillTx/>
              <a:latin typeface="Arial"/>
            </a:endParaRPr>
          </a:p>
          <a:p>
            <a:pPr marL="228600" indent="-228600" defTabSz="914400">
              <a:lnSpc>
                <a:spcPct val="90000"/>
              </a:lnSpc>
              <a:spcBef>
                <a:spcPts val="1199"/>
              </a:spcBef>
              <a:spcAft>
                <a:spcPts val="1199"/>
              </a:spcAft>
              <a:buClr>
                <a:srgbClr val="000000"/>
              </a:buClr>
              <a:buFont typeface="Arial"/>
              <a:buChar char="•"/>
              <a:tabLst>
                <a:tab pos="0" algn="l"/>
              </a:tabLst>
            </a:pPr>
            <a:r>
              <a:rPr lang="en-IN" sz="1800" b="1" u="none" strike="noStrike">
                <a:solidFill>
                  <a:schemeClr val="dk1"/>
                </a:solidFill>
                <a:effectLst/>
                <a:uFillTx/>
                <a:latin typeface="Times New Roman"/>
                <a:ea typeface="Times New Roman"/>
              </a:rPr>
              <a:t>PEO 2:</a:t>
            </a:r>
            <a:r>
              <a:rPr lang="en-IN" sz="1800" b="1" u="none" strike="noStrike">
                <a:solidFill>
                  <a:schemeClr val="dk1"/>
                </a:solidFill>
                <a:effectLst/>
                <a:uFillTx/>
                <a:latin typeface="Arial"/>
                <a:ea typeface="Times New Roman"/>
              </a:rPr>
              <a:t> </a:t>
            </a:r>
            <a:r>
              <a:rPr lang="en-IN" sz="1800" b="0" u="none" strike="noStrike">
                <a:solidFill>
                  <a:schemeClr val="dk1"/>
                </a:solidFill>
                <a:effectLst/>
                <a:uFillTx/>
                <a:latin typeface="Times New Roman"/>
                <a:ea typeface="Times New Roman"/>
              </a:rPr>
              <a:t>Graduates will pursue successful careers as professionals, innovators or entrepreneurs engaged in technology development, deployment or engineering system implementation in industry and society and contribute to the economic growth of the country. </a:t>
            </a:r>
            <a:endParaRPr lang="en-US" sz="1800" b="0" u="none" strike="noStrike">
              <a:solidFill>
                <a:srgbClr val="000000"/>
              </a:solidFill>
              <a:effectLst/>
              <a:uFillTx/>
              <a:latin typeface="Arial"/>
            </a:endParaRPr>
          </a:p>
          <a:p>
            <a:pPr marL="228600" indent="-228600" defTabSz="914400">
              <a:lnSpc>
                <a:spcPct val="90000"/>
              </a:lnSpc>
              <a:spcBef>
                <a:spcPts val="1199"/>
              </a:spcBef>
              <a:spcAft>
                <a:spcPts val="1199"/>
              </a:spcAft>
              <a:buClr>
                <a:srgbClr val="000000"/>
              </a:buClr>
              <a:buFont typeface="Arial"/>
              <a:buChar char="•"/>
              <a:tabLst>
                <a:tab pos="0" algn="l"/>
              </a:tabLst>
            </a:pPr>
            <a:r>
              <a:rPr lang="en-IN" sz="1800" b="1" u="none" strike="noStrike">
                <a:solidFill>
                  <a:schemeClr val="dk1"/>
                </a:solidFill>
                <a:effectLst/>
                <a:uFillTx/>
                <a:latin typeface="Times New Roman"/>
                <a:ea typeface="Times New Roman"/>
              </a:rPr>
              <a:t>PEO 3:</a:t>
            </a:r>
            <a:r>
              <a:rPr lang="en-IN" sz="1800" b="1" u="none" strike="noStrike">
                <a:solidFill>
                  <a:schemeClr val="dk1"/>
                </a:solidFill>
                <a:effectLst/>
                <a:uFillTx/>
                <a:latin typeface="Arial"/>
                <a:ea typeface="Times New Roman"/>
              </a:rPr>
              <a:t> </a:t>
            </a:r>
            <a:r>
              <a:rPr lang="en-IN" sz="1800" b="0" u="none" strike="noStrike">
                <a:solidFill>
                  <a:srgbClr val="000000"/>
                </a:solidFill>
                <a:effectLst/>
                <a:uFillTx/>
                <a:latin typeface="Times New Roman"/>
                <a:ea typeface="Times New Roman"/>
              </a:rPr>
              <a:t>Graduates will demonstrate ethical responsibility, leadership, teamwork, and effective communication while adapting to evolving global technological environments through lifelong learning.</a:t>
            </a:r>
            <a:endParaRPr lang="en-US" sz="1800" b="0" u="none" strike="noStrike">
              <a:solidFill>
                <a:srgbClr val="000000"/>
              </a:solidFill>
              <a:effectLst/>
              <a:uFillTx/>
              <a:latin typeface="Arial"/>
            </a:endParaRPr>
          </a:p>
          <a:p>
            <a:pPr defTabSz="914400">
              <a:lnSpc>
                <a:spcPct val="90000"/>
              </a:lnSpc>
              <a:spcBef>
                <a:spcPts val="1001"/>
              </a:spcBef>
              <a:tabLst>
                <a:tab pos="0" algn="l"/>
              </a:tabLst>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3" name="Picture 5"/>
          <p:cNvPicPr/>
          <p:nvPr/>
        </p:nvPicPr>
        <p:blipFill>
          <a:blip r:embed="rId1"/>
          <a:stretch/>
        </p:blipFill>
        <p:spPr>
          <a:xfrm>
            <a:off x="891360" y="243000"/>
            <a:ext cx="10578960" cy="1747440"/>
          </a:xfrm>
          <a:prstGeom prst="rect">
            <a:avLst/>
          </a:prstGeom>
          <a:noFill/>
          <a:ln w="0">
            <a:noFill/>
          </a:ln>
        </p:spPr>
      </p:pic>
      <p:sp>
        <p:nvSpPr>
          <p:cNvPr id="84" name="Google Shape;164;p30"/>
          <p:cNvSpPr/>
          <p:nvPr/>
        </p:nvSpPr>
        <p:spPr>
          <a:xfrm>
            <a:off x="393480" y="1990800"/>
            <a:ext cx="11250360" cy="4641120"/>
          </a:xfrm>
          <a:prstGeom prst="rect">
            <a:avLst/>
          </a:prstGeom>
          <a:noFill/>
          <a:ln w="0">
            <a:noFill/>
          </a:ln>
        </p:spPr>
        <p:style>
          <a:lnRef idx="0"/>
          <a:fillRef idx="0"/>
          <a:effectRef idx="0"/>
          <a:fontRef idx="minor"/>
        </p:style>
        <p:txBody>
          <a:bodyPr lIns="0" tIns="0" rIns="0" bIns="0" anchor="t">
            <a:noAutofit/>
          </a:bodyPr>
          <a:p>
            <a:pPr algn="ctr" defTabSz="914400">
              <a:lnSpc>
                <a:spcPct val="114000"/>
              </a:lnSpc>
              <a:tabLst>
                <a:tab pos="0" algn="l"/>
              </a:tabLst>
            </a:pPr>
            <a:r>
              <a:rPr lang="en-US" sz="2800" b="1" u="sng" strike="noStrike">
                <a:solidFill>
                  <a:schemeClr val="dk1"/>
                </a:solidFill>
                <a:effectLst/>
                <a:uFillTx/>
                <a:latin typeface="Times New Roman"/>
                <a:ea typeface="Times New Roman"/>
              </a:rPr>
              <a:t>Programme Outcomes</a:t>
            </a:r>
            <a:endParaRPr lang="en-US" sz="2800" b="0" u="none" strike="noStrike">
              <a:solidFill>
                <a:srgbClr val="000000"/>
              </a:solidFill>
              <a:effectLst/>
              <a:uFillTx/>
              <a:latin typeface="Arial"/>
            </a:endParaRPr>
          </a:p>
          <a:p>
            <a:pPr defTabSz="914400">
              <a:lnSpc>
                <a:spcPct val="114000"/>
              </a:lnSpc>
              <a:tabLst>
                <a:tab pos="0" algn="l"/>
              </a:tabLst>
            </a:pPr>
            <a:r>
              <a:rPr lang="en-US" sz="1400" b="0" u="none" strike="noStrike">
                <a:solidFill>
                  <a:schemeClr val="dk1"/>
                </a:solidFill>
                <a:effectLst/>
                <a:uFillTx/>
                <a:latin typeface="Times New Roman"/>
                <a:ea typeface="Times New Roman"/>
              </a:rPr>
              <a:t>    Engineering Graduates will be able to:</a:t>
            </a:r>
            <a:endParaRPr lang="en-US" sz="1400" b="0" u="none" strike="noStrike">
              <a:solidFill>
                <a:srgbClr val="000000"/>
              </a:solidFill>
              <a:effectLst/>
              <a:uFillTx/>
              <a:latin typeface="Arial"/>
            </a:endParaRPr>
          </a:p>
          <a:p>
            <a:pPr marL="457200" algn="just" defTabSz="914400">
              <a:lnSpc>
                <a:spcPct val="114000"/>
              </a:lnSpc>
              <a:tabLst>
                <a:tab pos="0" algn="l"/>
              </a:tabLst>
            </a:pPr>
            <a:r>
              <a:rPr lang="en-US" sz="1500" b="0" u="none" strike="noStrike">
                <a:solidFill>
                  <a:schemeClr val="dk1"/>
                </a:solidFill>
                <a:effectLst/>
                <a:uFillTx/>
                <a:latin typeface="Times New Roman"/>
                <a:ea typeface="Times New Roman"/>
              </a:rPr>
              <a:t>1. </a:t>
            </a:r>
            <a:r>
              <a:rPr lang="en-US" sz="1500" b="1" u="none" strike="noStrike">
                <a:solidFill>
                  <a:schemeClr val="dk1"/>
                </a:solidFill>
                <a:effectLst/>
                <a:uFillTx/>
                <a:latin typeface="Times New Roman"/>
                <a:ea typeface="Times New Roman"/>
              </a:rPr>
              <a:t>Engineering knowledge:</a:t>
            </a:r>
            <a:r>
              <a:rPr lang="en-US" sz="1500" b="0" u="none" strike="noStrike">
                <a:solidFill>
                  <a:schemeClr val="dk1"/>
                </a:solidFill>
                <a:effectLst/>
                <a:uFillTx/>
                <a:latin typeface="Times New Roman"/>
                <a:ea typeface="Times New Roman"/>
              </a:rPr>
              <a:t> Apply the knowledge of mathematics, science, engineering fundamentals, and an engineering specialization to the solution of complex engineering problems.</a:t>
            </a:r>
            <a:endParaRPr lang="en-US" sz="1500" b="0" u="none" strike="noStrike">
              <a:solidFill>
                <a:srgbClr val="000000"/>
              </a:solidFill>
              <a:effectLst/>
              <a:uFillTx/>
              <a:latin typeface="Arial"/>
            </a:endParaRPr>
          </a:p>
          <a:p>
            <a:pPr marL="457200" algn="just" defTabSz="914400">
              <a:lnSpc>
                <a:spcPct val="114000"/>
              </a:lnSpc>
              <a:tabLst>
                <a:tab pos="0" algn="l"/>
              </a:tabLst>
            </a:pPr>
            <a:br>
              <a:rPr sz="1500"/>
            </a:br>
            <a:r>
              <a:rPr lang="en-US" sz="1500" b="0" u="none" strike="noStrike">
                <a:solidFill>
                  <a:schemeClr val="dk1"/>
                </a:solidFill>
                <a:effectLst/>
                <a:uFillTx/>
                <a:latin typeface="Times New Roman"/>
                <a:ea typeface="Times New Roman"/>
              </a:rPr>
              <a:t>2. </a:t>
            </a:r>
            <a:r>
              <a:rPr lang="en-US" sz="1500" b="1" u="none" strike="noStrike">
                <a:solidFill>
                  <a:schemeClr val="dk1"/>
                </a:solidFill>
                <a:effectLst/>
                <a:uFillTx/>
                <a:latin typeface="Times New Roman"/>
                <a:ea typeface="Times New Roman"/>
              </a:rPr>
              <a:t>Problem analysis:</a:t>
            </a:r>
            <a:r>
              <a:rPr lang="en-US" sz="1500" b="0" u="none" strike="noStrike">
                <a:solidFill>
                  <a:schemeClr val="dk1"/>
                </a:solidFill>
                <a:effectLst/>
                <a:uFillTx/>
                <a:latin typeface="Times New Roman"/>
                <a:ea typeface="Times New Roman"/>
              </a:rPr>
              <a:t> Identify, formulate, review research literature, and analyze complex engineering problems reaching substantiated conclusions using first principles of mathematics, natural sciences, and engineering sciences.</a:t>
            </a:r>
            <a:endParaRPr lang="en-US" sz="1500" b="0" u="none" strike="noStrike">
              <a:solidFill>
                <a:srgbClr val="000000"/>
              </a:solidFill>
              <a:effectLst/>
              <a:uFillTx/>
              <a:latin typeface="Arial"/>
            </a:endParaRPr>
          </a:p>
          <a:p>
            <a:pPr marL="457200" algn="just" defTabSz="914400">
              <a:lnSpc>
                <a:spcPct val="114000"/>
              </a:lnSpc>
              <a:tabLst>
                <a:tab pos="0" algn="l"/>
              </a:tabLst>
            </a:pPr>
            <a:br>
              <a:rPr sz="1500"/>
            </a:br>
            <a:r>
              <a:rPr lang="en-US" sz="1500" b="0" u="none" strike="noStrike">
                <a:solidFill>
                  <a:schemeClr val="dk1"/>
                </a:solidFill>
                <a:effectLst/>
                <a:uFillTx/>
                <a:latin typeface="Times New Roman"/>
                <a:ea typeface="Times New Roman"/>
              </a:rPr>
              <a:t>3. </a:t>
            </a:r>
            <a:r>
              <a:rPr lang="en-US" sz="1500" b="1" u="none" strike="noStrike">
                <a:solidFill>
                  <a:schemeClr val="dk1"/>
                </a:solidFill>
                <a:effectLst/>
                <a:uFillTx/>
                <a:latin typeface="Times New Roman"/>
                <a:ea typeface="Times New Roman"/>
              </a:rPr>
              <a:t>Design/development of solutions:</a:t>
            </a:r>
            <a:r>
              <a:rPr lang="en-US" sz="1500" b="0" u="none" strike="noStrike">
                <a:solidFill>
                  <a:schemeClr val="dk1"/>
                </a:solidFill>
                <a:effectLst/>
                <a:uFillTx/>
                <a:latin typeface="Times New Roman"/>
                <a:ea typeface="Times New Roman"/>
              </a:rPr>
              <a:t> Design solutions for complex engineering problems and design system components or processes that meet the specified needs with appropriate consideration for the public health and safety, and the cultural, societal, and environmental considerations.</a:t>
            </a:r>
            <a:endParaRPr lang="en-US" sz="1500" b="0" u="none" strike="noStrike">
              <a:solidFill>
                <a:srgbClr val="000000"/>
              </a:solidFill>
              <a:effectLst/>
              <a:uFillTx/>
              <a:latin typeface="Arial"/>
            </a:endParaRPr>
          </a:p>
          <a:p>
            <a:pPr marL="457200" algn="just" defTabSz="914400">
              <a:lnSpc>
                <a:spcPct val="114000"/>
              </a:lnSpc>
              <a:tabLst>
                <a:tab pos="0" algn="l"/>
              </a:tabLst>
            </a:pPr>
            <a:br>
              <a:rPr sz="1500"/>
            </a:br>
            <a:r>
              <a:rPr lang="en-US" sz="1500" b="0" u="none" strike="noStrike">
                <a:solidFill>
                  <a:schemeClr val="dk1"/>
                </a:solidFill>
                <a:effectLst/>
                <a:uFillTx/>
                <a:latin typeface="Times New Roman"/>
                <a:ea typeface="Times New Roman"/>
              </a:rPr>
              <a:t>4. </a:t>
            </a:r>
            <a:r>
              <a:rPr lang="en-US" sz="1500" b="1" u="none" strike="noStrike">
                <a:solidFill>
                  <a:schemeClr val="dk1"/>
                </a:solidFill>
                <a:effectLst/>
                <a:uFillTx/>
                <a:latin typeface="Times New Roman"/>
                <a:ea typeface="Times New Roman"/>
              </a:rPr>
              <a:t>Conduct investigations of complex problems:</a:t>
            </a:r>
            <a:r>
              <a:rPr lang="en-US" sz="1500" b="0" u="none" strike="noStrike">
                <a:solidFill>
                  <a:schemeClr val="dk1"/>
                </a:solidFill>
                <a:effectLst/>
                <a:uFillTx/>
                <a:latin typeface="Times New Roman"/>
                <a:ea typeface="Times New Roman"/>
              </a:rPr>
              <a:t> Use research-based knowledge and research methods including design of experiments, analysis and interpretation of data, and synthesis of the information to provide valid conclusions.</a:t>
            </a:r>
            <a:endParaRPr lang="en-US" sz="1500" b="0" u="none" strike="noStrike">
              <a:solidFill>
                <a:srgbClr val="000000"/>
              </a:solidFill>
              <a:effectLst/>
              <a:uFillTx/>
              <a:latin typeface="Arial"/>
            </a:endParaRPr>
          </a:p>
          <a:p>
            <a:pPr marL="457200" algn="just" defTabSz="914400">
              <a:lnSpc>
                <a:spcPct val="114000"/>
              </a:lnSpc>
              <a:tabLst>
                <a:tab pos="0" algn="l"/>
              </a:tabLst>
            </a:pPr>
            <a:r>
              <a:rPr lang="en-US" sz="1500" b="0" u="none" strike="noStrike">
                <a:solidFill>
                  <a:schemeClr val="dk1"/>
                </a:solidFill>
                <a:effectLst/>
                <a:uFillTx/>
                <a:latin typeface="Times New Roman"/>
                <a:ea typeface="Times New Roman"/>
              </a:rPr>
              <a:t>5. </a:t>
            </a:r>
            <a:r>
              <a:rPr lang="en-US" sz="1500" b="1" u="none" strike="noStrike">
                <a:solidFill>
                  <a:schemeClr val="dk1"/>
                </a:solidFill>
                <a:effectLst/>
                <a:uFillTx/>
                <a:latin typeface="Times New Roman"/>
                <a:ea typeface="Times New Roman"/>
              </a:rPr>
              <a:t>Modern tool usage:</a:t>
            </a:r>
            <a:r>
              <a:rPr lang="en-US" sz="1500" b="0" u="none" strike="noStrike">
                <a:solidFill>
                  <a:schemeClr val="dk1"/>
                </a:solidFill>
                <a:effectLst/>
                <a:uFillTx/>
                <a:latin typeface="Times New Roman"/>
                <a:ea typeface="Times New Roman"/>
              </a:rPr>
              <a:t> Create, select, and apply appropriate techniques, resources, and modern engineering and IT tools including prediction and modeling to complex engineering activities with an understanding of the limitations.</a:t>
            </a:r>
            <a:endParaRPr lang="en-US" sz="1500" b="0" u="none" strike="noStrike">
              <a:solidFill>
                <a:srgbClr val="000000"/>
              </a:solidFill>
              <a:effectLst/>
              <a:uFillTx/>
              <a:latin typeface="Arial"/>
            </a:endParaRPr>
          </a:p>
          <a:p>
            <a:pPr defTabSz="914400">
              <a:lnSpc>
                <a:spcPct val="90000"/>
              </a:lnSpc>
              <a:spcBef>
                <a:spcPts val="1001"/>
              </a:spcBef>
              <a:tabLst>
                <a:tab pos="0" algn="l"/>
              </a:tabLst>
            </a:pPr>
            <a:endParaRPr lang="en-US" sz="3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5" name="Picture 5"/>
          <p:cNvPicPr/>
          <p:nvPr/>
        </p:nvPicPr>
        <p:blipFill>
          <a:blip r:embed="rId1"/>
          <a:stretch/>
        </p:blipFill>
        <p:spPr>
          <a:xfrm>
            <a:off x="891360" y="243000"/>
            <a:ext cx="10578960" cy="1747440"/>
          </a:xfrm>
          <a:prstGeom prst="rect">
            <a:avLst/>
          </a:prstGeom>
          <a:noFill/>
          <a:ln w="0">
            <a:noFill/>
          </a:ln>
        </p:spPr>
      </p:pic>
      <p:sp>
        <p:nvSpPr>
          <p:cNvPr id="86" name="Google Shape;169;p31"/>
          <p:cNvSpPr/>
          <p:nvPr/>
        </p:nvSpPr>
        <p:spPr>
          <a:xfrm>
            <a:off x="92520" y="2268720"/>
            <a:ext cx="11909880" cy="4588920"/>
          </a:xfrm>
          <a:prstGeom prst="rect">
            <a:avLst/>
          </a:prstGeom>
          <a:noFill/>
          <a:ln w="0">
            <a:noFill/>
          </a:ln>
        </p:spPr>
        <p:style>
          <a:lnRef idx="0"/>
          <a:fillRef idx="0"/>
          <a:effectRef idx="0"/>
          <a:fontRef idx="minor"/>
        </p:style>
        <p:txBody>
          <a:bodyPr lIns="0" tIns="0" rIns="0" bIns="0" anchor="t">
            <a:noAutofit/>
          </a:bodyPr>
          <a:p>
            <a:pPr marL="274320" algn="just" defTabSz="914400">
              <a:lnSpc>
                <a:spcPct val="114000"/>
              </a:lnSpc>
              <a:tabLst>
                <a:tab pos="0" algn="l"/>
              </a:tabLst>
            </a:pPr>
            <a:br>
              <a:rPr sz="1200"/>
            </a:br>
            <a:r>
              <a:rPr lang="en-US" sz="1400" b="0" u="none" strike="noStrike">
                <a:solidFill>
                  <a:schemeClr val="dk1"/>
                </a:solidFill>
                <a:effectLst/>
                <a:uFillTx/>
                <a:latin typeface="Times New Roman"/>
                <a:ea typeface="Times New Roman"/>
              </a:rPr>
              <a:t>6. </a:t>
            </a:r>
            <a:r>
              <a:rPr lang="en-US" sz="1400" b="1" u="none" strike="noStrike">
                <a:solidFill>
                  <a:schemeClr val="dk1"/>
                </a:solidFill>
                <a:effectLst/>
                <a:uFillTx/>
                <a:latin typeface="Times New Roman"/>
                <a:ea typeface="Times New Roman"/>
              </a:rPr>
              <a:t>The engineer and society:</a:t>
            </a:r>
            <a:r>
              <a:rPr lang="en-US" sz="1400" b="0" u="none" strike="noStrike">
                <a:solidFill>
                  <a:schemeClr val="dk1"/>
                </a:solidFill>
                <a:effectLst/>
                <a:uFillTx/>
                <a:latin typeface="Times New Roman"/>
                <a:ea typeface="Times New Roman"/>
              </a:rPr>
              <a:t> Apply reasoning informed by the contextual knowledge to assess societal, health, safety, legal and cultural issues and the consequent responsibilities relevant to the professional engineering practice.</a:t>
            </a:r>
            <a:endParaRPr lang="en-US" sz="1400" b="0" u="none" strike="noStrike">
              <a:solidFill>
                <a:srgbClr val="000000"/>
              </a:solidFill>
              <a:effectLst/>
              <a:uFillTx/>
              <a:latin typeface="Arial"/>
            </a:endParaRPr>
          </a:p>
          <a:p>
            <a:pPr marL="274320" algn="just" defTabSz="914400">
              <a:lnSpc>
                <a:spcPct val="114000"/>
              </a:lnSpc>
              <a:tabLst>
                <a:tab pos="0" algn="l"/>
              </a:tabLst>
            </a:pPr>
            <a:br>
              <a:rPr sz="1400"/>
            </a:br>
            <a:r>
              <a:rPr lang="en-US" sz="1400" b="0" u="none" strike="noStrike">
                <a:solidFill>
                  <a:schemeClr val="dk1"/>
                </a:solidFill>
                <a:effectLst/>
                <a:uFillTx/>
                <a:latin typeface="Times New Roman"/>
                <a:ea typeface="Times New Roman"/>
              </a:rPr>
              <a:t>7. </a:t>
            </a:r>
            <a:r>
              <a:rPr lang="en-US" sz="1400" b="1" u="none" strike="noStrike">
                <a:solidFill>
                  <a:schemeClr val="dk1"/>
                </a:solidFill>
                <a:effectLst/>
                <a:uFillTx/>
                <a:latin typeface="Times New Roman"/>
                <a:ea typeface="Times New Roman"/>
              </a:rPr>
              <a:t>Environment and sustainability:</a:t>
            </a:r>
            <a:r>
              <a:rPr lang="en-US" sz="1400" b="0" u="none" strike="noStrike">
                <a:solidFill>
                  <a:schemeClr val="dk1"/>
                </a:solidFill>
                <a:effectLst/>
                <a:uFillTx/>
                <a:latin typeface="Times New Roman"/>
                <a:ea typeface="Times New Roman"/>
              </a:rPr>
              <a:t> Understand the impact of the professional engineering solutions in societal and environmental contexts, and demonstrate the knowledge of, and need for sustainable development.</a:t>
            </a:r>
            <a:endParaRPr lang="en-US" sz="1400" b="0" u="none" strike="noStrike">
              <a:solidFill>
                <a:srgbClr val="000000"/>
              </a:solidFill>
              <a:effectLst/>
              <a:uFillTx/>
              <a:latin typeface="Arial"/>
            </a:endParaRPr>
          </a:p>
          <a:p>
            <a:pPr marL="274320" algn="just" defTabSz="914400">
              <a:lnSpc>
                <a:spcPct val="114000"/>
              </a:lnSpc>
              <a:tabLst>
                <a:tab pos="0" algn="l"/>
              </a:tabLst>
            </a:pPr>
            <a:br>
              <a:rPr sz="1400"/>
            </a:br>
            <a:r>
              <a:rPr lang="en-US" sz="1400" b="0" u="none" strike="noStrike">
                <a:solidFill>
                  <a:schemeClr val="dk1"/>
                </a:solidFill>
                <a:effectLst/>
                <a:uFillTx/>
                <a:latin typeface="Times New Roman"/>
                <a:ea typeface="Times New Roman"/>
              </a:rPr>
              <a:t>8. </a:t>
            </a:r>
            <a:r>
              <a:rPr lang="en-US" sz="1400" b="1" u="none" strike="noStrike">
                <a:solidFill>
                  <a:schemeClr val="dk1"/>
                </a:solidFill>
                <a:effectLst/>
                <a:uFillTx/>
                <a:latin typeface="Times New Roman"/>
                <a:ea typeface="Times New Roman"/>
              </a:rPr>
              <a:t>Ethics:</a:t>
            </a:r>
            <a:r>
              <a:rPr lang="en-US" sz="1400" b="0" u="none" strike="noStrike">
                <a:solidFill>
                  <a:schemeClr val="dk1"/>
                </a:solidFill>
                <a:effectLst/>
                <a:uFillTx/>
                <a:latin typeface="Times New Roman"/>
                <a:ea typeface="Times New Roman"/>
              </a:rPr>
              <a:t> Apply ethical principles and commit to professional ethics and responsibilities and norms of the engineering practice.</a:t>
            </a:r>
            <a:endParaRPr lang="en-US" sz="1400" b="0" u="none" strike="noStrike">
              <a:solidFill>
                <a:srgbClr val="000000"/>
              </a:solidFill>
              <a:effectLst/>
              <a:uFillTx/>
              <a:latin typeface="Arial"/>
            </a:endParaRPr>
          </a:p>
          <a:p>
            <a:pPr marL="274320" algn="just" defTabSz="914400">
              <a:lnSpc>
                <a:spcPct val="114000"/>
              </a:lnSpc>
              <a:tabLst>
                <a:tab pos="0" algn="l"/>
              </a:tabLst>
            </a:pPr>
            <a:br>
              <a:rPr sz="1400"/>
            </a:br>
            <a:r>
              <a:rPr lang="en-US" sz="1400" b="0" u="none" strike="noStrike">
                <a:solidFill>
                  <a:schemeClr val="dk1"/>
                </a:solidFill>
                <a:effectLst/>
                <a:uFillTx/>
                <a:latin typeface="Times New Roman"/>
                <a:ea typeface="Times New Roman"/>
              </a:rPr>
              <a:t>9. </a:t>
            </a:r>
            <a:r>
              <a:rPr lang="en-US" sz="1400" b="1" u="none" strike="noStrike">
                <a:solidFill>
                  <a:schemeClr val="dk1"/>
                </a:solidFill>
                <a:effectLst/>
                <a:uFillTx/>
                <a:latin typeface="Times New Roman"/>
                <a:ea typeface="Times New Roman"/>
              </a:rPr>
              <a:t>Individual and team work:</a:t>
            </a:r>
            <a:r>
              <a:rPr lang="en-US" sz="1400" b="0" u="none" strike="noStrike">
                <a:solidFill>
                  <a:schemeClr val="dk1"/>
                </a:solidFill>
                <a:effectLst/>
                <a:uFillTx/>
                <a:latin typeface="Times New Roman"/>
                <a:ea typeface="Times New Roman"/>
              </a:rPr>
              <a:t> Function effectively as an individual, and as a member or leader in diverse teams, and in multidisciplinary settings.</a:t>
            </a:r>
            <a:endParaRPr lang="en-US" sz="1400" b="0" u="none" strike="noStrike">
              <a:solidFill>
                <a:srgbClr val="000000"/>
              </a:solidFill>
              <a:effectLst/>
              <a:uFillTx/>
              <a:latin typeface="Arial"/>
            </a:endParaRPr>
          </a:p>
          <a:p>
            <a:pPr marL="274320" algn="just" defTabSz="914400">
              <a:lnSpc>
                <a:spcPct val="114000"/>
              </a:lnSpc>
              <a:tabLst>
                <a:tab pos="0" algn="l"/>
              </a:tabLst>
            </a:pPr>
            <a:br>
              <a:rPr sz="1400"/>
            </a:br>
            <a:r>
              <a:rPr lang="en-US" sz="1400" b="0" u="none" strike="noStrike">
                <a:solidFill>
                  <a:schemeClr val="dk1"/>
                </a:solidFill>
                <a:effectLst/>
                <a:uFillTx/>
                <a:latin typeface="Times New Roman"/>
                <a:ea typeface="Times New Roman"/>
              </a:rPr>
              <a:t>10. </a:t>
            </a:r>
            <a:r>
              <a:rPr lang="en-US" sz="1400" b="1" u="none" strike="noStrike">
                <a:solidFill>
                  <a:schemeClr val="dk1"/>
                </a:solidFill>
                <a:effectLst/>
                <a:uFillTx/>
                <a:latin typeface="Times New Roman"/>
                <a:ea typeface="Times New Roman"/>
              </a:rPr>
              <a:t>Communication:</a:t>
            </a:r>
            <a:r>
              <a:rPr lang="en-US" sz="1400" b="0" u="none" strike="noStrike">
                <a:solidFill>
                  <a:schemeClr val="dk1"/>
                </a:solidFill>
                <a:effectLst/>
                <a:uFillTx/>
                <a:latin typeface="Times New Roman"/>
                <a:ea typeface="Times New Roman"/>
              </a:rPr>
              <a:t> Communicate effectively on complex engineering activities with the engineering community and with society at large, such as, being able to comprehend and write effective reports and design documentation, make effective presentations, and give and receive clear instructions.</a:t>
            </a:r>
            <a:endParaRPr lang="en-US" sz="1400" b="0" u="none" strike="noStrike">
              <a:solidFill>
                <a:srgbClr val="000000"/>
              </a:solidFill>
              <a:effectLst/>
              <a:uFillTx/>
              <a:latin typeface="Arial"/>
            </a:endParaRPr>
          </a:p>
          <a:p>
            <a:pPr marL="274320" algn="just" defTabSz="914400">
              <a:lnSpc>
                <a:spcPct val="114000"/>
              </a:lnSpc>
              <a:tabLst>
                <a:tab pos="0" algn="l"/>
              </a:tabLst>
            </a:pPr>
            <a:br>
              <a:rPr sz="1400"/>
            </a:br>
            <a:r>
              <a:rPr lang="en-US" sz="1400" b="0" u="none" strike="noStrike">
                <a:solidFill>
                  <a:schemeClr val="dk1"/>
                </a:solidFill>
                <a:effectLst/>
                <a:uFillTx/>
                <a:latin typeface="Times New Roman"/>
                <a:ea typeface="Times New Roman"/>
              </a:rPr>
              <a:t>11. </a:t>
            </a:r>
            <a:r>
              <a:rPr lang="en-US" sz="1400" b="1" u="none" strike="noStrike">
                <a:solidFill>
                  <a:schemeClr val="dk1"/>
                </a:solidFill>
                <a:effectLst/>
                <a:uFillTx/>
                <a:latin typeface="Times New Roman"/>
                <a:ea typeface="Times New Roman"/>
              </a:rPr>
              <a:t>Project management and finance:</a:t>
            </a:r>
            <a:r>
              <a:rPr lang="en-US" sz="1400" b="0" u="none" strike="noStrike">
                <a:solidFill>
                  <a:schemeClr val="dk1"/>
                </a:solidFill>
                <a:effectLst/>
                <a:uFillTx/>
                <a:latin typeface="Times New Roman"/>
                <a:ea typeface="Times New Roman"/>
              </a:rPr>
              <a:t> Demonstrate knowledge and understanding of the engineering and management principles and apply these to one’s own work, as a member and leader in a team, to manage projects and in multidisciplinary environments.</a:t>
            </a:r>
            <a:br>
              <a:rPr sz="1400"/>
            </a:br>
            <a:r>
              <a:rPr lang="en-US" sz="1400" b="0" u="none" strike="noStrike">
                <a:solidFill>
                  <a:schemeClr val="dk1"/>
                </a:solidFill>
                <a:effectLst/>
                <a:uFillTx/>
                <a:latin typeface="Times New Roman"/>
                <a:ea typeface="Times New Roman"/>
              </a:rPr>
              <a:t>12. </a:t>
            </a:r>
            <a:r>
              <a:rPr lang="en-US" sz="1400" b="1" u="none" strike="noStrike">
                <a:solidFill>
                  <a:schemeClr val="dk1"/>
                </a:solidFill>
                <a:effectLst/>
                <a:uFillTx/>
                <a:latin typeface="Times New Roman"/>
                <a:ea typeface="Times New Roman"/>
              </a:rPr>
              <a:t>Life-long learning:</a:t>
            </a:r>
            <a:r>
              <a:rPr lang="en-US" sz="1400" b="0" u="none" strike="noStrike">
                <a:solidFill>
                  <a:schemeClr val="dk1"/>
                </a:solidFill>
                <a:effectLst/>
                <a:uFillTx/>
                <a:latin typeface="Times New Roman"/>
                <a:ea typeface="Times New Roman"/>
              </a:rPr>
              <a:t> Recognize the need for, and have the preparation and ability to engage in independent and life-long learning in the broadest context of technological change</a:t>
            </a:r>
            <a:r>
              <a:rPr lang="en-US" sz="1300" b="0" u="none" strike="noStrike">
                <a:solidFill>
                  <a:schemeClr val="dk1"/>
                </a:solidFill>
                <a:effectLst/>
                <a:uFillTx/>
                <a:latin typeface="Times New Roman"/>
                <a:ea typeface="Times New Roman"/>
              </a:rPr>
              <a:t>.</a:t>
            </a:r>
            <a:endParaRPr lang="en-US" sz="1300" b="0" u="none" strike="noStrike">
              <a:solidFill>
                <a:srgbClr val="000000"/>
              </a:solidFill>
              <a:effectLst/>
              <a:uFillTx/>
              <a:latin typeface="Arial"/>
            </a:endParaRPr>
          </a:p>
          <a:p>
            <a:pPr marL="274320" algn="just" defTabSz="914400">
              <a:lnSpc>
                <a:spcPct val="114000"/>
              </a:lnSpc>
              <a:tabLst>
                <a:tab pos="0" algn="l"/>
              </a:tabLst>
            </a:pPr>
            <a:endParaRPr lang="en-US" sz="1300" b="0" u="none" strike="noStrike">
              <a:solidFill>
                <a:srgbClr val="000000"/>
              </a:solidFill>
              <a:effectLst/>
              <a:uFillTx/>
              <a:latin typeface="Arial"/>
            </a:endParaRPr>
          </a:p>
          <a:p>
            <a:pPr marL="274320" defTabSz="914400">
              <a:lnSpc>
                <a:spcPct val="90000"/>
              </a:lnSpc>
              <a:spcBef>
                <a:spcPts val="1001"/>
              </a:spcBef>
              <a:tabLst>
                <a:tab pos="0" algn="l"/>
              </a:tabLst>
            </a:pPr>
            <a:endParaRPr lang="en-US"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7" name="Picture 5"/>
          <p:cNvPicPr/>
          <p:nvPr/>
        </p:nvPicPr>
        <p:blipFill>
          <a:blip r:embed="rId1"/>
          <a:stretch/>
        </p:blipFill>
        <p:spPr>
          <a:xfrm>
            <a:off x="891360" y="243000"/>
            <a:ext cx="10578960" cy="1747440"/>
          </a:xfrm>
          <a:prstGeom prst="rect">
            <a:avLst/>
          </a:prstGeom>
          <a:noFill/>
          <a:ln w="0">
            <a:noFill/>
          </a:ln>
        </p:spPr>
      </p:pic>
      <p:sp>
        <p:nvSpPr>
          <p:cNvPr id="88" name="Google Shape;174;p32"/>
          <p:cNvSpPr/>
          <p:nvPr/>
        </p:nvSpPr>
        <p:spPr>
          <a:xfrm>
            <a:off x="603360" y="2291760"/>
            <a:ext cx="11156400" cy="4047840"/>
          </a:xfrm>
          <a:prstGeom prst="rect">
            <a:avLst/>
          </a:prstGeom>
          <a:noFill/>
          <a:ln w="0">
            <a:noFill/>
          </a:ln>
        </p:spPr>
        <p:style>
          <a:lnRef idx="0"/>
          <a:fillRef idx="0"/>
          <a:effectRef idx="0"/>
          <a:fontRef idx="minor"/>
        </p:style>
        <p:txBody>
          <a:bodyPr lIns="0" tIns="0" rIns="0" bIns="0" anchor="t">
            <a:noAutofit/>
          </a:bodyPr>
          <a:p>
            <a:pPr algn="ctr" defTabSz="914400">
              <a:lnSpc>
                <a:spcPct val="114000"/>
              </a:lnSpc>
              <a:tabLst>
                <a:tab pos="0" algn="l"/>
              </a:tabLst>
            </a:pPr>
            <a:r>
              <a:rPr lang="en-US" sz="2800" b="1" u="sng" strike="noStrike">
                <a:solidFill>
                  <a:schemeClr val="dk1"/>
                </a:solidFill>
                <a:effectLst/>
                <a:uFillTx/>
                <a:latin typeface="Times New Roman"/>
                <a:ea typeface="Times New Roman"/>
              </a:rPr>
              <a:t>Programme Specific Outcomes (PSOs)</a:t>
            </a:r>
            <a:endParaRPr lang="en-US" sz="2800" b="0" u="none" strike="noStrike">
              <a:solidFill>
                <a:srgbClr val="000000"/>
              </a:solidFill>
              <a:effectLst/>
              <a:uFillTx/>
              <a:latin typeface="Arial"/>
            </a:endParaRPr>
          </a:p>
          <a:p>
            <a:pPr algn="ctr" defTabSz="914400">
              <a:lnSpc>
                <a:spcPct val="114000"/>
              </a:lnSpc>
              <a:tabLst>
                <a:tab pos="0" algn="l"/>
              </a:tabLst>
            </a:pPr>
            <a:endParaRPr lang="en-US" sz="1800" b="0" u="none" strike="noStrike">
              <a:solidFill>
                <a:srgbClr val="000000"/>
              </a:solidFill>
              <a:effectLst/>
              <a:uFillTx/>
              <a:latin typeface="Arial"/>
            </a:endParaRPr>
          </a:p>
          <a:p>
            <a:pPr algn="just" defTabSz="914400">
              <a:lnSpc>
                <a:spcPct val="114000"/>
              </a:lnSpc>
              <a:tabLst>
                <a:tab pos="0" algn="l"/>
              </a:tabLst>
            </a:pPr>
            <a:r>
              <a:rPr lang="en-US" sz="1800" b="0" u="none" strike="noStrike">
                <a:solidFill>
                  <a:schemeClr val="dk1"/>
                </a:solidFill>
                <a:effectLst/>
                <a:uFillTx/>
                <a:latin typeface="Times New Roman"/>
                <a:ea typeface="Times New Roman"/>
              </a:rPr>
              <a:t> On the completion of Computer Science &amp; Engineering program, the students will possess:</a:t>
            </a:r>
            <a:endParaRPr lang="en-US" sz="1800" b="0" u="none" strike="noStrike">
              <a:solidFill>
                <a:srgbClr val="000000"/>
              </a:solidFill>
              <a:effectLst/>
              <a:uFillTx/>
              <a:latin typeface="Arial"/>
            </a:endParaRPr>
          </a:p>
          <a:p>
            <a:pPr marL="228600" indent="-228600" algn="just" defTabSz="914400">
              <a:lnSpc>
                <a:spcPct val="150000"/>
              </a:lnSpc>
              <a:spcBef>
                <a:spcPts val="1199"/>
              </a:spcBef>
              <a:spcAft>
                <a:spcPts val="1199"/>
              </a:spcAft>
              <a:buClr>
                <a:srgbClr val="000000"/>
              </a:buClr>
              <a:buFont typeface="Arial"/>
              <a:buChar char="•"/>
              <a:tabLst>
                <a:tab pos="0" algn="l"/>
              </a:tabLst>
            </a:pPr>
            <a:r>
              <a:rPr lang="en-IN" sz="1800" b="0" u="none" strike="noStrike">
                <a:solidFill>
                  <a:schemeClr val="dk1"/>
                </a:solidFill>
                <a:effectLst/>
                <a:uFillTx/>
                <a:latin typeface="Times New Roman"/>
                <a:ea typeface="Times New Roman"/>
              </a:rPr>
              <a:t> </a:t>
            </a:r>
            <a:r>
              <a:rPr lang="en-IN" sz="1800" b="1" u="none" strike="noStrike">
                <a:solidFill>
                  <a:schemeClr val="dk1"/>
                </a:solidFill>
                <a:effectLst/>
                <a:uFillTx/>
                <a:latin typeface="Times New Roman"/>
                <a:ea typeface="Times New Roman"/>
              </a:rPr>
              <a:t>PSO 1</a:t>
            </a:r>
            <a:r>
              <a:rPr lang="en-IN" sz="1800" b="0" u="none" strike="noStrike">
                <a:solidFill>
                  <a:schemeClr val="dk1"/>
                </a:solidFill>
                <a:effectLst/>
                <a:uFillTx/>
                <a:latin typeface="Times New Roman"/>
                <a:ea typeface="Times New Roman"/>
              </a:rPr>
              <a:t>: Apply cyber security principles to mitigate cyber risk and analyze security requirements of an organization.</a:t>
            </a:r>
            <a:endParaRPr lang="en-US" sz="1800" b="0" u="none" strike="noStrike">
              <a:solidFill>
                <a:srgbClr val="000000"/>
              </a:solidFill>
              <a:effectLst/>
              <a:uFillTx/>
              <a:latin typeface="Arial"/>
            </a:endParaRPr>
          </a:p>
          <a:p>
            <a:pPr marL="228600" indent="-228600" algn="just" defTabSz="914400">
              <a:lnSpc>
                <a:spcPct val="150000"/>
              </a:lnSpc>
              <a:spcBef>
                <a:spcPts val="1199"/>
              </a:spcBef>
              <a:spcAft>
                <a:spcPts val="1199"/>
              </a:spcAft>
              <a:buClr>
                <a:srgbClr val="000000"/>
              </a:buClr>
              <a:buFont typeface="Arial"/>
              <a:buChar char="•"/>
              <a:tabLst>
                <a:tab pos="0" algn="l"/>
              </a:tabLst>
            </a:pPr>
            <a:r>
              <a:rPr lang="en-IN" sz="1800" b="1" u="none" strike="noStrike">
                <a:solidFill>
                  <a:schemeClr val="dk1"/>
                </a:solidFill>
                <a:effectLst/>
                <a:uFillTx/>
                <a:latin typeface="Times New Roman"/>
                <a:ea typeface="Times New Roman"/>
              </a:rPr>
              <a:t>PSO 2</a:t>
            </a:r>
            <a:r>
              <a:rPr lang="en-IN" sz="1800" b="0" u="none" strike="noStrike">
                <a:solidFill>
                  <a:schemeClr val="dk1"/>
                </a:solidFill>
                <a:effectLst/>
                <a:uFillTx/>
                <a:latin typeface="Times New Roman"/>
                <a:ea typeface="Times New Roman"/>
              </a:rPr>
              <a:t>: Develop and deploy secure software and infrastructure using modern tools and industry standards. </a:t>
            </a:r>
            <a:endParaRPr lang="en-US" sz="1800" b="0" u="none" strike="noStrike">
              <a:solidFill>
                <a:srgbClr val="000000"/>
              </a:solidFill>
              <a:effectLst/>
              <a:uFillTx/>
              <a:latin typeface="Arial"/>
            </a:endParaRPr>
          </a:p>
          <a:p>
            <a:pPr marL="228600" indent="-228600" algn="just" defTabSz="914400">
              <a:lnSpc>
                <a:spcPct val="150000"/>
              </a:lnSpc>
              <a:spcBef>
                <a:spcPts val="1199"/>
              </a:spcBef>
              <a:spcAft>
                <a:spcPts val="1199"/>
              </a:spcAft>
              <a:buClr>
                <a:srgbClr val="000000"/>
              </a:buClr>
              <a:buFont typeface="Arial"/>
              <a:buChar char="•"/>
              <a:tabLst>
                <a:tab pos="0" algn="l"/>
              </a:tabLst>
            </a:pPr>
            <a:r>
              <a:rPr lang="en-IN" sz="1800" b="1" u="none" strike="noStrike">
                <a:solidFill>
                  <a:schemeClr val="dk1"/>
                </a:solidFill>
                <a:effectLst/>
                <a:uFillTx/>
                <a:latin typeface="Times New Roman"/>
                <a:ea typeface="Times New Roman"/>
              </a:rPr>
              <a:t>PSO 3</a:t>
            </a:r>
            <a:r>
              <a:rPr lang="en-IN" sz="1800" b="0" u="none" strike="noStrike">
                <a:solidFill>
                  <a:schemeClr val="dk1"/>
                </a:solidFill>
                <a:effectLst/>
                <a:uFillTx/>
                <a:latin typeface="Times New Roman"/>
                <a:ea typeface="Times New Roman"/>
              </a:rPr>
              <a:t>: Uphold ethical, legal, and societal responsibilities while protecting privacy, data, and digital assets.</a:t>
            </a:r>
            <a:endParaRPr lang="en-US" sz="1800" b="0" u="none" strike="noStrike">
              <a:solidFill>
                <a:srgbClr val="000000"/>
              </a:solidFill>
              <a:effectLst/>
              <a:uFillTx/>
              <a:latin typeface="Arial"/>
            </a:endParaRPr>
          </a:p>
          <a:p>
            <a:pPr algn="just" defTabSz="914400">
              <a:lnSpc>
                <a:spcPct val="114000"/>
              </a:lnSpc>
              <a:tabLst>
                <a:tab pos="0" algn="l"/>
              </a:tabLst>
            </a:pPr>
            <a:endParaRPr lang="en-US" sz="1600" b="0" u="none" strike="noStrike">
              <a:solidFill>
                <a:srgbClr val="000000"/>
              </a:solidFill>
              <a:effectLst/>
              <a:uFillTx/>
              <a:latin typeface="Arial"/>
            </a:endParaRPr>
          </a:p>
          <a:p>
            <a:pPr defTabSz="914400">
              <a:lnSpc>
                <a:spcPct val="90000"/>
              </a:lnSpc>
              <a:spcBef>
                <a:spcPts val="1001"/>
              </a:spcBef>
              <a:tabLst>
                <a:tab pos="0" algn="l"/>
              </a:tabLst>
            </a:pP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9" name="Picture 5"/>
          <p:cNvPicPr/>
          <p:nvPr/>
        </p:nvPicPr>
        <p:blipFill>
          <a:blip r:embed="rId1"/>
          <a:stretch/>
        </p:blipFill>
        <p:spPr>
          <a:xfrm>
            <a:off x="891360" y="243000"/>
            <a:ext cx="10578960" cy="1747440"/>
          </a:xfrm>
          <a:prstGeom prst="rect">
            <a:avLst/>
          </a:prstGeom>
          <a:noFill/>
          <a:ln w="0">
            <a:noFill/>
          </a:ln>
        </p:spPr>
      </p:pic>
      <p:sp>
        <p:nvSpPr>
          <p:cNvPr id="90" name="Content Placeholder 2"/>
          <p:cNvSpPr/>
          <p:nvPr/>
        </p:nvSpPr>
        <p:spPr>
          <a:xfrm>
            <a:off x="1319400" y="1990800"/>
            <a:ext cx="9560160" cy="4768560"/>
          </a:xfrm>
          <a:prstGeom prst="rect">
            <a:avLst/>
          </a:prstGeom>
          <a:noFill/>
          <a:ln w="0">
            <a:noFill/>
          </a:ln>
        </p:spPr>
        <p:style>
          <a:lnRef idx="0"/>
          <a:fillRef idx="0"/>
          <a:effectRef idx="0"/>
          <a:fontRef idx="minor"/>
        </p:style>
        <p:txBody>
          <a:bodyPr anchor="t">
            <a:normAutofit/>
          </a:bodyPr>
          <a:p>
            <a:pPr algn="ctr" defTabSz="914400">
              <a:lnSpc>
                <a:spcPct val="100000"/>
              </a:lnSpc>
              <a:tabLst>
                <a:tab pos="0" algn="l"/>
              </a:tabLst>
            </a:pPr>
            <a:r>
              <a:rPr lang="en-US" sz="4000" b="1" u="sng" strike="noStrike">
                <a:solidFill>
                  <a:schemeClr val="dk1"/>
                </a:solidFill>
                <a:effectLst/>
                <a:uFillTx/>
                <a:latin typeface="Times New Roman"/>
              </a:rPr>
              <a:t>CONTENTS</a:t>
            </a:r>
            <a:endParaRPr lang="en-US" sz="4000" b="0" u="none" strike="noStrike">
              <a:solidFill>
                <a:srgbClr val="000000"/>
              </a:solidFill>
              <a:effectLst/>
              <a:uFillTx/>
              <a:latin typeface="Arial"/>
            </a:endParaRPr>
          </a:p>
          <a:p>
            <a:pPr defTabSz="914400">
              <a:lnSpc>
                <a:spcPct val="100000"/>
              </a:lnSpc>
              <a:tabLst>
                <a:tab pos="0" algn="l"/>
              </a:tabLst>
            </a:pPr>
            <a:endParaRPr lang="en-US" sz="2000" b="0" u="none" strike="noStrike">
              <a:solidFill>
                <a:srgbClr val="000000"/>
              </a:solidFill>
              <a:effectLst/>
              <a:uFillTx/>
              <a:latin typeface="Arial"/>
            </a:endParaRPr>
          </a:p>
          <a:p>
            <a:pPr marL="228600" indent="-228600" defTabSz="914400">
              <a:lnSpc>
                <a:spcPct val="100000"/>
              </a:lnSpc>
              <a:buClr>
                <a:srgbClr val="002060"/>
              </a:buClr>
              <a:buFont typeface="Arial"/>
              <a:buChar char="•"/>
              <a:tabLst>
                <a:tab pos="0" algn="l"/>
              </a:tabLst>
            </a:pPr>
            <a:r>
              <a:rPr lang="en-US" sz="2400" b="1" u="none" strike="noStrike">
                <a:solidFill>
                  <a:srgbClr val="002060"/>
                </a:solidFill>
                <a:effectLst/>
                <a:uFillTx/>
                <a:latin typeface="Times New Roman"/>
              </a:rPr>
              <a:t>Motivation</a:t>
            </a:r>
            <a:endParaRPr lang="en-US" sz="2400" b="0" u="none" strike="noStrike">
              <a:solidFill>
                <a:srgbClr val="000000"/>
              </a:solidFill>
              <a:effectLst/>
              <a:uFillTx/>
              <a:latin typeface="Arial"/>
            </a:endParaRPr>
          </a:p>
          <a:p>
            <a:pPr marL="228600" indent="-228600" defTabSz="914400">
              <a:lnSpc>
                <a:spcPct val="100000"/>
              </a:lnSpc>
              <a:buClr>
                <a:srgbClr val="002060"/>
              </a:buClr>
              <a:buFont typeface="Arial"/>
              <a:buChar char="•"/>
              <a:tabLst>
                <a:tab pos="0" algn="l"/>
              </a:tabLst>
            </a:pPr>
            <a:r>
              <a:rPr lang="en-US" sz="2400" b="1" u="none" strike="noStrike">
                <a:solidFill>
                  <a:srgbClr val="002060"/>
                </a:solidFill>
                <a:effectLst/>
                <a:uFillTx/>
                <a:latin typeface="Times New Roman"/>
              </a:rPr>
              <a:t>Introduction</a:t>
            </a:r>
            <a:endParaRPr lang="en-US" sz="2400" b="0" u="none" strike="noStrike">
              <a:solidFill>
                <a:srgbClr val="000000"/>
              </a:solidFill>
              <a:effectLst/>
              <a:uFillTx/>
              <a:latin typeface="Arial"/>
            </a:endParaRPr>
          </a:p>
          <a:p>
            <a:pPr marL="228600" indent="-228600" defTabSz="914400">
              <a:lnSpc>
                <a:spcPct val="100000"/>
              </a:lnSpc>
              <a:buClr>
                <a:srgbClr val="002060"/>
              </a:buClr>
              <a:buFont typeface="Arial"/>
              <a:buChar char="•"/>
              <a:tabLst>
                <a:tab pos="0" algn="l"/>
              </a:tabLst>
            </a:pPr>
            <a:r>
              <a:rPr lang="en-US" sz="2400" b="1" u="none" strike="noStrike">
                <a:solidFill>
                  <a:srgbClr val="002060"/>
                </a:solidFill>
                <a:effectLst/>
                <a:uFillTx/>
                <a:latin typeface="Times New Roman"/>
              </a:rPr>
              <a:t>Problem Statement</a:t>
            </a:r>
            <a:endParaRPr lang="en-US" sz="2400" b="0" u="none" strike="noStrike">
              <a:solidFill>
                <a:srgbClr val="000000"/>
              </a:solidFill>
              <a:effectLst/>
              <a:uFillTx/>
              <a:latin typeface="Arial"/>
            </a:endParaRPr>
          </a:p>
          <a:p>
            <a:pPr marL="228600" indent="-228600" defTabSz="914400">
              <a:lnSpc>
                <a:spcPct val="100000"/>
              </a:lnSpc>
              <a:buClr>
                <a:srgbClr val="002060"/>
              </a:buClr>
              <a:buFont typeface="Arial"/>
              <a:buChar char="•"/>
              <a:tabLst>
                <a:tab pos="0" algn="l"/>
              </a:tabLst>
            </a:pPr>
            <a:r>
              <a:rPr lang="en-US" sz="2400" b="1" u="none" strike="noStrike">
                <a:solidFill>
                  <a:srgbClr val="002060"/>
                </a:solidFill>
                <a:effectLst/>
                <a:uFillTx/>
                <a:latin typeface="Times New Roman"/>
              </a:rPr>
              <a:t>Proposed Method </a:t>
            </a:r>
            <a:endParaRPr lang="en-US" sz="2400" b="0" u="none" strike="noStrike">
              <a:solidFill>
                <a:srgbClr val="000000"/>
              </a:solidFill>
              <a:effectLst/>
              <a:uFillTx/>
              <a:latin typeface="Arial"/>
            </a:endParaRPr>
          </a:p>
          <a:p>
            <a:pPr marL="228600" indent="-228600" defTabSz="914400">
              <a:lnSpc>
                <a:spcPct val="100000"/>
              </a:lnSpc>
              <a:buClr>
                <a:srgbClr val="002060"/>
              </a:buClr>
              <a:buFont typeface="Arial"/>
              <a:buChar char="•"/>
              <a:tabLst>
                <a:tab pos="0" algn="l"/>
              </a:tabLst>
            </a:pPr>
            <a:r>
              <a:rPr lang="en-US" sz="2400" b="1" u="none" strike="noStrike">
                <a:solidFill>
                  <a:srgbClr val="002060"/>
                </a:solidFill>
                <a:effectLst/>
                <a:uFillTx/>
                <a:latin typeface="Times New Roman"/>
              </a:rPr>
              <a:t>Basic Block Diagram</a:t>
            </a:r>
            <a:endParaRPr lang="en-US" sz="2400" b="0" u="none" strike="noStrike">
              <a:solidFill>
                <a:srgbClr val="000000"/>
              </a:solidFill>
              <a:effectLst/>
              <a:uFillTx/>
              <a:latin typeface="Arial"/>
            </a:endParaRPr>
          </a:p>
          <a:p>
            <a:pPr marL="228600" indent="-228600" defTabSz="914400">
              <a:lnSpc>
                <a:spcPct val="100000"/>
              </a:lnSpc>
              <a:buClr>
                <a:srgbClr val="002060"/>
              </a:buClr>
              <a:buFont typeface="Arial"/>
              <a:buChar char="•"/>
              <a:tabLst>
                <a:tab pos="0" algn="l"/>
              </a:tabLst>
            </a:pPr>
            <a:r>
              <a:rPr lang="en-US" sz="2400" b="1" u="none" strike="noStrike">
                <a:solidFill>
                  <a:srgbClr val="002060"/>
                </a:solidFill>
                <a:effectLst/>
                <a:uFillTx/>
                <a:latin typeface="Times New Roman"/>
              </a:rPr>
              <a:t>Conclusion </a:t>
            </a:r>
            <a:endParaRPr lang="en-US" sz="2400" b="0" u="none" strike="noStrike">
              <a:solidFill>
                <a:srgbClr val="000000"/>
              </a:solidFill>
              <a:effectLst/>
              <a:uFillTx/>
              <a:latin typeface="Arial"/>
            </a:endParaRPr>
          </a:p>
          <a:p>
            <a:pPr marL="228600" indent="-228600" defTabSz="914400">
              <a:lnSpc>
                <a:spcPct val="100000"/>
              </a:lnSpc>
              <a:buClr>
                <a:srgbClr val="002060"/>
              </a:buClr>
              <a:buFont typeface="Arial"/>
              <a:buChar char="•"/>
              <a:tabLst>
                <a:tab pos="0" algn="l"/>
              </a:tabLst>
            </a:pPr>
            <a:r>
              <a:rPr lang="en-US" sz="2400" b="1" u="none" strike="noStrike">
                <a:solidFill>
                  <a:srgbClr val="002060"/>
                </a:solidFill>
                <a:effectLst/>
                <a:uFillTx/>
                <a:latin typeface="Times New Roman"/>
              </a:rPr>
              <a:t>References</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1" name="Picture 5"/>
          <p:cNvPicPr/>
          <p:nvPr/>
        </p:nvPicPr>
        <p:blipFill>
          <a:blip r:embed="rId1"/>
          <a:stretch/>
        </p:blipFill>
        <p:spPr>
          <a:xfrm>
            <a:off x="891360" y="243000"/>
            <a:ext cx="10578960" cy="1747440"/>
          </a:xfrm>
          <a:prstGeom prst="rect">
            <a:avLst/>
          </a:prstGeom>
          <a:noFill/>
          <a:ln w="0">
            <a:noFill/>
          </a:ln>
        </p:spPr>
      </p:pic>
      <p:sp>
        <p:nvSpPr>
          <p:cNvPr id="92" name="PlaceHolder 1"/>
          <p:cNvSpPr>
            <a:spLocks noGrp="1"/>
          </p:cNvSpPr>
          <p:nvPr>
            <p:ph type="title"/>
          </p:nvPr>
        </p:nvSpPr>
        <p:spPr>
          <a:xfrm>
            <a:off x="838080" y="1559880"/>
            <a:ext cx="10515240" cy="1325160"/>
          </a:xfrm>
          <a:prstGeom prst="rect">
            <a:avLst/>
          </a:prstGeom>
          <a:noFill/>
          <a:ln w="0">
            <a:noFill/>
          </a:ln>
        </p:spPr>
        <p:txBody>
          <a:bodyPr lIns="91440" tIns="45720" rIns="91440" bIns="45720" anchor="ctr">
            <a:normAutofit/>
          </a:bodyPr>
          <a:p>
            <a:pPr indent="0" algn="ctr" defTabSz="914400">
              <a:lnSpc>
                <a:spcPct val="90000"/>
              </a:lnSpc>
              <a:buNone/>
            </a:pPr>
            <a:r>
              <a:rPr lang="en-US" sz="4000" b="1" u="sng" strike="noStrike">
                <a:solidFill>
                  <a:schemeClr val="dk1"/>
                </a:solidFill>
                <a:effectLst/>
                <a:uFillTx/>
                <a:latin typeface="Times New Roman"/>
                <a:ea typeface="Times New Roman"/>
              </a:rPr>
              <a:t>Motivation</a:t>
            </a:r>
            <a:endParaRPr lang="en-US" sz="4000" b="0" u="none" strike="noStrike">
              <a:solidFill>
                <a:schemeClr val="dk1"/>
              </a:solidFill>
              <a:effectLst/>
              <a:uFillTx/>
              <a:latin typeface="Calibri Light"/>
            </a:endParaRPr>
          </a:p>
        </p:txBody>
      </p:sp>
      <p:sp>
        <p:nvSpPr>
          <p:cNvPr id="93" name="PlaceHolder 2"/>
          <p:cNvSpPr>
            <a:spLocks noGrp="1"/>
          </p:cNvSpPr>
          <p:nvPr>
            <p:ph/>
          </p:nvPr>
        </p:nvSpPr>
        <p:spPr>
          <a:xfrm>
            <a:off x="323640" y="2660760"/>
            <a:ext cx="11675880" cy="3953880"/>
          </a:xfrm>
          <a:prstGeom prst="rect">
            <a:avLst/>
          </a:prstGeom>
          <a:noFill/>
          <a:ln w="0">
            <a:noFill/>
          </a:ln>
        </p:spPr>
        <p:txBody>
          <a:bodyPr lIns="91440" tIns="45720" rIns="91440" bIns="45720" anchor="t">
            <a:normAutofit/>
          </a:bodyPr>
          <a:p>
            <a:pPr marL="228600" indent="-228600" algn="l" defTabSz="914400">
              <a:lnSpc>
                <a:spcPct val="90000"/>
              </a:lnSpc>
              <a:spcBef>
                <a:spcPts val="1001"/>
              </a:spcBef>
              <a:buClr>
                <a:srgbClr val="000000"/>
              </a:buClr>
              <a:buFont typeface="Arial"/>
              <a:buChar char="•"/>
            </a:pPr>
            <a:r>
              <a:rPr lang="en-US" sz="2400" b="0" u="none" strike="noStrike">
                <a:solidFill>
                  <a:schemeClr val="dk1"/>
                </a:solidFill>
                <a:effectLst/>
                <a:uFillTx/>
                <a:latin typeface="Times New Roman"/>
              </a:rPr>
              <a:t>Commercial refreshable Braille displays remain expensive because  each tactile dot requires precise actuation and specialized manufacturing.</a:t>
            </a:r>
            <a:endParaRPr lang="en-US" sz="24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pPr>
            <a:r>
              <a:rPr lang="en-US" sz="2400" b="0" u="none" strike="noStrike">
                <a:solidFill>
                  <a:schemeClr val="dk1"/>
                </a:solidFill>
                <a:effectLst/>
                <a:uFillTx/>
                <a:latin typeface="Times New Roman"/>
              </a:rPr>
              <a:t>Audio screen readers are useful, but tactile Braille supports literacy,  spelling, mathematics and structured learning.</a:t>
            </a:r>
            <a:endParaRPr lang="en-US" sz="24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pPr>
            <a:r>
              <a:rPr lang="en-US" sz="2400" b="0" u="none" strike="noStrike">
                <a:solidFill>
                  <a:schemeClr val="dk1"/>
                </a:solidFill>
                <a:effectLst/>
                <a:uFillTx/>
                <a:latin typeface="Times New Roman"/>
              </a:rPr>
              <a:t>The high cost of refreshable displays limits access in schools,  libraries and resource-constrained institutions.</a:t>
            </a:r>
            <a:endParaRPr lang="en-US" sz="24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pPr>
            <a:r>
              <a:rPr lang="en-US" sz="2400" b="0" u="none" strike="noStrike">
                <a:solidFill>
                  <a:schemeClr val="dk1"/>
                </a:solidFill>
                <a:effectLst/>
                <a:uFillTx/>
                <a:latin typeface="Times New Roman"/>
              </a:rPr>
              <a:t> OpenBraille explores whether low-cost embedded actuation can provide  an affordable refreshable tactile interface.</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4" name="Picture 5"/>
          <p:cNvPicPr/>
          <p:nvPr/>
        </p:nvPicPr>
        <p:blipFill>
          <a:blip r:embed="rId1"/>
          <a:stretch/>
        </p:blipFill>
        <p:spPr>
          <a:xfrm>
            <a:off x="891360" y="243000"/>
            <a:ext cx="10578960" cy="1747440"/>
          </a:xfrm>
          <a:prstGeom prst="rect">
            <a:avLst/>
          </a:prstGeom>
          <a:noFill/>
          <a:ln w="0">
            <a:noFill/>
          </a:ln>
        </p:spPr>
      </p:pic>
      <p:sp>
        <p:nvSpPr>
          <p:cNvPr id="95" name="PlaceHolder 1"/>
          <p:cNvSpPr>
            <a:spLocks noGrp="1"/>
          </p:cNvSpPr>
          <p:nvPr>
            <p:ph type="title"/>
          </p:nvPr>
        </p:nvSpPr>
        <p:spPr>
          <a:xfrm>
            <a:off x="838080" y="1546920"/>
            <a:ext cx="10515240" cy="1325160"/>
          </a:xfrm>
          <a:prstGeom prst="rect">
            <a:avLst/>
          </a:prstGeom>
          <a:noFill/>
          <a:ln w="0">
            <a:noFill/>
          </a:ln>
        </p:spPr>
        <p:txBody>
          <a:bodyPr lIns="91440" tIns="45720" rIns="91440" bIns="45720" anchor="ctr">
            <a:noAutofit/>
          </a:bodyPr>
          <a:p>
            <a:pPr indent="0" algn="ctr" defTabSz="914400">
              <a:lnSpc>
                <a:spcPct val="90000"/>
              </a:lnSpc>
              <a:buNone/>
            </a:pPr>
            <a:r>
              <a:rPr lang="en-US" sz="4000" b="1" u="sng" strike="noStrike">
                <a:solidFill>
                  <a:schemeClr val="dk1"/>
                </a:solidFill>
                <a:effectLst/>
                <a:uFillTx/>
                <a:latin typeface="Times New Roman"/>
                <a:ea typeface="Times New Roman"/>
              </a:rPr>
              <a:t>Introduction</a:t>
            </a:r>
            <a:endParaRPr lang="en-US" sz="4000" b="0" u="none" strike="noStrike">
              <a:solidFill>
                <a:schemeClr val="dk1"/>
              </a:solidFill>
              <a:effectLst/>
              <a:uFillTx/>
              <a:latin typeface="Calibri Light"/>
            </a:endParaRPr>
          </a:p>
        </p:txBody>
      </p:sp>
      <p:sp>
        <p:nvSpPr>
          <p:cNvPr id="96" name="PlaceHolder 2"/>
          <p:cNvSpPr>
            <a:spLocks noGrp="1"/>
          </p:cNvSpPr>
          <p:nvPr>
            <p:ph/>
          </p:nvPr>
        </p:nvSpPr>
        <p:spPr>
          <a:xfrm>
            <a:off x="239760" y="3254400"/>
            <a:ext cx="11952000" cy="2652120"/>
          </a:xfrm>
          <a:prstGeom prst="rect">
            <a:avLst/>
          </a:prstGeom>
          <a:noFill/>
          <a:ln w="0">
            <a:noFill/>
          </a:ln>
        </p:spPr>
        <p:txBody>
          <a:bodyPr numCol="1" spcCol="0" lIns="91440" tIns="45720" rIns="91440" bIns="45720" anchor="ctr">
            <a:spAutoFit/>
          </a:bodyPr>
          <a:p>
            <a:pPr algn="l" defTabSz="914400">
              <a:lnSpc>
                <a:spcPct val="100000"/>
              </a:lnSpc>
              <a:buClr>
                <a:srgbClr val="000000"/>
              </a:buClr>
              <a:buFont typeface="Arial"/>
              <a:buChar char="•"/>
            </a:pPr>
            <a:r>
              <a:rPr lang="en-US" sz="2400" b="0" u="none" strike="noStrike">
                <a:solidFill>
                  <a:schemeClr val="dk1"/>
                </a:solidFill>
                <a:effectLst/>
                <a:uFillTx/>
                <a:latin typeface="Times New Roman"/>
              </a:rPr>
              <a:t>OpenBraille is an assistive embedded system exploring lower-cost  actuation for refreshable Braille.</a:t>
            </a:r>
            <a:endParaRPr lang="en-US" sz="2400" b="0" u="none" strike="noStrike">
              <a:solidFill>
                <a:schemeClr val="dk1"/>
              </a:solidFill>
              <a:effectLst/>
              <a:uFillTx/>
              <a:latin typeface="Calibri"/>
            </a:endParaRPr>
          </a:p>
          <a:p>
            <a:pPr algn="l" defTabSz="914400">
              <a:lnSpc>
                <a:spcPct val="100000"/>
              </a:lnSpc>
              <a:buClr>
                <a:srgbClr val="000000"/>
              </a:buClr>
              <a:buFont typeface="Arial"/>
              <a:buChar char="•"/>
            </a:pPr>
            <a:r>
              <a:rPr lang="en-US" sz="2400" b="0" u="none" strike="noStrike">
                <a:solidFill>
                  <a:schemeClr val="dk1"/>
                </a:solidFill>
                <a:effectLst/>
                <a:uFillTx/>
                <a:latin typeface="Times New Roman"/>
              </a:rPr>
              <a:t> The objective is to validate whether affordable electromechanical  components can generate refreshable tactile output.</a:t>
            </a:r>
            <a:endParaRPr lang="en-US" sz="2400" b="0" u="none" strike="noStrike">
              <a:solidFill>
                <a:schemeClr val="dk1"/>
              </a:solidFill>
              <a:effectLst/>
              <a:uFillTx/>
              <a:latin typeface="Calibri"/>
            </a:endParaRPr>
          </a:p>
          <a:p>
            <a:pPr algn="l" defTabSz="914400">
              <a:lnSpc>
                <a:spcPct val="100000"/>
              </a:lnSpc>
              <a:buClr>
                <a:srgbClr val="000000"/>
              </a:buClr>
              <a:buFont typeface="Arial"/>
              <a:buChar char="•"/>
            </a:pPr>
            <a:r>
              <a:rPr lang="en-US" sz="2400" b="0" u="none" strike="noStrike">
                <a:solidFill>
                  <a:schemeClr val="dk1"/>
                </a:solidFill>
                <a:effectLst/>
                <a:uFillTx/>
                <a:latin typeface="Times New Roman"/>
              </a:rPr>
              <a:t>The semester prototype targets one six-dot Braille cell.</a:t>
            </a:r>
            <a:endParaRPr lang="en-US" sz="2400" b="0" u="none" strike="noStrike">
              <a:solidFill>
                <a:schemeClr val="dk1"/>
              </a:solidFill>
              <a:effectLst/>
              <a:uFillTx/>
              <a:latin typeface="Calibri"/>
            </a:endParaRPr>
          </a:p>
          <a:p>
            <a:pPr algn="l" defTabSz="914400">
              <a:lnSpc>
                <a:spcPct val="100000"/>
              </a:lnSpc>
              <a:buClr>
                <a:srgbClr val="000000"/>
              </a:buClr>
              <a:buFont typeface="Arial"/>
              <a:buChar char="•"/>
            </a:pPr>
            <a:r>
              <a:rPr lang="en-US" sz="2400" b="0" u="none" strike="noStrike">
                <a:solidFill>
                  <a:schemeClr val="dk1"/>
                </a:solidFill>
                <a:effectLst/>
                <a:uFillTx/>
                <a:latin typeface="Times New Roman"/>
              </a:rPr>
              <a:t> The cell is intentionally macro-scaled to improve FDM buildability  and reduce dimensional-tolerance risk.</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7" name="Picture 5"/>
          <p:cNvPicPr/>
          <p:nvPr/>
        </p:nvPicPr>
        <p:blipFill>
          <a:blip r:embed="rId1"/>
          <a:stretch/>
        </p:blipFill>
        <p:spPr>
          <a:xfrm>
            <a:off x="891360" y="243000"/>
            <a:ext cx="10578960" cy="1747440"/>
          </a:xfrm>
          <a:prstGeom prst="rect">
            <a:avLst/>
          </a:prstGeom>
          <a:noFill/>
          <a:ln w="0">
            <a:noFill/>
          </a:ln>
        </p:spPr>
      </p:pic>
      <p:sp>
        <p:nvSpPr>
          <p:cNvPr id="98" name="PlaceHolder 1"/>
          <p:cNvSpPr>
            <a:spLocks noGrp="1"/>
          </p:cNvSpPr>
          <p:nvPr>
            <p:ph type="title"/>
          </p:nvPr>
        </p:nvSpPr>
        <p:spPr>
          <a:xfrm>
            <a:off x="923040" y="1532880"/>
            <a:ext cx="10515240" cy="1325160"/>
          </a:xfrm>
          <a:prstGeom prst="rect">
            <a:avLst/>
          </a:prstGeom>
          <a:noFill/>
          <a:ln w="0">
            <a:noFill/>
          </a:ln>
        </p:spPr>
        <p:txBody>
          <a:bodyPr lIns="91440" tIns="45720" rIns="91440" bIns="45720" anchor="ctr">
            <a:noAutofit/>
          </a:bodyPr>
          <a:p>
            <a:pPr indent="0" algn="ctr" defTabSz="914400">
              <a:lnSpc>
                <a:spcPct val="100000"/>
              </a:lnSpc>
              <a:buNone/>
            </a:pPr>
            <a:r>
              <a:rPr lang="en-IN" sz="4000" b="1" u="sng" strike="noStrike">
                <a:solidFill>
                  <a:srgbClr val="002060"/>
                </a:solidFill>
                <a:effectLst/>
                <a:uFillTx/>
                <a:latin typeface="Times New Roman"/>
              </a:rPr>
              <a:t>Problem Statement</a:t>
            </a:r>
            <a:endParaRPr lang="en-US" sz="4000" b="0" u="none" strike="noStrike">
              <a:solidFill>
                <a:schemeClr val="dk1"/>
              </a:solidFill>
              <a:effectLst/>
              <a:uFillTx/>
              <a:latin typeface="Calibri Light"/>
            </a:endParaRPr>
          </a:p>
        </p:txBody>
      </p:sp>
      <p:sp>
        <p:nvSpPr>
          <p:cNvPr id="99" name="PlaceHolder 2"/>
          <p:cNvSpPr>
            <a:spLocks noGrp="1"/>
          </p:cNvSpPr>
          <p:nvPr>
            <p:ph/>
          </p:nvPr>
        </p:nvSpPr>
        <p:spPr>
          <a:xfrm>
            <a:off x="0" y="3229920"/>
            <a:ext cx="12191760" cy="3017880"/>
          </a:xfrm>
          <a:prstGeom prst="rect">
            <a:avLst/>
          </a:prstGeom>
          <a:noFill/>
          <a:ln w="0">
            <a:noFill/>
          </a:ln>
        </p:spPr>
        <p:txBody>
          <a:bodyPr numCol="1" spcCol="0" lIns="91440" tIns="45720" rIns="91440" bIns="45720" anchor="ctr">
            <a:spAutoFit/>
          </a:bodyPr>
          <a:p>
            <a:pPr marL="228600" indent="-228600" algn="l" defTabSz="914400">
              <a:lnSpc>
                <a:spcPct val="100000"/>
              </a:lnSpc>
              <a:buClr>
                <a:srgbClr val="000000"/>
              </a:buClr>
              <a:buFont typeface="Arial"/>
              <a:buChar char="•"/>
            </a:pPr>
            <a:r>
              <a:rPr lang="en-US" sz="2400" b="0" u="none" strike="noStrike">
                <a:solidFill>
                  <a:schemeClr val="dk1"/>
                </a:solidFill>
                <a:effectLst/>
                <a:uFillTx/>
                <a:latin typeface="Times New Roman"/>
              </a:rPr>
              <a:t>Conventional refreshable Braille systems depend on expensive  actuation and precision manufacturing.</a:t>
            </a:r>
            <a:endParaRPr lang="en-US" sz="2400" b="0" u="none" strike="noStrike">
              <a:solidFill>
                <a:schemeClr val="dk1"/>
              </a:solidFill>
              <a:effectLst/>
              <a:uFillTx/>
              <a:latin typeface="Calibri"/>
            </a:endParaRPr>
          </a:p>
          <a:p>
            <a:pPr marL="228600" indent="-228600" algn="l" defTabSz="914400">
              <a:lnSpc>
                <a:spcPct val="100000"/>
              </a:lnSpc>
              <a:buClr>
                <a:srgbClr val="000000"/>
              </a:buClr>
              <a:buFont typeface="Arial"/>
              <a:buChar char="•"/>
            </a:pPr>
            <a:r>
              <a:rPr lang="en-US" sz="2400" b="0" u="none" strike="noStrike">
                <a:solidFill>
                  <a:schemeClr val="dk1"/>
                </a:solidFill>
                <a:effectLst/>
                <a:uFillTx/>
                <a:latin typeface="Times New Roman"/>
              </a:rPr>
              <a:t>Standard-size Braille geometry creates severe alignment, friction  and pin-binding risks for low-cost FDM fabrication.</a:t>
            </a:r>
            <a:endParaRPr lang="en-US" sz="2400" b="0" u="none" strike="noStrike">
              <a:solidFill>
                <a:schemeClr val="dk1"/>
              </a:solidFill>
              <a:effectLst/>
              <a:uFillTx/>
              <a:latin typeface="Calibri"/>
            </a:endParaRPr>
          </a:p>
          <a:p>
            <a:pPr marL="228600" indent="-228600" algn="l" defTabSz="914400">
              <a:lnSpc>
                <a:spcPct val="100000"/>
              </a:lnSpc>
              <a:buClr>
                <a:srgbClr val="000000"/>
              </a:buClr>
              <a:buFont typeface="Arial"/>
              <a:buChar char="•"/>
            </a:pPr>
            <a:r>
              <a:rPr lang="en-US" sz="2400" b="0" u="none" strike="noStrike">
                <a:solidFill>
                  <a:schemeClr val="dk1"/>
                </a:solidFill>
                <a:effectLst/>
                <a:uFillTx/>
                <a:latin typeface="Times New Roman"/>
              </a:rPr>
              <a:t>Engineering hypothesis:  A lower-cost actuation strategy can replace conventional  piezoelectric actuation while maintaining acceptable tactile performance.</a:t>
            </a:r>
            <a:endParaRPr lang="en-US" sz="2400" b="0" u="none" strike="noStrike">
              <a:solidFill>
                <a:schemeClr val="dk1"/>
              </a:solidFill>
              <a:effectLst/>
              <a:uFillTx/>
              <a:latin typeface="Calibri"/>
            </a:endParaRPr>
          </a:p>
          <a:p>
            <a:pPr marL="228600" indent="-228600" algn="l" defTabSz="914400">
              <a:lnSpc>
                <a:spcPct val="100000"/>
              </a:lnSpc>
              <a:buClr>
                <a:srgbClr val="000000"/>
              </a:buClr>
              <a:buFont typeface="Arial"/>
              <a:buChar char="•"/>
            </a:pPr>
            <a:r>
              <a:rPr lang="en-US" sz="2400" b="0" u="none" strike="noStrike">
                <a:solidFill>
                  <a:schemeClr val="dk1"/>
                </a:solidFill>
                <a:effectLst/>
                <a:uFillTx/>
                <a:latin typeface="Times New Roman"/>
              </a:rPr>
              <a:t>Constraints</a:t>
            </a:r>
            <a:r>
              <a:rPr lang="en-US" sz="2400" b="1" u="none" strike="noStrike">
                <a:solidFill>
                  <a:schemeClr val="dk1"/>
                </a:solidFill>
                <a:effectLst/>
                <a:uFillTx/>
                <a:latin typeface="Times New Roman"/>
              </a:rPr>
              <a:t>:  </a:t>
            </a:r>
            <a:r>
              <a:rPr lang="en-US" sz="2400" b="0" u="none" strike="noStrike">
                <a:solidFill>
                  <a:schemeClr val="dk1"/>
                </a:solidFill>
                <a:effectLst/>
                <a:uFillTx/>
                <a:latin typeface="Times New Roman"/>
              </a:rPr>
              <a:t>Preferred budget ≤ ₹3,000  Maximum budget ≤ ₹5,000  Development period approximately two months  Five-member student team</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0" name="Picture 5"/>
          <p:cNvPicPr/>
          <p:nvPr/>
        </p:nvPicPr>
        <p:blipFill>
          <a:blip r:embed="rId1"/>
          <a:stretch/>
        </p:blipFill>
        <p:spPr>
          <a:xfrm>
            <a:off x="891360" y="243000"/>
            <a:ext cx="10578960" cy="1747440"/>
          </a:xfrm>
          <a:prstGeom prst="rect">
            <a:avLst/>
          </a:prstGeom>
          <a:noFill/>
          <a:ln w="0">
            <a:noFill/>
          </a:ln>
        </p:spPr>
      </p:pic>
      <p:sp>
        <p:nvSpPr>
          <p:cNvPr id="101" name="PlaceHolder 1"/>
          <p:cNvSpPr>
            <a:spLocks noGrp="1"/>
          </p:cNvSpPr>
          <p:nvPr>
            <p:ph type="title"/>
          </p:nvPr>
        </p:nvSpPr>
        <p:spPr>
          <a:xfrm>
            <a:off x="838080" y="1482840"/>
            <a:ext cx="10515240" cy="1325160"/>
          </a:xfrm>
          <a:prstGeom prst="rect">
            <a:avLst/>
          </a:prstGeom>
          <a:noFill/>
          <a:ln w="0">
            <a:noFill/>
          </a:ln>
        </p:spPr>
        <p:txBody>
          <a:bodyPr lIns="91440" tIns="45720" rIns="91440" bIns="45720" anchor="ctr">
            <a:noAutofit/>
          </a:bodyPr>
          <a:p>
            <a:pPr indent="0" algn="ctr" defTabSz="914400">
              <a:lnSpc>
                <a:spcPct val="100000"/>
              </a:lnSpc>
              <a:buNone/>
            </a:pPr>
            <a:r>
              <a:rPr lang="en-IN" sz="4000" b="1" u="sng" strike="noStrike">
                <a:solidFill>
                  <a:srgbClr val="002060"/>
                </a:solidFill>
                <a:effectLst/>
                <a:uFillTx/>
                <a:latin typeface="Times New Roman"/>
              </a:rPr>
              <a:t>Proposed Method</a:t>
            </a:r>
            <a:endParaRPr lang="en-US" sz="4000" b="0" u="none" strike="noStrike">
              <a:solidFill>
                <a:schemeClr val="dk1"/>
              </a:solidFill>
              <a:effectLst/>
              <a:uFillTx/>
              <a:latin typeface="Calibri Light"/>
            </a:endParaRPr>
          </a:p>
        </p:txBody>
      </p:sp>
      <p:sp>
        <p:nvSpPr>
          <p:cNvPr id="102" name="PlaceHolder 2"/>
          <p:cNvSpPr>
            <a:spLocks noGrp="1"/>
          </p:cNvSpPr>
          <p:nvPr>
            <p:ph/>
          </p:nvPr>
        </p:nvSpPr>
        <p:spPr>
          <a:xfrm>
            <a:off x="0" y="2943000"/>
            <a:ext cx="12191760" cy="3017880"/>
          </a:xfrm>
          <a:prstGeom prst="rect">
            <a:avLst/>
          </a:prstGeom>
          <a:noFill/>
          <a:ln w="0">
            <a:noFill/>
          </a:ln>
        </p:spPr>
        <p:txBody>
          <a:bodyPr numCol="1" spcCol="0" lIns="91440" tIns="45720" rIns="91440" bIns="45720" anchor="ctr">
            <a:spAutoFit/>
          </a:bodyPr>
          <a:p>
            <a:pPr algn="l" defTabSz="914400">
              <a:lnSpc>
                <a:spcPct val="100000"/>
              </a:lnSpc>
              <a:buClr>
                <a:srgbClr val="000000"/>
              </a:buClr>
              <a:buFont typeface="Arial"/>
              <a:buChar char="•"/>
            </a:pPr>
            <a:r>
              <a:rPr lang="en-US" sz="2400" b="0" u="none" strike="noStrike">
                <a:solidFill>
                  <a:schemeClr val="dk1"/>
                </a:solidFill>
                <a:effectLst/>
                <a:uFillTx/>
                <a:latin typeface="Times New Roman"/>
              </a:rPr>
              <a:t>Six positional SG90-class micro servos drive eccentric cams.</a:t>
            </a:r>
            <a:endParaRPr lang="en-US" sz="2400" b="0" u="none" strike="noStrike">
              <a:solidFill>
                <a:schemeClr val="dk1"/>
              </a:solidFill>
              <a:effectLst/>
              <a:uFillTx/>
              <a:latin typeface="Calibri"/>
            </a:endParaRPr>
          </a:p>
          <a:p>
            <a:pPr algn="l" defTabSz="914400">
              <a:lnSpc>
                <a:spcPct val="100000"/>
              </a:lnSpc>
              <a:buClr>
                <a:srgbClr val="000000"/>
              </a:buClr>
              <a:buFont typeface="Arial"/>
              <a:buChar char="•"/>
            </a:pPr>
            <a:r>
              <a:rPr lang="en-US" sz="2400" b="0" u="none" strike="noStrike">
                <a:solidFill>
                  <a:schemeClr val="dk1"/>
                </a:solidFill>
                <a:effectLst/>
                <a:uFillTx/>
                <a:latin typeface="Times New Roman"/>
              </a:rPr>
              <a:t>Each cam converts servo rotation into vertical movement of one  tactile pin.</a:t>
            </a:r>
            <a:endParaRPr lang="en-US" sz="2400" b="0" u="none" strike="noStrike">
              <a:solidFill>
                <a:schemeClr val="dk1"/>
              </a:solidFill>
              <a:effectLst/>
              <a:uFillTx/>
              <a:latin typeface="Calibri"/>
            </a:endParaRPr>
          </a:p>
          <a:p>
            <a:pPr algn="l" defTabSz="914400">
              <a:lnSpc>
                <a:spcPct val="100000"/>
              </a:lnSpc>
              <a:buClr>
                <a:srgbClr val="000000"/>
              </a:buClr>
              <a:buFont typeface="Arial"/>
              <a:buChar char="•"/>
            </a:pPr>
            <a:r>
              <a:rPr lang="en-US" sz="2400" b="0" u="none" strike="noStrike">
                <a:solidFill>
                  <a:schemeClr val="dk1"/>
                </a:solidFill>
                <a:effectLst/>
                <a:uFillTx/>
                <a:latin typeface="Times New Roman"/>
              </a:rPr>
              <a:t>An ESP32-WROOM-32 development board generates six independent  servo-control signals.</a:t>
            </a:r>
            <a:endParaRPr lang="en-US" sz="2400" b="0" u="none" strike="noStrike">
              <a:solidFill>
                <a:schemeClr val="dk1"/>
              </a:solidFill>
              <a:effectLst/>
              <a:uFillTx/>
              <a:latin typeface="Calibri"/>
            </a:endParaRPr>
          </a:p>
          <a:p>
            <a:pPr algn="l" defTabSz="914400">
              <a:lnSpc>
                <a:spcPct val="100000"/>
              </a:lnSpc>
              <a:buClr>
                <a:srgbClr val="000000"/>
              </a:buClr>
              <a:buFont typeface="Arial"/>
              <a:buChar char="•"/>
            </a:pPr>
            <a:r>
              <a:rPr lang="en-US" sz="2400" b="0" u="none" strike="noStrike">
                <a:solidFill>
                  <a:schemeClr val="dk1"/>
                </a:solidFill>
                <a:effectLst/>
                <a:uFillTx/>
                <a:latin typeface="Times New Roman"/>
              </a:rPr>
              <a:t>Servos use a separate external 5 V power rail with a common ground  connection to the ESP32.</a:t>
            </a:r>
            <a:endParaRPr lang="en-US" sz="2400" b="0" u="none" strike="noStrike">
              <a:solidFill>
                <a:schemeClr val="dk1"/>
              </a:solidFill>
              <a:effectLst/>
              <a:uFillTx/>
              <a:latin typeface="Calibri"/>
            </a:endParaRPr>
          </a:p>
          <a:p>
            <a:pPr algn="l" defTabSz="914400">
              <a:lnSpc>
                <a:spcPct val="100000"/>
              </a:lnSpc>
              <a:buClr>
                <a:srgbClr val="000000"/>
              </a:buClr>
              <a:buFont typeface="Arial"/>
              <a:buChar char="•"/>
            </a:pPr>
            <a:r>
              <a:rPr lang="en-US" sz="2400" b="0" u="none" strike="noStrike">
                <a:solidFill>
                  <a:schemeClr val="dk1"/>
                </a:solidFill>
                <a:effectLst/>
                <a:uFillTx/>
                <a:latin typeface="Times New Roman"/>
              </a:rPr>
              <a:t> A 1,000 µF capacitor is proposed across the servo power rail to help  reduce transient voltage dips.</a:t>
            </a:r>
            <a:endParaRPr lang="en-US" sz="2400" b="0" u="none" strike="noStrike">
              <a:solidFill>
                <a:schemeClr val="dk1"/>
              </a:solidFill>
              <a:effectLst/>
              <a:uFillTx/>
              <a:latin typeface="Calibri"/>
            </a:endParaRPr>
          </a:p>
          <a:p>
            <a:pPr algn="l" defTabSz="914400">
              <a:lnSpc>
                <a:spcPct val="100000"/>
              </a:lnSpc>
              <a:buClr>
                <a:srgbClr val="000000"/>
              </a:buClr>
              <a:buFont typeface="Arial"/>
              <a:buChar char="•"/>
            </a:pPr>
            <a:r>
              <a:rPr lang="en-US" sz="2400" b="0" u="none" strike="noStrike">
                <a:solidFill>
                  <a:schemeClr val="dk1"/>
                </a:solidFill>
                <a:effectLst/>
                <a:uFillTx/>
                <a:latin typeface="Times New Roman"/>
              </a:rPr>
              <a:t> The frame and cam mechanisms are produced using in-house FDM  fabrication and off-the-shelf parts.</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3" name="Picture 5"/>
          <p:cNvPicPr/>
          <p:nvPr/>
        </p:nvPicPr>
        <p:blipFill>
          <a:blip r:embed="rId1"/>
          <a:stretch/>
        </p:blipFill>
        <p:spPr>
          <a:xfrm>
            <a:off x="1307880" y="162000"/>
            <a:ext cx="9745560" cy="1609560"/>
          </a:xfrm>
          <a:prstGeom prst="rect">
            <a:avLst/>
          </a:prstGeom>
          <a:noFill/>
          <a:ln w="0">
            <a:noFill/>
          </a:ln>
        </p:spPr>
      </p:pic>
      <p:sp>
        <p:nvSpPr>
          <p:cNvPr id="104" name="PlaceHolder 1"/>
          <p:cNvSpPr>
            <a:spLocks noGrp="1"/>
          </p:cNvSpPr>
          <p:nvPr>
            <p:ph type="title"/>
          </p:nvPr>
        </p:nvSpPr>
        <p:spPr>
          <a:xfrm>
            <a:off x="838080" y="1307520"/>
            <a:ext cx="10515240" cy="1325160"/>
          </a:xfrm>
          <a:prstGeom prst="rect">
            <a:avLst/>
          </a:prstGeom>
          <a:noFill/>
          <a:ln w="0">
            <a:noFill/>
          </a:ln>
        </p:spPr>
        <p:txBody>
          <a:bodyPr lIns="91440" tIns="45720" rIns="91440" bIns="45720" anchor="ctr">
            <a:noAutofit/>
          </a:bodyPr>
          <a:p>
            <a:pPr indent="0" algn="ctr" defTabSz="914400">
              <a:lnSpc>
                <a:spcPct val="100000"/>
              </a:lnSpc>
              <a:buNone/>
            </a:pPr>
            <a:r>
              <a:rPr lang="en-US" sz="3600" b="1" u="sng" strike="noStrike">
                <a:solidFill>
                  <a:srgbClr val="002060"/>
                </a:solidFill>
                <a:effectLst/>
                <a:uFillTx/>
                <a:latin typeface="Times New Roman"/>
              </a:rPr>
              <a:t>Basic Block Diagram</a:t>
            </a:r>
            <a:endParaRPr lang="en-US" sz="3600" b="0" u="none" strike="noStrike">
              <a:solidFill>
                <a:schemeClr val="dk1"/>
              </a:solidFill>
              <a:effectLst/>
              <a:uFillTx/>
              <a:latin typeface="Calibri Light"/>
            </a:endParaRPr>
          </a:p>
        </p:txBody>
      </p:sp>
      <p:pic>
        <p:nvPicPr>
          <p:cNvPr id="105" name="Content Placeholder 6"/>
          <p:cNvPicPr/>
          <p:nvPr/>
        </p:nvPicPr>
        <p:blipFill>
          <a:blip r:embed="rId2"/>
          <a:srcRect l="1800" t="10052" r="3534" b="9989"/>
          <a:stretch/>
        </p:blipFill>
        <p:spPr>
          <a:xfrm>
            <a:off x="2057400" y="2707200"/>
            <a:ext cx="8457480" cy="365724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838080" y="1343880"/>
            <a:ext cx="10515240" cy="1325160"/>
          </a:xfrm>
          <a:prstGeom prst="rect">
            <a:avLst/>
          </a:prstGeom>
          <a:noFill/>
          <a:ln w="0">
            <a:noFill/>
          </a:ln>
        </p:spPr>
        <p:txBody>
          <a:bodyPr lIns="91440" tIns="45720" rIns="91440" bIns="45720" anchor="ctr">
            <a:noAutofit/>
          </a:bodyPr>
          <a:p>
            <a:pPr indent="0" algn="ctr" defTabSz="914400">
              <a:lnSpc>
                <a:spcPct val="100000"/>
              </a:lnSpc>
              <a:buNone/>
            </a:pPr>
            <a:r>
              <a:rPr lang="en-IN" sz="4000" b="1" u="sng" strike="noStrike">
                <a:solidFill>
                  <a:srgbClr val="002060"/>
                </a:solidFill>
                <a:effectLst/>
                <a:uFillTx/>
                <a:latin typeface="Times New Roman"/>
              </a:rPr>
              <a:t>Conclusion </a:t>
            </a:r>
            <a:endParaRPr lang="en-US" sz="4000" b="0" u="none" strike="noStrike">
              <a:solidFill>
                <a:schemeClr val="dk1"/>
              </a:solidFill>
              <a:effectLst/>
              <a:uFillTx/>
              <a:latin typeface="Calibri Light"/>
            </a:endParaRPr>
          </a:p>
        </p:txBody>
      </p:sp>
      <p:pic>
        <p:nvPicPr>
          <p:cNvPr id="107" name="Picture 3"/>
          <p:cNvPicPr/>
          <p:nvPr/>
        </p:nvPicPr>
        <p:blipFill>
          <a:blip r:embed="rId1"/>
          <a:stretch/>
        </p:blipFill>
        <p:spPr>
          <a:xfrm>
            <a:off x="838080" y="77760"/>
            <a:ext cx="10578960" cy="1747440"/>
          </a:xfrm>
          <a:prstGeom prst="rect">
            <a:avLst/>
          </a:prstGeom>
          <a:noFill/>
          <a:ln w="0">
            <a:noFill/>
          </a:ln>
        </p:spPr>
      </p:pic>
      <p:sp>
        <p:nvSpPr>
          <p:cNvPr id="108" name="PlaceHolder 2"/>
          <p:cNvSpPr>
            <a:spLocks noGrp="1"/>
          </p:cNvSpPr>
          <p:nvPr>
            <p:ph/>
          </p:nvPr>
        </p:nvSpPr>
        <p:spPr>
          <a:xfrm>
            <a:off x="0" y="3099600"/>
            <a:ext cx="12191760" cy="3383640"/>
          </a:xfrm>
          <a:prstGeom prst="rect">
            <a:avLst/>
          </a:prstGeom>
          <a:noFill/>
          <a:ln w="0">
            <a:noFill/>
          </a:ln>
        </p:spPr>
        <p:txBody>
          <a:bodyPr numCol="1" spcCol="0" lIns="91440" tIns="45720" rIns="91440" bIns="45720" anchor="ctr">
            <a:spAutoFit/>
          </a:bodyPr>
          <a:p>
            <a:pPr marL="228600" indent="-228600" algn="l" defTabSz="914400">
              <a:lnSpc>
                <a:spcPct val="100000"/>
              </a:lnSpc>
              <a:buClr>
                <a:srgbClr val="000000"/>
              </a:buClr>
              <a:buFont typeface="Arial"/>
              <a:buChar char="•"/>
            </a:pPr>
            <a:r>
              <a:rPr lang="en-US" sz="2400" b="0" u="none" strike="noStrike">
                <a:solidFill>
                  <a:schemeClr val="dk1"/>
                </a:solidFill>
                <a:effectLst/>
                <a:uFillTx/>
                <a:latin typeface="Times New Roman"/>
              </a:rPr>
              <a:t>OpenBraille proposes a macro-scaled single-cell refreshable Braille  prototype using ESP32-controlled servo-cam actuation.</a:t>
            </a:r>
            <a:endParaRPr lang="en-US" sz="2400" b="0" u="none" strike="noStrike">
              <a:solidFill>
                <a:schemeClr val="dk1"/>
              </a:solidFill>
              <a:effectLst/>
              <a:uFillTx/>
              <a:latin typeface="Calibri"/>
            </a:endParaRPr>
          </a:p>
          <a:p>
            <a:pPr marL="228600" indent="-228600" algn="l" defTabSz="914400">
              <a:lnSpc>
                <a:spcPct val="100000"/>
              </a:lnSpc>
              <a:buClr>
                <a:srgbClr val="000000"/>
              </a:buClr>
              <a:buFont typeface="Arial"/>
              <a:buChar char="•"/>
            </a:pPr>
            <a:r>
              <a:rPr lang="en-US" sz="2400" b="0" u="none" strike="noStrike">
                <a:solidFill>
                  <a:schemeClr val="dk1"/>
                </a:solidFill>
                <a:effectLst/>
                <a:uFillTx/>
                <a:latin typeface="Times New Roman"/>
              </a:rPr>
              <a:t>Macro-scaling reduces the dominant FDM tolerance risk, but friction,  alignment, tactile force and repeatability still require validation.</a:t>
            </a:r>
            <a:endParaRPr lang="en-US" sz="2400" b="0" u="none" strike="noStrike">
              <a:solidFill>
                <a:schemeClr val="dk1"/>
              </a:solidFill>
              <a:effectLst/>
              <a:uFillTx/>
              <a:latin typeface="Calibri"/>
            </a:endParaRPr>
          </a:p>
          <a:p>
            <a:pPr marL="228600" indent="-228600" algn="l" defTabSz="914400">
              <a:lnSpc>
                <a:spcPct val="100000"/>
              </a:lnSpc>
              <a:buClr>
                <a:srgbClr val="000000"/>
              </a:buClr>
              <a:buFont typeface="Arial"/>
              <a:buChar char="•"/>
            </a:pPr>
            <a:r>
              <a:rPr lang="en-US" sz="2400" b="0" u="none" strike="noStrike">
                <a:solidFill>
                  <a:schemeClr val="dk1"/>
                </a:solidFill>
                <a:effectLst/>
                <a:uFillTx/>
                <a:latin typeface="Times New Roman"/>
              </a:rPr>
              <a:t>The estimated BOM is ₹2,060–₹2,850, subject to component prices  and prototype revisions.</a:t>
            </a:r>
            <a:endParaRPr lang="en-US" sz="2400" b="0" u="none" strike="noStrike">
              <a:solidFill>
                <a:schemeClr val="dk1"/>
              </a:solidFill>
              <a:effectLst/>
              <a:uFillTx/>
              <a:latin typeface="Calibri"/>
            </a:endParaRPr>
          </a:p>
          <a:p>
            <a:pPr marL="228600" indent="-228600" algn="l" defTabSz="914400">
              <a:lnSpc>
                <a:spcPct val="100000"/>
              </a:lnSpc>
              <a:buClr>
                <a:srgbClr val="000000"/>
              </a:buClr>
              <a:buFont typeface="Arial"/>
              <a:buChar char="•"/>
            </a:pPr>
            <a:r>
              <a:rPr lang="en-US" sz="2400" b="0" u="none" strike="noStrike">
                <a:solidFill>
                  <a:schemeClr val="dk1"/>
                </a:solidFill>
                <a:effectLst/>
                <a:uFillTx/>
                <a:latin typeface="Times New Roman"/>
              </a:rPr>
              <a:t>Development will follow a bottom-up, single-dot-first validation  strategy before integrating the complete six-dot cell.</a:t>
            </a:r>
            <a:endParaRPr lang="en-US" sz="2400" b="0" u="none" strike="noStrike">
              <a:solidFill>
                <a:schemeClr val="dk1"/>
              </a:solidFill>
              <a:effectLst/>
              <a:uFillTx/>
              <a:latin typeface="Calibri"/>
            </a:endParaRPr>
          </a:p>
          <a:p>
            <a:pPr marL="228600" indent="-228600" algn="l" defTabSz="914400">
              <a:lnSpc>
                <a:spcPct val="100000"/>
              </a:lnSpc>
              <a:buClr>
                <a:srgbClr val="000000"/>
              </a:buClr>
              <a:buFont typeface="Arial"/>
              <a:buChar char="•"/>
            </a:pPr>
            <a:r>
              <a:rPr lang="en-US" sz="2400" b="0" u="none" strike="noStrike">
                <a:solidFill>
                  <a:schemeClr val="dk1"/>
                </a:solidFill>
                <a:effectLst/>
                <a:uFillTx/>
                <a:latin typeface="Times New Roman"/>
              </a:rPr>
              <a:t>Future work may investigate multi-cell scaling and potential IP  directions after experimental validation.</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774720" y="1434240"/>
            <a:ext cx="10515240" cy="1325160"/>
          </a:xfrm>
          <a:prstGeom prst="rect">
            <a:avLst/>
          </a:prstGeom>
          <a:noFill/>
          <a:ln w="0">
            <a:noFill/>
          </a:ln>
        </p:spPr>
        <p:txBody>
          <a:bodyPr lIns="91440" tIns="45720" rIns="91440" bIns="45720" anchor="ctr">
            <a:noAutofit/>
          </a:bodyPr>
          <a:p>
            <a:pPr indent="0" algn="ctr" defTabSz="914400">
              <a:lnSpc>
                <a:spcPct val="100000"/>
              </a:lnSpc>
              <a:buNone/>
            </a:pPr>
            <a:r>
              <a:rPr lang="en-IN" sz="4000" b="1" u="sng" strike="noStrike">
                <a:solidFill>
                  <a:srgbClr val="002060"/>
                </a:solidFill>
                <a:effectLst/>
                <a:uFillTx/>
                <a:latin typeface="Times New Roman"/>
              </a:rPr>
              <a:t>References</a:t>
            </a:r>
            <a:endParaRPr lang="en-US" sz="4000" b="0" u="none" strike="noStrike">
              <a:solidFill>
                <a:schemeClr val="dk1"/>
              </a:solidFill>
              <a:effectLst/>
              <a:uFillTx/>
              <a:latin typeface="Calibri Light"/>
            </a:endParaRPr>
          </a:p>
        </p:txBody>
      </p:sp>
      <p:pic>
        <p:nvPicPr>
          <p:cNvPr id="110" name="Picture 3"/>
          <p:cNvPicPr/>
          <p:nvPr/>
        </p:nvPicPr>
        <p:blipFill>
          <a:blip r:embed="rId1"/>
          <a:stretch/>
        </p:blipFill>
        <p:spPr>
          <a:xfrm>
            <a:off x="742680" y="194760"/>
            <a:ext cx="10578960" cy="1747440"/>
          </a:xfrm>
          <a:prstGeom prst="rect">
            <a:avLst/>
          </a:prstGeom>
          <a:noFill/>
          <a:ln w="0">
            <a:noFill/>
          </a:ln>
        </p:spPr>
      </p:pic>
      <p:sp>
        <p:nvSpPr>
          <p:cNvPr id="111" name="PlaceHolder 2"/>
          <p:cNvSpPr>
            <a:spLocks noGrp="1"/>
          </p:cNvSpPr>
          <p:nvPr>
            <p:ph/>
          </p:nvPr>
        </p:nvSpPr>
        <p:spPr>
          <a:xfrm>
            <a:off x="0" y="3261600"/>
            <a:ext cx="12191760" cy="3017880"/>
          </a:xfrm>
          <a:prstGeom prst="rect">
            <a:avLst/>
          </a:prstGeom>
          <a:noFill/>
          <a:ln w="0">
            <a:noFill/>
          </a:ln>
        </p:spPr>
        <p:txBody>
          <a:bodyPr numCol="1" spcCol="0" lIns="91440" tIns="45720" rIns="91440" bIns="45720" anchor="ctr">
            <a:spAutoFit/>
          </a:bodyPr>
          <a:p>
            <a:pPr algn="l" defTabSz="914400">
              <a:lnSpc>
                <a:spcPct val="100000"/>
              </a:lnSpc>
              <a:buClr>
                <a:srgbClr val="000000"/>
              </a:buClr>
              <a:buFont typeface="Arial"/>
              <a:buChar char="•"/>
            </a:pPr>
            <a:r>
              <a:rPr lang="en-US" sz="2400" b="0" u="none" strike="noStrike">
                <a:solidFill>
                  <a:schemeClr val="dk1"/>
                </a:solidFill>
                <a:effectLst/>
                <a:uFillTx/>
                <a:latin typeface="Times New Roman"/>
              </a:rPr>
              <a:t>1. ISO 17049:2013,   Accessible design — Application of Braille on signage,   equipment and appliances.</a:t>
            </a:r>
            <a:endParaRPr lang="en-US" sz="2400" b="0" u="none" strike="noStrike">
              <a:solidFill>
                <a:schemeClr val="dk1"/>
              </a:solidFill>
              <a:effectLst/>
              <a:uFillTx/>
              <a:latin typeface="Calibri"/>
            </a:endParaRPr>
          </a:p>
          <a:p>
            <a:pPr algn="l" defTabSz="914400">
              <a:lnSpc>
                <a:spcPct val="100000"/>
              </a:lnSpc>
              <a:buClr>
                <a:srgbClr val="000000"/>
              </a:buClr>
              <a:buFont typeface="Arial"/>
              <a:buChar char="•"/>
            </a:pPr>
            <a:r>
              <a:rPr lang="en-US" sz="2400" b="0" u="none" strike="noStrike">
                <a:solidFill>
                  <a:schemeClr val="dk1"/>
                </a:solidFill>
                <a:effectLst/>
                <a:uFillTx/>
                <a:latin typeface="Times New Roman"/>
              </a:rPr>
              <a:t>2. Espressif Systems,   ESP32-WROOM-32 Datasheet, Version 3.6.</a:t>
            </a:r>
            <a:endParaRPr lang="en-US" sz="2400" b="0" u="none" strike="noStrike">
              <a:solidFill>
                <a:schemeClr val="dk1"/>
              </a:solidFill>
              <a:effectLst/>
              <a:uFillTx/>
              <a:latin typeface="Calibri"/>
            </a:endParaRPr>
          </a:p>
          <a:p>
            <a:pPr algn="l" defTabSz="914400">
              <a:lnSpc>
                <a:spcPct val="100000"/>
              </a:lnSpc>
              <a:buClr>
                <a:srgbClr val="000000"/>
              </a:buClr>
              <a:buFont typeface="Arial"/>
              <a:buChar char="•"/>
            </a:pPr>
            <a:r>
              <a:rPr lang="en-US" sz="2400" b="0" u="none" strike="noStrike">
                <a:solidFill>
                  <a:schemeClr val="dk1"/>
                </a:solidFill>
                <a:effectLst/>
                <a:uFillTx/>
                <a:latin typeface="Times New Roman"/>
              </a:rPr>
              <a:t>3. Espressif Systems,   ESP32-DevKitC V4 User Guide.</a:t>
            </a:r>
            <a:endParaRPr lang="en-US" sz="2400" b="0" u="none" strike="noStrike">
              <a:solidFill>
                <a:schemeClr val="dk1"/>
              </a:solidFill>
              <a:effectLst/>
              <a:uFillTx/>
              <a:latin typeface="Calibri"/>
            </a:endParaRPr>
          </a:p>
          <a:p>
            <a:pPr algn="l" defTabSz="914400">
              <a:lnSpc>
                <a:spcPct val="100000"/>
              </a:lnSpc>
              <a:buClr>
                <a:srgbClr val="000000"/>
              </a:buClr>
              <a:buFont typeface="Arial"/>
              <a:buChar char="•"/>
            </a:pPr>
            <a:r>
              <a:rPr lang="en-US" sz="2400" b="0" u="none" strike="noStrike">
                <a:solidFill>
                  <a:schemeClr val="dk1"/>
                </a:solidFill>
                <a:effectLst/>
                <a:uFillTx/>
                <a:latin typeface="Times New Roman"/>
              </a:rPr>
              <a:t>4. TowerPro,   SG90 Analog Micro Servo — Official Product Specifications.</a:t>
            </a:r>
            <a:endParaRPr lang="en-US" sz="2400" b="0" u="none" strike="noStrike">
              <a:solidFill>
                <a:schemeClr val="dk1"/>
              </a:solidFill>
              <a:effectLst/>
              <a:uFillTx/>
              <a:latin typeface="Calibri"/>
            </a:endParaRPr>
          </a:p>
          <a:p>
            <a:pPr algn="l" defTabSz="914400">
              <a:lnSpc>
                <a:spcPct val="100000"/>
              </a:lnSpc>
              <a:buClr>
                <a:srgbClr val="000000"/>
              </a:buClr>
              <a:buFont typeface="Arial"/>
              <a:buChar char="•"/>
            </a:pPr>
            <a:r>
              <a:rPr lang="en-US" sz="2400" b="0" u="none" strike="noStrike">
                <a:solidFill>
                  <a:schemeClr val="dk1"/>
                </a:solidFill>
                <a:effectLst/>
                <a:uFillTx/>
                <a:latin typeface="Times New Roman"/>
              </a:rPr>
              <a:t>5. Engineering_Design_Review.md,   Project mC, OpenBraille section, July 2026.</a:t>
            </a:r>
            <a:endParaRPr lang="en-US" sz="2400" b="0" u="none" strike="noStrike">
              <a:solidFill>
                <a:schemeClr val="dk1"/>
              </a:solidFill>
              <a:effectLst/>
              <a:uFillTx/>
              <a:latin typeface="Calibri"/>
            </a:endParaRPr>
          </a:p>
          <a:p>
            <a:pPr algn="l" defTabSz="914400">
              <a:lnSpc>
                <a:spcPct val="100000"/>
              </a:lnSpc>
              <a:buClr>
                <a:srgbClr val="000000"/>
              </a:buClr>
              <a:buFont typeface="Arial"/>
              <a:buChar char="•"/>
            </a:pPr>
            <a:r>
              <a:rPr lang="en-US" sz="2400" b="0" u="none" strike="noStrike">
                <a:solidFill>
                  <a:schemeClr val="dk1"/>
                </a:solidFill>
                <a:effectLst/>
                <a:uFillTx/>
                <a:latin typeface="Times New Roman"/>
              </a:rPr>
              <a:t>6. Project_mC_Decision_Register_v1.2.md,   PDR-001, PDR-002 and PDR-015 to PDR-022.</a:t>
            </a:r>
            <a:endParaRPr lang="en-US" sz="2400" b="0" u="none" strike="noStrike">
              <a:solidFill>
                <a:schemeClr val="dk1"/>
              </a:solidFill>
              <a:effectLst/>
              <a:uFillTx/>
              <a:latin typeface="Calibri"/>
            </a:endParaRPr>
          </a:p>
          <a:p>
            <a:pPr algn="l" defTabSz="914400">
              <a:lnSpc>
                <a:spcPct val="100000"/>
              </a:lnSpc>
              <a:buClr>
                <a:srgbClr val="000000"/>
              </a:buClr>
              <a:buFont typeface="Arial"/>
              <a:buChar char="•"/>
            </a:pPr>
            <a:r>
              <a:rPr lang="en-US" sz="2400" b="0" u="none" strike="noStrike">
                <a:solidFill>
                  <a:schemeClr val="dk1"/>
                </a:solidFill>
                <a:effectLst/>
                <a:uFillTx/>
                <a:latin typeface="Times New Roman"/>
              </a:rPr>
              <a:t>7. Phase3C_OpenBraille_Architecture_Report_Final.md,   Project mC, July 2026.</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81</TotalTime>
  <Application>LibreOffice/26.2.4.2$Linux_X86_64 LibreOffice_project/620$Build-2</Application>
  <AppVersion>15.0000</AppVersion>
  <Words>1344</Words>
  <Paragraphs>101</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dc:description/>
  <dc:language>en-US</dc:language>
  <cp:lastModifiedBy/>
  <dcterms:modified xsi:type="dcterms:W3CDTF">2026-07-29T20:50:15Z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Widescreen</vt:lpwstr>
  </property>
  <property fmtid="{D5CDD505-2E9C-101B-9397-08002B2CF9AE}" pid="4" name="Slides">
    <vt:i4>16</vt:i4>
  </property>
</Properties>
</file>