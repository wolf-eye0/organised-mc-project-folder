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49E4C-25D6-46C8-8FF9-05445B412E90}"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59520-3BB1-481D-9D58-45751114CB1D}" type="slidenum">
              <a:rPr lang="en-IN" smtClean="0"/>
              <a:t>‹#›</a:t>
            </a:fld>
            <a:endParaRPr lang="en-IN"/>
          </a:p>
        </p:txBody>
      </p:sp>
    </p:spTree>
    <p:extLst>
      <p:ext uri="{BB962C8B-B14F-4D97-AF65-F5344CB8AC3E}">
        <p14:creationId xmlns:p14="http://schemas.microsoft.com/office/powerpoint/2010/main" val="282621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959520-3BB1-481D-9D58-45751114CB1D}" type="slidenum">
              <a:rPr lang="en-IN" smtClean="0"/>
              <a:t>2</a:t>
            </a:fld>
            <a:endParaRPr lang="en-IN"/>
          </a:p>
        </p:txBody>
      </p:sp>
    </p:spTree>
    <p:extLst>
      <p:ext uri="{BB962C8B-B14F-4D97-AF65-F5344CB8AC3E}">
        <p14:creationId xmlns:p14="http://schemas.microsoft.com/office/powerpoint/2010/main" val="285007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FigureOut">
              <a:rPr lang="en-IN" smtClean="0"/>
              <a:t>29-07-2026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FigureOut">
              <a:rPr lang="en-IN" smtClean="0"/>
              <a:t>29-07-2026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FigureOut">
              <a:rPr lang="en-IN" smtClean="0"/>
              <a:t>29-07-2026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FigureOut">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907591" y="1723059"/>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r>
              <a:rPr lang="en-US" b="1" dirty="0" err="1">
                <a:solidFill>
                  <a:srgbClr val="0070C0"/>
                </a:solidFill>
                <a:latin typeface="Times New Roman"/>
                <a:ea typeface="Times New Roman"/>
                <a:cs typeface="Times New Roman"/>
              </a:rPr>
              <a:t>OpenBraille</a:t>
            </a:r>
            <a:r>
              <a:rPr lang="en-US" b="1" dirty="0">
                <a:solidFill>
                  <a:srgbClr val="0070C0"/>
                </a:solidFill>
                <a:latin typeface="Times New Roman"/>
                <a:ea typeface="Times New Roman"/>
                <a:cs typeface="Times New Roman"/>
              </a:rPr>
              <a:t>: Affordable Refreshable Single-Cell Braille Display</a:t>
            </a:r>
            <a:endParaRPr lang="en-US" dirty="0">
              <a:solidFill>
                <a:srgbClr val="0070C0"/>
              </a:solidFill>
            </a:endParaRPr>
          </a:p>
        </p:txBody>
      </p:sp>
      <p:sp>
        <p:nvSpPr>
          <p:cNvPr id="8" name="Google Shape;187;p1"/>
          <p:cNvSpPr txBox="1">
            <a:spLocks/>
          </p:cNvSpPr>
          <p:nvPr/>
        </p:nvSpPr>
        <p:spPr bwMode="auto">
          <a:xfrm>
            <a:off x="170707" y="3621988"/>
            <a:ext cx="4948707"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Group 8</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Members: Amith Krishna Das</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Archa Pramod</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Nihad P C</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Sreehari K</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Sreeprada</a:t>
            </a:r>
            <a:r>
              <a:rPr lang="en-US" dirty="0">
                <a:solidFill>
                  <a:srgbClr val="C00000"/>
                </a:solidFill>
                <a:latin typeface="Times New Roman" panose="02020603050405020304" pitchFamily="18" charset="0"/>
                <a:cs typeface="Times New Roman" panose="02020603050405020304" pitchFamily="18" charset="0"/>
              </a:rPr>
              <a:t> K S</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59913"/>
            <a:ext cx="10515600" cy="1325563"/>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11" name="Rectangle 6">
            <a:extLst>
              <a:ext uri="{FF2B5EF4-FFF2-40B4-BE49-F238E27FC236}">
                <a16:creationId xmlns:a16="http://schemas.microsoft.com/office/drawing/2014/main" id="{433F5CBD-695C-594D-7B95-39AA75B69C57}"/>
              </a:ext>
            </a:extLst>
          </p:cNvPr>
          <p:cNvSpPr>
            <a:spLocks noGrp="1" noChangeArrowheads="1"/>
          </p:cNvSpPr>
          <p:nvPr>
            <p:ph idx="1"/>
          </p:nvPr>
        </p:nvSpPr>
        <p:spPr bwMode="auto">
          <a:xfrm>
            <a:off x="0" y="2958566"/>
            <a:ext cx="1219200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Barrier: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Refreshable Braille displays are still expensive because each dot needs careful movement and special hardware.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Beyond Audio: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Audio screen readers are helpful, but Braille is better for reading, spelling,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maths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structured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device cost makes it hard for schools, libraries and small institutions to provide refreshable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Trial: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tests whether cheaper embedded parts can give a refreshable tactile interface.</a:t>
            </a: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46812"/>
            <a:ext cx="10515600" cy="1325563"/>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5" name="Rectangle 2">
            <a:extLst>
              <a:ext uri="{FF2B5EF4-FFF2-40B4-BE49-F238E27FC236}">
                <a16:creationId xmlns:a16="http://schemas.microsoft.com/office/drawing/2014/main" id="{6FC8EBE4-8969-3623-52AA-B2F62836CAF1}"/>
              </a:ext>
            </a:extLst>
          </p:cNvPr>
          <p:cNvSpPr>
            <a:spLocks noGrp="1" noChangeArrowheads="1"/>
          </p:cNvSpPr>
          <p:nvPr>
            <p:ph idx="1"/>
          </p:nvPr>
        </p:nvSpPr>
        <p:spPr bwMode="auto">
          <a:xfrm>
            <a:off x="0" y="3089756"/>
            <a:ext cx="121919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Idea: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embedded assistive system that looks at lower-cost ways to move Braille dots.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Goal: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 if affordable electro‑mechanical parts can create refreshable tactile Braille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Scope: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semester work focuses on one six‑dot Braille cell.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Macro Scale Choice: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cell is made larger on purpose to make FDM 3D printing easier and reduce dimension issues.</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923081" y="1532743"/>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2F5C17A-00E1-E055-CE76-FA73461C5156}"/>
              </a:ext>
            </a:extLst>
          </p:cNvPr>
          <p:cNvSpPr>
            <a:spLocks noGrp="1" noChangeArrowheads="1"/>
          </p:cNvSpPr>
          <p:nvPr>
            <p:ph idx="1"/>
          </p:nvPr>
        </p:nvSpPr>
        <p:spPr bwMode="auto">
          <a:xfrm>
            <a:off x="0" y="2858306"/>
            <a:ext cx="1219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Expensive Systems: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refreshable Braille devices use costly actuators and precise manufacturing.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Small-Scale Issues: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 Braille sizes cause alignment, friction and jamming problems when made with low‑cost FDM printing.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Hypothesis: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cheaper actuation method might replace piezoelectric actuators while still giving usable tactile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Limits: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Prefer budget ≤ ₹3,000; maximum budget ≤ ₹5,000; about two months of work; five‑member student team.</a:t>
            </a: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199" y="1482725"/>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143740F-DA51-B39A-3238-8388B63C8A95}"/>
              </a:ext>
            </a:extLst>
          </p:cNvPr>
          <p:cNvSpPr>
            <a:spLocks noGrp="1" noChangeArrowheads="1"/>
          </p:cNvSpPr>
          <p:nvPr>
            <p:ph idx="1"/>
          </p:nvPr>
        </p:nvSpPr>
        <p:spPr bwMode="auto">
          <a:xfrm>
            <a:off x="0" y="2928650"/>
            <a:ext cx="1219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Drive: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Six SG90‑class micro servos move eccentric cams.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Dot Movement: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cam turns servo rotation into up‑and‑down motion of one tactile pin.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Controller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ESP32‑WROOM‑32 board creates six separate servo control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Setup: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Servos run from an external 5 V line with a shared ground to the ESP32 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1,000 µF capacitor is planned on the servo power line to help smooth voltage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Mechanics Build: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frame and cam parts are made using college FDM printers and easily available components.</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838200" y="1307660"/>
            <a:ext cx="10515600" cy="1325563"/>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7" name="Content Placeholder 6">
            <a:extLst>
              <a:ext uri="{FF2B5EF4-FFF2-40B4-BE49-F238E27FC236}">
                <a16:creationId xmlns:a16="http://schemas.microsoft.com/office/drawing/2014/main" id="{6A058313-FCED-C0A5-482B-4EC614511B8D}"/>
              </a:ext>
            </a:extLst>
          </p:cNvPr>
          <p:cNvPicPr>
            <a:picLocks noGrp="1" noChangeAspect="1"/>
          </p:cNvPicPr>
          <p:nvPr>
            <p:ph idx="1"/>
          </p:nvPr>
        </p:nvPicPr>
        <p:blipFill>
          <a:blip r:embed="rId3"/>
          <a:srcRect/>
          <a:stretch/>
        </p:blipFill>
        <p:spPr bwMode="auto">
          <a:xfrm>
            <a:off x="1713452" y="2283239"/>
            <a:ext cx="8934855" cy="4574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838200" y="1343819"/>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77924"/>
            <a:ext cx="10579260" cy="1747701"/>
          </a:xfrm>
          <a:prstGeom prst="rect">
            <a:avLst/>
          </a:prstGeom>
        </p:spPr>
      </p:pic>
      <p:sp>
        <p:nvSpPr>
          <p:cNvPr id="5" name="Rectangle 2">
            <a:extLst>
              <a:ext uri="{FF2B5EF4-FFF2-40B4-BE49-F238E27FC236}">
                <a16:creationId xmlns:a16="http://schemas.microsoft.com/office/drawing/2014/main" id="{1B165B66-EE96-65B5-7E9D-A8966C62DD8F}"/>
              </a:ext>
            </a:extLst>
          </p:cNvPr>
          <p:cNvSpPr>
            <a:spLocks noGrp="1" noChangeArrowheads="1"/>
          </p:cNvSpPr>
          <p:nvPr>
            <p:ph idx="1"/>
          </p:nvPr>
        </p:nvSpPr>
        <p:spPr bwMode="auto">
          <a:xfrm>
            <a:off x="1" y="2829194"/>
            <a:ext cx="12192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Proposal: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suggests a macro‑scaled single‑cell refreshable Braille prototype using ESP32‑controlled servo‑cam actuation.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Remaining Checks: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 cell larger helps with FDM tolerances, but friction, alignment, feel of the dots and repeatability still need testing.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Estimate: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estimated BOM is in the range ₹2,060–₹2,850, depending on part prices and design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Plan: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 will start with one dot, then move step‑by‑step to the full six‑dot cell after basic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Steps: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experiments, the project may explore multi‑cell designs and possible IP options.</a:t>
            </a: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774540" y="1434270"/>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710" y="194629"/>
            <a:ext cx="10579260" cy="1747701"/>
          </a:xfrm>
          <a:prstGeom prst="rect">
            <a:avLst/>
          </a:prstGeom>
        </p:spPr>
      </p:pic>
      <p:sp>
        <p:nvSpPr>
          <p:cNvPr id="5" name="Rectangle 1">
            <a:extLst>
              <a:ext uri="{FF2B5EF4-FFF2-40B4-BE49-F238E27FC236}">
                <a16:creationId xmlns:a16="http://schemas.microsoft.com/office/drawing/2014/main" id="{52470D60-C481-ED3C-71E3-1C5D83CEC636}"/>
              </a:ext>
            </a:extLst>
          </p:cNvPr>
          <p:cNvSpPr>
            <a:spLocks noGrp="1" noChangeArrowheads="1"/>
          </p:cNvSpPr>
          <p:nvPr>
            <p:ph idx="1"/>
          </p:nvPr>
        </p:nvSpPr>
        <p:spPr bwMode="auto">
          <a:xfrm>
            <a:off x="1" y="3247051"/>
            <a:ext cx="12191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1. ISO 17049:2013,   Accessible design — Application of Braille on signage,   equipment and appliances.</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2.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ESP32-WROOM-32 Datasheet, Version 3.6.</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3.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ESP32-DevKitC V4 User Guide.</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4. </a:t>
            </a:r>
            <a:r>
              <a:rPr lang="en-US" altLang="en-US" sz="2400" dirty="0" err="1">
                <a:latin typeface="Times New Roman" panose="02020603050405020304" pitchFamily="18" charset="0"/>
                <a:cs typeface="Times New Roman" panose="02020603050405020304" pitchFamily="18" charset="0"/>
              </a:rPr>
              <a:t>TowerPro</a:t>
            </a:r>
            <a:r>
              <a:rPr lang="en-US" altLang="en-US" sz="2400" dirty="0">
                <a:latin typeface="Times New Roman" panose="02020603050405020304" pitchFamily="18" charset="0"/>
                <a:cs typeface="Times New Roman" panose="02020603050405020304" pitchFamily="18" charset="0"/>
              </a:rPr>
              <a:t>,   SG90 Analog Micro Servo — Official Product Specifications.</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5. Engineering_Design_Review.md,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OpenBraille</a:t>
            </a:r>
            <a:r>
              <a:rPr lang="en-US" altLang="en-US" sz="2400" dirty="0">
                <a:latin typeface="Times New Roman" panose="02020603050405020304" pitchFamily="18" charset="0"/>
                <a:cs typeface="Times New Roman" panose="02020603050405020304" pitchFamily="18" charset="0"/>
              </a:rPr>
              <a:t> section, July 2026.</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6. Project_mC_Decision_Register_v1.2.md,   PDR-001, PDR-002 and PDR-015 to PDR-022.</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7. Phase3C_OpenBraille_Architecture_Report_Final.md,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July 2026.</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1455</Words>
  <Application>Microsoft Office PowerPoint</Application>
  <PresentationFormat>Widescreen</PresentationFormat>
  <Paragraphs>101</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USER</cp:lastModifiedBy>
  <cp:revision>3</cp:revision>
  <dcterms:modified xsi:type="dcterms:W3CDTF">2026-07-29T17:48:12Z</dcterms:modified>
</cp:coreProperties>
</file>